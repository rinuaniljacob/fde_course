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embeddedFontLst>
    <p:embeddedFont>
      <p:font typeface="Raleway"/>
      <p:regular r:id="rId58"/>
    </p:embeddedFont>
    <p:embeddedFont>
      <p:font typeface="Raleway Bold"/>
      <p:regular r:id="rId59"/>
    </p:embeddedFont>
    <p:embeddedFont>
      <p:font typeface="Roboto"/>
      <p:regular r:id="rId60"/>
    </p:embeddedFont>
    <p:embeddedFont>
      <p:font typeface="Roboto Bold"/>
      <p:regular r:id="rId6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openxmlformats.org/officeDocument/2006/relationships/font" Target="fonts/font1.fntdata"/><Relationship Id="rId59" Type="http://schemas.openxmlformats.org/officeDocument/2006/relationships/font" Target="fonts/font2.fntdata"/><Relationship Id="rId60" Type="http://schemas.openxmlformats.org/officeDocument/2006/relationships/font" Target="fonts/font3.fntdata"/><Relationship Id="rId6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8.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slideLayout" Target="../slideLayouts/slideLayout1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2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8.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34.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8.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0.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5.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7.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50.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image" Target="../media/image-50-3.png"/><Relationship Id="rId4" Type="http://schemas.openxmlformats.org/officeDocument/2006/relationships/image" Target="../media/image-50-4.svg"/><Relationship Id="rId5" Type="http://schemas.openxmlformats.org/officeDocument/2006/relationships/image" Target="../media/image-50-5.png"/><Relationship Id="rId6" Type="http://schemas.openxmlformats.org/officeDocument/2006/relationships/image" Target="../media/image-50-6.svg"/><Relationship Id="rId7" Type="http://schemas.openxmlformats.org/officeDocument/2006/relationships/image" Target="../media/image-50-7.png"/><Relationship Id="rId8" Type="http://schemas.openxmlformats.org/officeDocument/2006/relationships/image" Target="../media/image-50-8.svg"/><Relationship Id="rId9" Type="http://schemas.openxmlformats.org/officeDocument/2006/relationships/image" Target="../media/image-50-9.png"/><Relationship Id="rId10" Type="http://schemas.openxmlformats.org/officeDocument/2006/relationships/image" Target="../media/image-50-10.svg"/><Relationship Id="rId11" Type="http://schemas.openxmlformats.org/officeDocument/2006/relationships/slideLayout" Target="../slideLayouts/slideLayout51.xml"/><Relationship Id="rId1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5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92943"/>
            <a:ext cx="3305026" cy="4957539"/>
          </a:xfrm>
          <a:prstGeom prst="rect">
            <a:avLst/>
          </a:prstGeom>
        </p:spPr>
      </p:pic>
      <p:sp>
        <p:nvSpPr>
          <p:cNvPr id="4" name="Text 1"/>
          <p:cNvSpPr/>
          <p:nvPr/>
        </p:nvSpPr>
        <p:spPr>
          <a:xfrm>
            <a:off x="496119" y="170155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Retrieval-Augmented Generation (RAG)</a:t>
            </a:r>
            <a:endParaRPr lang="en-US" sz="2400" dirty="0"/>
          </a:p>
        </p:txBody>
      </p:sp>
      <p:sp>
        <p:nvSpPr>
          <p:cNvPr id="5" name="Text 2"/>
          <p:cNvSpPr/>
          <p:nvPr/>
        </p:nvSpPr>
        <p:spPr>
          <a:xfrm>
            <a:off x="496119" y="2662684"/>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Building Document Question Answering Systems — Module 6 · Forward Deployed Engineering</a:t>
            </a:r>
            <a:endParaRPr lang="en-US" sz="950" dirty="0"/>
          </a:p>
        </p:txBody>
      </p:sp>
      <p:sp>
        <p:nvSpPr>
          <p:cNvPr id="6" name="Shape 3"/>
          <p:cNvSpPr/>
          <p:nvPr/>
        </p:nvSpPr>
        <p:spPr>
          <a:xfrm>
            <a:off x="496119" y="3203897"/>
            <a:ext cx="915144" cy="233214"/>
          </a:xfrm>
          <a:prstGeom prst="roundRect">
            <a:avLst>
              <a:gd name="adj" fmla="val 17872"/>
            </a:avLst>
          </a:prstGeom>
          <a:solidFill>
            <a:srgbClr val="E1E1EA"/>
          </a:solidFill>
          <a:ln/>
        </p:spPr>
      </p:sp>
      <p:sp>
        <p:nvSpPr>
          <p:cNvPr id="7" name="Text 4"/>
          <p:cNvSpPr/>
          <p:nvPr/>
        </p:nvSpPr>
        <p:spPr>
          <a:xfrm>
            <a:off x="570533" y="3241104"/>
            <a:ext cx="12235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4-HOUR MODULE</a:t>
            </a:r>
            <a:endParaRPr lang="en-US" sz="750" dirty="0"/>
          </a:p>
        </p:txBody>
      </p:sp>
      <p:sp>
        <p:nvSpPr>
          <p:cNvPr id="8" name="Shape 5"/>
          <p:cNvSpPr/>
          <p:nvPr/>
        </p:nvSpPr>
        <p:spPr>
          <a:xfrm>
            <a:off x="1473250" y="3199135"/>
            <a:ext cx="1540148" cy="242739"/>
          </a:xfrm>
          <a:prstGeom prst="roundRect">
            <a:avLst>
              <a:gd name="adj" fmla="val 17171"/>
            </a:avLst>
          </a:prstGeom>
          <a:noFill/>
          <a:ln w="4763">
            <a:solidFill>
              <a:srgbClr val="1B1B27"/>
            </a:solidFill>
            <a:prstDash val="solid"/>
          </a:ln>
        </p:spPr>
      </p:sp>
      <p:sp>
        <p:nvSpPr>
          <p:cNvPr id="9" name="Text 6"/>
          <p:cNvSpPr/>
          <p:nvPr/>
        </p:nvSpPr>
        <p:spPr>
          <a:xfrm>
            <a:off x="1552426" y="3241104"/>
            <a:ext cx="1838995"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PRACTICAL IMPLEMENTATION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867370"/>
            <a:ext cx="1048941" cy="233214"/>
          </a:xfrm>
          <a:prstGeom prst="roundRect">
            <a:avLst>
              <a:gd name="adj" fmla="val 17872"/>
            </a:avLst>
          </a:prstGeom>
          <a:solidFill>
            <a:srgbClr val="E1E1EA"/>
          </a:solidFill>
          <a:ln/>
        </p:spPr>
      </p:sp>
      <p:sp>
        <p:nvSpPr>
          <p:cNvPr id="3" name="Text 1"/>
          <p:cNvSpPr/>
          <p:nvPr/>
        </p:nvSpPr>
        <p:spPr>
          <a:xfrm>
            <a:off x="570533" y="904577"/>
            <a:ext cx="1357313"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MODULE OVERVIEW</a:t>
            </a:r>
            <a:endParaRPr lang="en-US" sz="750" dirty="0"/>
          </a:p>
        </p:txBody>
      </p:sp>
      <p:sp>
        <p:nvSpPr>
          <p:cNvPr id="4" name="Text 2"/>
          <p:cNvSpPr/>
          <p:nvPr/>
        </p:nvSpPr>
        <p:spPr>
          <a:xfrm>
            <a:off x="496119" y="1150144"/>
            <a:ext cx="4319364"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What We're Building Today</a:t>
            </a:r>
            <a:endParaRPr lang="en-US" sz="2400" dirty="0"/>
          </a:p>
        </p:txBody>
      </p:sp>
      <p:sp>
        <p:nvSpPr>
          <p:cNvPr id="5" name="Text 3"/>
          <p:cNvSpPr/>
          <p:nvPr/>
        </p:nvSpPr>
        <p:spPr>
          <a:xfrm>
            <a:off x="496119" y="172372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By the end of this module, you will have built a complete RAG pipeline that can answer questions from a real PDF document — using nothing but Python and the OpenAI API.</a:t>
            </a:r>
            <a:endParaRPr lang="en-US" sz="950" dirty="0"/>
          </a:p>
        </p:txBody>
      </p:sp>
      <p:sp>
        <p:nvSpPr>
          <p:cNvPr id="6" name="Text 4"/>
          <p:cNvSpPr/>
          <p:nvPr/>
        </p:nvSpPr>
        <p:spPr>
          <a:xfrm>
            <a:off x="496119" y="2260178"/>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01</a:t>
            </a:r>
            <a:endParaRPr lang="en-US" sz="950" dirty="0"/>
          </a:p>
        </p:txBody>
      </p:sp>
      <p:sp>
        <p:nvSpPr>
          <p:cNvPr id="7" name="Shape 5"/>
          <p:cNvSpPr/>
          <p:nvPr/>
        </p:nvSpPr>
        <p:spPr>
          <a:xfrm>
            <a:off x="496119" y="2456631"/>
            <a:ext cx="2634555" cy="14288"/>
          </a:xfrm>
          <a:prstGeom prst="rect">
            <a:avLst/>
          </a:prstGeom>
          <a:solidFill>
            <a:srgbClr val="1B1B27"/>
          </a:solidFill>
          <a:ln/>
        </p:spPr>
      </p:sp>
      <p:sp>
        <p:nvSpPr>
          <p:cNvPr id="8" name="Text 6"/>
          <p:cNvSpPr/>
          <p:nvPr/>
        </p:nvSpPr>
        <p:spPr>
          <a:xfrm>
            <a:off x="496119" y="254719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Why RAG Exists</a:t>
            </a:r>
            <a:endParaRPr lang="en-US" sz="1200" dirty="0"/>
          </a:p>
        </p:txBody>
      </p:sp>
      <p:sp>
        <p:nvSpPr>
          <p:cNvPr id="9" name="Text 7"/>
          <p:cNvSpPr/>
          <p:nvPr/>
        </p:nvSpPr>
        <p:spPr>
          <a:xfrm>
            <a:off x="496119" y="2815456"/>
            <a:ext cx="263455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Understanding the core limitation of LLMs and why retrieval is necessary</a:t>
            </a:r>
            <a:endParaRPr lang="en-US" sz="950" dirty="0"/>
          </a:p>
        </p:txBody>
      </p:sp>
      <p:sp>
        <p:nvSpPr>
          <p:cNvPr id="10" name="Text 8"/>
          <p:cNvSpPr/>
          <p:nvPr/>
        </p:nvSpPr>
        <p:spPr>
          <a:xfrm>
            <a:off x="3254648" y="2260178"/>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02</a:t>
            </a:r>
            <a:endParaRPr lang="en-US" sz="950" dirty="0"/>
          </a:p>
        </p:txBody>
      </p:sp>
      <p:sp>
        <p:nvSpPr>
          <p:cNvPr id="11" name="Shape 9"/>
          <p:cNvSpPr/>
          <p:nvPr/>
        </p:nvSpPr>
        <p:spPr>
          <a:xfrm>
            <a:off x="3254648" y="2456631"/>
            <a:ext cx="2634630" cy="14288"/>
          </a:xfrm>
          <a:prstGeom prst="rect">
            <a:avLst/>
          </a:prstGeom>
          <a:solidFill>
            <a:srgbClr val="1B1B27"/>
          </a:solidFill>
          <a:ln/>
        </p:spPr>
      </p:sp>
      <p:sp>
        <p:nvSpPr>
          <p:cNvPr id="12" name="Text 10"/>
          <p:cNvSpPr/>
          <p:nvPr/>
        </p:nvSpPr>
        <p:spPr>
          <a:xfrm>
            <a:off x="3254648" y="254719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Embeddings</a:t>
            </a:r>
            <a:endParaRPr lang="en-US" sz="1200" dirty="0"/>
          </a:p>
        </p:txBody>
      </p:sp>
      <p:sp>
        <p:nvSpPr>
          <p:cNvPr id="13" name="Text 11"/>
          <p:cNvSpPr/>
          <p:nvPr/>
        </p:nvSpPr>
        <p:spPr>
          <a:xfrm>
            <a:off x="3254648" y="2815456"/>
            <a:ext cx="263463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Converting meaning into numbers for semantic search</a:t>
            </a:r>
            <a:endParaRPr lang="en-US" sz="950" dirty="0"/>
          </a:p>
        </p:txBody>
      </p:sp>
      <p:sp>
        <p:nvSpPr>
          <p:cNvPr id="14" name="Text 12"/>
          <p:cNvSpPr/>
          <p:nvPr/>
        </p:nvSpPr>
        <p:spPr>
          <a:xfrm>
            <a:off x="6013252" y="2260178"/>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03</a:t>
            </a:r>
            <a:endParaRPr lang="en-US" sz="950" dirty="0"/>
          </a:p>
        </p:txBody>
      </p:sp>
      <p:sp>
        <p:nvSpPr>
          <p:cNvPr id="15" name="Shape 13"/>
          <p:cNvSpPr/>
          <p:nvPr/>
        </p:nvSpPr>
        <p:spPr>
          <a:xfrm>
            <a:off x="6013252" y="2456631"/>
            <a:ext cx="2634555" cy="14288"/>
          </a:xfrm>
          <a:prstGeom prst="rect">
            <a:avLst/>
          </a:prstGeom>
          <a:solidFill>
            <a:srgbClr val="1B1B27"/>
          </a:solidFill>
          <a:ln/>
        </p:spPr>
      </p:sp>
      <p:sp>
        <p:nvSpPr>
          <p:cNvPr id="16" name="Text 14"/>
          <p:cNvSpPr/>
          <p:nvPr/>
        </p:nvSpPr>
        <p:spPr>
          <a:xfrm>
            <a:off x="6013252" y="254719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Retrieval</a:t>
            </a:r>
            <a:endParaRPr lang="en-US" sz="1200" dirty="0"/>
          </a:p>
        </p:txBody>
      </p:sp>
      <p:sp>
        <p:nvSpPr>
          <p:cNvPr id="17" name="Text 15"/>
          <p:cNvSpPr/>
          <p:nvPr/>
        </p:nvSpPr>
        <p:spPr>
          <a:xfrm>
            <a:off x="6013252" y="2815456"/>
            <a:ext cx="263455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Finding the most relevant chunks using cosine similarity</a:t>
            </a:r>
            <a:endParaRPr lang="en-US" sz="950" dirty="0"/>
          </a:p>
        </p:txBody>
      </p:sp>
      <p:sp>
        <p:nvSpPr>
          <p:cNvPr id="18" name="Text 16"/>
          <p:cNvSpPr/>
          <p:nvPr/>
        </p:nvSpPr>
        <p:spPr>
          <a:xfrm>
            <a:off x="496119" y="3429372"/>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04</a:t>
            </a:r>
            <a:endParaRPr lang="en-US" sz="950" dirty="0"/>
          </a:p>
        </p:txBody>
      </p:sp>
      <p:sp>
        <p:nvSpPr>
          <p:cNvPr id="19" name="Shape 17"/>
          <p:cNvSpPr/>
          <p:nvPr/>
        </p:nvSpPr>
        <p:spPr>
          <a:xfrm>
            <a:off x="496119" y="3625825"/>
            <a:ext cx="4013820" cy="14288"/>
          </a:xfrm>
          <a:prstGeom prst="rect">
            <a:avLst/>
          </a:prstGeom>
          <a:solidFill>
            <a:srgbClr val="1B1B27"/>
          </a:solidFill>
          <a:ln/>
        </p:spPr>
      </p:sp>
      <p:sp>
        <p:nvSpPr>
          <p:cNvPr id="20" name="Text 18"/>
          <p:cNvSpPr/>
          <p:nvPr/>
        </p:nvSpPr>
        <p:spPr>
          <a:xfrm>
            <a:off x="496119" y="3716387"/>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Generation</a:t>
            </a:r>
            <a:endParaRPr lang="en-US" sz="1200" dirty="0"/>
          </a:p>
        </p:txBody>
      </p:sp>
      <p:sp>
        <p:nvSpPr>
          <p:cNvPr id="21" name="Text 19"/>
          <p:cNvSpPr/>
          <p:nvPr/>
        </p:nvSpPr>
        <p:spPr>
          <a:xfrm>
            <a:off x="496119" y="3984650"/>
            <a:ext cx="4013820"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Feeding context to the LLM to produce grounded answers</a:t>
            </a:r>
            <a:endParaRPr lang="en-US" sz="950" dirty="0"/>
          </a:p>
        </p:txBody>
      </p:sp>
      <p:sp>
        <p:nvSpPr>
          <p:cNvPr id="22" name="Text 20"/>
          <p:cNvSpPr/>
          <p:nvPr/>
        </p:nvSpPr>
        <p:spPr>
          <a:xfrm>
            <a:off x="4633913" y="3429372"/>
            <a:ext cx="248022" cy="155004"/>
          </a:xfrm>
          <a:prstGeom prst="rect">
            <a:avLst/>
          </a:prstGeom>
          <a:noFill/>
          <a:ln/>
        </p:spPr>
        <p:txBody>
          <a:bodyPr wrap="none" lIns="0" tIns="0" rIns="0" bIns="0" rtlCol="0" anchor="ctr"/>
          <a:lstStyle/>
          <a:p>
            <a:pPr algn="l" indent="0" marL="0">
              <a:lnSpc>
                <a:spcPct val="100000"/>
              </a:lnSpc>
              <a:buNone/>
            </a:pPr>
            <a:r>
              <a:rPr lang="en-US" sz="950" dirty="0">
                <a:solidFill>
                  <a:srgbClr val="3C3939"/>
                </a:solidFill>
                <a:latin typeface="Raleway Light" pitchFamily="34" charset="0"/>
                <a:ea typeface="Raleway Light" pitchFamily="34" charset="-122"/>
                <a:cs typeface="Raleway Light" pitchFamily="34" charset="-120"/>
              </a:rPr>
              <a:t>05</a:t>
            </a:r>
            <a:endParaRPr lang="en-US" sz="950" dirty="0"/>
          </a:p>
        </p:txBody>
      </p:sp>
      <p:sp>
        <p:nvSpPr>
          <p:cNvPr id="23" name="Shape 21"/>
          <p:cNvSpPr/>
          <p:nvPr/>
        </p:nvSpPr>
        <p:spPr>
          <a:xfrm>
            <a:off x="4633913" y="3625825"/>
            <a:ext cx="4013895" cy="14288"/>
          </a:xfrm>
          <a:prstGeom prst="rect">
            <a:avLst/>
          </a:prstGeom>
          <a:solidFill>
            <a:srgbClr val="1B1B27"/>
          </a:solidFill>
          <a:ln/>
        </p:spPr>
      </p:sp>
      <p:sp>
        <p:nvSpPr>
          <p:cNvPr id="24" name="Text 22"/>
          <p:cNvSpPr/>
          <p:nvPr/>
        </p:nvSpPr>
        <p:spPr>
          <a:xfrm>
            <a:off x="4633913" y="3716387"/>
            <a:ext cx="1701180"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Failure Cases &amp; Chatbot</a:t>
            </a:r>
            <a:endParaRPr lang="en-US" sz="1200" dirty="0"/>
          </a:p>
        </p:txBody>
      </p:sp>
      <p:sp>
        <p:nvSpPr>
          <p:cNvPr id="25" name="Text 23"/>
          <p:cNvSpPr/>
          <p:nvPr/>
        </p:nvSpPr>
        <p:spPr>
          <a:xfrm>
            <a:off x="4633913" y="3984650"/>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Debugging common issues and building the final exercise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1</a:t>
            </a:r>
            <a:endParaRPr lang="en-US" sz="750" dirty="0"/>
          </a:p>
        </p:txBody>
      </p:sp>
      <p:sp>
        <p:nvSpPr>
          <p:cNvPr id="4" name="Shape 2"/>
          <p:cNvSpPr/>
          <p:nvPr/>
        </p:nvSpPr>
        <p:spPr>
          <a:xfrm>
            <a:off x="1022449" y="1558900"/>
            <a:ext cx="939180"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238027"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WHY RAG EXISTS</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1</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Why RAG Exists</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Understanding the fundamental limitation that makes retrieval necessary.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92943"/>
            <a:ext cx="3305026" cy="4957539"/>
          </a:xfrm>
          <a:prstGeom prst="rect">
            <a:avLst/>
          </a:prstGeom>
        </p:spPr>
      </p:pic>
      <p:sp>
        <p:nvSpPr>
          <p:cNvPr id="4" name="Text 1"/>
          <p:cNvSpPr/>
          <p:nvPr/>
        </p:nvSpPr>
        <p:spPr>
          <a:xfrm>
            <a:off x="3925119" y="500360"/>
            <a:ext cx="3714676"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Limitation of LLMs</a:t>
            </a:r>
            <a:endParaRPr lang="en-US" sz="2400" dirty="0"/>
          </a:p>
        </p:txBody>
      </p:sp>
      <p:sp>
        <p:nvSpPr>
          <p:cNvPr id="5" name="Text 2"/>
          <p:cNvSpPr/>
          <p:nvPr/>
        </p:nvSpPr>
        <p:spPr>
          <a:xfrm>
            <a:off x="3925119" y="1073944"/>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Large Language Models are powerful — but their knowledge is frozen at the point of training. They have no awareness of anything that happened after their training cutoff, and they have never seen your organization's private documents.</a:t>
            </a:r>
            <a:endParaRPr lang="en-US" sz="950" dirty="0"/>
          </a:p>
        </p:txBody>
      </p:sp>
      <p:sp>
        <p:nvSpPr>
          <p:cNvPr id="6" name="Shape 3"/>
          <p:cNvSpPr/>
          <p:nvPr/>
        </p:nvSpPr>
        <p:spPr>
          <a:xfrm>
            <a:off x="3925119" y="1808857"/>
            <a:ext cx="2299395" cy="1121122"/>
          </a:xfrm>
          <a:prstGeom prst="roundRect">
            <a:avLst>
              <a:gd name="adj" fmla="val 4647"/>
            </a:avLst>
          </a:prstGeom>
          <a:solidFill>
            <a:srgbClr val="E1E1EA"/>
          </a:solidFill>
          <a:ln w="4763">
            <a:solidFill>
              <a:srgbClr val="C7C7D0"/>
            </a:solidFill>
            <a:prstDash val="solid"/>
          </a:ln>
        </p:spPr>
      </p:sp>
      <p:sp>
        <p:nvSpPr>
          <p:cNvPr id="7" name="Text 4"/>
          <p:cNvSpPr/>
          <p:nvPr/>
        </p:nvSpPr>
        <p:spPr>
          <a:xfrm>
            <a:off x="4053855" y="193759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Company Policies</a:t>
            </a:r>
            <a:endParaRPr lang="en-US" sz="1200" dirty="0"/>
          </a:p>
        </p:txBody>
      </p:sp>
      <p:sp>
        <p:nvSpPr>
          <p:cNvPr id="8" name="Text 5"/>
          <p:cNvSpPr/>
          <p:nvPr/>
        </p:nvSpPr>
        <p:spPr>
          <a:xfrm>
            <a:off x="4053855" y="2205856"/>
            <a:ext cx="204192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Internal HR handbooks, SOPs, and guidelines your LLM has never read</a:t>
            </a:r>
            <a:endParaRPr lang="en-US" sz="950" dirty="0"/>
          </a:p>
        </p:txBody>
      </p:sp>
      <p:sp>
        <p:nvSpPr>
          <p:cNvPr id="9" name="Shape 6"/>
          <p:cNvSpPr/>
          <p:nvPr/>
        </p:nvSpPr>
        <p:spPr>
          <a:xfrm>
            <a:off x="6348487" y="1808857"/>
            <a:ext cx="2299395" cy="1121122"/>
          </a:xfrm>
          <a:prstGeom prst="roundRect">
            <a:avLst>
              <a:gd name="adj" fmla="val 4647"/>
            </a:avLst>
          </a:prstGeom>
          <a:solidFill>
            <a:srgbClr val="E1E1EA"/>
          </a:solidFill>
          <a:ln w="4763">
            <a:solidFill>
              <a:srgbClr val="C7C7D0"/>
            </a:solidFill>
            <a:prstDash val="solid"/>
          </a:ln>
        </p:spPr>
      </p:sp>
      <p:sp>
        <p:nvSpPr>
          <p:cNvPr id="10" name="Text 7"/>
          <p:cNvSpPr/>
          <p:nvPr/>
        </p:nvSpPr>
        <p:spPr>
          <a:xfrm>
            <a:off x="6477223" y="193759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Private PDFs</a:t>
            </a:r>
            <a:endParaRPr lang="en-US" sz="1200" dirty="0"/>
          </a:p>
        </p:txBody>
      </p:sp>
      <p:sp>
        <p:nvSpPr>
          <p:cNvPr id="11" name="Text 8"/>
          <p:cNvSpPr/>
          <p:nvPr/>
        </p:nvSpPr>
        <p:spPr>
          <a:xfrm>
            <a:off x="6477223" y="2205856"/>
            <a:ext cx="204192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Contracts, reports, and internal documentation that were never public</a:t>
            </a:r>
            <a:endParaRPr lang="en-US" sz="950" dirty="0"/>
          </a:p>
        </p:txBody>
      </p:sp>
      <p:sp>
        <p:nvSpPr>
          <p:cNvPr id="12" name="Shape 9"/>
          <p:cNvSpPr/>
          <p:nvPr/>
        </p:nvSpPr>
        <p:spPr>
          <a:xfrm>
            <a:off x="3925119" y="3053953"/>
            <a:ext cx="4722763" cy="724198"/>
          </a:xfrm>
          <a:prstGeom prst="roundRect">
            <a:avLst>
              <a:gd name="adj" fmla="val 7194"/>
            </a:avLst>
          </a:prstGeom>
          <a:solidFill>
            <a:srgbClr val="E1E1EA"/>
          </a:solidFill>
          <a:ln w="4763">
            <a:solidFill>
              <a:srgbClr val="C7C7D0"/>
            </a:solidFill>
            <a:prstDash val="solid"/>
          </a:ln>
        </p:spPr>
      </p:sp>
      <p:sp>
        <p:nvSpPr>
          <p:cNvPr id="13" name="Text 10"/>
          <p:cNvSpPr/>
          <p:nvPr/>
        </p:nvSpPr>
        <p:spPr>
          <a:xfrm>
            <a:off x="4053855" y="318268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New Information</a:t>
            </a:r>
            <a:endParaRPr lang="en-US" sz="1200" dirty="0"/>
          </a:p>
        </p:txBody>
      </p:sp>
      <p:sp>
        <p:nvSpPr>
          <p:cNvPr id="14" name="Text 11"/>
          <p:cNvSpPr/>
          <p:nvPr/>
        </p:nvSpPr>
        <p:spPr>
          <a:xfrm>
            <a:off x="4053855" y="3450952"/>
            <a:ext cx="4465290"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Anything created or updated after the model's training cutoff date</a:t>
            </a:r>
            <a:endParaRPr lang="en-US" sz="950" dirty="0"/>
          </a:p>
        </p:txBody>
      </p:sp>
      <p:sp>
        <p:nvSpPr>
          <p:cNvPr id="15" name="Shape 12"/>
          <p:cNvSpPr/>
          <p:nvPr/>
        </p:nvSpPr>
        <p:spPr>
          <a:xfrm>
            <a:off x="3925119" y="3917677"/>
            <a:ext cx="4722763" cy="725463"/>
          </a:xfrm>
          <a:prstGeom prst="roundRect">
            <a:avLst>
              <a:gd name="adj" fmla="val 7182"/>
            </a:avLst>
          </a:prstGeom>
          <a:solidFill>
            <a:srgbClr val="FCF2B5"/>
          </a:solidFill>
          <a:ln/>
        </p:spPr>
      </p:sp>
      <p:pic>
        <p:nvPicPr>
          <p:cNvPr id="16" name="Image 1" descr="preencoded.png">    </p:cNvPr>
          <p:cNvPicPr>
            <a:picLocks noChangeAspect="1"/>
          </p:cNvPicPr>
          <p:nvPr/>
        </p:nvPicPr>
        <p:blipFill>
          <a:blip r:embed="rId2"/>
          <a:stretch>
            <a:fillRect/>
          </a:stretch>
        </p:blipFill>
        <p:spPr>
          <a:xfrm>
            <a:off x="4049092" y="4102224"/>
            <a:ext cx="155004" cy="123974"/>
          </a:xfrm>
          <a:prstGeom prst="rect">
            <a:avLst/>
          </a:prstGeom>
        </p:spPr>
      </p:pic>
      <p:sp>
        <p:nvSpPr>
          <p:cNvPr id="17" name="Text 13"/>
          <p:cNvSpPr/>
          <p:nvPr/>
        </p:nvSpPr>
        <p:spPr>
          <a:xfrm>
            <a:off x="4328071" y="4072607"/>
            <a:ext cx="4195837"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Roboto" pitchFamily="34" charset="0"/>
                <a:ea typeface="Roboto" pitchFamily="34" charset="-122"/>
                <a:cs typeface="Roboto" pitchFamily="34" charset="-120"/>
              </a:rPr>
              <a:t>Key Idea:</a:t>
            </a:r>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 LLMs only know what they learned during training. They cannot access your files, your database, or the real world.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921023"/>
            <a:ext cx="1057498" cy="242739"/>
          </a:xfrm>
          <a:prstGeom prst="roundRect">
            <a:avLst>
              <a:gd name="adj" fmla="val 17171"/>
            </a:avLst>
          </a:prstGeom>
          <a:noFill/>
          <a:ln w="4763">
            <a:solidFill>
              <a:srgbClr val="1B1B27"/>
            </a:solidFill>
            <a:prstDash val="solid"/>
          </a:ln>
        </p:spPr>
      </p:sp>
      <p:sp>
        <p:nvSpPr>
          <p:cNvPr id="3" name="Text 1"/>
          <p:cNvSpPr/>
          <p:nvPr/>
        </p:nvSpPr>
        <p:spPr>
          <a:xfrm>
            <a:off x="575295" y="962992"/>
            <a:ext cx="1356345"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RUNNING EXAMPLE</a:t>
            </a:r>
            <a:endParaRPr lang="en-US" sz="750" dirty="0"/>
          </a:p>
        </p:txBody>
      </p:sp>
      <p:sp>
        <p:nvSpPr>
          <p:cNvPr id="4" name="Text 2"/>
          <p:cNvSpPr/>
          <p:nvPr/>
        </p:nvSpPr>
        <p:spPr>
          <a:xfrm>
            <a:off x="496119" y="1213321"/>
            <a:ext cx="4345037"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Problem We're Solving</a:t>
            </a:r>
            <a:endParaRPr lang="en-US" sz="2400" dirty="0"/>
          </a:p>
        </p:txBody>
      </p:sp>
      <p:sp>
        <p:nvSpPr>
          <p:cNvPr id="5" name="Shape 3"/>
          <p:cNvSpPr/>
          <p:nvPr/>
        </p:nvSpPr>
        <p:spPr>
          <a:xfrm>
            <a:off x="406822" y="1786905"/>
            <a:ext cx="4103191" cy="1570509"/>
          </a:xfrm>
          <a:prstGeom prst="roundRect">
            <a:avLst>
              <a:gd name="adj" fmla="val 5687"/>
            </a:avLst>
          </a:prstGeom>
          <a:solidFill>
            <a:srgbClr val="1B1B27">
              <a:alpha val="95000"/>
            </a:srgbClr>
          </a:solidFill>
          <a:ln/>
        </p:spPr>
      </p:sp>
      <p:sp>
        <p:nvSpPr>
          <p:cNvPr id="6" name="Text 4"/>
          <p:cNvSpPr/>
          <p:nvPr/>
        </p:nvSpPr>
        <p:spPr>
          <a:xfrm>
            <a:off x="530796" y="1910879"/>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The Question</a:t>
            </a:r>
            <a:endParaRPr lang="en-US" sz="1200" dirty="0"/>
          </a:p>
        </p:txBody>
      </p:sp>
      <p:sp>
        <p:nvSpPr>
          <p:cNvPr id="7" name="Text 5"/>
          <p:cNvSpPr/>
          <p:nvPr/>
        </p:nvSpPr>
        <p:spPr>
          <a:xfrm>
            <a:off x="530796" y="2228701"/>
            <a:ext cx="3855244" cy="508546"/>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FFFFFF"/>
                </a:solidFill>
                <a:latin typeface="Roboto" pitchFamily="34" charset="0"/>
                <a:ea typeface="Roboto" pitchFamily="34" charset="-122"/>
                <a:cs typeface="Roboto" pitchFamily="34" charset="-120"/>
              </a:rPr>
              <a:t>"What is the notice period for interns?"</a:t>
            </a:r>
            <a:endParaRPr lang="en-US" sz="950" dirty="0"/>
          </a:p>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A perfectly reasonable HR question that any employee might ask.</a:t>
            </a:r>
            <a:endParaRPr lang="en-US" sz="950" dirty="0"/>
          </a:p>
        </p:txBody>
      </p:sp>
      <p:sp>
        <p:nvSpPr>
          <p:cNvPr id="8" name="Text 6"/>
          <p:cNvSpPr/>
          <p:nvPr/>
        </p:nvSpPr>
        <p:spPr>
          <a:xfrm>
            <a:off x="4728046" y="1910879"/>
            <a:ext cx="2194024"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Where the Answer Lives</a:t>
            </a:r>
            <a:endParaRPr lang="en-US" sz="1200" dirty="0"/>
          </a:p>
        </p:txBody>
      </p:sp>
      <p:sp>
        <p:nvSpPr>
          <p:cNvPr id="9" name="Text 7"/>
          <p:cNvSpPr/>
          <p:nvPr/>
        </p:nvSpPr>
        <p:spPr>
          <a:xfrm>
            <a:off x="4728046" y="2228701"/>
            <a:ext cx="3924598" cy="1017091"/>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3C3939"/>
                </a:solidFill>
                <a:latin typeface="Roboto" pitchFamily="34" charset="0"/>
                <a:ea typeface="Roboto" pitchFamily="34" charset="-122"/>
                <a:cs typeface="Roboto" pitchFamily="34" charset="-120"/>
              </a:rPr>
              <a:t>The answer exists inside:</a:t>
            </a:r>
            <a:endParaRPr lang="en-US" sz="950" dirty="0"/>
          </a:p>
          <a:p>
            <a:pPr algn="l" indent="0" marL="0">
              <a:lnSpc>
                <a:spcPct val="133000"/>
              </a:lnSpc>
              <a:spcAft>
                <a:spcPts val="850"/>
              </a:spcAft>
              <a:buNone/>
            </a:pPr>
            <a:r>
              <a:rPr lang="en-US" sz="950" b="1" dirty="0">
                <a:solidFill>
                  <a:srgbClr val="3C3939"/>
                </a:solidFill>
                <a:latin typeface="Roboto" pitchFamily="34" charset="0"/>
                <a:ea typeface="Roboto" pitchFamily="34" charset="-122"/>
                <a:cs typeface="Roboto" pitchFamily="34" charset="-120"/>
              </a:rPr>
              <a:t>employee_policy_handbook.pdf</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private document the LLM has never seen — and cannot access on its own.</a:t>
            </a:r>
            <a:endParaRPr lang="en-US" sz="950" dirty="0"/>
          </a:p>
        </p:txBody>
      </p:sp>
      <p:sp>
        <p:nvSpPr>
          <p:cNvPr id="10" name="Shape 8"/>
          <p:cNvSpPr/>
          <p:nvPr/>
        </p:nvSpPr>
        <p:spPr>
          <a:xfrm>
            <a:off x="496119" y="3496940"/>
            <a:ext cx="8151763" cy="725463"/>
          </a:xfrm>
          <a:prstGeom prst="roundRect">
            <a:avLst>
              <a:gd name="adj" fmla="val 7182"/>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681487"/>
            <a:ext cx="155004" cy="123974"/>
          </a:xfrm>
          <a:prstGeom prst="rect">
            <a:avLst/>
          </a:prstGeom>
        </p:spPr>
      </p:pic>
      <p:sp>
        <p:nvSpPr>
          <p:cNvPr id="12" name="Text 9"/>
          <p:cNvSpPr/>
          <p:nvPr/>
        </p:nvSpPr>
        <p:spPr>
          <a:xfrm>
            <a:off x="899071" y="3651870"/>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This is the running example we'll use throughout the entire module. Every concept we introduce will connect back to this document and this question.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5162" y="319757"/>
            <a:ext cx="4963046" cy="363364"/>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Traditional LLM Approach vs. RAG</a:t>
            </a:r>
            <a:endParaRPr lang="en-US" sz="2250" dirty="0"/>
          </a:p>
        </p:txBody>
      </p:sp>
      <p:sp>
        <p:nvSpPr>
          <p:cNvPr id="3" name="Text 1"/>
          <p:cNvSpPr/>
          <p:nvPr/>
        </p:nvSpPr>
        <p:spPr>
          <a:xfrm>
            <a:off x="465162" y="955625"/>
            <a:ext cx="1910804" cy="18640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Raleway" pitchFamily="34" charset="0"/>
                <a:ea typeface="Raleway" pitchFamily="34" charset="-122"/>
                <a:cs typeface="Raleway" pitchFamily="34" charset="-120"/>
              </a:rPr>
              <a:t>❌</a:t>
            </a:r>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 Without RAG</a:t>
            </a:r>
            <a:endParaRPr lang="en-US" sz="1100" dirty="0"/>
          </a:p>
        </p:txBody>
      </p:sp>
      <p:pic>
        <p:nvPicPr>
          <p:cNvPr id="4" name="Image 0" descr="preencoded.png">    </p:cNvPr>
          <p:cNvPicPr>
            <a:picLocks noChangeAspect="1"/>
          </p:cNvPicPr>
          <p:nvPr/>
        </p:nvPicPr>
        <p:blipFill>
          <a:blip r:embed="rId1"/>
          <a:stretch>
            <a:fillRect/>
          </a:stretch>
        </p:blipFill>
        <p:spPr>
          <a:xfrm>
            <a:off x="1135112" y="1264667"/>
            <a:ext cx="2625105" cy="2266578"/>
          </a:xfrm>
          <a:prstGeom prst="rect">
            <a:avLst/>
          </a:prstGeom>
        </p:spPr>
      </p:pic>
      <p:sp>
        <p:nvSpPr>
          <p:cNvPr id="5" name="Text 2"/>
          <p:cNvSpPr/>
          <p:nvPr/>
        </p:nvSpPr>
        <p:spPr>
          <a:xfrm>
            <a:off x="2592667" y="2917926"/>
            <a:ext cx="956417" cy="368483"/>
          </a:xfrm>
          <a:prstGeom prst="rect">
            <a:avLst/>
          </a:prstGeom>
          <a:noFill/>
          <a:ln/>
        </p:spPr>
        <p:txBody>
          <a:bodyPr wrap="square" lIns="0" tIns="0" rIns="0" bIns="0" rtlCol="0" anchor="t">
            <a:normAutofit/>
          </a:bodyPr>
          <a:lstStyle/>
          <a:p>
            <a:pPr algn="ctr" indent="0" marL="0">
              <a:lnSpc>
                <a:spcPct val="104000"/>
              </a:lnSpc>
              <a:buNone/>
            </a:pPr>
            <a:r>
              <a:rPr lang="en-US" sz="1150" dirty="0">
                <a:solidFill>
                  <a:srgbClr val="3C3939"/>
                </a:solidFill>
                <a:latin typeface="Raleway" pitchFamily="34" charset="0"/>
                <a:ea typeface="Raleway" pitchFamily="34" charset="-122"/>
                <a:cs typeface="Raleway" pitchFamily="34" charset="-120"/>
              </a:rPr>
              <a:t>Hallucinated Answer</a:t>
            </a:r>
            <a:endParaRPr lang="en-US" sz="1150" dirty="0"/>
          </a:p>
        </p:txBody>
      </p:sp>
      <p:sp>
        <p:nvSpPr>
          <p:cNvPr id="6" name="Text 3"/>
          <p:cNvSpPr/>
          <p:nvPr/>
        </p:nvSpPr>
        <p:spPr>
          <a:xfrm>
            <a:off x="1139066" y="3010047"/>
            <a:ext cx="1185017" cy="184242"/>
          </a:xfrm>
          <a:prstGeom prst="rect">
            <a:avLst/>
          </a:prstGeom>
          <a:noFill/>
          <a:ln/>
        </p:spPr>
        <p:txBody>
          <a:bodyPr wrap="none" lIns="0" tIns="0" rIns="0" bIns="0" rtlCol="0" anchor="t"/>
          <a:lstStyle/>
          <a:p>
            <a:pPr algn="ctr" indent="0" marL="0">
              <a:lnSpc>
                <a:spcPct val="104000"/>
              </a:lnSpc>
              <a:buNone/>
            </a:pPr>
            <a:r>
              <a:rPr lang="en-US" sz="1150" dirty="0">
                <a:solidFill>
                  <a:srgbClr val="3C3939"/>
                </a:solidFill>
                <a:latin typeface="Raleway" pitchFamily="34" charset="0"/>
                <a:ea typeface="Raleway" pitchFamily="34" charset="-122"/>
                <a:cs typeface="Raleway" pitchFamily="34" charset="-120"/>
              </a:rPr>
              <a:t>Question</a:t>
            </a:r>
            <a:endParaRPr lang="en-US" sz="1150" dirty="0"/>
          </a:p>
        </p:txBody>
      </p:sp>
      <p:sp>
        <p:nvSpPr>
          <p:cNvPr id="7" name="Text 4"/>
          <p:cNvSpPr/>
          <p:nvPr/>
        </p:nvSpPr>
        <p:spPr>
          <a:xfrm>
            <a:off x="465162" y="3653879"/>
            <a:ext cx="3965004"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3C3939"/>
                </a:solidFill>
                <a:latin typeface="Roboto" pitchFamily="34" charset="0"/>
                <a:ea typeface="Roboto" pitchFamily="34" charset="-122"/>
                <a:cs typeface="Roboto" pitchFamily="34" charset="-120"/>
              </a:rPr>
              <a:t>The LLM has no access to your PDF. It either says "I don't know" or — worse — </a:t>
            </a:r>
            <a:pPr algn="l" indent="0" marL="0">
              <a:lnSpc>
                <a:spcPct val="129000"/>
              </a:lnSpc>
              <a:buNone/>
            </a:pPr>
            <a:r>
              <a:rPr lang="en-US" sz="900" b="1" dirty="0">
                <a:solidFill>
                  <a:srgbClr val="3C3939"/>
                </a:solidFill>
                <a:latin typeface="Roboto" pitchFamily="34" charset="0"/>
                <a:ea typeface="Roboto" pitchFamily="34" charset="-122"/>
                <a:cs typeface="Roboto" pitchFamily="34" charset="-120"/>
              </a:rPr>
              <a:t>invents a plausible but incorrect answer</a:t>
            </a:r>
            <a:pPr algn="l" indent="0" marL="0">
              <a:lnSpc>
                <a:spcPct val="129000"/>
              </a:lnSpc>
              <a:buNone/>
            </a:pPr>
            <a:r>
              <a:rPr lang="en-US" sz="900" dirty="0">
                <a:solidFill>
                  <a:srgbClr val="3C3939"/>
                </a:solidFill>
                <a:latin typeface="Roboto" pitchFamily="34" charset="0"/>
                <a:ea typeface="Roboto" pitchFamily="34" charset="-122"/>
                <a:cs typeface="Roboto" pitchFamily="34" charset="-120"/>
              </a:rPr>
              <a:t>. This is called hallucination.</a:t>
            </a:r>
            <a:endParaRPr lang="en-US" sz="900" dirty="0"/>
          </a:p>
        </p:txBody>
      </p:sp>
      <p:sp>
        <p:nvSpPr>
          <p:cNvPr id="8" name="Text 5"/>
          <p:cNvSpPr/>
          <p:nvPr/>
        </p:nvSpPr>
        <p:spPr>
          <a:xfrm>
            <a:off x="4718596" y="955625"/>
            <a:ext cx="1910804" cy="18640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Raleway" pitchFamily="34" charset="0"/>
                <a:ea typeface="Raleway" pitchFamily="34" charset="-122"/>
                <a:cs typeface="Raleway" pitchFamily="34" charset="-120"/>
              </a:rPr>
              <a:t>✅</a:t>
            </a:r>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 With RAG</a:t>
            </a:r>
            <a:endParaRPr lang="en-US" sz="1100" dirty="0"/>
          </a:p>
        </p:txBody>
      </p:sp>
      <p:pic>
        <p:nvPicPr>
          <p:cNvPr id="9" name="Image 1" descr="preencoded.png">    </p:cNvPr>
          <p:cNvPicPr>
            <a:picLocks noChangeAspect="1"/>
          </p:cNvPicPr>
          <p:nvPr/>
        </p:nvPicPr>
        <p:blipFill>
          <a:blip r:embed="rId2"/>
          <a:stretch>
            <a:fillRect/>
          </a:stretch>
        </p:blipFill>
        <p:spPr>
          <a:xfrm>
            <a:off x="4718596" y="1264667"/>
            <a:ext cx="3965004" cy="2980209"/>
          </a:xfrm>
          <a:prstGeom prst="rect">
            <a:avLst/>
          </a:prstGeom>
        </p:spPr>
      </p:pic>
      <p:sp>
        <p:nvSpPr>
          <p:cNvPr id="10" name="Text 6"/>
          <p:cNvSpPr/>
          <p:nvPr/>
        </p:nvSpPr>
        <p:spPr>
          <a:xfrm>
            <a:off x="6337942" y="2610006"/>
            <a:ext cx="723094" cy="496025"/>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FFFFFF"/>
                </a:solidFill>
                <a:latin typeface="Raleway" pitchFamily="34" charset="0"/>
                <a:ea typeface="Raleway" pitchFamily="34" charset="-122"/>
                <a:cs typeface="Raleway" pitchFamily="34" charset="-120"/>
              </a:rPr>
              <a:t>Grounded Answer from LLM</a:t>
            </a:r>
            <a:endParaRPr lang="en-US" sz="1000" dirty="0"/>
          </a:p>
        </p:txBody>
      </p:sp>
      <p:sp>
        <p:nvSpPr>
          <p:cNvPr id="11" name="Text 7"/>
          <p:cNvSpPr/>
          <p:nvPr/>
        </p:nvSpPr>
        <p:spPr>
          <a:xfrm>
            <a:off x="7419645" y="3378661"/>
            <a:ext cx="1075732" cy="330684"/>
          </a:xfrm>
          <a:prstGeom prst="rect">
            <a:avLst/>
          </a:prstGeom>
          <a:noFill/>
          <a:ln/>
        </p:spPr>
        <p:txBody>
          <a:bodyPr wrap="square" lIns="0" tIns="0" rIns="0" bIns="0" rtlCol="0" anchor="t">
            <a:normAutofit/>
          </a:bodyPr>
          <a:lstStyle/>
          <a:p>
            <a:pPr algn="ctr" indent="0" marL="0">
              <a:lnSpc>
                <a:spcPct val="104000"/>
              </a:lnSpc>
              <a:buNone/>
            </a:pPr>
            <a:r>
              <a:rPr lang="en-US" sz="1000" dirty="0">
                <a:solidFill>
                  <a:srgbClr val="3C3939"/>
                </a:solidFill>
                <a:latin typeface="Raleway" pitchFamily="34" charset="0"/>
                <a:ea typeface="Raleway" pitchFamily="34" charset="-122"/>
                <a:cs typeface="Raleway" pitchFamily="34" charset="-120"/>
              </a:rPr>
              <a:t>Retrieved Context</a:t>
            </a:r>
            <a:endParaRPr lang="en-US" sz="1000" dirty="0"/>
          </a:p>
        </p:txBody>
      </p:sp>
      <p:sp>
        <p:nvSpPr>
          <p:cNvPr id="12" name="Text 8"/>
          <p:cNvSpPr/>
          <p:nvPr/>
        </p:nvSpPr>
        <p:spPr>
          <a:xfrm>
            <a:off x="7419645" y="3756375"/>
            <a:ext cx="1075732" cy="256280"/>
          </a:xfrm>
          <a:prstGeom prst="rect">
            <a:avLst/>
          </a:prstGeom>
          <a:noFill/>
          <a:ln/>
        </p:spPr>
        <p:txBody>
          <a:bodyPr wrap="square" lIns="0" tIns="0" rIns="0" bIns="0" rtlCol="0" anchor="t">
            <a:normAutofit/>
          </a:bodyPr>
          <a:lstStyle/>
          <a:p>
            <a:pPr algn="ctr" indent="0" marL="0">
              <a:lnSpc>
                <a:spcPct val="101000"/>
              </a:lnSpc>
              <a:buNone/>
            </a:pPr>
            <a:r>
              <a:rPr lang="en-US" sz="800" dirty="0">
                <a:solidFill>
                  <a:srgbClr val="3C3939"/>
                </a:solidFill>
                <a:latin typeface="Roboto" pitchFamily="34" charset="0"/>
                <a:ea typeface="Roboto" pitchFamily="34" charset="-122"/>
                <a:cs typeface="Roboto" pitchFamily="34" charset="-120"/>
              </a:rPr>
              <a:t>Relevant passage from documents</a:t>
            </a:r>
            <a:endParaRPr lang="en-US" sz="800" dirty="0"/>
          </a:p>
        </p:txBody>
      </p:sp>
      <p:sp>
        <p:nvSpPr>
          <p:cNvPr id="13" name="Text 9"/>
          <p:cNvSpPr/>
          <p:nvPr/>
        </p:nvSpPr>
        <p:spPr>
          <a:xfrm>
            <a:off x="4669031" y="3461332"/>
            <a:ext cx="1304332" cy="165342"/>
          </a:xfrm>
          <a:prstGeom prst="rect">
            <a:avLst/>
          </a:prstGeom>
          <a:noFill/>
          <a:ln/>
        </p:spPr>
        <p:txBody>
          <a:bodyPr wrap="none" lIns="0" tIns="0" rIns="0" bIns="0" rtlCol="0" anchor="t"/>
          <a:lstStyle/>
          <a:p>
            <a:pPr algn="ctr" indent="0" marL="0">
              <a:lnSpc>
                <a:spcPct val="104000"/>
              </a:lnSpc>
              <a:buNone/>
            </a:pPr>
            <a:r>
              <a:rPr lang="en-US" sz="1000" dirty="0">
                <a:solidFill>
                  <a:srgbClr val="3C3939"/>
                </a:solidFill>
                <a:latin typeface="Raleway" pitchFamily="34" charset="0"/>
                <a:ea typeface="Raleway" pitchFamily="34" charset="-122"/>
                <a:cs typeface="Raleway" pitchFamily="34" charset="-120"/>
              </a:rPr>
              <a:t>LLM Inference</a:t>
            </a:r>
            <a:endParaRPr lang="en-US" sz="1000" dirty="0"/>
          </a:p>
        </p:txBody>
      </p:sp>
      <p:sp>
        <p:nvSpPr>
          <p:cNvPr id="14" name="Text 10"/>
          <p:cNvSpPr/>
          <p:nvPr/>
        </p:nvSpPr>
        <p:spPr>
          <a:xfrm>
            <a:off x="4897631" y="3673704"/>
            <a:ext cx="1075732" cy="256280"/>
          </a:xfrm>
          <a:prstGeom prst="rect">
            <a:avLst/>
          </a:prstGeom>
          <a:noFill/>
          <a:ln/>
        </p:spPr>
        <p:txBody>
          <a:bodyPr wrap="square" lIns="0" tIns="0" rIns="0" bIns="0" rtlCol="0" anchor="t">
            <a:normAutofit/>
          </a:bodyPr>
          <a:lstStyle/>
          <a:p>
            <a:pPr algn="ctr" indent="0" marL="0">
              <a:lnSpc>
                <a:spcPct val="101000"/>
              </a:lnSpc>
              <a:buNone/>
            </a:pPr>
            <a:r>
              <a:rPr lang="en-US" sz="800" dirty="0">
                <a:solidFill>
                  <a:srgbClr val="3C3939"/>
                </a:solidFill>
                <a:latin typeface="Roboto" pitchFamily="34" charset="0"/>
                <a:ea typeface="Roboto" pitchFamily="34" charset="-122"/>
                <a:cs typeface="Roboto" pitchFamily="34" charset="-120"/>
              </a:rPr>
              <a:t>Combines question and context</a:t>
            </a:r>
            <a:endParaRPr lang="en-US" sz="800" dirty="0"/>
          </a:p>
        </p:txBody>
      </p:sp>
      <p:sp>
        <p:nvSpPr>
          <p:cNvPr id="15" name="Text 11"/>
          <p:cNvSpPr/>
          <p:nvPr/>
        </p:nvSpPr>
        <p:spPr>
          <a:xfrm>
            <a:off x="5915341" y="1570740"/>
            <a:ext cx="1333726" cy="165342"/>
          </a:xfrm>
          <a:prstGeom prst="rect">
            <a:avLst/>
          </a:prstGeom>
          <a:noFill/>
          <a:ln/>
        </p:spPr>
        <p:txBody>
          <a:bodyPr wrap="none" lIns="0" tIns="0" rIns="0" bIns="0" rtlCol="0" anchor="t"/>
          <a:lstStyle/>
          <a:p>
            <a:pPr algn="ctr" indent="0" marL="0">
              <a:lnSpc>
                <a:spcPct val="104000"/>
              </a:lnSpc>
              <a:buNone/>
            </a:pPr>
            <a:r>
              <a:rPr lang="en-US" sz="1000" dirty="0">
                <a:solidFill>
                  <a:srgbClr val="3C3939"/>
                </a:solidFill>
                <a:latin typeface="Raleway" pitchFamily="34" charset="0"/>
                <a:ea typeface="Raleway" pitchFamily="34" charset="-122"/>
                <a:cs typeface="Raleway" pitchFamily="34" charset="-120"/>
              </a:rPr>
              <a:t>User Question</a:t>
            </a:r>
            <a:endParaRPr lang="en-US" sz="1000" dirty="0"/>
          </a:p>
        </p:txBody>
      </p:sp>
      <p:sp>
        <p:nvSpPr>
          <p:cNvPr id="16" name="Text 12"/>
          <p:cNvSpPr/>
          <p:nvPr/>
        </p:nvSpPr>
        <p:spPr>
          <a:xfrm>
            <a:off x="5915341" y="1783113"/>
            <a:ext cx="1333726" cy="128140"/>
          </a:xfrm>
          <a:prstGeom prst="rect">
            <a:avLst/>
          </a:prstGeom>
          <a:noFill/>
          <a:ln/>
        </p:spPr>
        <p:txBody>
          <a:bodyPr wrap="none" lIns="0" tIns="0" rIns="0" bIns="0" rtlCol="0" anchor="t"/>
          <a:lstStyle/>
          <a:p>
            <a:pPr algn="ctr" indent="0" marL="0">
              <a:lnSpc>
                <a:spcPct val="101000"/>
              </a:lnSpc>
              <a:buNone/>
            </a:pPr>
            <a:r>
              <a:rPr lang="en-US" sz="800" dirty="0">
                <a:solidFill>
                  <a:srgbClr val="3C3939"/>
                </a:solidFill>
                <a:latin typeface="Roboto" pitchFamily="34" charset="0"/>
                <a:ea typeface="Roboto" pitchFamily="34" charset="-122"/>
                <a:cs typeface="Roboto" pitchFamily="34" charset="-120"/>
              </a:rPr>
              <a:t>Query about the PDF</a:t>
            </a:r>
            <a:endParaRPr lang="en-US" sz="800" dirty="0"/>
          </a:p>
        </p:txBody>
      </p:sp>
      <p:sp>
        <p:nvSpPr>
          <p:cNvPr id="17" name="Text 13"/>
          <p:cNvSpPr/>
          <p:nvPr/>
        </p:nvSpPr>
        <p:spPr>
          <a:xfrm>
            <a:off x="4718596" y="4367510"/>
            <a:ext cx="3965004"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3C3939"/>
                </a:solidFill>
                <a:latin typeface="Roboto" pitchFamily="34" charset="0"/>
                <a:ea typeface="Roboto" pitchFamily="34" charset="-122"/>
                <a:cs typeface="Roboto" pitchFamily="34" charset="-120"/>
              </a:rPr>
              <a:t>We first retrieve the relevant passage from the PDF, then pass it alongside the question. The LLM now has real evidence to reason from.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276350"/>
            <a:ext cx="4358729"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What Does RAG Stand For?</a:t>
            </a:r>
            <a:endParaRPr lang="en-US" sz="2400" dirty="0"/>
          </a:p>
        </p:txBody>
      </p:sp>
      <p:sp>
        <p:nvSpPr>
          <p:cNvPr id="3" name="Text 1"/>
          <p:cNvSpPr/>
          <p:nvPr/>
        </p:nvSpPr>
        <p:spPr>
          <a:xfrm>
            <a:off x="496119" y="1911921"/>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RAG is an architecture pattern, not a specific library or tool. The three words describe exactly what happens at each stage of the pipeline.</a:t>
            </a:r>
            <a:endParaRPr lang="en-US" sz="950" dirty="0"/>
          </a:p>
        </p:txBody>
      </p:sp>
      <p:sp>
        <p:nvSpPr>
          <p:cNvPr id="4" name="Shape 2"/>
          <p:cNvSpPr/>
          <p:nvPr/>
        </p:nvSpPr>
        <p:spPr>
          <a:xfrm>
            <a:off x="496119" y="2249909"/>
            <a:ext cx="2634555" cy="1617166"/>
          </a:xfrm>
          <a:prstGeom prst="roundRect">
            <a:avLst>
              <a:gd name="adj" fmla="val 3222"/>
            </a:avLst>
          </a:prstGeom>
          <a:solidFill>
            <a:srgbClr val="E1E1EA"/>
          </a:solidFill>
          <a:ln w="4763">
            <a:solidFill>
              <a:srgbClr val="C7C7D0"/>
            </a:solidFill>
            <a:prstDash val="solid"/>
          </a:ln>
        </p:spPr>
      </p:sp>
      <p:sp>
        <p:nvSpPr>
          <p:cNvPr id="5" name="Shape 3"/>
          <p:cNvSpPr/>
          <p:nvPr/>
        </p:nvSpPr>
        <p:spPr>
          <a:xfrm>
            <a:off x="624855" y="2378646"/>
            <a:ext cx="372070" cy="372070"/>
          </a:xfrm>
          <a:prstGeom prst="roundRect">
            <a:avLst>
              <a:gd name="adj" fmla="val 15358477"/>
            </a:avLst>
          </a:prstGeom>
          <a:solidFill>
            <a:srgbClr val="1B1B27"/>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480890"/>
            <a:ext cx="167432" cy="167432"/>
          </a:xfrm>
          <a:prstGeom prst="rect">
            <a:avLst/>
          </a:prstGeom>
        </p:spPr>
      </p:pic>
      <p:sp>
        <p:nvSpPr>
          <p:cNvPr id="7" name="Text 4"/>
          <p:cNvSpPr/>
          <p:nvPr/>
        </p:nvSpPr>
        <p:spPr>
          <a:xfrm>
            <a:off x="624855" y="287469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Retrieval</a:t>
            </a:r>
            <a:endParaRPr lang="en-US" sz="1200" dirty="0"/>
          </a:p>
        </p:txBody>
      </p:sp>
      <p:sp>
        <p:nvSpPr>
          <p:cNvPr id="8" name="Text 5"/>
          <p:cNvSpPr/>
          <p:nvPr/>
        </p:nvSpPr>
        <p:spPr>
          <a:xfrm>
            <a:off x="624855" y="3142952"/>
            <a:ext cx="23770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Find the most relevant passages from your document store using semantic search</a:t>
            </a:r>
            <a:endParaRPr lang="en-US" sz="950" dirty="0"/>
          </a:p>
        </p:txBody>
      </p:sp>
      <p:sp>
        <p:nvSpPr>
          <p:cNvPr id="9" name="Shape 6"/>
          <p:cNvSpPr/>
          <p:nvPr/>
        </p:nvSpPr>
        <p:spPr>
          <a:xfrm>
            <a:off x="3254648" y="2249909"/>
            <a:ext cx="2634630" cy="1617166"/>
          </a:xfrm>
          <a:prstGeom prst="roundRect">
            <a:avLst>
              <a:gd name="adj" fmla="val 3222"/>
            </a:avLst>
          </a:prstGeom>
          <a:solidFill>
            <a:srgbClr val="E1E1EA"/>
          </a:solidFill>
          <a:ln w="4763">
            <a:solidFill>
              <a:srgbClr val="C7C7D0"/>
            </a:solidFill>
            <a:prstDash val="solid"/>
          </a:ln>
        </p:spPr>
      </p:sp>
      <p:sp>
        <p:nvSpPr>
          <p:cNvPr id="10" name="Shape 7"/>
          <p:cNvSpPr/>
          <p:nvPr/>
        </p:nvSpPr>
        <p:spPr>
          <a:xfrm>
            <a:off x="3383384" y="2378646"/>
            <a:ext cx="372070" cy="372070"/>
          </a:xfrm>
          <a:prstGeom prst="roundRect">
            <a:avLst>
              <a:gd name="adj" fmla="val 15358477"/>
            </a:avLst>
          </a:prstGeom>
          <a:solidFill>
            <a:srgbClr val="1B1B27"/>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5704" y="2480890"/>
            <a:ext cx="167432" cy="167432"/>
          </a:xfrm>
          <a:prstGeom prst="rect">
            <a:avLst/>
          </a:prstGeom>
        </p:spPr>
      </p:pic>
      <p:sp>
        <p:nvSpPr>
          <p:cNvPr id="12" name="Text 8"/>
          <p:cNvSpPr/>
          <p:nvPr/>
        </p:nvSpPr>
        <p:spPr>
          <a:xfrm>
            <a:off x="3383384" y="287469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Augmented</a:t>
            </a:r>
            <a:endParaRPr lang="en-US" sz="1200" dirty="0"/>
          </a:p>
        </p:txBody>
      </p:sp>
      <p:sp>
        <p:nvSpPr>
          <p:cNvPr id="13" name="Text 9"/>
          <p:cNvSpPr/>
          <p:nvPr/>
        </p:nvSpPr>
        <p:spPr>
          <a:xfrm>
            <a:off x="3383384" y="3142952"/>
            <a:ext cx="237715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Inject that retrieved context into the prompt — augmenting what the LLM can see</a:t>
            </a:r>
            <a:endParaRPr lang="en-US" sz="950" dirty="0"/>
          </a:p>
        </p:txBody>
      </p:sp>
      <p:sp>
        <p:nvSpPr>
          <p:cNvPr id="14" name="Shape 10"/>
          <p:cNvSpPr/>
          <p:nvPr/>
        </p:nvSpPr>
        <p:spPr>
          <a:xfrm>
            <a:off x="6013252" y="2249909"/>
            <a:ext cx="2634555" cy="1617166"/>
          </a:xfrm>
          <a:prstGeom prst="roundRect">
            <a:avLst>
              <a:gd name="adj" fmla="val 3222"/>
            </a:avLst>
          </a:prstGeom>
          <a:solidFill>
            <a:srgbClr val="E1E1EA"/>
          </a:solidFill>
          <a:ln w="4763">
            <a:solidFill>
              <a:srgbClr val="C7C7D0"/>
            </a:solidFill>
            <a:prstDash val="solid"/>
          </a:ln>
        </p:spPr>
      </p:sp>
      <p:sp>
        <p:nvSpPr>
          <p:cNvPr id="15" name="Shape 11"/>
          <p:cNvSpPr/>
          <p:nvPr/>
        </p:nvSpPr>
        <p:spPr>
          <a:xfrm>
            <a:off x="6141988" y="2378646"/>
            <a:ext cx="372070" cy="372070"/>
          </a:xfrm>
          <a:prstGeom prst="roundRect">
            <a:avLst>
              <a:gd name="adj" fmla="val 15358477"/>
            </a:avLst>
          </a:prstGeom>
          <a:solidFill>
            <a:srgbClr val="1B1B27"/>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4307" y="2480890"/>
            <a:ext cx="167432" cy="167432"/>
          </a:xfrm>
          <a:prstGeom prst="rect">
            <a:avLst/>
          </a:prstGeom>
        </p:spPr>
      </p:pic>
      <p:sp>
        <p:nvSpPr>
          <p:cNvPr id="17" name="Text 12"/>
          <p:cNvSpPr/>
          <p:nvPr/>
        </p:nvSpPr>
        <p:spPr>
          <a:xfrm>
            <a:off x="6141988" y="287469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Generation</a:t>
            </a:r>
            <a:endParaRPr lang="en-US" sz="1200" dirty="0"/>
          </a:p>
        </p:txBody>
      </p:sp>
      <p:sp>
        <p:nvSpPr>
          <p:cNvPr id="18" name="Text 13"/>
          <p:cNvSpPr/>
          <p:nvPr/>
        </p:nvSpPr>
        <p:spPr>
          <a:xfrm>
            <a:off x="6141988" y="3142952"/>
            <a:ext cx="23770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The LLM generates a grounded, accurate answer using only the provided context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48022" y="172492"/>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The Full RAG Pipeline</a:t>
            </a:r>
            <a:endParaRPr lang="en-US" sz="1200" dirty="0"/>
          </a:p>
        </p:txBody>
      </p:sp>
      <p:sp>
        <p:nvSpPr>
          <p:cNvPr id="3" name="Text 1"/>
          <p:cNvSpPr/>
          <p:nvPr/>
        </p:nvSpPr>
        <p:spPr>
          <a:xfrm>
            <a:off x="248022" y="428327"/>
            <a:ext cx="8895978" cy="74340"/>
          </a:xfrm>
          <a:prstGeom prst="rect">
            <a:avLst/>
          </a:prstGeom>
          <a:noFill/>
          <a:ln/>
        </p:spPr>
        <p:txBody>
          <a:bodyPr wrap="none" lIns="0" tIns="0" rIns="0" bIns="0" rtlCol="0" anchor="t"/>
          <a:lstStyle/>
          <a:p>
            <a:pPr algn="l" indent="0" marL="0">
              <a:lnSpc>
                <a:spcPct val="100000"/>
              </a:lnSpc>
              <a:buNone/>
            </a:pPr>
            <a:r>
              <a:rPr lang="en-US" sz="450" dirty="0">
                <a:solidFill>
                  <a:srgbClr val="3C3939"/>
                </a:solidFill>
                <a:latin typeface="Roboto" pitchFamily="34" charset="0"/>
                <a:ea typeface="Roboto" pitchFamily="34" charset="-122"/>
                <a:cs typeface="Roboto" pitchFamily="34" charset="-120"/>
              </a:rPr>
              <a:t>Every step in this pipeline will be implemented in this module. Keep this architecture in mind as we build each piece.</a:t>
            </a:r>
            <a:endParaRPr lang="en-US" sz="450" dirty="0"/>
          </a:p>
        </p:txBody>
      </p:sp>
      <p:pic>
        <p:nvPicPr>
          <p:cNvPr id="4" name="Image 0" descr="preencoded.png">    </p:cNvPr>
          <p:cNvPicPr>
            <a:picLocks noChangeAspect="1"/>
          </p:cNvPicPr>
          <p:nvPr/>
        </p:nvPicPr>
        <p:blipFill>
          <a:blip r:embed="rId1"/>
          <a:stretch>
            <a:fillRect/>
          </a:stretch>
        </p:blipFill>
        <p:spPr>
          <a:xfrm>
            <a:off x="714375" y="537493"/>
            <a:ext cx="7715176" cy="4215854"/>
          </a:xfrm>
          <a:prstGeom prst="rect">
            <a:avLst/>
          </a:prstGeom>
        </p:spPr>
      </p:pic>
      <p:sp>
        <p:nvSpPr>
          <p:cNvPr id="5" name="Text 2"/>
          <p:cNvSpPr/>
          <p:nvPr/>
        </p:nvSpPr>
        <p:spPr>
          <a:xfrm>
            <a:off x="1503164" y="2512871"/>
            <a:ext cx="2016257" cy="243219"/>
          </a:xfrm>
          <a:prstGeom prst="rect">
            <a:avLst/>
          </a:prstGeom>
          <a:noFill/>
          <a:ln/>
        </p:spPr>
        <p:txBody>
          <a:bodyPr wrap="none" lIns="0" tIns="0" rIns="0" bIns="0" rtlCol="0" anchor="t"/>
          <a:lstStyle/>
          <a:p>
            <a:pPr algn="ctr" indent="0" marL="0">
              <a:lnSpc>
                <a:spcPct val="104000"/>
              </a:lnSpc>
              <a:buNone/>
            </a:pPr>
            <a:r>
              <a:rPr lang="en-US" sz="1500" dirty="0">
                <a:solidFill>
                  <a:srgbClr val="1B1B27"/>
                </a:solidFill>
                <a:latin typeface="Raleway" pitchFamily="34" charset="0"/>
                <a:ea typeface="Raleway" pitchFamily="34" charset="-122"/>
                <a:cs typeface="Raleway" pitchFamily="34" charset="-120"/>
              </a:rPr>
              <a:t>Ingest Document</a:t>
            </a:r>
            <a:endParaRPr lang="en-US" sz="1500" dirty="0"/>
          </a:p>
        </p:txBody>
      </p:sp>
      <p:sp>
        <p:nvSpPr>
          <p:cNvPr id="6" name="Text 3"/>
          <p:cNvSpPr/>
          <p:nvPr/>
        </p:nvSpPr>
        <p:spPr>
          <a:xfrm>
            <a:off x="6245902" y="2363832"/>
            <a:ext cx="1787657" cy="486437"/>
          </a:xfrm>
          <a:prstGeom prst="rect">
            <a:avLst/>
          </a:prstGeom>
          <a:noFill/>
          <a:ln/>
        </p:spPr>
        <p:txBody>
          <a:bodyPr wrap="square" lIns="0" tIns="0" rIns="0" bIns="0" rtlCol="0" anchor="t">
            <a:normAutofit/>
          </a:bodyPr>
          <a:lstStyle/>
          <a:p>
            <a:pPr algn="ctr" indent="0" marL="0">
              <a:lnSpc>
                <a:spcPct val="104000"/>
              </a:lnSpc>
              <a:buNone/>
            </a:pPr>
            <a:r>
              <a:rPr lang="en-US" sz="1500" dirty="0">
                <a:solidFill>
                  <a:srgbClr val="1B1B27"/>
                </a:solidFill>
                <a:latin typeface="Raleway" pitchFamily="34" charset="0"/>
                <a:ea typeface="Raleway" pitchFamily="34" charset="-122"/>
                <a:cs typeface="Raleway" pitchFamily="34" charset="-120"/>
              </a:rPr>
              <a:t>Create Embeddings</a:t>
            </a:r>
            <a:endParaRPr lang="en-US" sz="1500" dirty="0"/>
          </a:p>
        </p:txBody>
      </p:sp>
      <p:sp>
        <p:nvSpPr>
          <p:cNvPr id="7" name="Text 4"/>
          <p:cNvSpPr/>
          <p:nvPr/>
        </p:nvSpPr>
        <p:spPr>
          <a:xfrm>
            <a:off x="3812120" y="2494224"/>
            <a:ext cx="2016257" cy="243219"/>
          </a:xfrm>
          <a:prstGeom prst="rect">
            <a:avLst/>
          </a:prstGeom>
          <a:noFill/>
          <a:ln/>
        </p:spPr>
        <p:txBody>
          <a:bodyPr wrap="none" lIns="0" tIns="0" rIns="0" bIns="0" rtlCol="0" anchor="t"/>
          <a:lstStyle/>
          <a:p>
            <a:pPr algn="ctr" indent="0" marL="0">
              <a:lnSpc>
                <a:spcPct val="104000"/>
              </a:lnSpc>
              <a:buNone/>
            </a:pPr>
            <a:r>
              <a:rPr lang="en-US" sz="1500" dirty="0">
                <a:solidFill>
                  <a:srgbClr val="1B1B27"/>
                </a:solidFill>
                <a:latin typeface="Raleway" pitchFamily="34" charset="0"/>
                <a:ea typeface="Raleway" pitchFamily="34" charset="-122"/>
                <a:cs typeface="Raleway" pitchFamily="34" charset="-120"/>
              </a:rPr>
              <a:t>Generate Answer</a:t>
            </a:r>
            <a:endParaRPr lang="en-US" sz="1500" dirty="0"/>
          </a:p>
        </p:txBody>
      </p:sp>
      <p:sp>
        <p:nvSpPr>
          <p:cNvPr id="8" name="Shape 5"/>
          <p:cNvSpPr/>
          <p:nvPr/>
        </p:nvSpPr>
        <p:spPr>
          <a:xfrm>
            <a:off x="248022" y="4788173"/>
            <a:ext cx="8647956" cy="182761"/>
          </a:xfrm>
          <a:prstGeom prst="roundRect">
            <a:avLst>
              <a:gd name="adj" fmla="val 14253"/>
            </a:avLst>
          </a:prstGeom>
          <a:solidFill>
            <a:srgbClr val="B6D6FC"/>
          </a:solidFill>
          <a:ln/>
        </p:spPr>
      </p:sp>
      <p:pic>
        <p:nvPicPr>
          <p:cNvPr id="9" name="Image 1" descr="preencoded.png">    </p:cNvPr>
          <p:cNvPicPr>
            <a:picLocks noChangeAspect="1"/>
          </p:cNvPicPr>
          <p:nvPr/>
        </p:nvPicPr>
        <p:blipFill>
          <a:blip r:embed="rId2"/>
          <a:stretch>
            <a:fillRect/>
          </a:stretch>
        </p:blipFill>
        <p:spPr>
          <a:xfrm>
            <a:off x="310009" y="4868540"/>
            <a:ext cx="77465" cy="61987"/>
          </a:xfrm>
          <a:prstGeom prst="rect">
            <a:avLst/>
          </a:prstGeom>
        </p:spPr>
      </p:pic>
      <p:sp>
        <p:nvSpPr>
          <p:cNvPr id="10" name="Text 6"/>
          <p:cNvSpPr/>
          <p:nvPr/>
        </p:nvSpPr>
        <p:spPr>
          <a:xfrm>
            <a:off x="449461" y="4834607"/>
            <a:ext cx="8694539" cy="74340"/>
          </a:xfrm>
          <a:prstGeom prst="rect">
            <a:avLst/>
          </a:prstGeom>
          <a:noFill/>
          <a:ln/>
        </p:spPr>
        <p:txBody>
          <a:bodyPr wrap="none" lIns="0" tIns="0" rIns="0" bIns="0" rtlCol="0" anchor="t"/>
          <a:lstStyle/>
          <a:p>
            <a:pPr algn="l" indent="0" marL="0">
              <a:lnSpc>
                <a:spcPct val="100000"/>
              </a:lnSpc>
              <a:buNone/>
            </a:pPr>
            <a:r>
              <a:rPr lang="en-US" sz="450" dirty="0">
                <a:solidFill>
                  <a:srgbClr val="000000"/>
                </a:solidFill>
                <a:latin typeface="Roboto" pitchFamily="34" charset="0"/>
                <a:ea typeface="Roboto" pitchFamily="34" charset="-122"/>
                <a:cs typeface="Roboto" pitchFamily="34" charset="-120"/>
              </a:rPr>
              <a:t>Our running document throughout: </a:t>
            </a:r>
            <a:pPr algn="l" indent="0" marL="0">
              <a:lnSpc>
                <a:spcPct val="100000"/>
              </a:lnSpc>
              <a:buNone/>
            </a:pPr>
            <a:r>
              <a:rPr lang="en-US" sz="450" b="1" dirty="0">
                <a:solidFill>
                  <a:srgbClr val="000000"/>
                </a:solidFill>
                <a:latin typeface="Roboto" pitchFamily="34" charset="0"/>
                <a:ea typeface="Roboto" pitchFamily="34" charset="-122"/>
                <a:cs typeface="Roboto" pitchFamily="34" charset="-120"/>
              </a:rPr>
              <a:t>employee_policy_handbook.pdf</a:t>
            </a:r>
            <a:pPr algn="l" indent="0" marL="0">
              <a:lnSpc>
                <a:spcPct val="100000"/>
              </a:lnSpc>
              <a:buNone/>
            </a:pPr>
            <a:r>
              <a:rPr lang="en-US" sz="450" dirty="0">
                <a:solidFill>
                  <a:srgbClr val="000000"/>
                </a:solidFill>
                <a:latin typeface="Roboto" pitchFamily="34" charset="0"/>
                <a:ea typeface="Roboto" pitchFamily="34" charset="-122"/>
                <a:cs typeface="Roboto" pitchFamily="34" charset="-120"/>
              </a:rPr>
              <a:t>. Each stage transforms the data into a form the next stage can use.</a:t>
            </a:r>
            <a:endParaRPr lang="en-US" sz="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2</a:t>
            </a:r>
            <a:endParaRPr lang="en-US" sz="750" dirty="0"/>
          </a:p>
        </p:txBody>
      </p:sp>
      <p:sp>
        <p:nvSpPr>
          <p:cNvPr id="4" name="Shape 2"/>
          <p:cNvSpPr/>
          <p:nvPr/>
        </p:nvSpPr>
        <p:spPr>
          <a:xfrm>
            <a:off x="1022449" y="1558900"/>
            <a:ext cx="1327621"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626468"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WHAT ARE EMBEDDINGS?</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2</a:t>
            </a:r>
            <a:endParaRPr lang="en-US" sz="2400" dirty="0"/>
          </a:p>
        </p:txBody>
      </p:sp>
      <p:sp>
        <p:nvSpPr>
          <p:cNvPr id="7" name="Text 5"/>
          <p:cNvSpPr/>
          <p:nvPr/>
        </p:nvSpPr>
        <p:spPr>
          <a:xfrm>
            <a:off x="496119" y="2424782"/>
            <a:ext cx="7236247"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What Are Embeddings?</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Converting language meaning into numbers so computers can measure similarity.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92943"/>
            <a:ext cx="3305026" cy="4957539"/>
          </a:xfrm>
          <a:prstGeom prst="rect">
            <a:avLst/>
          </a:prstGeom>
        </p:spPr>
      </p:pic>
      <p:sp>
        <p:nvSpPr>
          <p:cNvPr id="4" name="Text 1"/>
          <p:cNvSpPr/>
          <p:nvPr/>
        </p:nvSpPr>
        <p:spPr>
          <a:xfrm>
            <a:off x="3925119" y="1174105"/>
            <a:ext cx="4728046"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Keyword Search Problem</a:t>
            </a:r>
            <a:endParaRPr lang="en-US" sz="2400" dirty="0"/>
          </a:p>
        </p:txBody>
      </p:sp>
      <p:sp>
        <p:nvSpPr>
          <p:cNvPr id="5" name="Text 2"/>
          <p:cNvSpPr/>
          <p:nvPr/>
        </p:nvSpPr>
        <p:spPr>
          <a:xfrm>
            <a:off x="3925119" y="1747689"/>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Before we can understand embeddings, we need to understand why simple keyword matching fails. Consider these two sentences from our pipeline:</a:t>
            </a:r>
            <a:endParaRPr lang="en-US" sz="950" dirty="0"/>
          </a:p>
        </p:txBody>
      </p:sp>
      <p:sp>
        <p:nvSpPr>
          <p:cNvPr id="6" name="Shape 3"/>
          <p:cNvSpPr/>
          <p:nvPr/>
        </p:nvSpPr>
        <p:spPr>
          <a:xfrm>
            <a:off x="3835822" y="2284140"/>
            <a:ext cx="2388691" cy="950342"/>
          </a:xfrm>
          <a:prstGeom prst="roundRect">
            <a:avLst>
              <a:gd name="adj" fmla="val 9398"/>
            </a:avLst>
          </a:prstGeom>
          <a:solidFill>
            <a:srgbClr val="1B1B27">
              <a:alpha val="95000"/>
            </a:srgbClr>
          </a:solidFill>
          <a:ln/>
        </p:spPr>
      </p:sp>
      <p:sp>
        <p:nvSpPr>
          <p:cNvPr id="7" name="Text 4"/>
          <p:cNvSpPr/>
          <p:nvPr/>
        </p:nvSpPr>
        <p:spPr>
          <a:xfrm>
            <a:off x="3959796" y="2408113"/>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What's in the PDF</a:t>
            </a:r>
            <a:endParaRPr lang="en-US" sz="1200" dirty="0"/>
          </a:p>
        </p:txBody>
      </p:sp>
      <p:sp>
        <p:nvSpPr>
          <p:cNvPr id="8" name="Text 5"/>
          <p:cNvSpPr/>
          <p:nvPr/>
        </p:nvSpPr>
        <p:spPr>
          <a:xfrm>
            <a:off x="3959796" y="2725936"/>
            <a:ext cx="21407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"Interns must serve a </a:t>
            </a:r>
            <a:pPr algn="l" indent="0" marL="0">
              <a:lnSpc>
                <a:spcPct val="133000"/>
              </a:lnSpc>
              <a:buNone/>
            </a:pPr>
            <a:r>
              <a:rPr lang="en-US" sz="950" b="1" dirty="0">
                <a:solidFill>
                  <a:srgbClr val="FFFFFF"/>
                </a:solidFill>
                <a:latin typeface="Roboto" pitchFamily="34" charset="0"/>
                <a:ea typeface="Roboto" pitchFamily="34" charset="-122"/>
                <a:cs typeface="Roboto" pitchFamily="34" charset="-120"/>
              </a:rPr>
              <a:t>notice period</a:t>
            </a:r>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 of 15 days."</a:t>
            </a:r>
            <a:endParaRPr lang="en-US" sz="950" dirty="0"/>
          </a:p>
        </p:txBody>
      </p:sp>
      <p:sp>
        <p:nvSpPr>
          <p:cNvPr id="9" name="Text 6"/>
          <p:cNvSpPr/>
          <p:nvPr/>
        </p:nvSpPr>
        <p:spPr>
          <a:xfrm>
            <a:off x="6442546" y="2408113"/>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What the User Asks</a:t>
            </a:r>
            <a:endParaRPr lang="en-US" sz="1200" dirty="0"/>
          </a:p>
        </p:txBody>
      </p:sp>
      <p:sp>
        <p:nvSpPr>
          <p:cNvPr id="10" name="Text 7"/>
          <p:cNvSpPr/>
          <p:nvPr/>
        </p:nvSpPr>
        <p:spPr>
          <a:xfrm>
            <a:off x="6442546" y="2725936"/>
            <a:ext cx="22100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"How long before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resigning</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should interns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inform</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the company?"</a:t>
            </a:r>
            <a:endParaRPr lang="en-US" sz="950" dirty="0"/>
          </a:p>
        </p:txBody>
      </p:sp>
      <p:sp>
        <p:nvSpPr>
          <p:cNvPr id="11" name="Text 8"/>
          <p:cNvSpPr/>
          <p:nvPr/>
        </p:nvSpPr>
        <p:spPr>
          <a:xfrm>
            <a:off x="3925119" y="3374008"/>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human immediately understands these sentences are about the same thing. A keyword search engine does not — because the words are completely different. We need a smarter matching method.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1335807"/>
            <a:ext cx="4246141"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Why Keyword Search Fails</a:t>
            </a:r>
            <a:endParaRPr lang="en-US" sz="2400" dirty="0"/>
          </a:p>
        </p:txBody>
      </p:sp>
      <p:sp>
        <p:nvSpPr>
          <p:cNvPr id="3" name="Text 1"/>
          <p:cNvSpPr/>
          <p:nvPr/>
        </p:nvSpPr>
        <p:spPr>
          <a:xfrm>
            <a:off x="496119" y="2033364"/>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The Mismatch</a:t>
            </a:r>
            <a:endParaRPr lang="en-US" sz="1200" dirty="0"/>
          </a:p>
        </p:txBody>
      </p:sp>
      <p:sp>
        <p:nvSpPr>
          <p:cNvPr id="4" name="Shape 2"/>
          <p:cNvSpPr/>
          <p:nvPr/>
        </p:nvSpPr>
        <p:spPr>
          <a:xfrm>
            <a:off x="496119" y="2366739"/>
            <a:ext cx="1688902" cy="792807"/>
          </a:xfrm>
          <a:prstGeom prst="roundRect">
            <a:avLst>
              <a:gd name="adj" fmla="val 6572"/>
            </a:avLst>
          </a:prstGeom>
          <a:solidFill>
            <a:srgbClr val="FFFFFF">
              <a:alpha val="95000"/>
            </a:srgbClr>
          </a:solidFill>
          <a:ln w="14288">
            <a:solidFill>
              <a:srgbClr val="C7C7D0"/>
            </a:solidFill>
            <a:prstDash val="solid"/>
          </a:ln>
        </p:spPr>
      </p:sp>
      <p:sp>
        <p:nvSpPr>
          <p:cNvPr id="5" name="Text 3"/>
          <p:cNvSpPr/>
          <p:nvPr/>
        </p:nvSpPr>
        <p:spPr>
          <a:xfrm>
            <a:off x="634380" y="2505001"/>
            <a:ext cx="1412379"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In the document</a:t>
            </a:r>
            <a:endParaRPr lang="en-US" sz="1200" dirty="0"/>
          </a:p>
        </p:txBody>
      </p:sp>
      <p:sp>
        <p:nvSpPr>
          <p:cNvPr id="6" name="Text 4"/>
          <p:cNvSpPr/>
          <p:nvPr/>
        </p:nvSpPr>
        <p:spPr>
          <a:xfrm>
            <a:off x="634380" y="2822823"/>
            <a:ext cx="1412379"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"notice period"</a:t>
            </a:r>
            <a:endParaRPr lang="en-US" sz="950" dirty="0"/>
          </a:p>
        </p:txBody>
      </p:sp>
      <p:sp>
        <p:nvSpPr>
          <p:cNvPr id="7" name="Shape 5"/>
          <p:cNvSpPr/>
          <p:nvPr/>
        </p:nvSpPr>
        <p:spPr>
          <a:xfrm>
            <a:off x="2308994" y="2366739"/>
            <a:ext cx="1688976" cy="792807"/>
          </a:xfrm>
          <a:prstGeom prst="roundRect">
            <a:avLst>
              <a:gd name="adj" fmla="val 6572"/>
            </a:avLst>
          </a:prstGeom>
          <a:solidFill>
            <a:srgbClr val="FFFFFF">
              <a:alpha val="95000"/>
            </a:srgbClr>
          </a:solidFill>
          <a:ln w="14288">
            <a:solidFill>
              <a:srgbClr val="C7C7D0"/>
            </a:solidFill>
            <a:prstDash val="solid"/>
          </a:ln>
        </p:spPr>
      </p:sp>
      <p:sp>
        <p:nvSpPr>
          <p:cNvPr id="8" name="Text 6"/>
          <p:cNvSpPr/>
          <p:nvPr/>
        </p:nvSpPr>
        <p:spPr>
          <a:xfrm>
            <a:off x="2447255" y="2505001"/>
            <a:ext cx="1412453"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In the question</a:t>
            </a:r>
            <a:endParaRPr lang="en-US" sz="1200" dirty="0"/>
          </a:p>
        </p:txBody>
      </p:sp>
      <p:sp>
        <p:nvSpPr>
          <p:cNvPr id="9" name="Text 7"/>
          <p:cNvSpPr/>
          <p:nvPr/>
        </p:nvSpPr>
        <p:spPr>
          <a:xfrm>
            <a:off x="2447255" y="2822823"/>
            <a:ext cx="141245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"inform before resigning"</a:t>
            </a:r>
            <a:endParaRPr lang="en-US" sz="950" dirty="0"/>
          </a:p>
        </p:txBody>
      </p:sp>
      <p:sp>
        <p:nvSpPr>
          <p:cNvPr id="10" name="Text 8"/>
          <p:cNvSpPr/>
          <p:nvPr/>
        </p:nvSpPr>
        <p:spPr>
          <a:xfrm>
            <a:off x="496119" y="3299073"/>
            <a:ext cx="3501851"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Meaning is identical. Words are different.</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A keyword search returns zero matches.</a:t>
            </a:r>
            <a:endParaRPr lang="en-US" sz="950" dirty="0"/>
          </a:p>
        </p:txBody>
      </p:sp>
      <p:sp>
        <p:nvSpPr>
          <p:cNvPr id="11" name="Text 9"/>
          <p:cNvSpPr/>
          <p:nvPr/>
        </p:nvSpPr>
        <p:spPr>
          <a:xfrm>
            <a:off x="4305300" y="2033364"/>
            <a:ext cx="2124298"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What We Need Instead</a:t>
            </a:r>
            <a:endParaRPr lang="en-US" sz="1200" dirty="0"/>
          </a:p>
        </p:txBody>
      </p:sp>
      <p:sp>
        <p:nvSpPr>
          <p:cNvPr id="12" name="Text 10"/>
          <p:cNvSpPr/>
          <p:nvPr/>
        </p:nvSpPr>
        <p:spPr>
          <a:xfrm>
            <a:off x="4305300" y="2351187"/>
            <a:ext cx="4347270" cy="90547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We need a system that understands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semantic meaning</a:t>
            </a:r>
            <a:pPr algn="l" indent="0" marL="0">
              <a:lnSpc>
                <a:spcPct val="133000"/>
              </a:lnSpc>
              <a:spcAft>
                <a:spcPts val="850"/>
              </a:spcAft>
              <a:buNone/>
            </a:pPr>
            <a:r>
              <a:rPr lang="en-US" sz="950" dirty="0">
                <a:solidFill>
                  <a:srgbClr val="3C3939"/>
                </a:solidFill>
                <a:latin typeface="Roboto" pitchFamily="34" charset="0"/>
                <a:ea typeface="Roboto" pitchFamily="34" charset="-122"/>
                <a:cs typeface="Roboto" pitchFamily="34" charset="-120"/>
              </a:rPr>
              <a:t> — the intent behind the words — rather than performing literal string matching.</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This is exactly what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embeddings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provide. Instead of comparing words, we compare meaning encoded as mathematical vectors.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80640" y="332036"/>
            <a:ext cx="4107210" cy="375493"/>
          </a:xfrm>
          <a:prstGeom prst="rect">
            <a:avLst/>
          </a:prstGeom>
          <a:noFill/>
          <a:ln/>
        </p:spPr>
        <p:txBody>
          <a:bodyPr wrap="none" lIns="0" tIns="0" rIns="0" bIns="0" rtlCol="0" anchor="t"/>
          <a:lstStyle/>
          <a:p>
            <a:pPr algn="l" indent="0" marL="0">
              <a:lnSpc>
                <a:spcPct val="104000"/>
              </a:lnSpc>
              <a:buNone/>
            </a:pPr>
            <a:r>
              <a:rPr lang="en-US" sz="2350" dirty="0">
                <a:solidFill>
                  <a:srgbClr val="1B1B27"/>
                </a:solidFill>
                <a:latin typeface="Raleway" pitchFamily="34" charset="0"/>
                <a:ea typeface="Raleway" pitchFamily="34" charset="-122"/>
                <a:cs typeface="Raleway" pitchFamily="34" charset="-120"/>
              </a:rPr>
              <a:t>The Solution: Embeddings</a:t>
            </a:r>
            <a:endParaRPr lang="en-US" sz="2350" dirty="0"/>
          </a:p>
        </p:txBody>
      </p:sp>
      <p:sp>
        <p:nvSpPr>
          <p:cNvPr id="3" name="Text 1"/>
          <p:cNvSpPr/>
          <p:nvPr/>
        </p:nvSpPr>
        <p:spPr>
          <a:xfrm>
            <a:off x="480640" y="940296"/>
            <a:ext cx="8182719"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3C3939"/>
                </a:solidFill>
                <a:latin typeface="Roboto" pitchFamily="34" charset="0"/>
                <a:ea typeface="Roboto" pitchFamily="34" charset="-122"/>
                <a:cs typeface="Roboto" pitchFamily="34" charset="-120"/>
              </a:rPr>
              <a:t>An embedding model reads a piece of text and converts its </a:t>
            </a:r>
            <a:pPr algn="l" indent="0" marL="0">
              <a:lnSpc>
                <a:spcPct val="131000"/>
              </a:lnSpc>
              <a:buNone/>
            </a:pPr>
            <a:r>
              <a:rPr lang="en-US" sz="900" b="1" dirty="0">
                <a:solidFill>
                  <a:srgbClr val="3C3939"/>
                </a:solidFill>
                <a:latin typeface="Roboto" pitchFamily="34" charset="0"/>
                <a:ea typeface="Roboto" pitchFamily="34" charset="-122"/>
                <a:cs typeface="Roboto" pitchFamily="34" charset="-120"/>
              </a:rPr>
              <a:t>meaning</a:t>
            </a:r>
            <a:pPr algn="l" indent="0" marL="0">
              <a:lnSpc>
                <a:spcPct val="131000"/>
              </a:lnSpc>
              <a:buNone/>
            </a:pPr>
            <a:r>
              <a:rPr lang="en-US" sz="900" dirty="0">
                <a:solidFill>
                  <a:srgbClr val="3C3939"/>
                </a:solidFill>
                <a:latin typeface="Roboto" pitchFamily="34" charset="0"/>
                <a:ea typeface="Roboto" pitchFamily="34" charset="-122"/>
                <a:cs typeface="Roboto" pitchFamily="34" charset="-120"/>
              </a:rPr>
              <a:t> into a list of numbers — called a vector. Similar meanings produce numerically similar vectors.</a:t>
            </a:r>
            <a:endParaRPr lang="en-US" sz="900" dirty="0"/>
          </a:p>
        </p:txBody>
      </p:sp>
      <p:pic>
        <p:nvPicPr>
          <p:cNvPr id="4" name="Image 0" descr="preencoded.png">    </p:cNvPr>
          <p:cNvPicPr>
            <a:picLocks noChangeAspect="1"/>
          </p:cNvPicPr>
          <p:nvPr/>
        </p:nvPicPr>
        <p:blipFill>
          <a:blip r:embed="rId1"/>
          <a:stretch>
            <a:fillRect/>
          </a:stretch>
        </p:blipFill>
        <p:spPr>
          <a:xfrm>
            <a:off x="2169021" y="1449660"/>
            <a:ext cx="4805958" cy="2852365"/>
          </a:xfrm>
          <a:prstGeom prst="rect">
            <a:avLst/>
          </a:prstGeom>
        </p:spPr>
      </p:pic>
      <p:sp>
        <p:nvSpPr>
          <p:cNvPr id="5" name="Text 2"/>
          <p:cNvSpPr/>
          <p:nvPr/>
        </p:nvSpPr>
        <p:spPr>
          <a:xfrm>
            <a:off x="5514045" y="3525336"/>
            <a:ext cx="1194657" cy="460270"/>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Numerical Vector</a:t>
            </a:r>
            <a:endParaRPr lang="en-US" sz="1400" dirty="0"/>
          </a:p>
        </p:txBody>
      </p:sp>
      <p:sp>
        <p:nvSpPr>
          <p:cNvPr id="6" name="Text 3"/>
          <p:cNvSpPr/>
          <p:nvPr/>
        </p:nvSpPr>
        <p:spPr>
          <a:xfrm>
            <a:off x="4008449" y="3525336"/>
            <a:ext cx="1194658" cy="460270"/>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Embedding Model</a:t>
            </a:r>
            <a:endParaRPr lang="en-US" sz="1400" dirty="0"/>
          </a:p>
        </p:txBody>
      </p:sp>
      <p:sp>
        <p:nvSpPr>
          <p:cNvPr id="7" name="Text 4"/>
          <p:cNvSpPr/>
          <p:nvPr/>
        </p:nvSpPr>
        <p:spPr>
          <a:xfrm>
            <a:off x="2249706" y="3640403"/>
            <a:ext cx="1423257" cy="230135"/>
          </a:xfrm>
          <a:prstGeom prst="rect">
            <a:avLst/>
          </a:prstGeom>
          <a:noFill/>
          <a:ln/>
        </p:spPr>
        <p:txBody>
          <a:bodyPr wrap="none" lIns="0" tIns="0" rIns="0" bIns="0" rtlCol="0" anchor="t"/>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Text Input</a:t>
            </a:r>
            <a:endParaRPr lang="en-US" sz="1400" dirty="0"/>
          </a:p>
        </p:txBody>
      </p:sp>
      <p:sp>
        <p:nvSpPr>
          <p:cNvPr id="8" name="Text 5"/>
          <p:cNvSpPr/>
          <p:nvPr/>
        </p:nvSpPr>
        <p:spPr>
          <a:xfrm>
            <a:off x="480640" y="4432920"/>
            <a:ext cx="8182719"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3C3939"/>
                </a:solidFill>
                <a:latin typeface="Roboto" pitchFamily="34" charset="0"/>
                <a:ea typeface="Roboto" pitchFamily="34" charset="-122"/>
                <a:cs typeface="Roboto" pitchFamily="34" charset="-120"/>
              </a:rPr>
              <a:t>This is the breakthrough that makes semantic search possible. We stop asking "do these strings match?" and start asking "are these vectors close to each other?" — which maps directly to "do these sentences mean the same thing?"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1298525"/>
            <a:ext cx="5480596"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Embedding Intuition: A 2D Example</a:t>
            </a:r>
            <a:endParaRPr lang="en-US" sz="2400" dirty="0"/>
          </a:p>
        </p:txBody>
      </p:sp>
      <p:sp>
        <p:nvSpPr>
          <p:cNvPr id="3" name="Text 1"/>
          <p:cNvSpPr/>
          <p:nvPr/>
        </p:nvSpPr>
        <p:spPr>
          <a:xfrm>
            <a:off x="496119" y="1934096"/>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 reality, embeddings live in hundreds of dimensions — but imagine we could plot them in 2D. Semantically similar texts would cluster near each other in this space.</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470547"/>
            <a:ext cx="248022" cy="248022"/>
          </a:xfrm>
          <a:prstGeom prst="rect">
            <a:avLst/>
          </a:prstGeom>
        </p:spPr>
      </p:pic>
      <p:sp>
        <p:nvSpPr>
          <p:cNvPr id="5" name="Text 2"/>
          <p:cNvSpPr/>
          <p:nvPr/>
        </p:nvSpPr>
        <p:spPr>
          <a:xfrm>
            <a:off x="899145" y="2513186"/>
            <a:ext cx="2196629"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Notice policy sentence → (2, 5)</a:t>
            </a:r>
            <a:endParaRPr lang="en-US" sz="1200" dirty="0"/>
          </a:p>
        </p:txBody>
      </p:sp>
      <p:sp>
        <p:nvSpPr>
          <p:cNvPr id="6" name="Text 3"/>
          <p:cNvSpPr/>
          <p:nvPr/>
        </p:nvSpPr>
        <p:spPr>
          <a:xfrm>
            <a:off x="899145" y="2781449"/>
            <a:ext cx="221084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"Interns must serve a notice period of 15 days"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470547"/>
            <a:ext cx="248022" cy="248022"/>
          </a:xfrm>
          <a:prstGeom prst="rect">
            <a:avLst/>
          </a:prstGeom>
        </p:spPr>
      </p:pic>
      <p:sp>
        <p:nvSpPr>
          <p:cNvPr id="8" name="Text 4"/>
          <p:cNvSpPr/>
          <p:nvPr/>
        </p:nvSpPr>
        <p:spPr>
          <a:xfrm>
            <a:off x="3668018" y="2513186"/>
            <a:ext cx="1701998"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Similar question → (3, 5)</a:t>
            </a:r>
            <a:endParaRPr lang="en-US" sz="1200" dirty="0"/>
          </a:p>
        </p:txBody>
      </p:sp>
      <p:sp>
        <p:nvSpPr>
          <p:cNvPr id="9" name="Text 5"/>
          <p:cNvSpPr/>
          <p:nvPr/>
        </p:nvSpPr>
        <p:spPr>
          <a:xfrm>
            <a:off x="3668018" y="2781449"/>
            <a:ext cx="221091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"How long before resigning should interns inform the company?"</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470547"/>
            <a:ext cx="248022" cy="248022"/>
          </a:xfrm>
          <a:prstGeom prst="rect">
            <a:avLst/>
          </a:prstGeom>
        </p:spPr>
      </p:pic>
      <p:sp>
        <p:nvSpPr>
          <p:cNvPr id="11" name="Text 6"/>
          <p:cNvSpPr/>
          <p:nvPr/>
        </p:nvSpPr>
        <p:spPr>
          <a:xfrm>
            <a:off x="6436965" y="2513186"/>
            <a:ext cx="2025625"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Unrelated topic → (100, 200)</a:t>
            </a:r>
            <a:endParaRPr lang="en-US" sz="1200" dirty="0"/>
          </a:p>
        </p:txBody>
      </p:sp>
      <p:sp>
        <p:nvSpPr>
          <p:cNvPr id="12" name="Text 7"/>
          <p:cNvSpPr/>
          <p:nvPr/>
        </p:nvSpPr>
        <p:spPr>
          <a:xfrm>
            <a:off x="6436965" y="2781449"/>
            <a:ext cx="221091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"What are the cafeteria timings on weekends?"</a:t>
            </a:r>
            <a:endParaRPr lang="en-US" sz="950" dirty="0"/>
          </a:p>
        </p:txBody>
      </p:sp>
      <p:sp>
        <p:nvSpPr>
          <p:cNvPr id="13" name="Shape 8"/>
          <p:cNvSpPr/>
          <p:nvPr/>
        </p:nvSpPr>
        <p:spPr>
          <a:xfrm>
            <a:off x="496119" y="3317900"/>
            <a:ext cx="8151763" cy="527000"/>
          </a:xfrm>
          <a:prstGeom prst="roundRect">
            <a:avLst>
              <a:gd name="adj" fmla="val 9886"/>
            </a:avLst>
          </a:prstGeom>
          <a:solidFill>
            <a:srgbClr val="B6FCB8"/>
          </a:solidFill>
          <a:ln/>
        </p:spPr>
      </p:sp>
      <p:pic>
        <p:nvPicPr>
          <p:cNvPr id="14" name="Image 3" descr="preencoded.png">    </p:cNvPr>
          <p:cNvPicPr>
            <a:picLocks noChangeAspect="1"/>
          </p:cNvPicPr>
          <p:nvPr/>
        </p:nvPicPr>
        <p:blipFill>
          <a:blip r:embed="rId7"/>
          <a:stretch>
            <a:fillRect/>
          </a:stretch>
        </p:blipFill>
        <p:spPr>
          <a:xfrm>
            <a:off x="620092" y="3502447"/>
            <a:ext cx="155004" cy="123974"/>
          </a:xfrm>
          <a:prstGeom prst="rect">
            <a:avLst/>
          </a:prstGeom>
        </p:spPr>
      </p:pic>
      <p:sp>
        <p:nvSpPr>
          <p:cNvPr id="15" name="Text 9"/>
          <p:cNvSpPr/>
          <p:nvPr/>
        </p:nvSpPr>
        <p:spPr>
          <a:xfrm>
            <a:off x="899071" y="3472830"/>
            <a:ext cx="8082037"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Roboto" pitchFamily="34" charset="0"/>
                <a:ea typeface="Roboto" pitchFamily="34" charset="-122"/>
                <a:cs typeface="Roboto" pitchFamily="34" charset="-120"/>
              </a:rPr>
              <a:t>Key insight:</a:t>
            </a:r>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 Similar meaning = numerically close vectors. Unrelated meaning = numerically far apart.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1060177"/>
            <a:ext cx="5285259"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Reality: High-Dimensional Vectors</a:t>
            </a:r>
            <a:endParaRPr lang="en-US" sz="2400" dirty="0"/>
          </a:p>
        </p:txBody>
      </p:sp>
      <p:sp>
        <p:nvSpPr>
          <p:cNvPr id="3" name="Text 1"/>
          <p:cNvSpPr/>
          <p:nvPr/>
        </p:nvSpPr>
        <p:spPr>
          <a:xfrm>
            <a:off x="496119" y="1695748"/>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 production, embeddings are not 2D points. They are long lists of decimal numbers — each dimension capturing a subtle aspect of meaning.</a:t>
            </a:r>
            <a:endParaRPr lang="en-US" sz="950" dirty="0"/>
          </a:p>
        </p:txBody>
      </p:sp>
      <p:sp>
        <p:nvSpPr>
          <p:cNvPr id="4" name="Shape 2"/>
          <p:cNvSpPr/>
          <p:nvPr/>
        </p:nvSpPr>
        <p:spPr>
          <a:xfrm>
            <a:off x="496119" y="2033736"/>
            <a:ext cx="8151763" cy="644872"/>
          </a:xfrm>
          <a:prstGeom prst="roundRect">
            <a:avLst>
              <a:gd name="adj" fmla="val 8079"/>
            </a:avLst>
          </a:prstGeom>
          <a:solidFill>
            <a:srgbClr val="F2F2F2"/>
          </a:solidFill>
          <a:ln/>
        </p:spPr>
      </p:sp>
      <p:sp>
        <p:nvSpPr>
          <p:cNvPr id="5" name="Shape 3"/>
          <p:cNvSpPr/>
          <p:nvPr/>
        </p:nvSpPr>
        <p:spPr>
          <a:xfrm>
            <a:off x="489942" y="2033736"/>
            <a:ext cx="8164116" cy="644872"/>
          </a:xfrm>
          <a:prstGeom prst="roundRect">
            <a:avLst>
              <a:gd name="adj" fmla="val 2885"/>
            </a:avLst>
          </a:prstGeom>
          <a:solidFill>
            <a:srgbClr val="F2F2F2"/>
          </a:solidFill>
          <a:ln/>
        </p:spPr>
      </p:sp>
      <p:sp>
        <p:nvSpPr>
          <p:cNvPr id="6" name="Text 4"/>
          <p:cNvSpPr/>
          <p:nvPr/>
        </p:nvSpPr>
        <p:spPr>
          <a:xfrm>
            <a:off x="644947" y="2157710"/>
            <a:ext cx="785410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[0.012, -0.543, 0.222, 0.891, -0.034, 0.667, ...]</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                    ... 1536 values total</a:t>
            </a:r>
            <a:endParaRPr lang="en-US" sz="950" dirty="0"/>
          </a:p>
        </p:txBody>
      </p:sp>
      <p:sp>
        <p:nvSpPr>
          <p:cNvPr id="7" name="Text 5"/>
          <p:cNvSpPr/>
          <p:nvPr/>
        </p:nvSpPr>
        <p:spPr>
          <a:xfrm>
            <a:off x="496119" y="2942109"/>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Model We'll Use</a:t>
            </a:r>
            <a:endParaRPr lang="en-US" sz="1200" dirty="0"/>
          </a:p>
        </p:txBody>
      </p:sp>
      <p:sp>
        <p:nvSpPr>
          <p:cNvPr id="8" name="Text 6"/>
          <p:cNvSpPr/>
          <p:nvPr/>
        </p:nvSpPr>
        <p:spPr>
          <a:xfrm>
            <a:off x="496119" y="3259931"/>
            <a:ext cx="3924598" cy="711771"/>
          </a:xfrm>
          <a:prstGeom prst="rect">
            <a:avLst/>
          </a:prstGeom>
          <a:noFill/>
          <a:ln/>
        </p:spPr>
        <p:txBody>
          <a:bodyPr wrap="square" lIns="0" tIns="0" rIns="0" bIns="0" rtlCol="0" anchor="t"/>
          <a:lstStyle/>
          <a:p>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text-embedding-3-small</a:t>
            </a:r>
            <a:pPr algn="l" indent="0" marL="0">
              <a:lnSpc>
                <a:spcPct val="133000"/>
              </a:lnSpc>
              <a:spcAft>
                <a:spcPts val="850"/>
              </a:spcAft>
              <a:buNone/>
            </a:pPr>
            <a:r>
              <a:rPr lang="en-US" sz="950" dirty="0">
                <a:solidFill>
                  <a:srgbClr val="3C3939"/>
                </a:solidFill>
                <a:latin typeface="Roboto" pitchFamily="34" charset="0"/>
                <a:ea typeface="Roboto" pitchFamily="34" charset="-122"/>
                <a:cs typeface="Roboto" pitchFamily="34" charset="-120"/>
              </a:rPr>
              <a:t> by OpenAI</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Produces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1,536-dimensional</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vectors. Each number encodes a nuance of meaning from the input text.</a:t>
            </a:r>
            <a:endParaRPr lang="en-US" sz="950" dirty="0"/>
          </a:p>
        </p:txBody>
      </p:sp>
      <p:sp>
        <p:nvSpPr>
          <p:cNvPr id="9" name="Text 7"/>
          <p:cNvSpPr/>
          <p:nvPr/>
        </p:nvSpPr>
        <p:spPr>
          <a:xfrm>
            <a:off x="4728046" y="2942109"/>
            <a:ext cx="2388915"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Why So Many Dimensions?</a:t>
            </a:r>
            <a:endParaRPr lang="en-US" sz="1200" dirty="0"/>
          </a:p>
        </p:txBody>
      </p:sp>
      <p:sp>
        <p:nvSpPr>
          <p:cNvPr id="10" name="Text 8"/>
          <p:cNvSpPr/>
          <p:nvPr/>
        </p:nvSpPr>
        <p:spPr>
          <a:xfrm>
            <a:off x="4728046" y="3259931"/>
            <a:ext cx="392459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More dimensions = richer representation of meaning. The model can distinguish subtle differences in intent, tone, topic, and context across all 1,536 axes simultaneously.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92943"/>
            <a:ext cx="3305026" cy="4957539"/>
          </a:xfrm>
          <a:prstGeom prst="rect">
            <a:avLst/>
          </a:prstGeom>
        </p:spPr>
      </p:pic>
      <p:sp>
        <p:nvSpPr>
          <p:cNvPr id="4" name="Text 1"/>
          <p:cNvSpPr/>
          <p:nvPr/>
        </p:nvSpPr>
        <p:spPr>
          <a:xfrm>
            <a:off x="496119" y="838274"/>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Semantic Space: Similar Meanings Cluster Together</a:t>
            </a:r>
            <a:endParaRPr lang="en-US" sz="2400" dirty="0"/>
          </a:p>
        </p:txBody>
      </p:sp>
      <p:sp>
        <p:nvSpPr>
          <p:cNvPr id="5" name="Text 2"/>
          <p:cNvSpPr/>
          <p:nvPr/>
        </p:nvSpPr>
        <p:spPr>
          <a:xfrm>
            <a:off x="496119" y="1799406"/>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When you embed all the chunks from your PDF, they naturally organize themselves into clusters by topic. This is the geometric structure that makes retrieval work.</a:t>
            </a:r>
            <a:endParaRPr lang="en-US" sz="950" dirty="0"/>
          </a:p>
        </p:txBody>
      </p:sp>
      <p:sp>
        <p:nvSpPr>
          <p:cNvPr id="6" name="Shape 3"/>
          <p:cNvSpPr/>
          <p:nvPr/>
        </p:nvSpPr>
        <p:spPr>
          <a:xfrm>
            <a:off x="496119" y="2335857"/>
            <a:ext cx="2299395" cy="1121122"/>
          </a:xfrm>
          <a:prstGeom prst="roundRect">
            <a:avLst>
              <a:gd name="adj" fmla="val 4647"/>
            </a:avLst>
          </a:prstGeom>
          <a:solidFill>
            <a:srgbClr val="E1E1EA"/>
          </a:solidFill>
          <a:ln w="4763">
            <a:solidFill>
              <a:srgbClr val="C7C7D0"/>
            </a:solidFill>
            <a:prstDash val="solid"/>
          </a:ln>
        </p:spPr>
      </p:sp>
      <p:sp>
        <p:nvSpPr>
          <p:cNvPr id="7" name="Text 4"/>
          <p:cNvSpPr/>
          <p:nvPr/>
        </p:nvSpPr>
        <p:spPr>
          <a:xfrm>
            <a:off x="624855" y="246459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Notice Policy Cluster</a:t>
            </a:r>
            <a:endParaRPr lang="en-US" sz="1200" dirty="0"/>
          </a:p>
        </p:txBody>
      </p:sp>
      <p:sp>
        <p:nvSpPr>
          <p:cNvPr id="8" name="Text 5"/>
          <p:cNvSpPr/>
          <p:nvPr/>
        </p:nvSpPr>
        <p:spPr>
          <a:xfrm>
            <a:off x="624855" y="2732856"/>
            <a:ext cx="204192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All chunks about notice periods, resignation procedures, and exit formalities land near each other</a:t>
            </a:r>
            <a:endParaRPr lang="en-US" sz="950" dirty="0"/>
          </a:p>
        </p:txBody>
      </p:sp>
      <p:sp>
        <p:nvSpPr>
          <p:cNvPr id="9" name="Shape 6"/>
          <p:cNvSpPr/>
          <p:nvPr/>
        </p:nvSpPr>
        <p:spPr>
          <a:xfrm>
            <a:off x="2919487" y="2335857"/>
            <a:ext cx="2299395" cy="1121122"/>
          </a:xfrm>
          <a:prstGeom prst="roundRect">
            <a:avLst>
              <a:gd name="adj" fmla="val 4647"/>
            </a:avLst>
          </a:prstGeom>
          <a:solidFill>
            <a:srgbClr val="E1E1EA"/>
          </a:solidFill>
          <a:ln w="4763">
            <a:solidFill>
              <a:srgbClr val="C7C7D0"/>
            </a:solidFill>
            <a:prstDash val="solid"/>
          </a:ln>
        </p:spPr>
      </p:sp>
      <p:sp>
        <p:nvSpPr>
          <p:cNvPr id="10" name="Text 7"/>
          <p:cNvSpPr/>
          <p:nvPr/>
        </p:nvSpPr>
        <p:spPr>
          <a:xfrm>
            <a:off x="3048223" y="246459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Cafeteria Cluster</a:t>
            </a:r>
            <a:endParaRPr lang="en-US" sz="1200" dirty="0"/>
          </a:p>
        </p:txBody>
      </p:sp>
      <p:sp>
        <p:nvSpPr>
          <p:cNvPr id="11" name="Text 8"/>
          <p:cNvSpPr/>
          <p:nvPr/>
        </p:nvSpPr>
        <p:spPr>
          <a:xfrm>
            <a:off x="3048223" y="2732856"/>
            <a:ext cx="204192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Lunch timings, menu policies, and dining rules group separately</a:t>
            </a:r>
            <a:endParaRPr lang="en-US" sz="950" dirty="0"/>
          </a:p>
        </p:txBody>
      </p:sp>
      <p:sp>
        <p:nvSpPr>
          <p:cNvPr id="12" name="Shape 9"/>
          <p:cNvSpPr/>
          <p:nvPr/>
        </p:nvSpPr>
        <p:spPr>
          <a:xfrm>
            <a:off x="496119" y="3580954"/>
            <a:ext cx="4722763" cy="724198"/>
          </a:xfrm>
          <a:prstGeom prst="roundRect">
            <a:avLst>
              <a:gd name="adj" fmla="val 7194"/>
            </a:avLst>
          </a:prstGeom>
          <a:solidFill>
            <a:srgbClr val="E1E1EA"/>
          </a:solidFill>
          <a:ln w="4763">
            <a:solidFill>
              <a:srgbClr val="C7C7D0"/>
            </a:solidFill>
            <a:prstDash val="solid"/>
          </a:ln>
        </p:spPr>
      </p:sp>
      <p:sp>
        <p:nvSpPr>
          <p:cNvPr id="13" name="Text 10"/>
          <p:cNvSpPr/>
          <p:nvPr/>
        </p:nvSpPr>
        <p:spPr>
          <a:xfrm>
            <a:off x="624855" y="370969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Insurance Cluster</a:t>
            </a:r>
            <a:endParaRPr lang="en-US" sz="1200" dirty="0"/>
          </a:p>
        </p:txBody>
      </p:sp>
      <p:sp>
        <p:nvSpPr>
          <p:cNvPr id="14" name="Text 11"/>
          <p:cNvSpPr/>
          <p:nvPr/>
        </p:nvSpPr>
        <p:spPr>
          <a:xfrm>
            <a:off x="624855" y="3977953"/>
            <a:ext cx="4465290"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Health coverage, claims, and benefits information forms its own neighborhood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72901" y="329729"/>
            <a:ext cx="4543351" cy="369466"/>
          </a:xfrm>
          <a:prstGeom prst="rect">
            <a:avLst/>
          </a:prstGeom>
          <a:noFill/>
          <a:ln/>
        </p:spPr>
        <p:txBody>
          <a:bodyPr wrap="none" lIns="0" tIns="0" rIns="0" bIns="0" rtlCol="0" anchor="t"/>
          <a:lstStyle/>
          <a:p>
            <a:pPr algn="l" indent="0" marL="0">
              <a:lnSpc>
                <a:spcPct val="104000"/>
              </a:lnSpc>
              <a:buNone/>
            </a:pPr>
            <a:r>
              <a:rPr lang="en-US" sz="2300" dirty="0">
                <a:solidFill>
                  <a:srgbClr val="1B1B27"/>
                </a:solidFill>
                <a:latin typeface="Raleway" pitchFamily="34" charset="0"/>
                <a:ea typeface="Raleway" pitchFamily="34" charset="-122"/>
                <a:cs typeface="Raleway" pitchFamily="34" charset="-120"/>
              </a:rPr>
              <a:t>Why RAG Needs Embeddings</a:t>
            </a:r>
            <a:endParaRPr lang="en-US" sz="2300" dirty="0"/>
          </a:p>
        </p:txBody>
      </p:sp>
      <p:pic>
        <p:nvPicPr>
          <p:cNvPr id="3" name="Image 0" descr="preencoded.png">    </p:cNvPr>
          <p:cNvPicPr>
            <a:picLocks noChangeAspect="1"/>
          </p:cNvPicPr>
          <p:nvPr/>
        </p:nvPicPr>
        <p:blipFill>
          <a:blip r:embed="rId1"/>
          <a:stretch>
            <a:fillRect/>
          </a:stretch>
        </p:blipFill>
        <p:spPr>
          <a:xfrm>
            <a:off x="472901" y="924520"/>
            <a:ext cx="8198197" cy="3393058"/>
          </a:xfrm>
          <a:prstGeom prst="rect">
            <a:avLst/>
          </a:prstGeom>
        </p:spPr>
      </p:pic>
      <p:sp>
        <p:nvSpPr>
          <p:cNvPr id="4" name="Text 1"/>
          <p:cNvSpPr/>
          <p:nvPr/>
        </p:nvSpPr>
        <p:spPr>
          <a:xfrm>
            <a:off x="666834" y="1866128"/>
            <a:ext cx="1324803" cy="681587"/>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Path A: Keyword Search</a:t>
            </a:r>
            <a:endParaRPr lang="en-US" sz="1400" dirty="0"/>
          </a:p>
        </p:txBody>
      </p:sp>
      <p:sp>
        <p:nvSpPr>
          <p:cNvPr id="5" name="Text 2"/>
          <p:cNvSpPr/>
          <p:nvPr/>
        </p:nvSpPr>
        <p:spPr>
          <a:xfrm>
            <a:off x="666834" y="2612340"/>
            <a:ext cx="1324803" cy="532395"/>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3C3939"/>
                </a:solidFill>
                <a:latin typeface="Roboto" pitchFamily="34" charset="0"/>
                <a:ea typeface="Roboto" pitchFamily="34" charset="-122"/>
                <a:cs typeface="Roboto" pitchFamily="34" charset="-120"/>
              </a:rPr>
              <a:t>Question → Keyword Match → Weak Retrieval</a:t>
            </a:r>
            <a:endParaRPr lang="en-US" sz="1100" dirty="0"/>
          </a:p>
        </p:txBody>
      </p:sp>
      <p:sp>
        <p:nvSpPr>
          <p:cNvPr id="6" name="Text 3"/>
          <p:cNvSpPr/>
          <p:nvPr/>
        </p:nvSpPr>
        <p:spPr>
          <a:xfrm>
            <a:off x="7145446" y="1866128"/>
            <a:ext cx="1324803" cy="681587"/>
          </a:xfrm>
          <a:prstGeom prst="rect">
            <a:avLst/>
          </a:prstGeom>
          <a:noFill/>
          <a:ln/>
        </p:spPr>
        <p:txBody>
          <a:bodyPr wrap="square" lIns="0" tIns="0" rIns="0" bIns="0" rtlCol="0" anchor="t">
            <a:normAutofit/>
          </a:bodyPr>
          <a:lstStyle/>
          <a:p>
            <a:pPr algn="l" indent="0" marL="0">
              <a:lnSpc>
                <a:spcPct val="104000"/>
              </a:lnSpc>
              <a:buNone/>
            </a:pPr>
            <a:r>
              <a:rPr lang="en-US" sz="1400" dirty="0">
                <a:solidFill>
                  <a:srgbClr val="3C3939"/>
                </a:solidFill>
                <a:latin typeface="Raleway" pitchFamily="34" charset="0"/>
                <a:ea typeface="Raleway" pitchFamily="34" charset="-122"/>
                <a:cs typeface="Raleway" pitchFamily="34" charset="-120"/>
              </a:rPr>
              <a:t>Path B: Embedding Search</a:t>
            </a:r>
            <a:endParaRPr lang="en-US" sz="1400" dirty="0"/>
          </a:p>
        </p:txBody>
      </p:sp>
      <p:sp>
        <p:nvSpPr>
          <p:cNvPr id="7" name="Text 4"/>
          <p:cNvSpPr/>
          <p:nvPr/>
        </p:nvSpPr>
        <p:spPr>
          <a:xfrm>
            <a:off x="7145446" y="2612340"/>
            <a:ext cx="1324803" cy="709860"/>
          </a:xfrm>
          <a:prstGeom prst="rect">
            <a:avLst/>
          </a:prstGeom>
          <a:noFill/>
          <a:ln/>
        </p:spPr>
        <p:txBody>
          <a:bodyPr wrap="square" lIns="0" tIns="0" rIns="0" bIns="0" rtlCol="0" anchor="t">
            <a:normAutofit/>
          </a:bodyPr>
          <a:lstStyle/>
          <a:p>
            <a:pPr algn="l" indent="0" marL="0">
              <a:lnSpc>
                <a:spcPct val="102000"/>
              </a:lnSpc>
              <a:buNone/>
            </a:pPr>
            <a:r>
              <a:rPr lang="en-US" sz="1100" dirty="0">
                <a:solidFill>
                  <a:srgbClr val="3C3939"/>
                </a:solidFill>
                <a:latin typeface="Roboto" pitchFamily="34" charset="0"/>
                <a:ea typeface="Roboto" pitchFamily="34" charset="-122"/>
                <a:cs typeface="Roboto" pitchFamily="34" charset="-120"/>
              </a:rPr>
              <a:t>Question → Embedding → Cosine Similarity → Strong Retrieval</a:t>
            </a:r>
            <a:endParaRPr lang="en-US" sz="1100" dirty="0"/>
          </a:p>
        </p:txBody>
      </p:sp>
      <p:sp>
        <p:nvSpPr>
          <p:cNvPr id="8" name="Text 5"/>
          <p:cNvSpPr/>
          <p:nvPr/>
        </p:nvSpPr>
        <p:spPr>
          <a:xfrm>
            <a:off x="472901" y="4444305"/>
            <a:ext cx="8198197"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3C3939"/>
                </a:solidFill>
                <a:latin typeface="Roboto" pitchFamily="34" charset="0"/>
                <a:ea typeface="Roboto" pitchFamily="34" charset="-122"/>
                <a:cs typeface="Roboto" pitchFamily="34" charset="-120"/>
              </a:rPr>
              <a:t>Embeddings are what elevate RAG from a brittle keyword lookup system into a robust semantic search engine. Without them, your retrieval is fragile and misses questions that are phrased differently from the source text.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96119" y="1020961"/>
            <a:ext cx="687809" cy="242739"/>
          </a:xfrm>
          <a:prstGeom prst="roundRect">
            <a:avLst>
              <a:gd name="adj" fmla="val 17171"/>
            </a:avLst>
          </a:prstGeom>
          <a:noFill/>
          <a:ln w="4763">
            <a:solidFill>
              <a:srgbClr val="1B1B27"/>
            </a:solidFill>
            <a:prstDash val="solid"/>
          </a:ln>
        </p:spPr>
      </p:sp>
      <p:sp>
        <p:nvSpPr>
          <p:cNvPr id="3" name="Text 1"/>
          <p:cNvSpPr/>
          <p:nvPr/>
        </p:nvSpPr>
        <p:spPr>
          <a:xfrm>
            <a:off x="575295" y="1062930"/>
            <a:ext cx="986656"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OPENAI API</a:t>
            </a:r>
            <a:endParaRPr lang="en-US" sz="750" dirty="0"/>
          </a:p>
        </p:txBody>
      </p:sp>
      <p:sp>
        <p:nvSpPr>
          <p:cNvPr id="4" name="Text 2"/>
          <p:cNvSpPr/>
          <p:nvPr/>
        </p:nvSpPr>
        <p:spPr>
          <a:xfrm>
            <a:off x="496119" y="1313259"/>
            <a:ext cx="4609579"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OpenAI Embeddings API</a:t>
            </a:r>
            <a:endParaRPr lang="en-US" sz="2400" dirty="0"/>
          </a:p>
        </p:txBody>
      </p:sp>
      <p:sp>
        <p:nvSpPr>
          <p:cNvPr id="5" name="Shape 3"/>
          <p:cNvSpPr/>
          <p:nvPr/>
        </p:nvSpPr>
        <p:spPr>
          <a:xfrm>
            <a:off x="406822" y="1886843"/>
            <a:ext cx="3680445" cy="2235622"/>
          </a:xfrm>
          <a:prstGeom prst="roundRect">
            <a:avLst>
              <a:gd name="adj" fmla="val 3995"/>
            </a:avLst>
          </a:prstGeom>
          <a:solidFill>
            <a:srgbClr val="1B1B27">
              <a:alpha val="95000"/>
            </a:srgbClr>
          </a:solidFill>
          <a:ln/>
        </p:spPr>
      </p:sp>
      <p:sp>
        <p:nvSpPr>
          <p:cNvPr id="6" name="Text 4"/>
          <p:cNvSpPr/>
          <p:nvPr/>
        </p:nvSpPr>
        <p:spPr>
          <a:xfrm>
            <a:off x="530796" y="201081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Model</a:t>
            </a:r>
            <a:endParaRPr lang="en-US" sz="1200" dirty="0"/>
          </a:p>
        </p:txBody>
      </p:sp>
      <p:sp>
        <p:nvSpPr>
          <p:cNvPr id="7" name="Text 5"/>
          <p:cNvSpPr/>
          <p:nvPr/>
        </p:nvSpPr>
        <p:spPr>
          <a:xfrm>
            <a:off x="530796" y="2328639"/>
            <a:ext cx="3889697" cy="203225"/>
          </a:xfrm>
          <a:prstGeom prst="rect">
            <a:avLst/>
          </a:prstGeom>
          <a:noFill/>
          <a:ln/>
        </p:spPr>
        <p:txBody>
          <a:bodyPr wrap="none" lIns="0" tIns="0" rIns="0" bIns="0" rtlCol="0" anchor="t"/>
          <a:lstStyle/>
          <a:p>
            <a:pPr algn="l" indent="0" marL="0">
              <a:lnSpc>
                <a:spcPct val="133000"/>
              </a:lnSpc>
              <a:buNone/>
            </a:pPr>
            <a:r>
              <a:rPr lang="en-US" sz="950" dirty="0">
                <a:solidFill>
                  <a:srgbClr val="FFFFFF"/>
                </a:solidFill>
                <a:highlight>
                  <a:srgbClr val="282834"/>
                </a:highlight>
                <a:latin typeface="Consolas" pitchFamily="34" charset="0"/>
                <a:ea typeface="Consolas" pitchFamily="34" charset="-122"/>
                <a:cs typeface="Consolas" pitchFamily="34" charset="-120"/>
              </a:rPr>
              <a:t>text-embedding-3-small</a:t>
            </a:r>
            <a:endParaRPr lang="en-US" sz="950" dirty="0"/>
          </a:p>
        </p:txBody>
      </p:sp>
      <p:sp>
        <p:nvSpPr>
          <p:cNvPr id="8" name="Text 6"/>
          <p:cNvSpPr/>
          <p:nvPr/>
        </p:nvSpPr>
        <p:spPr>
          <a:xfrm>
            <a:off x="530796" y="2655838"/>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Purpose</a:t>
            </a:r>
            <a:endParaRPr lang="en-US" sz="1200" dirty="0"/>
          </a:p>
        </p:txBody>
      </p:sp>
      <p:sp>
        <p:nvSpPr>
          <p:cNvPr id="9" name="Text 7"/>
          <p:cNvSpPr/>
          <p:nvPr/>
        </p:nvSpPr>
        <p:spPr>
          <a:xfrm>
            <a:off x="530796" y="2973660"/>
            <a:ext cx="3889697" cy="198462"/>
          </a:xfrm>
          <a:prstGeom prst="rect">
            <a:avLst/>
          </a:prstGeom>
          <a:noFill/>
          <a:ln/>
        </p:spPr>
        <p:txBody>
          <a:bodyPr wrap="none" lIns="0" tIns="0" rIns="0" bIns="0" rtlCol="0" anchor="t"/>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Convert any text string into a 1,536-dimensional vector</a:t>
            </a:r>
            <a:endParaRPr lang="en-US" sz="950" dirty="0"/>
          </a:p>
        </p:txBody>
      </p:sp>
      <p:sp>
        <p:nvSpPr>
          <p:cNvPr id="10" name="Text 8"/>
          <p:cNvSpPr/>
          <p:nvPr/>
        </p:nvSpPr>
        <p:spPr>
          <a:xfrm>
            <a:off x="530796" y="3296096"/>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Output</a:t>
            </a:r>
            <a:endParaRPr lang="en-US" sz="1200" dirty="0"/>
          </a:p>
        </p:txBody>
      </p:sp>
      <p:sp>
        <p:nvSpPr>
          <p:cNvPr id="11" name="Text 9"/>
          <p:cNvSpPr/>
          <p:nvPr/>
        </p:nvSpPr>
        <p:spPr>
          <a:xfrm>
            <a:off x="530796" y="3613919"/>
            <a:ext cx="343249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A list of floating-point numbers representing the meaning of the input</a:t>
            </a:r>
            <a:endParaRPr lang="en-US" sz="950" dirty="0"/>
          </a:p>
        </p:txBody>
      </p:sp>
      <p:sp>
        <p:nvSpPr>
          <p:cNvPr id="12" name="Text 10"/>
          <p:cNvSpPr/>
          <p:nvPr/>
        </p:nvSpPr>
        <p:spPr>
          <a:xfrm>
            <a:off x="4305300" y="2010817"/>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What You Send</a:t>
            </a:r>
            <a:endParaRPr lang="en-US" sz="1200" dirty="0"/>
          </a:p>
        </p:txBody>
      </p:sp>
      <p:sp>
        <p:nvSpPr>
          <p:cNvPr id="13" name="Text 11"/>
          <p:cNvSpPr/>
          <p:nvPr/>
        </p:nvSpPr>
        <p:spPr>
          <a:xfrm>
            <a:off x="4305300" y="2328639"/>
            <a:ext cx="434727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string of text — a question, a chunk of your document, or any passage you want to embed.</a:t>
            </a:r>
            <a:endParaRPr lang="en-US" sz="950" dirty="0"/>
          </a:p>
        </p:txBody>
      </p:sp>
      <p:sp>
        <p:nvSpPr>
          <p:cNvPr id="14" name="Text 12"/>
          <p:cNvSpPr/>
          <p:nvPr/>
        </p:nvSpPr>
        <p:spPr>
          <a:xfrm>
            <a:off x="4305300" y="2849538"/>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What You Get Back</a:t>
            </a:r>
            <a:endParaRPr lang="en-US" sz="1200" dirty="0"/>
          </a:p>
        </p:txBody>
      </p:sp>
      <p:sp>
        <p:nvSpPr>
          <p:cNvPr id="15" name="Text 13"/>
          <p:cNvSpPr/>
          <p:nvPr/>
        </p:nvSpPr>
        <p:spPr>
          <a:xfrm>
            <a:off x="4305300" y="3167360"/>
            <a:ext cx="434727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vector. That's it. A list of 1,536 numbers that mathematically encodes the meaning of your input text, ready to be compared against other embeddings.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481236"/>
            <a:ext cx="494928" cy="202704"/>
          </a:xfrm>
          <a:prstGeom prst="roundRect">
            <a:avLst>
              <a:gd name="adj" fmla="val 18506"/>
            </a:avLst>
          </a:prstGeom>
          <a:solidFill>
            <a:srgbClr val="E1E1EA"/>
          </a:solidFill>
          <a:ln/>
        </p:spPr>
      </p:sp>
      <p:sp>
        <p:nvSpPr>
          <p:cNvPr id="3" name="Text 1"/>
          <p:cNvSpPr/>
          <p:nvPr/>
        </p:nvSpPr>
        <p:spPr>
          <a:xfrm>
            <a:off x="563091" y="514722"/>
            <a:ext cx="818183" cy="135731"/>
          </a:xfrm>
          <a:prstGeom prst="rect">
            <a:avLst/>
          </a:prstGeom>
          <a:noFill/>
          <a:ln/>
        </p:spPr>
        <p:txBody>
          <a:bodyPr wrap="none" lIns="0" tIns="0" rIns="0" bIns="0" rtlCol="0" anchor="t"/>
          <a:lstStyle/>
          <a:p>
            <a:pPr algn="l" indent="0" marL="0">
              <a:lnSpc>
                <a:spcPct val="127000"/>
              </a:lnSpc>
              <a:buNone/>
            </a:pPr>
            <a:r>
              <a:rPr lang="en-US" sz="700" dirty="0">
                <a:solidFill>
                  <a:srgbClr val="3C3939"/>
                </a:solidFill>
                <a:latin typeface="Roboto" pitchFamily="34" charset="0"/>
                <a:ea typeface="Roboto" pitchFamily="34" charset="-122"/>
                <a:cs typeface="Roboto" pitchFamily="34" charset="-120"/>
              </a:rPr>
              <a:t>VS CODE</a:t>
            </a:r>
            <a:endParaRPr lang="en-US" sz="700" dirty="0"/>
          </a:p>
        </p:txBody>
      </p:sp>
      <p:sp>
        <p:nvSpPr>
          <p:cNvPr id="4" name="Text 2"/>
          <p:cNvSpPr/>
          <p:nvPr/>
        </p:nvSpPr>
        <p:spPr>
          <a:xfrm>
            <a:off x="496119" y="724123"/>
            <a:ext cx="6896919" cy="348853"/>
          </a:xfrm>
          <a:prstGeom prst="rect">
            <a:avLst/>
          </a:prstGeom>
          <a:noFill/>
          <a:ln/>
        </p:spPr>
        <p:txBody>
          <a:bodyPr wrap="none" lIns="0" tIns="0" rIns="0" bIns="0" rtlCol="0" anchor="t"/>
          <a:lstStyle/>
          <a:p>
            <a:pPr algn="l" indent="0" marL="0">
              <a:lnSpc>
                <a:spcPct val="104000"/>
              </a:lnSpc>
              <a:buNone/>
            </a:pPr>
            <a:r>
              <a:rPr lang="en-US" sz="2150" dirty="0">
                <a:solidFill>
                  <a:srgbClr val="1B1B27"/>
                </a:solidFill>
                <a:latin typeface="Raleway" pitchFamily="34" charset="0"/>
                <a:ea typeface="Raleway" pitchFamily="34" charset="-122"/>
                <a:cs typeface="Raleway" pitchFamily="34" charset="-120"/>
              </a:rPr>
              <a:t>Over to VS Code — Creating Your First Embedding</a:t>
            </a:r>
            <a:endParaRPr lang="en-US" sz="2150" dirty="0"/>
          </a:p>
        </p:txBody>
      </p:sp>
      <p:sp>
        <p:nvSpPr>
          <p:cNvPr id="5" name="Text 3"/>
          <p:cNvSpPr/>
          <p:nvPr/>
        </p:nvSpPr>
        <p:spPr>
          <a:xfrm>
            <a:off x="496119" y="1223665"/>
            <a:ext cx="8608963" cy="169664"/>
          </a:xfrm>
          <a:prstGeom prst="rect">
            <a:avLst/>
          </a:prstGeom>
          <a:noFill/>
          <a:ln/>
        </p:spPr>
        <p:txBody>
          <a:bodyPr wrap="none" lIns="0" tIns="0" rIns="0" bIns="0" rtlCol="0" anchor="t"/>
          <a:lstStyle/>
          <a:p>
            <a:pPr algn="l" indent="0" marL="0">
              <a:lnSpc>
                <a:spcPct val="127000"/>
              </a:lnSpc>
              <a:buNone/>
            </a:pPr>
            <a:r>
              <a:rPr lang="en-US" sz="850" dirty="0">
                <a:solidFill>
                  <a:srgbClr val="3C3939"/>
                </a:solidFill>
                <a:latin typeface="Roboto" pitchFamily="34" charset="0"/>
                <a:ea typeface="Roboto" pitchFamily="34" charset="-122"/>
                <a:cs typeface="Roboto" pitchFamily="34" charset="-120"/>
              </a:rPr>
              <a:t>Let's call the OpenAI Embeddings API and inspect what it returns. This is the foundation of everything else we build.</a:t>
            </a:r>
            <a:endParaRPr lang="en-US" sz="850" dirty="0"/>
          </a:p>
        </p:txBody>
      </p:sp>
      <p:sp>
        <p:nvSpPr>
          <p:cNvPr id="6" name="Shape 4"/>
          <p:cNvSpPr/>
          <p:nvPr/>
        </p:nvSpPr>
        <p:spPr>
          <a:xfrm>
            <a:off x="496119" y="1506364"/>
            <a:ext cx="8151763" cy="2598539"/>
          </a:xfrm>
          <a:prstGeom prst="roundRect">
            <a:avLst>
              <a:gd name="adj" fmla="val 1804"/>
            </a:avLst>
          </a:prstGeom>
          <a:solidFill>
            <a:srgbClr val="F2F2F2"/>
          </a:solidFill>
          <a:ln/>
        </p:spPr>
      </p:sp>
      <p:sp>
        <p:nvSpPr>
          <p:cNvPr id="7" name="Shape 5"/>
          <p:cNvSpPr/>
          <p:nvPr/>
        </p:nvSpPr>
        <p:spPr>
          <a:xfrm>
            <a:off x="490537" y="1506364"/>
            <a:ext cx="8162925" cy="2598539"/>
          </a:xfrm>
          <a:prstGeom prst="roundRect">
            <a:avLst>
              <a:gd name="adj" fmla="val 644"/>
            </a:avLst>
          </a:prstGeom>
          <a:solidFill>
            <a:srgbClr val="F2F2F2"/>
          </a:solidFill>
          <a:ln/>
        </p:spPr>
      </p:sp>
      <p:sp>
        <p:nvSpPr>
          <p:cNvPr id="8" name="Text 6"/>
          <p:cNvSpPr/>
          <p:nvPr/>
        </p:nvSpPr>
        <p:spPr>
          <a:xfrm>
            <a:off x="630064" y="1617985"/>
            <a:ext cx="7883872" cy="2375297"/>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from openai import OpenAI</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client = OpenAI()</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response = client.embeddings.create(</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model="text-embedding-3-small",</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input="Interns must serve a notice period of 15 days."</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vector = response.data[0].embedding</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print(f"Dimensions: {len(vector)}")   # → 1536</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print(f"First 5 values: {vector[:5]}")</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 [0.012, -0.543, 0.222, 0.891, -0.034]</a:t>
            </a:r>
            <a:endParaRPr lang="en-US" sz="850" dirty="0"/>
          </a:p>
        </p:txBody>
      </p:sp>
      <p:sp>
        <p:nvSpPr>
          <p:cNvPr id="9" name="Shape 7"/>
          <p:cNvSpPr/>
          <p:nvPr/>
        </p:nvSpPr>
        <p:spPr>
          <a:xfrm>
            <a:off x="496119" y="4217938"/>
            <a:ext cx="8151763" cy="444252"/>
          </a:xfrm>
          <a:prstGeom prst="roundRect">
            <a:avLst>
              <a:gd name="adj" fmla="val 10555"/>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07740" y="4378821"/>
            <a:ext cx="139526" cy="111621"/>
          </a:xfrm>
          <a:prstGeom prst="rect">
            <a:avLst/>
          </a:prstGeom>
        </p:spPr>
      </p:pic>
      <p:sp>
        <p:nvSpPr>
          <p:cNvPr id="11" name="Text 8"/>
          <p:cNvSpPr/>
          <p:nvPr/>
        </p:nvSpPr>
        <p:spPr>
          <a:xfrm>
            <a:off x="858887" y="4346302"/>
            <a:ext cx="8134573" cy="169664"/>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Roboto" pitchFamily="34" charset="0"/>
                <a:ea typeface="Roboto" pitchFamily="34" charset="-122"/>
                <a:cs typeface="Roboto" pitchFamily="34" charset="-120"/>
              </a:rPr>
              <a:t>Run this and inspect the output. Notice that the vector always has exactly 1,536 values, regardless of how long or short your input text is.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3</a:t>
            </a:r>
            <a:endParaRPr lang="en-US" sz="750" dirty="0"/>
          </a:p>
        </p:txBody>
      </p:sp>
      <p:sp>
        <p:nvSpPr>
          <p:cNvPr id="4" name="Shape 2"/>
          <p:cNvSpPr/>
          <p:nvPr/>
        </p:nvSpPr>
        <p:spPr>
          <a:xfrm>
            <a:off x="1022449" y="1558900"/>
            <a:ext cx="1265039"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563886"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MEASURING SIMILARITY</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3</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Measuring Similarity</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How do we determine which vectors are "close" to each other?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1321371"/>
            <a:ext cx="7670378"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Core Question: How Do We Compare Vectors?</a:t>
            </a:r>
            <a:endParaRPr lang="en-US" sz="2400" dirty="0"/>
          </a:p>
        </p:txBody>
      </p:sp>
      <p:sp>
        <p:nvSpPr>
          <p:cNvPr id="3" name="Text 1"/>
          <p:cNvSpPr/>
          <p:nvPr/>
        </p:nvSpPr>
        <p:spPr>
          <a:xfrm>
            <a:off x="496119" y="1956941"/>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We now know how to turn text into vectors. But to build retrieval, we need to answer a precise question: given a question vector, which of our document chunk vectors is most similar to it?</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493392"/>
            <a:ext cx="310083" cy="310083"/>
          </a:xfrm>
          <a:prstGeom prst="rect">
            <a:avLst/>
          </a:prstGeom>
        </p:spPr>
      </p:pic>
      <p:sp>
        <p:nvSpPr>
          <p:cNvPr id="5" name="Text 2"/>
          <p:cNvSpPr/>
          <p:nvPr/>
        </p:nvSpPr>
        <p:spPr>
          <a:xfrm>
            <a:off x="496119" y="295848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Euclidean Distance</a:t>
            </a:r>
            <a:endParaRPr lang="en-US" sz="1200" dirty="0"/>
          </a:p>
        </p:txBody>
      </p:sp>
      <p:sp>
        <p:nvSpPr>
          <p:cNvPr id="6" name="Text 3"/>
          <p:cNvSpPr/>
          <p:nvPr/>
        </p:nvSpPr>
        <p:spPr>
          <a:xfrm>
            <a:off x="496119" y="3226743"/>
            <a:ext cx="261386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Measures straight-line distance between two points. Sensitive to vector magnitude — less ideal for text.</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493392"/>
            <a:ext cx="310083" cy="310083"/>
          </a:xfrm>
          <a:prstGeom prst="rect">
            <a:avLst/>
          </a:prstGeom>
        </p:spPr>
      </p:pic>
      <p:sp>
        <p:nvSpPr>
          <p:cNvPr id="8" name="Text 4"/>
          <p:cNvSpPr/>
          <p:nvPr/>
        </p:nvSpPr>
        <p:spPr>
          <a:xfrm>
            <a:off x="3264991" y="295848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Cosine Similarity</a:t>
            </a:r>
            <a:endParaRPr lang="en-US" sz="1200" dirty="0"/>
          </a:p>
        </p:txBody>
      </p:sp>
      <p:sp>
        <p:nvSpPr>
          <p:cNvPr id="9" name="Text 5"/>
          <p:cNvSpPr/>
          <p:nvPr/>
        </p:nvSpPr>
        <p:spPr>
          <a:xfrm>
            <a:off x="3264991" y="3226743"/>
            <a:ext cx="261394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Measures the angle between two vectors, ignoring their length. Industry standard for text embeddings.</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493392"/>
            <a:ext cx="310083" cy="310083"/>
          </a:xfrm>
          <a:prstGeom prst="rect">
            <a:avLst/>
          </a:prstGeom>
        </p:spPr>
      </p:pic>
      <p:sp>
        <p:nvSpPr>
          <p:cNvPr id="11" name="Text 6"/>
          <p:cNvSpPr/>
          <p:nvPr/>
        </p:nvSpPr>
        <p:spPr>
          <a:xfrm>
            <a:off x="6033939" y="2958480"/>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Dot Product</a:t>
            </a:r>
            <a:endParaRPr lang="en-US" sz="1200" dirty="0"/>
          </a:p>
        </p:txBody>
      </p:sp>
      <p:sp>
        <p:nvSpPr>
          <p:cNvPr id="12" name="Text 7"/>
          <p:cNvSpPr/>
          <p:nvPr/>
        </p:nvSpPr>
        <p:spPr>
          <a:xfrm>
            <a:off x="6033939" y="3226743"/>
            <a:ext cx="261394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Related to cosine similarity but affected by magnitude. Used in some vector stores when vectors are normalized.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664815"/>
            <a:ext cx="8081590"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Cosine Similarity: The Mathematical Heart of Retrieval</a:t>
            </a:r>
            <a:endParaRPr lang="en-US" sz="2400" dirty="0"/>
          </a:p>
        </p:txBody>
      </p:sp>
      <p:sp>
        <p:nvSpPr>
          <p:cNvPr id="3" name="Text 1"/>
          <p:cNvSpPr/>
          <p:nvPr/>
        </p:nvSpPr>
        <p:spPr>
          <a:xfrm>
            <a:off x="496119" y="1300386"/>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Cosine similarity measures the angle between two vectors in high-dimensional space. The smaller the angle, the more similar the meaning — regardless of text length.</a:t>
            </a:r>
            <a:endParaRPr lang="en-US" sz="950" dirty="0"/>
          </a:p>
        </p:txBody>
      </p:sp>
      <p:sp>
        <p:nvSpPr>
          <p:cNvPr id="4" name="Shape 2"/>
          <p:cNvSpPr/>
          <p:nvPr/>
        </p:nvSpPr>
        <p:spPr>
          <a:xfrm>
            <a:off x="406822" y="1836837"/>
            <a:ext cx="4103191" cy="2641774"/>
          </a:xfrm>
          <a:prstGeom prst="roundRect">
            <a:avLst>
              <a:gd name="adj" fmla="val 3381"/>
            </a:avLst>
          </a:prstGeom>
          <a:solidFill>
            <a:srgbClr val="1B1B27">
              <a:alpha val="95000"/>
            </a:srgbClr>
          </a:solidFill>
          <a:ln/>
        </p:spPr>
      </p:sp>
      <p:sp>
        <p:nvSpPr>
          <p:cNvPr id="5" name="Text 3"/>
          <p:cNvSpPr/>
          <p:nvPr/>
        </p:nvSpPr>
        <p:spPr>
          <a:xfrm>
            <a:off x="530796" y="1960811"/>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The Formula</a:t>
            </a:r>
            <a:endParaRPr lang="en-US" sz="1200" dirty="0"/>
          </a:p>
        </p:txBody>
      </p:sp>
      <p:sp>
        <p:nvSpPr>
          <p:cNvPr id="6" name="Text 4"/>
          <p:cNvSpPr/>
          <p:nvPr/>
        </p:nvSpPr>
        <p:spPr>
          <a:xfrm>
            <a:off x="530796" y="2311598"/>
            <a:ext cx="3855244" cy="387697"/>
          </a:xfrm>
          <a:prstGeom prst="rect">
            <a:avLst/>
          </a:prstGeom>
          <a:noFill/>
          <a:ln/>
        </p:spPr>
        <p:txBody>
          <a:bodyPr wrap="square" lIns="0" tIns="0" rIns="0" bIns="0" rtlCol="0" anchor="t">
            <a:normAutofit/>
          </a:bodyPr>
          <a:lstStyle/>
          <a:p>
            <a:pPr algn="l" indent="0" marL="0">
              <a:lnSpc>
                <a:spcPct val="133000"/>
              </a:lnSpc>
              <a:buNone/>
            </a:pPr>
            <a:endParaRPr lang="en-US" sz="1050" dirty="0"/>
          </a:p>
        </p:txBody>
      </p:sp>
      <p:pic>
        <p:nvPicPr>
          <p:cNvPr id="7" name="Image 0" descr="preencoded.png">    </p:cNvPr>
          <p:cNvPicPr>
            <a:picLocks noChangeAspect="1"/>
          </p:cNvPicPr>
          <p:nvPr/>
        </p:nvPicPr>
        <p:blipFill>
          <a:blip r:embed="rId1"/>
          <a:stretch>
            <a:fillRect/>
          </a:stretch>
        </p:blipFill>
        <p:spPr>
          <a:xfrm>
            <a:off x="530796" y="2311598"/>
            <a:ext cx="3855244" cy="387697"/>
          </a:xfrm>
          <a:prstGeom prst="rect">
            <a:avLst/>
          </a:prstGeom>
        </p:spPr>
      </p:pic>
      <p:sp>
        <p:nvSpPr>
          <p:cNvPr id="8" name="Text 5"/>
          <p:cNvSpPr/>
          <p:nvPr/>
        </p:nvSpPr>
        <p:spPr>
          <a:xfrm>
            <a:off x="530796" y="2856235"/>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Dot product of vectors A and B, divided by the product of their magnitudes.</a:t>
            </a:r>
            <a:endParaRPr lang="en-US" sz="950" dirty="0"/>
          </a:p>
        </p:txBody>
      </p:sp>
      <p:sp>
        <p:nvSpPr>
          <p:cNvPr id="9" name="Text 6"/>
          <p:cNvSpPr/>
          <p:nvPr/>
        </p:nvSpPr>
        <p:spPr>
          <a:xfrm>
            <a:off x="4728046" y="1960811"/>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Score Interpretation</a:t>
            </a:r>
            <a:endParaRPr lang="en-US" sz="1200" dirty="0"/>
          </a:p>
        </p:txBody>
      </p:sp>
      <p:sp>
        <p:nvSpPr>
          <p:cNvPr id="10" name="Shape 7"/>
          <p:cNvSpPr/>
          <p:nvPr/>
        </p:nvSpPr>
        <p:spPr>
          <a:xfrm>
            <a:off x="4713759" y="2279898"/>
            <a:ext cx="28575" cy="544860"/>
          </a:xfrm>
          <a:prstGeom prst="rect">
            <a:avLst/>
          </a:prstGeom>
          <a:solidFill>
            <a:srgbClr val="1B1B27"/>
          </a:solidFill>
          <a:ln/>
        </p:spPr>
      </p:sp>
      <p:sp>
        <p:nvSpPr>
          <p:cNvPr id="11" name="Text 8"/>
          <p:cNvSpPr/>
          <p:nvPr/>
        </p:nvSpPr>
        <p:spPr>
          <a:xfrm>
            <a:off x="4880595" y="229418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Score = 1.0</a:t>
            </a:r>
            <a:endParaRPr lang="en-US" sz="1200" dirty="0"/>
          </a:p>
        </p:txBody>
      </p:sp>
      <p:sp>
        <p:nvSpPr>
          <p:cNvPr id="12" name="Text 9"/>
          <p:cNvSpPr/>
          <p:nvPr/>
        </p:nvSpPr>
        <p:spPr>
          <a:xfrm>
            <a:off x="4880595" y="2612008"/>
            <a:ext cx="3772049"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Identical meaning (same vector direction)</a:t>
            </a:r>
            <a:endParaRPr lang="en-US" sz="950" dirty="0"/>
          </a:p>
        </p:txBody>
      </p:sp>
      <p:sp>
        <p:nvSpPr>
          <p:cNvPr id="13" name="Shape 10"/>
          <p:cNvSpPr/>
          <p:nvPr/>
        </p:nvSpPr>
        <p:spPr>
          <a:xfrm>
            <a:off x="4713759" y="3044205"/>
            <a:ext cx="28575" cy="544860"/>
          </a:xfrm>
          <a:prstGeom prst="rect">
            <a:avLst/>
          </a:prstGeom>
          <a:solidFill>
            <a:srgbClr val="1B1B27"/>
          </a:solidFill>
          <a:ln/>
        </p:spPr>
      </p:sp>
      <p:sp>
        <p:nvSpPr>
          <p:cNvPr id="14" name="Text 11"/>
          <p:cNvSpPr/>
          <p:nvPr/>
        </p:nvSpPr>
        <p:spPr>
          <a:xfrm>
            <a:off x="4880595" y="305849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Score ≈ 0.85+</a:t>
            </a:r>
            <a:endParaRPr lang="en-US" sz="1200" dirty="0"/>
          </a:p>
        </p:txBody>
      </p:sp>
      <p:sp>
        <p:nvSpPr>
          <p:cNvPr id="15" name="Text 12"/>
          <p:cNvSpPr/>
          <p:nvPr/>
        </p:nvSpPr>
        <p:spPr>
          <a:xfrm>
            <a:off x="4880595" y="3376315"/>
            <a:ext cx="3772049"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Highly similar — strong retrieval candidate</a:t>
            </a:r>
            <a:endParaRPr lang="en-US" sz="950" dirty="0"/>
          </a:p>
        </p:txBody>
      </p:sp>
      <p:sp>
        <p:nvSpPr>
          <p:cNvPr id="16" name="Shape 13"/>
          <p:cNvSpPr/>
          <p:nvPr/>
        </p:nvSpPr>
        <p:spPr>
          <a:xfrm>
            <a:off x="4713759" y="3808512"/>
            <a:ext cx="28575" cy="544860"/>
          </a:xfrm>
          <a:prstGeom prst="rect">
            <a:avLst/>
          </a:prstGeom>
          <a:solidFill>
            <a:srgbClr val="1B1B27"/>
          </a:solidFill>
          <a:ln/>
        </p:spPr>
      </p:sp>
      <p:sp>
        <p:nvSpPr>
          <p:cNvPr id="17" name="Text 14"/>
          <p:cNvSpPr/>
          <p:nvPr/>
        </p:nvSpPr>
        <p:spPr>
          <a:xfrm>
            <a:off x="4880595" y="382279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Score ≈ 0.0</a:t>
            </a:r>
            <a:endParaRPr lang="en-US" sz="1200" dirty="0"/>
          </a:p>
        </p:txBody>
      </p:sp>
      <p:sp>
        <p:nvSpPr>
          <p:cNvPr id="18" name="Text 15"/>
          <p:cNvSpPr/>
          <p:nvPr/>
        </p:nvSpPr>
        <p:spPr>
          <a:xfrm>
            <a:off x="4880595" y="4140622"/>
            <a:ext cx="3772049"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Completely unrelated topics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96119" y="401613"/>
            <a:ext cx="5772596" cy="348853"/>
          </a:xfrm>
          <a:prstGeom prst="rect">
            <a:avLst/>
          </a:prstGeom>
          <a:noFill/>
          <a:ln/>
        </p:spPr>
        <p:txBody>
          <a:bodyPr wrap="none" lIns="0" tIns="0" rIns="0" bIns="0" rtlCol="0" anchor="t"/>
          <a:lstStyle/>
          <a:p>
            <a:pPr algn="l" indent="0" marL="0">
              <a:lnSpc>
                <a:spcPct val="104000"/>
              </a:lnSpc>
              <a:buNone/>
            </a:pPr>
            <a:r>
              <a:rPr lang="en-US" sz="2150" dirty="0">
                <a:solidFill>
                  <a:srgbClr val="1B1B27"/>
                </a:solidFill>
                <a:latin typeface="Raleway" pitchFamily="34" charset="0"/>
                <a:ea typeface="Raleway" pitchFamily="34" charset="-122"/>
                <a:cs typeface="Raleway" pitchFamily="34" charset="-120"/>
              </a:rPr>
              <a:t>Retrieval Intuition: Finding the Best Match</a:t>
            </a:r>
            <a:endParaRPr lang="en-US" sz="2150" dirty="0"/>
          </a:p>
        </p:txBody>
      </p:sp>
      <p:sp>
        <p:nvSpPr>
          <p:cNvPr id="3" name="Text 1"/>
          <p:cNvSpPr/>
          <p:nvPr/>
        </p:nvSpPr>
        <p:spPr>
          <a:xfrm>
            <a:off x="496119" y="951384"/>
            <a:ext cx="8151763" cy="339328"/>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3C3939"/>
                </a:solidFill>
                <a:latin typeface="Roboto" pitchFamily="34" charset="0"/>
                <a:ea typeface="Roboto" pitchFamily="34" charset="-122"/>
                <a:cs typeface="Roboto" pitchFamily="34" charset="-120"/>
              </a:rPr>
              <a:t>When a user asks a question, we embed it and then compare that question vector against every chunk embedding stored in our system. The chunks with the highest cosine similarity scores win.</a:t>
            </a:r>
            <a:endParaRPr lang="en-US" sz="850" dirty="0"/>
          </a:p>
        </p:txBody>
      </p:sp>
      <p:pic>
        <p:nvPicPr>
          <p:cNvPr id="4" name="Image 0" descr="preencoded.png">    </p:cNvPr>
          <p:cNvPicPr>
            <a:picLocks noChangeAspect="1"/>
          </p:cNvPicPr>
          <p:nvPr/>
        </p:nvPicPr>
        <p:blipFill>
          <a:blip r:embed="rId1"/>
          <a:stretch>
            <a:fillRect/>
          </a:stretch>
        </p:blipFill>
        <p:spPr>
          <a:xfrm>
            <a:off x="1719337" y="1403747"/>
            <a:ext cx="5705252" cy="2611115"/>
          </a:xfrm>
          <a:prstGeom prst="rect">
            <a:avLst/>
          </a:prstGeom>
        </p:spPr>
      </p:pic>
      <p:sp>
        <p:nvSpPr>
          <p:cNvPr id="5" name="Text 2"/>
          <p:cNvSpPr/>
          <p:nvPr/>
        </p:nvSpPr>
        <p:spPr>
          <a:xfrm>
            <a:off x="5859280" y="3394804"/>
            <a:ext cx="1299722" cy="206338"/>
          </a:xfrm>
          <a:prstGeom prst="rect">
            <a:avLst/>
          </a:prstGeom>
          <a:noFill/>
          <a:ln/>
        </p:spPr>
        <p:txBody>
          <a:bodyPr wrap="none" lIns="0" tIns="0" rIns="0" bIns="0" rtlCol="0" anchor="t"/>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Return Top-K</a:t>
            </a:r>
            <a:endParaRPr lang="en-US" sz="1250" dirty="0"/>
          </a:p>
        </p:txBody>
      </p:sp>
      <p:sp>
        <p:nvSpPr>
          <p:cNvPr id="6" name="Text 3"/>
          <p:cNvSpPr/>
          <p:nvPr/>
        </p:nvSpPr>
        <p:spPr>
          <a:xfrm>
            <a:off x="4737972" y="3291635"/>
            <a:ext cx="1071122" cy="412676"/>
          </a:xfrm>
          <a:prstGeom prst="rect">
            <a:avLst/>
          </a:prstGeom>
          <a:noFill/>
          <a:ln/>
        </p:spPr>
        <p:txBody>
          <a:bodyPr wrap="square" lIns="0" tIns="0" rIns="0" bIns="0" rtlCol="0" anchor="t">
            <a:normAutofit/>
          </a:bodyPr>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Compare Embeddings</a:t>
            </a:r>
            <a:endParaRPr lang="en-US" sz="1250" dirty="0"/>
          </a:p>
        </p:txBody>
      </p:sp>
      <p:sp>
        <p:nvSpPr>
          <p:cNvPr id="7" name="Text 4"/>
          <p:cNvSpPr/>
          <p:nvPr/>
        </p:nvSpPr>
        <p:spPr>
          <a:xfrm>
            <a:off x="3395401" y="3291635"/>
            <a:ext cx="1071122" cy="412676"/>
          </a:xfrm>
          <a:prstGeom prst="rect">
            <a:avLst/>
          </a:prstGeom>
          <a:noFill/>
          <a:ln/>
        </p:spPr>
        <p:txBody>
          <a:bodyPr wrap="square" lIns="0" tIns="0" rIns="0" bIns="0" rtlCol="0" anchor="t">
            <a:normAutofit/>
          </a:bodyPr>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Embed Question</a:t>
            </a:r>
            <a:endParaRPr lang="en-US" sz="1250" dirty="0"/>
          </a:p>
        </p:txBody>
      </p:sp>
      <p:sp>
        <p:nvSpPr>
          <p:cNvPr id="8" name="Text 5"/>
          <p:cNvSpPr/>
          <p:nvPr/>
        </p:nvSpPr>
        <p:spPr>
          <a:xfrm>
            <a:off x="2023485" y="3291635"/>
            <a:ext cx="1071122" cy="412676"/>
          </a:xfrm>
          <a:prstGeom prst="rect">
            <a:avLst/>
          </a:prstGeom>
          <a:noFill/>
          <a:ln/>
        </p:spPr>
        <p:txBody>
          <a:bodyPr wrap="square" lIns="0" tIns="0" rIns="0" bIns="0" rtlCol="0" anchor="t">
            <a:normAutofit/>
          </a:bodyPr>
          <a:lstStyle/>
          <a:p>
            <a:pPr algn="ctr" indent="0" marL="0">
              <a:lnSpc>
                <a:spcPct val="104000"/>
              </a:lnSpc>
              <a:buNone/>
            </a:pPr>
            <a:r>
              <a:rPr lang="en-US" sz="1250" dirty="0">
                <a:solidFill>
                  <a:srgbClr val="3C3939"/>
                </a:solidFill>
                <a:latin typeface="Raleway" pitchFamily="34" charset="0"/>
                <a:ea typeface="Raleway" pitchFamily="34" charset="-122"/>
                <a:cs typeface="Raleway" pitchFamily="34" charset="-120"/>
              </a:rPr>
              <a:t>User Question</a:t>
            </a:r>
            <a:endParaRPr lang="en-US" sz="1250" dirty="0"/>
          </a:p>
        </p:txBody>
      </p:sp>
      <p:sp>
        <p:nvSpPr>
          <p:cNvPr id="9" name="Shape 6"/>
          <p:cNvSpPr/>
          <p:nvPr/>
        </p:nvSpPr>
        <p:spPr>
          <a:xfrm>
            <a:off x="496119" y="4127897"/>
            <a:ext cx="8151763" cy="613916"/>
          </a:xfrm>
          <a:prstGeom prst="roundRect">
            <a:avLst>
              <a:gd name="adj" fmla="val 7638"/>
            </a:avLst>
          </a:prstGeom>
          <a:solidFill>
            <a:srgbClr val="B6FCB8"/>
          </a:solidFill>
          <a:ln/>
        </p:spPr>
      </p:sp>
      <p:pic>
        <p:nvPicPr>
          <p:cNvPr id="10" name="Image 1" descr="preencoded.png">    </p:cNvPr>
          <p:cNvPicPr>
            <a:picLocks noChangeAspect="1"/>
          </p:cNvPicPr>
          <p:nvPr/>
        </p:nvPicPr>
        <p:blipFill>
          <a:blip r:embed="rId2"/>
          <a:stretch>
            <a:fillRect/>
          </a:stretch>
        </p:blipFill>
        <p:spPr>
          <a:xfrm>
            <a:off x="607740" y="4288780"/>
            <a:ext cx="139526" cy="111621"/>
          </a:xfrm>
          <a:prstGeom prst="rect">
            <a:avLst/>
          </a:prstGeom>
        </p:spPr>
      </p:pic>
      <p:sp>
        <p:nvSpPr>
          <p:cNvPr id="11" name="Text 7"/>
          <p:cNvSpPr/>
          <p:nvPr/>
        </p:nvSpPr>
        <p:spPr>
          <a:xfrm>
            <a:off x="858887" y="4256261"/>
            <a:ext cx="7677373" cy="339328"/>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Roboto" pitchFamily="34" charset="0"/>
                <a:ea typeface="Roboto" pitchFamily="34" charset="-122"/>
                <a:cs typeface="Roboto" pitchFamily="34" charset="-120"/>
              </a:rPr>
              <a:t>This comparison process is the core of retrieval. Every sophisticated vector database (FAISS, Chroma, Pinecone) is ultimately doing a fast version of this same operation.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88379" y="475506"/>
            <a:ext cx="541139" cy="228302"/>
          </a:xfrm>
          <a:prstGeom prst="roundRect">
            <a:avLst>
              <a:gd name="adj" fmla="val 17971"/>
            </a:avLst>
          </a:prstGeom>
          <a:solidFill>
            <a:srgbClr val="E1E1EA"/>
          </a:solidFill>
          <a:ln/>
        </p:spPr>
      </p:sp>
      <p:sp>
        <p:nvSpPr>
          <p:cNvPr id="3" name="Text 1"/>
          <p:cNvSpPr/>
          <p:nvPr/>
        </p:nvSpPr>
        <p:spPr>
          <a:xfrm>
            <a:off x="561603" y="512118"/>
            <a:ext cx="851892" cy="155079"/>
          </a:xfrm>
          <a:prstGeom prst="rect">
            <a:avLst/>
          </a:prstGeom>
          <a:noFill/>
          <a:ln/>
        </p:spPr>
        <p:txBody>
          <a:bodyPr wrap="none" lIns="0" tIns="0" rIns="0" bIns="0" rtlCol="0" anchor="t"/>
          <a:lstStyle/>
          <a:p>
            <a:pPr algn="l" indent="0" marL="0">
              <a:lnSpc>
                <a:spcPct val="132000"/>
              </a:lnSpc>
              <a:buNone/>
            </a:pPr>
            <a:r>
              <a:rPr lang="en-US" sz="750" dirty="0">
                <a:solidFill>
                  <a:srgbClr val="3C3939"/>
                </a:solidFill>
                <a:latin typeface="Roboto" pitchFamily="34" charset="0"/>
                <a:ea typeface="Roboto" pitchFamily="34" charset="-122"/>
                <a:cs typeface="Roboto" pitchFamily="34" charset="-120"/>
              </a:rPr>
              <a:t>VS CODE</a:t>
            </a:r>
            <a:endParaRPr lang="en-US" sz="750" dirty="0"/>
          </a:p>
        </p:txBody>
      </p:sp>
      <p:sp>
        <p:nvSpPr>
          <p:cNvPr id="4" name="Text 2"/>
          <p:cNvSpPr/>
          <p:nvPr/>
        </p:nvSpPr>
        <p:spPr>
          <a:xfrm>
            <a:off x="488379" y="751880"/>
            <a:ext cx="7187505" cy="381521"/>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Over to VS Code — Computing Cosine Similarity</a:t>
            </a:r>
            <a:endParaRPr lang="en-US" sz="2400" dirty="0"/>
          </a:p>
        </p:txBody>
      </p:sp>
      <p:sp>
        <p:nvSpPr>
          <p:cNvPr id="5" name="Text 3"/>
          <p:cNvSpPr/>
          <p:nvPr/>
        </p:nvSpPr>
        <p:spPr>
          <a:xfrm>
            <a:off x="488379" y="1313631"/>
            <a:ext cx="8624441" cy="193849"/>
          </a:xfrm>
          <a:prstGeom prst="rect">
            <a:avLst/>
          </a:prstGeom>
          <a:noFill/>
          <a:ln/>
        </p:spPr>
        <p:txBody>
          <a:bodyPr wrap="none" lIns="0" tIns="0" rIns="0" bIns="0" rtlCol="0" anchor="t"/>
          <a:lstStyle/>
          <a:p>
            <a:pPr algn="l" indent="0" marL="0">
              <a:lnSpc>
                <a:spcPct val="132000"/>
              </a:lnSpc>
              <a:buNone/>
            </a:pPr>
            <a:r>
              <a:rPr lang="en-US" sz="950" dirty="0">
                <a:solidFill>
                  <a:srgbClr val="3C3939"/>
                </a:solidFill>
                <a:latin typeface="Roboto" pitchFamily="34" charset="0"/>
                <a:ea typeface="Roboto" pitchFamily="34" charset="-122"/>
                <a:cs typeface="Roboto" pitchFamily="34" charset="-120"/>
              </a:rPr>
              <a:t>Here's how to implement cosine similarity from scratch using NumPy. Understanding this formula directly will help you debug retrieval problems later.</a:t>
            </a:r>
            <a:endParaRPr lang="en-US" sz="950" dirty="0"/>
          </a:p>
        </p:txBody>
      </p:sp>
      <p:sp>
        <p:nvSpPr>
          <p:cNvPr id="6" name="Shape 4"/>
          <p:cNvSpPr/>
          <p:nvPr/>
        </p:nvSpPr>
        <p:spPr>
          <a:xfrm>
            <a:off x="488379" y="1642690"/>
            <a:ext cx="8167241" cy="2376413"/>
          </a:xfrm>
          <a:prstGeom prst="roundRect">
            <a:avLst>
              <a:gd name="adj" fmla="val 2158"/>
            </a:avLst>
          </a:prstGeom>
          <a:solidFill>
            <a:srgbClr val="F2F2F2"/>
          </a:solidFill>
          <a:ln/>
        </p:spPr>
      </p:sp>
      <p:sp>
        <p:nvSpPr>
          <p:cNvPr id="7" name="Shape 5"/>
          <p:cNvSpPr/>
          <p:nvPr/>
        </p:nvSpPr>
        <p:spPr>
          <a:xfrm>
            <a:off x="482278" y="1642690"/>
            <a:ext cx="8179445" cy="2376413"/>
          </a:xfrm>
          <a:prstGeom prst="roundRect">
            <a:avLst>
              <a:gd name="adj" fmla="val 771"/>
            </a:avLst>
          </a:prstGeom>
          <a:solidFill>
            <a:srgbClr val="F2F2F2"/>
          </a:solidFill>
          <a:ln/>
        </p:spPr>
      </p:sp>
      <p:sp>
        <p:nvSpPr>
          <p:cNvPr id="8" name="Text 6"/>
          <p:cNvSpPr/>
          <p:nvPr/>
        </p:nvSpPr>
        <p:spPr>
          <a:xfrm>
            <a:off x="634901" y="1764729"/>
            <a:ext cx="7874198" cy="2132335"/>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import numpy as np</a:t>
            </a:r>
            <a:endParaRPr lang="en-US" sz="950" dirty="0"/>
          </a:p>
          <a:p>
            <a:pPr algn="l" indent="0" marL="0">
              <a:lnSpc>
                <a:spcPct val="132000"/>
              </a:lnSpc>
              <a:buNone/>
            </a:pP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def cosine_similarity(a, b):</a:t>
            </a: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    return np.dot(a, b) / (np.linalg.norm(a) * np.linalg.norm(b))</a:t>
            </a:r>
            <a:endParaRPr lang="en-US" sz="950" dirty="0"/>
          </a:p>
          <a:p>
            <a:pPr algn="l" indent="0" marL="0">
              <a:lnSpc>
                <a:spcPct val="132000"/>
              </a:lnSpc>
              <a:buNone/>
            </a:pP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 Example usage</a:t>
            </a: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question_embedding = embed("How long must interns work before leaving?")</a:t>
            </a: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chunk_embedding    = embed("Interns must serve a notice period of 15 days.")</a:t>
            </a:r>
            <a:endParaRPr lang="en-US" sz="950" dirty="0"/>
          </a:p>
          <a:p>
            <a:pPr algn="l" indent="0" marL="0">
              <a:lnSpc>
                <a:spcPct val="132000"/>
              </a:lnSpc>
              <a:buNone/>
            </a:pP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score = cosine_similarity(question_embedding, chunk_embedding)</a:t>
            </a:r>
            <a:endParaRPr lang="en-US" sz="950" dirty="0"/>
          </a:p>
          <a:p>
            <a:pPr algn="l" indent="0" marL="0">
              <a:lnSpc>
                <a:spcPct val="132000"/>
              </a:lnSpc>
              <a:buNone/>
            </a:pPr>
            <a:r>
              <a:rPr lang="en-US" sz="950" dirty="0">
                <a:solidFill>
                  <a:srgbClr val="3C3939"/>
                </a:solidFill>
                <a:latin typeface="Consolas" pitchFamily="34" charset="0"/>
                <a:ea typeface="Consolas" pitchFamily="34" charset="-122"/>
                <a:cs typeface="Consolas" pitchFamily="34" charset="-120"/>
              </a:rPr>
              <a:t>print(f"Similarity: {score:.4f}")  # → ~0.91 (very high)</a:t>
            </a:r>
            <a:endParaRPr lang="en-US" sz="950" dirty="0"/>
          </a:p>
        </p:txBody>
      </p:sp>
      <p:sp>
        <p:nvSpPr>
          <p:cNvPr id="9" name="Shape 7"/>
          <p:cNvSpPr/>
          <p:nvPr/>
        </p:nvSpPr>
        <p:spPr>
          <a:xfrm>
            <a:off x="488379" y="4154314"/>
            <a:ext cx="8167241" cy="513680"/>
          </a:xfrm>
          <a:prstGeom prst="roundRect">
            <a:avLst>
              <a:gd name="adj" fmla="val 9984"/>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10419" y="4338191"/>
            <a:ext cx="152623" cy="122039"/>
          </a:xfrm>
          <a:prstGeom prst="rect">
            <a:avLst/>
          </a:prstGeom>
        </p:spPr>
      </p:pic>
      <p:sp>
        <p:nvSpPr>
          <p:cNvPr id="11" name="Text 8"/>
          <p:cNvSpPr/>
          <p:nvPr/>
        </p:nvSpPr>
        <p:spPr>
          <a:xfrm>
            <a:off x="885081" y="4305002"/>
            <a:ext cx="8105701" cy="193849"/>
          </a:xfrm>
          <a:prstGeom prst="rect">
            <a:avLst/>
          </a:prstGeom>
          <a:noFill/>
          <a:ln/>
        </p:spPr>
        <p:txBody>
          <a:bodyPr wrap="none" lIns="0" tIns="0" rIns="0" bIns="0" rtlCol="0" anchor="t"/>
          <a:lstStyle/>
          <a:p>
            <a:pPr algn="l" indent="0" marL="0">
              <a:lnSpc>
                <a:spcPct val="132000"/>
              </a:lnSpc>
              <a:buNone/>
            </a:pPr>
            <a:r>
              <a:rPr lang="en-US" sz="950" dirty="0">
                <a:solidFill>
                  <a:srgbClr val="000000"/>
                </a:solidFill>
                <a:latin typeface="Roboto" pitchFamily="34" charset="0"/>
                <a:ea typeface="Roboto" pitchFamily="34" charset="-122"/>
                <a:cs typeface="Roboto" pitchFamily="34" charset="-120"/>
              </a:rPr>
              <a:t>Try comparing semantically different sentences. Notice how the score drops dramatically for unrelated text.</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4</a:t>
            </a:r>
            <a:endParaRPr lang="en-US" sz="750" dirty="0"/>
          </a:p>
        </p:txBody>
      </p:sp>
      <p:sp>
        <p:nvSpPr>
          <p:cNvPr id="4" name="Shape 2"/>
          <p:cNvSpPr/>
          <p:nvPr/>
        </p:nvSpPr>
        <p:spPr>
          <a:xfrm>
            <a:off x="1022449" y="1558900"/>
            <a:ext cx="871240"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170087"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PDF INGESTION</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4</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PDF Ingestion</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Before we can embed anything, we need to extract plain text from our source document.</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92943"/>
            <a:ext cx="3305026" cy="4957539"/>
          </a:xfrm>
          <a:prstGeom prst="rect">
            <a:avLst/>
          </a:prstGeom>
        </p:spPr>
      </p:pic>
      <p:sp>
        <p:nvSpPr>
          <p:cNvPr id="4" name="Text 1"/>
          <p:cNvSpPr/>
          <p:nvPr/>
        </p:nvSpPr>
        <p:spPr>
          <a:xfrm>
            <a:off x="3925119" y="118563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Reading the PDF</a:t>
            </a:r>
            <a:endParaRPr lang="en-US" sz="2400" dirty="0"/>
          </a:p>
        </p:txBody>
      </p:sp>
      <p:sp>
        <p:nvSpPr>
          <p:cNvPr id="5" name="Text 2"/>
          <p:cNvSpPr/>
          <p:nvPr/>
        </p:nvSpPr>
        <p:spPr>
          <a:xfrm>
            <a:off x="3925119" y="1759223"/>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LLMs cannot directly reason over binary PDF files. The first step in any RAG pipeline is extracting the raw text from your documents and converting it into a plain string that Python can work with.</a:t>
            </a:r>
            <a:endParaRPr lang="en-US" sz="950" dirty="0"/>
          </a:p>
        </p:txBody>
      </p:sp>
      <p:sp>
        <p:nvSpPr>
          <p:cNvPr id="6" name="Text 3"/>
          <p:cNvSpPr/>
          <p:nvPr/>
        </p:nvSpPr>
        <p:spPr>
          <a:xfrm>
            <a:off x="3925119" y="2618110"/>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Input</a:t>
            </a:r>
            <a:endParaRPr lang="en-US" sz="1200" dirty="0"/>
          </a:p>
        </p:txBody>
      </p:sp>
      <p:sp>
        <p:nvSpPr>
          <p:cNvPr id="7" name="Text 4"/>
          <p:cNvSpPr/>
          <p:nvPr/>
        </p:nvSpPr>
        <p:spPr>
          <a:xfrm>
            <a:off x="3925119" y="2935932"/>
            <a:ext cx="2210098" cy="910233"/>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3C3939"/>
                </a:solidFill>
                <a:highlight>
                  <a:srgbClr val="F2F2F2"/>
                </a:highlight>
                <a:latin typeface="Consolas" pitchFamily="34" charset="0"/>
                <a:ea typeface="Consolas" pitchFamily="34" charset="-122"/>
                <a:cs typeface="Consolas" pitchFamily="34" charset="-120"/>
              </a:rPr>
              <a:t>employee_policy_handbook.pdf</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binary file with formatting, fonts, layout, and metadata — none of which we need.</a:t>
            </a:r>
            <a:endParaRPr lang="en-US" sz="950" dirty="0"/>
          </a:p>
        </p:txBody>
      </p:sp>
      <p:sp>
        <p:nvSpPr>
          <p:cNvPr id="8" name="Text 5"/>
          <p:cNvSpPr/>
          <p:nvPr/>
        </p:nvSpPr>
        <p:spPr>
          <a:xfrm>
            <a:off x="6442546" y="2618110"/>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Output</a:t>
            </a:r>
            <a:endParaRPr lang="en-US" sz="1200" dirty="0"/>
          </a:p>
        </p:txBody>
      </p:sp>
      <p:sp>
        <p:nvSpPr>
          <p:cNvPr id="9" name="Text 6"/>
          <p:cNvSpPr/>
          <p:nvPr/>
        </p:nvSpPr>
        <p:spPr>
          <a:xfrm>
            <a:off x="6442546" y="2935932"/>
            <a:ext cx="2210098" cy="910233"/>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3C3939"/>
                </a:solidFill>
                <a:highlight>
                  <a:srgbClr val="F2F2F2"/>
                </a:highlight>
                <a:latin typeface="Consolas" pitchFamily="34" charset="0"/>
                <a:ea typeface="Consolas" pitchFamily="34" charset="-122"/>
                <a:cs typeface="Consolas" pitchFamily="34" charset="-120"/>
              </a:rPr>
              <a:t>full_text</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 single plain-text string containing all the readable content from every page of the document.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96119" y="536153"/>
            <a:ext cx="6332711"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Example: What Extracted Text Looks Like</a:t>
            </a:r>
            <a:endParaRPr lang="en-US" sz="2400" dirty="0"/>
          </a:p>
        </p:txBody>
      </p:sp>
      <p:sp>
        <p:nvSpPr>
          <p:cNvPr id="3" name="Text 1"/>
          <p:cNvSpPr/>
          <p:nvPr/>
        </p:nvSpPr>
        <p:spPr>
          <a:xfrm>
            <a:off x="496119" y="1171724"/>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After extraction, you'll have a single string. Here's a snippet of what we'd expect from our running example document:</a:t>
            </a:r>
            <a:endParaRPr lang="en-US" sz="950" dirty="0"/>
          </a:p>
        </p:txBody>
      </p:sp>
      <p:sp>
        <p:nvSpPr>
          <p:cNvPr id="4" name="Shape 2"/>
          <p:cNvSpPr/>
          <p:nvPr/>
        </p:nvSpPr>
        <p:spPr>
          <a:xfrm>
            <a:off x="496119" y="1509713"/>
            <a:ext cx="8151763" cy="2232571"/>
          </a:xfrm>
          <a:prstGeom prst="roundRect">
            <a:avLst>
              <a:gd name="adj" fmla="val 2334"/>
            </a:avLst>
          </a:prstGeom>
          <a:solidFill>
            <a:srgbClr val="F2F2F2"/>
          </a:solidFill>
          <a:ln/>
        </p:spPr>
      </p:sp>
      <p:sp>
        <p:nvSpPr>
          <p:cNvPr id="5" name="Shape 3"/>
          <p:cNvSpPr/>
          <p:nvPr/>
        </p:nvSpPr>
        <p:spPr>
          <a:xfrm>
            <a:off x="489942" y="1509713"/>
            <a:ext cx="8164116" cy="2232571"/>
          </a:xfrm>
          <a:prstGeom prst="roundRect">
            <a:avLst>
              <a:gd name="adj" fmla="val 833"/>
            </a:avLst>
          </a:prstGeom>
          <a:solidFill>
            <a:srgbClr val="F2F2F2"/>
          </a:solidFill>
          <a:ln/>
        </p:spPr>
      </p:sp>
      <p:sp>
        <p:nvSpPr>
          <p:cNvPr id="6" name="Text 4"/>
          <p:cNvSpPr/>
          <p:nvPr/>
        </p:nvSpPr>
        <p:spPr>
          <a:xfrm>
            <a:off x="644947" y="1633686"/>
            <a:ext cx="7854107" cy="1984623"/>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NOTICE PERIOD POLICY</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Full-time employees must serve a notice period of 60 days.</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Part-time employees must serve a notice period of 30 days.</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Interns must serve a notice period of 15 days.</a:t>
            </a:r>
            <a:endParaRPr lang="en-US" sz="950" dirty="0"/>
          </a:p>
          <a:p>
            <a:pPr algn="l" indent="0" marL="0">
              <a:lnSpc>
                <a:spcPct val="133000"/>
              </a:lnSpc>
              <a:buNone/>
            </a:pP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EXIT PROCESS</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Employees must return all company equipment before their last day.</a:t>
            </a:r>
            <a:endParaRPr lang="en-US" sz="950" dirty="0"/>
          </a:p>
          <a:p>
            <a:pPr algn="l" indent="0" marL="0">
              <a:lnSpc>
                <a:spcPct val="133000"/>
              </a:lnSpc>
              <a:buNone/>
            </a:pPr>
            <a:r>
              <a:rPr lang="en-US" sz="950" dirty="0">
                <a:solidFill>
                  <a:srgbClr val="3C3939"/>
                </a:solidFill>
                <a:latin typeface="Consolas" pitchFamily="34" charset="0"/>
                <a:ea typeface="Consolas" pitchFamily="34" charset="-122"/>
                <a:cs typeface="Consolas" pitchFamily="34" charset="-120"/>
              </a:rPr>
              <a:t>Final settlements are processed within 30 working days of exit.</a:t>
            </a:r>
            <a:endParaRPr lang="en-US" sz="950" dirty="0"/>
          </a:p>
        </p:txBody>
      </p:sp>
      <p:sp>
        <p:nvSpPr>
          <p:cNvPr id="7" name="Shape 5"/>
          <p:cNvSpPr/>
          <p:nvPr/>
        </p:nvSpPr>
        <p:spPr>
          <a:xfrm>
            <a:off x="496119" y="3881810"/>
            <a:ext cx="8151763" cy="725463"/>
          </a:xfrm>
          <a:prstGeom prst="roundRect">
            <a:avLst>
              <a:gd name="adj" fmla="val 7182"/>
            </a:avLst>
          </a:prstGeom>
          <a:solidFill>
            <a:srgbClr val="B6D6FC"/>
          </a:solidFill>
          <a:ln/>
        </p:spPr>
      </p:sp>
      <p:pic>
        <p:nvPicPr>
          <p:cNvPr id="8" name="Image 0" descr="preencoded.png">    </p:cNvPr>
          <p:cNvPicPr>
            <a:picLocks noChangeAspect="1"/>
          </p:cNvPicPr>
          <p:nvPr/>
        </p:nvPicPr>
        <p:blipFill>
          <a:blip r:embed="rId1"/>
          <a:stretch>
            <a:fillRect/>
          </a:stretch>
        </p:blipFill>
        <p:spPr>
          <a:xfrm>
            <a:off x="620092" y="4066356"/>
            <a:ext cx="155004" cy="123974"/>
          </a:xfrm>
          <a:prstGeom prst="rect">
            <a:avLst/>
          </a:prstGeom>
        </p:spPr>
      </p:pic>
      <p:sp>
        <p:nvSpPr>
          <p:cNvPr id="9" name="Text 6"/>
          <p:cNvSpPr/>
          <p:nvPr/>
        </p:nvSpPr>
        <p:spPr>
          <a:xfrm>
            <a:off x="899071" y="4036740"/>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Notice how all structure (headers, paragraphs, sections) becomes a flat text stream. This is expected — the next step, chunking, will restore meaningful boundaries.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96119" y="396850"/>
            <a:ext cx="522238" cy="217736"/>
          </a:xfrm>
          <a:prstGeom prst="roundRect">
            <a:avLst>
              <a:gd name="adj" fmla="val 18185"/>
            </a:avLst>
          </a:prstGeom>
          <a:solidFill>
            <a:srgbClr val="E1E1EA"/>
          </a:solidFill>
          <a:ln/>
        </p:spPr>
      </p:sp>
      <p:sp>
        <p:nvSpPr>
          <p:cNvPr id="3" name="Text 1"/>
          <p:cNvSpPr/>
          <p:nvPr/>
        </p:nvSpPr>
        <p:spPr>
          <a:xfrm>
            <a:off x="566812" y="432197"/>
            <a:ext cx="838051" cy="147042"/>
          </a:xfrm>
          <a:prstGeom prst="rect">
            <a:avLst/>
          </a:prstGeom>
          <a:noFill/>
          <a:ln/>
        </p:spPr>
        <p:txBody>
          <a:bodyPr wrap="none" lIns="0" tIns="0" rIns="0" bIns="0" rtlCol="0" anchor="t"/>
          <a:lstStyle/>
          <a:p>
            <a:pPr algn="l" indent="0" marL="0">
              <a:lnSpc>
                <a:spcPct val="130000"/>
              </a:lnSpc>
              <a:buNone/>
            </a:pPr>
            <a:r>
              <a:rPr lang="en-US" sz="700" dirty="0">
                <a:solidFill>
                  <a:srgbClr val="3C3939"/>
                </a:solidFill>
                <a:latin typeface="Roboto" pitchFamily="34" charset="0"/>
                <a:ea typeface="Roboto" pitchFamily="34" charset="-122"/>
                <a:cs typeface="Roboto" pitchFamily="34" charset="-120"/>
              </a:rPr>
              <a:t>VS CODE</a:t>
            </a:r>
            <a:endParaRPr lang="en-US" sz="700" dirty="0"/>
          </a:p>
        </p:txBody>
      </p:sp>
      <p:sp>
        <p:nvSpPr>
          <p:cNvPr id="4" name="Text 2"/>
          <p:cNvSpPr/>
          <p:nvPr/>
        </p:nvSpPr>
        <p:spPr>
          <a:xfrm>
            <a:off x="496119" y="659309"/>
            <a:ext cx="6493966" cy="368201"/>
          </a:xfrm>
          <a:prstGeom prst="rect">
            <a:avLst/>
          </a:prstGeom>
          <a:noFill/>
          <a:ln/>
        </p:spPr>
        <p:txBody>
          <a:bodyPr wrap="none" lIns="0" tIns="0" rIns="0" bIns="0" rtlCol="0" anchor="t"/>
          <a:lstStyle/>
          <a:p>
            <a:pPr algn="l" indent="0" marL="0">
              <a:lnSpc>
                <a:spcPct val="104000"/>
              </a:lnSpc>
              <a:buNone/>
            </a:pPr>
            <a:r>
              <a:rPr lang="en-US" sz="2300" dirty="0">
                <a:solidFill>
                  <a:srgbClr val="1B1B27"/>
                </a:solidFill>
                <a:latin typeface="Raleway" pitchFamily="34" charset="0"/>
                <a:ea typeface="Raleway" pitchFamily="34" charset="-122"/>
                <a:cs typeface="Raleway" pitchFamily="34" charset="-120"/>
              </a:rPr>
              <a:t>Over to VS Code — Reading PDF with PyPDF</a:t>
            </a:r>
            <a:endParaRPr lang="en-US" sz="2300" dirty="0"/>
          </a:p>
        </p:txBody>
      </p:sp>
      <p:sp>
        <p:nvSpPr>
          <p:cNvPr id="5" name="Text 3"/>
          <p:cNvSpPr/>
          <p:nvPr/>
        </p:nvSpPr>
        <p:spPr>
          <a:xfrm>
            <a:off x="496119" y="1195388"/>
            <a:ext cx="8608963" cy="188640"/>
          </a:xfrm>
          <a:prstGeom prst="rect">
            <a:avLst/>
          </a:prstGeom>
          <a:noFill/>
          <a:ln/>
        </p:spPr>
        <p:txBody>
          <a:bodyPr wrap="none" lIns="0" tIns="0" rIns="0" bIns="0" rtlCol="0" anchor="t"/>
          <a:lstStyle/>
          <a:p>
            <a:pPr algn="l" indent="0" marL="0">
              <a:lnSpc>
                <a:spcPct val="130000"/>
              </a:lnSpc>
              <a:buNone/>
            </a:pPr>
            <a:r>
              <a:rPr lang="en-US" sz="900" dirty="0">
                <a:solidFill>
                  <a:srgbClr val="3C3939"/>
                </a:solidFill>
                <a:latin typeface="Roboto" pitchFamily="34" charset="0"/>
                <a:ea typeface="Roboto" pitchFamily="34" charset="-122"/>
                <a:cs typeface="Roboto" pitchFamily="34" charset="-120"/>
              </a:rPr>
              <a:t>We use the </a:t>
            </a:r>
            <a:pPr algn="l" indent="0" marL="0">
              <a:lnSpc>
                <a:spcPct val="130000"/>
              </a:lnSpc>
              <a:buNone/>
            </a:pPr>
            <a:r>
              <a:rPr lang="en-US" sz="900" dirty="0">
                <a:solidFill>
                  <a:srgbClr val="3C3939"/>
                </a:solidFill>
                <a:highlight>
                  <a:srgbClr val="F2F2F2"/>
                </a:highlight>
                <a:latin typeface="Consolas" pitchFamily="34" charset="0"/>
                <a:ea typeface="Consolas" pitchFamily="34" charset="-122"/>
                <a:cs typeface="Consolas" pitchFamily="34" charset="-120"/>
              </a:rPr>
              <a:t>pypdf</a:t>
            </a:r>
            <a:pPr algn="l" indent="0" marL="0">
              <a:lnSpc>
                <a:spcPct val="130000"/>
              </a:lnSpc>
              <a:buNone/>
            </a:pPr>
            <a:r>
              <a:rPr lang="en-US" sz="900" dirty="0">
                <a:solidFill>
                  <a:srgbClr val="3C3939"/>
                </a:solidFill>
                <a:latin typeface="Roboto" pitchFamily="34" charset="0"/>
                <a:ea typeface="Roboto" pitchFamily="34" charset="-122"/>
                <a:cs typeface="Roboto" pitchFamily="34" charset="-120"/>
              </a:rPr>
              <a:t> library to extract text from each page and join it into one continuous string.</a:t>
            </a:r>
            <a:endParaRPr lang="en-US" sz="900" dirty="0"/>
          </a:p>
        </p:txBody>
      </p:sp>
      <p:sp>
        <p:nvSpPr>
          <p:cNvPr id="6" name="Shape 4"/>
          <p:cNvSpPr/>
          <p:nvPr/>
        </p:nvSpPr>
        <p:spPr>
          <a:xfrm>
            <a:off x="496119" y="1509936"/>
            <a:ext cx="8151763" cy="2625998"/>
          </a:xfrm>
          <a:prstGeom prst="roundRect">
            <a:avLst>
              <a:gd name="adj" fmla="val 1885"/>
            </a:avLst>
          </a:prstGeom>
          <a:solidFill>
            <a:srgbClr val="F2F2F2"/>
          </a:solidFill>
          <a:ln/>
        </p:spPr>
      </p:sp>
      <p:sp>
        <p:nvSpPr>
          <p:cNvPr id="7" name="Shape 5"/>
          <p:cNvSpPr/>
          <p:nvPr/>
        </p:nvSpPr>
        <p:spPr>
          <a:xfrm>
            <a:off x="490240" y="1509936"/>
            <a:ext cx="8163520" cy="2625998"/>
          </a:xfrm>
          <a:prstGeom prst="roundRect">
            <a:avLst>
              <a:gd name="adj" fmla="val 673"/>
            </a:avLst>
          </a:prstGeom>
          <a:solidFill>
            <a:srgbClr val="F2F2F2"/>
          </a:solidFill>
          <a:ln/>
        </p:spPr>
      </p:sp>
      <p:sp>
        <p:nvSpPr>
          <p:cNvPr id="8" name="Text 6"/>
          <p:cNvSpPr/>
          <p:nvPr/>
        </p:nvSpPr>
        <p:spPr>
          <a:xfrm>
            <a:off x="637505" y="1627733"/>
            <a:ext cx="7868989" cy="2390403"/>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from pypdf import PdfReader</a:t>
            </a:r>
            <a:endParaRPr lang="en-US" sz="900" dirty="0"/>
          </a:p>
          <a:p>
            <a:pPr algn="l" indent="0" marL="0">
              <a:lnSpc>
                <a:spcPct val="130000"/>
              </a:lnSpc>
              <a:buNone/>
            </a:pP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def extract_text_from_pdf(path):</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reader = PdfReader(path)</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full_text = ""</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for page in reader.pages:</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full_text += page.extract_text() + "\n"</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return full_text</a:t>
            </a:r>
            <a:endParaRPr lang="en-US" sz="900" dirty="0"/>
          </a:p>
          <a:p>
            <a:pPr algn="l" indent="0" marL="0">
              <a:lnSpc>
                <a:spcPct val="130000"/>
              </a:lnSpc>
              <a:buNone/>
            </a:pP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Load our document</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full_text = extract_text_from_pdf("employee_policy_handbook.pdf")</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print(f"Extracted {len(full_text)} characters")</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print(full_text[:300])  # Preview first 300 chars</a:t>
            </a:r>
            <a:endParaRPr lang="en-US" sz="900" dirty="0"/>
          </a:p>
        </p:txBody>
      </p:sp>
      <p:sp>
        <p:nvSpPr>
          <p:cNvPr id="9" name="Shape 7"/>
          <p:cNvSpPr/>
          <p:nvPr/>
        </p:nvSpPr>
        <p:spPr>
          <a:xfrm>
            <a:off x="496119" y="4261842"/>
            <a:ext cx="8151763" cy="484808"/>
          </a:xfrm>
          <a:prstGeom prst="roundRect">
            <a:avLst>
              <a:gd name="adj" fmla="val 10209"/>
            </a:avLst>
          </a:prstGeom>
          <a:solidFill>
            <a:srgbClr val="FCF2B5"/>
          </a:solidFill>
          <a:ln/>
        </p:spPr>
      </p:sp>
      <p:pic>
        <p:nvPicPr>
          <p:cNvPr id="10" name="Image 0" descr="preencoded.png">    </p:cNvPr>
          <p:cNvPicPr>
            <a:picLocks noChangeAspect="1"/>
          </p:cNvPicPr>
          <p:nvPr/>
        </p:nvPicPr>
        <p:blipFill>
          <a:blip r:embed="rId1"/>
          <a:stretch>
            <a:fillRect/>
          </a:stretch>
        </p:blipFill>
        <p:spPr>
          <a:xfrm>
            <a:off x="613916" y="4434483"/>
            <a:ext cx="147265" cy="117797"/>
          </a:xfrm>
          <a:prstGeom prst="rect">
            <a:avLst/>
          </a:prstGeom>
        </p:spPr>
      </p:pic>
      <p:sp>
        <p:nvSpPr>
          <p:cNvPr id="11" name="Text 8"/>
          <p:cNvSpPr/>
          <p:nvPr/>
        </p:nvSpPr>
        <p:spPr>
          <a:xfrm>
            <a:off x="878979" y="4403154"/>
            <a:ext cx="8108305" cy="183877"/>
          </a:xfrm>
          <a:prstGeom prst="rect">
            <a:avLst/>
          </a:prstGeom>
          <a:noFill/>
          <a:ln/>
        </p:spPr>
        <p:txBody>
          <a:bodyPr wrap="none" lIns="0" tIns="0" rIns="0" bIns="0" rtlCol="0" anchor="t"/>
          <a:lstStyle/>
          <a:p>
            <a:pPr algn="l" indent="0" marL="0">
              <a:lnSpc>
                <a:spcPct val="130000"/>
              </a:lnSpc>
              <a:buNone/>
            </a:pPr>
            <a:r>
              <a:rPr lang="en-US" sz="900" b="1" dirty="0">
                <a:solidFill>
                  <a:srgbClr val="000000"/>
                </a:solidFill>
                <a:latin typeface="Roboto" pitchFamily="34" charset="0"/>
                <a:ea typeface="Roboto" pitchFamily="34" charset="-122"/>
                <a:cs typeface="Roboto" pitchFamily="34" charset="-120"/>
              </a:rPr>
              <a:t>Always inspect your extracted text.</a:t>
            </a:r>
            <a:pPr algn="l" indent="0" marL="0">
              <a:lnSpc>
                <a:spcPct val="130000"/>
              </a:lnSpc>
              <a:buNone/>
            </a:pPr>
            <a:r>
              <a:rPr lang="en-US" sz="900" dirty="0">
                <a:solidFill>
                  <a:srgbClr val="000000"/>
                </a:solidFill>
                <a:latin typeface="Roboto" pitchFamily="34" charset="0"/>
                <a:ea typeface="Roboto" pitchFamily="34" charset="-122"/>
                <a:cs typeface="Roboto" pitchFamily="34" charset="-120"/>
              </a:rPr>
              <a:t> OCR errors, garbled tables, or missing sections at this stage will silently degrade every downstream step.</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5</a:t>
            </a:r>
            <a:endParaRPr lang="en-US" sz="750" dirty="0"/>
          </a:p>
        </p:txBody>
      </p:sp>
      <p:sp>
        <p:nvSpPr>
          <p:cNvPr id="4" name="Shape 2"/>
          <p:cNvSpPr/>
          <p:nvPr/>
        </p:nvSpPr>
        <p:spPr>
          <a:xfrm>
            <a:off x="1022449" y="1558900"/>
            <a:ext cx="656332"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955179"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CHUNKING</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5</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Chunking</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Splitting documents into the right-sized pieces for embedding and retrieval.</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96119" y="1411337"/>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Why Chunking Exists</a:t>
            </a:r>
            <a:endParaRPr lang="en-US" sz="2400" dirty="0"/>
          </a:p>
        </p:txBody>
      </p:sp>
      <p:sp>
        <p:nvSpPr>
          <p:cNvPr id="3" name="Text 1"/>
          <p:cNvSpPr/>
          <p:nvPr/>
        </p:nvSpPr>
        <p:spPr>
          <a:xfrm>
            <a:off x="496119" y="2046908"/>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You cannot embed an entire 50-page document as a single vector. Two reasons: embedding models have token limits, and a single embedding for a huge document captures everything — meaning it captures nothing specifically.</a:t>
            </a:r>
            <a:endParaRPr lang="en-US" sz="950" dirty="0"/>
          </a:p>
        </p:txBody>
      </p:sp>
      <p:sp>
        <p:nvSpPr>
          <p:cNvPr id="4" name="Shape 2"/>
          <p:cNvSpPr/>
          <p:nvPr/>
        </p:nvSpPr>
        <p:spPr>
          <a:xfrm>
            <a:off x="406822" y="2583359"/>
            <a:ext cx="4103191" cy="1148804"/>
          </a:xfrm>
          <a:prstGeom prst="roundRect">
            <a:avLst>
              <a:gd name="adj" fmla="val 7774"/>
            </a:avLst>
          </a:prstGeom>
          <a:solidFill>
            <a:srgbClr val="1B1B27">
              <a:alpha val="95000"/>
            </a:srgbClr>
          </a:solidFill>
          <a:ln/>
        </p:spPr>
      </p:sp>
      <p:sp>
        <p:nvSpPr>
          <p:cNvPr id="5" name="Text 3"/>
          <p:cNvSpPr/>
          <p:nvPr/>
        </p:nvSpPr>
        <p:spPr>
          <a:xfrm>
            <a:off x="530796" y="2707332"/>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The Problem</a:t>
            </a:r>
            <a:endParaRPr lang="en-US" sz="1200" dirty="0"/>
          </a:p>
        </p:txBody>
      </p:sp>
      <p:sp>
        <p:nvSpPr>
          <p:cNvPr id="6" name="Text 4"/>
          <p:cNvSpPr/>
          <p:nvPr/>
        </p:nvSpPr>
        <p:spPr>
          <a:xfrm>
            <a:off x="530796" y="3025155"/>
            <a:ext cx="3855244"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If you embed the entire handbook as one vector, a question about "notice period" has to compete with cafeteria policies, insurance clauses, and every other topic in the document.</a:t>
            </a:r>
            <a:endParaRPr lang="en-US" sz="950" dirty="0"/>
          </a:p>
        </p:txBody>
      </p:sp>
      <p:sp>
        <p:nvSpPr>
          <p:cNvPr id="7" name="Text 5"/>
          <p:cNvSpPr/>
          <p:nvPr/>
        </p:nvSpPr>
        <p:spPr>
          <a:xfrm>
            <a:off x="4728046" y="2707332"/>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The Solution</a:t>
            </a:r>
            <a:endParaRPr lang="en-US" sz="1200" dirty="0"/>
          </a:p>
        </p:txBody>
      </p:sp>
      <p:sp>
        <p:nvSpPr>
          <p:cNvPr id="8" name="Text 6"/>
          <p:cNvSpPr/>
          <p:nvPr/>
        </p:nvSpPr>
        <p:spPr>
          <a:xfrm>
            <a:off x="4728046" y="3025155"/>
            <a:ext cx="392459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Break the document into smaller, focused pieces — called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chunks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Each chunk gets its own embedding. When a user asks a question, we retrieve only the 2–3 most relevant chunks.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96119" y="1262137"/>
            <a:ext cx="4255443"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Three Chunking Strategies</a:t>
            </a:r>
            <a:endParaRPr lang="en-US" sz="2400" dirty="0"/>
          </a:p>
        </p:txBody>
      </p:sp>
      <p:sp>
        <p:nvSpPr>
          <p:cNvPr id="3" name="Shape 1"/>
          <p:cNvSpPr/>
          <p:nvPr/>
        </p:nvSpPr>
        <p:spPr>
          <a:xfrm>
            <a:off x="496119" y="1897707"/>
            <a:ext cx="2634555" cy="1983581"/>
          </a:xfrm>
          <a:prstGeom prst="roundRect">
            <a:avLst>
              <a:gd name="adj" fmla="val 2627"/>
            </a:avLst>
          </a:prstGeom>
          <a:solidFill>
            <a:srgbClr val="FFFFFF">
              <a:alpha val="95000"/>
            </a:srgbClr>
          </a:solidFill>
          <a:ln w="14288">
            <a:solidFill>
              <a:srgbClr val="C7C7D0"/>
            </a:solidFill>
            <a:prstDash val="solid"/>
          </a:ln>
        </p:spPr>
      </p:sp>
      <p:sp>
        <p:nvSpPr>
          <p:cNvPr id="4" name="Shape 2"/>
          <p:cNvSpPr/>
          <p:nvPr/>
        </p:nvSpPr>
        <p:spPr>
          <a:xfrm>
            <a:off x="510406" y="1911995"/>
            <a:ext cx="2605980" cy="372070"/>
          </a:xfrm>
          <a:prstGeom prst="roundRect">
            <a:avLst>
              <a:gd name="adj" fmla="val 9395"/>
            </a:avLst>
          </a:prstGeom>
          <a:solidFill>
            <a:srgbClr val="E1E1EA"/>
          </a:solidFill>
          <a:ln/>
        </p:spPr>
      </p:sp>
      <p:sp>
        <p:nvSpPr>
          <p:cNvPr id="5" name="Text 3"/>
          <p:cNvSpPr/>
          <p:nvPr/>
        </p:nvSpPr>
        <p:spPr>
          <a:xfrm>
            <a:off x="1720379" y="1979340"/>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1</a:t>
            </a:r>
            <a:endParaRPr lang="en-US" sz="1450" dirty="0"/>
          </a:p>
        </p:txBody>
      </p:sp>
      <p:sp>
        <p:nvSpPr>
          <p:cNvPr id="6" name="Text 4"/>
          <p:cNvSpPr/>
          <p:nvPr/>
        </p:nvSpPr>
        <p:spPr>
          <a:xfrm>
            <a:off x="634380" y="24080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Fixed-Size Chunking</a:t>
            </a:r>
            <a:endParaRPr lang="en-US" sz="1200" dirty="0"/>
          </a:p>
        </p:txBody>
      </p:sp>
      <p:sp>
        <p:nvSpPr>
          <p:cNvPr id="7" name="Text 5"/>
          <p:cNvSpPr/>
          <p:nvPr/>
        </p:nvSpPr>
        <p:spPr>
          <a:xfrm>
            <a:off x="634380" y="2676302"/>
            <a:ext cx="2358033" cy="1066726"/>
          </a:xfrm>
          <a:prstGeom prst="rect">
            <a:avLst/>
          </a:prstGeom>
          <a:noFill/>
          <a:ln/>
        </p:spPr>
        <p:txBody>
          <a:bodyPr wrap="square" lIns="0" tIns="0" rIns="0" bIns="0" rtlCol="0" anchor="t">
            <a:normAutofit/>
          </a:bodyPr>
          <a:lstStyle/>
          <a:p>
            <a:pPr algn="l" indent="0" marL="0">
              <a:lnSpc>
                <a:spcPct val="133000"/>
              </a:lnSpc>
              <a:spcAft>
                <a:spcPts val="550"/>
              </a:spcAft>
              <a:buNone/>
            </a:pPr>
            <a:r>
              <a:rPr lang="en-US" sz="950" dirty="0">
                <a:solidFill>
                  <a:srgbClr val="3C3939"/>
                </a:solidFill>
                <a:latin typeface="Roboto" pitchFamily="34" charset="0"/>
                <a:ea typeface="Roboto" pitchFamily="34" charset="-122"/>
                <a:cs typeface="Roboto" pitchFamily="34" charset="-120"/>
              </a:rPr>
              <a:t>Split after a fixed number of characters (e.g., every 300 chars).</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Pros: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Simple, predictable, fast</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Cons: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May cut a sentence mid-thought, breaking meaning</a:t>
            </a:r>
            <a:endParaRPr lang="en-US" sz="950" dirty="0"/>
          </a:p>
        </p:txBody>
      </p:sp>
      <p:sp>
        <p:nvSpPr>
          <p:cNvPr id="8" name="Shape 6"/>
          <p:cNvSpPr/>
          <p:nvPr/>
        </p:nvSpPr>
        <p:spPr>
          <a:xfrm>
            <a:off x="3254648" y="1897707"/>
            <a:ext cx="2634630" cy="1983581"/>
          </a:xfrm>
          <a:prstGeom prst="roundRect">
            <a:avLst>
              <a:gd name="adj" fmla="val 2627"/>
            </a:avLst>
          </a:prstGeom>
          <a:solidFill>
            <a:srgbClr val="FFFFFF">
              <a:alpha val="95000"/>
            </a:srgbClr>
          </a:solidFill>
          <a:ln w="14288">
            <a:solidFill>
              <a:srgbClr val="C7C7D0"/>
            </a:solidFill>
            <a:prstDash val="solid"/>
          </a:ln>
        </p:spPr>
      </p:sp>
      <p:sp>
        <p:nvSpPr>
          <p:cNvPr id="9" name="Shape 7"/>
          <p:cNvSpPr/>
          <p:nvPr/>
        </p:nvSpPr>
        <p:spPr>
          <a:xfrm>
            <a:off x="3268935" y="1911995"/>
            <a:ext cx="2606055" cy="372070"/>
          </a:xfrm>
          <a:prstGeom prst="roundRect">
            <a:avLst>
              <a:gd name="adj" fmla="val 9395"/>
            </a:avLst>
          </a:prstGeom>
          <a:solidFill>
            <a:srgbClr val="E1E1EA"/>
          </a:solidFill>
          <a:ln/>
        </p:spPr>
      </p:sp>
      <p:sp>
        <p:nvSpPr>
          <p:cNvPr id="10" name="Text 8"/>
          <p:cNvSpPr/>
          <p:nvPr/>
        </p:nvSpPr>
        <p:spPr>
          <a:xfrm>
            <a:off x="4478908" y="1979340"/>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2</a:t>
            </a:r>
            <a:endParaRPr lang="en-US" sz="1450" dirty="0"/>
          </a:p>
        </p:txBody>
      </p:sp>
      <p:sp>
        <p:nvSpPr>
          <p:cNvPr id="11" name="Text 9"/>
          <p:cNvSpPr/>
          <p:nvPr/>
        </p:nvSpPr>
        <p:spPr>
          <a:xfrm>
            <a:off x="3392909" y="24080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Sentence Chunking</a:t>
            </a:r>
            <a:endParaRPr lang="en-US" sz="1200" dirty="0"/>
          </a:p>
        </p:txBody>
      </p:sp>
      <p:sp>
        <p:nvSpPr>
          <p:cNvPr id="12" name="Text 10"/>
          <p:cNvSpPr/>
          <p:nvPr/>
        </p:nvSpPr>
        <p:spPr>
          <a:xfrm>
            <a:off x="3392909" y="2676302"/>
            <a:ext cx="2358107" cy="1066726"/>
          </a:xfrm>
          <a:prstGeom prst="rect">
            <a:avLst/>
          </a:prstGeom>
          <a:noFill/>
          <a:ln/>
        </p:spPr>
        <p:txBody>
          <a:bodyPr wrap="square" lIns="0" tIns="0" rIns="0" bIns="0" rtlCol="0" anchor="t">
            <a:normAutofit/>
          </a:bodyPr>
          <a:lstStyle/>
          <a:p>
            <a:pPr algn="l" indent="0" marL="0">
              <a:lnSpc>
                <a:spcPct val="133000"/>
              </a:lnSpc>
              <a:spcAft>
                <a:spcPts val="550"/>
              </a:spcAft>
              <a:buNone/>
            </a:pPr>
            <a:r>
              <a:rPr lang="en-US" sz="950" dirty="0">
                <a:solidFill>
                  <a:srgbClr val="3C3939"/>
                </a:solidFill>
                <a:latin typeface="Roboto" pitchFamily="34" charset="0"/>
                <a:ea typeface="Roboto" pitchFamily="34" charset="-122"/>
                <a:cs typeface="Roboto" pitchFamily="34" charset="-120"/>
              </a:rPr>
              <a:t>Split at sentence boundaries using punctuation detection.</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Pros: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Natural, preserves sentence integrity</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Cons: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Variable chunk sizes; very long sentences become large chunks</a:t>
            </a:r>
            <a:endParaRPr lang="en-US" sz="950" dirty="0"/>
          </a:p>
        </p:txBody>
      </p:sp>
      <p:sp>
        <p:nvSpPr>
          <p:cNvPr id="13" name="Shape 11"/>
          <p:cNvSpPr/>
          <p:nvPr/>
        </p:nvSpPr>
        <p:spPr>
          <a:xfrm>
            <a:off x="6013252" y="1897707"/>
            <a:ext cx="2634555" cy="1983581"/>
          </a:xfrm>
          <a:prstGeom prst="roundRect">
            <a:avLst>
              <a:gd name="adj" fmla="val 2627"/>
            </a:avLst>
          </a:prstGeom>
          <a:solidFill>
            <a:srgbClr val="FFFFFF">
              <a:alpha val="95000"/>
            </a:srgbClr>
          </a:solidFill>
          <a:ln w="14288">
            <a:solidFill>
              <a:srgbClr val="C7C7D0"/>
            </a:solidFill>
            <a:prstDash val="solid"/>
          </a:ln>
        </p:spPr>
      </p:sp>
      <p:sp>
        <p:nvSpPr>
          <p:cNvPr id="14" name="Shape 12"/>
          <p:cNvSpPr/>
          <p:nvPr/>
        </p:nvSpPr>
        <p:spPr>
          <a:xfrm>
            <a:off x="6027539" y="1911995"/>
            <a:ext cx="2605980" cy="372070"/>
          </a:xfrm>
          <a:prstGeom prst="roundRect">
            <a:avLst>
              <a:gd name="adj" fmla="val 9395"/>
            </a:avLst>
          </a:prstGeom>
          <a:solidFill>
            <a:srgbClr val="E1E1EA"/>
          </a:solidFill>
          <a:ln/>
        </p:spPr>
      </p:sp>
      <p:sp>
        <p:nvSpPr>
          <p:cNvPr id="15" name="Text 13"/>
          <p:cNvSpPr/>
          <p:nvPr/>
        </p:nvSpPr>
        <p:spPr>
          <a:xfrm>
            <a:off x="7237512" y="1979340"/>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3C3939"/>
                </a:solidFill>
                <a:latin typeface="Raleway" pitchFamily="34" charset="0"/>
                <a:ea typeface="Raleway" pitchFamily="34" charset="-122"/>
                <a:cs typeface="Raleway" pitchFamily="34" charset="-120"/>
              </a:rPr>
              <a:t>3</a:t>
            </a:r>
            <a:endParaRPr lang="en-US" sz="1450" dirty="0"/>
          </a:p>
        </p:txBody>
      </p:sp>
      <p:sp>
        <p:nvSpPr>
          <p:cNvPr id="16" name="Text 14"/>
          <p:cNvSpPr/>
          <p:nvPr/>
        </p:nvSpPr>
        <p:spPr>
          <a:xfrm>
            <a:off x="6151513" y="2408039"/>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Recursive Chunking</a:t>
            </a:r>
            <a:endParaRPr lang="en-US" sz="1200" dirty="0"/>
          </a:p>
        </p:txBody>
      </p:sp>
      <p:sp>
        <p:nvSpPr>
          <p:cNvPr id="17" name="Text 15"/>
          <p:cNvSpPr/>
          <p:nvPr/>
        </p:nvSpPr>
        <p:spPr>
          <a:xfrm>
            <a:off x="6151513" y="2676302"/>
            <a:ext cx="2358033" cy="1066726"/>
          </a:xfrm>
          <a:prstGeom prst="rect">
            <a:avLst/>
          </a:prstGeom>
          <a:noFill/>
          <a:ln/>
        </p:spPr>
        <p:txBody>
          <a:bodyPr wrap="square" lIns="0" tIns="0" rIns="0" bIns="0" rtlCol="0" anchor="t">
            <a:normAutofit/>
          </a:bodyPr>
          <a:lstStyle/>
          <a:p>
            <a:pPr algn="l" indent="0" marL="0">
              <a:lnSpc>
                <a:spcPct val="133000"/>
              </a:lnSpc>
              <a:spcAft>
                <a:spcPts val="550"/>
              </a:spcAft>
              <a:buNone/>
            </a:pPr>
            <a:r>
              <a:rPr lang="en-US" sz="950" dirty="0">
                <a:solidFill>
                  <a:srgbClr val="3C3939"/>
                </a:solidFill>
                <a:latin typeface="Roboto" pitchFamily="34" charset="0"/>
                <a:ea typeface="Roboto" pitchFamily="34" charset="-122"/>
                <a:cs typeface="Roboto" pitchFamily="34" charset="-120"/>
              </a:rPr>
              <a:t>Try to split at paragraphs first, then lines, then words, then characters.</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Pros: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Best balance of meaning preservation and size control</a:t>
            </a:r>
            <a:endParaRPr lang="en-US" sz="950" dirty="0"/>
          </a:p>
          <a:p>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Cons:</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Slightly more complex to configure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279053" y="191839"/>
            <a:ext cx="4565526" cy="218033"/>
          </a:xfrm>
          <a:prstGeom prst="rect">
            <a:avLst/>
          </a:prstGeom>
          <a:noFill/>
          <a:ln/>
        </p:spPr>
        <p:txBody>
          <a:bodyPr wrap="none" lIns="0" tIns="0" rIns="0" bIns="0" rtlCol="0" anchor="t"/>
          <a:lstStyle/>
          <a:p>
            <a:pPr algn="l" indent="0" marL="0">
              <a:lnSpc>
                <a:spcPct val="104000"/>
              </a:lnSpc>
              <a:buNone/>
            </a:pPr>
            <a:r>
              <a:rPr lang="en-US" sz="1350" dirty="0">
                <a:solidFill>
                  <a:srgbClr val="1B1B27"/>
                </a:solidFill>
                <a:latin typeface="Raleway" pitchFamily="34" charset="0"/>
                <a:ea typeface="Raleway" pitchFamily="34" charset="-122"/>
                <a:cs typeface="Raleway" pitchFamily="34" charset="-120"/>
              </a:rPr>
              <a:t>Recursive Chunking: The Recommended Approach</a:t>
            </a:r>
            <a:endParaRPr lang="en-US" sz="1350" dirty="0"/>
          </a:p>
        </p:txBody>
      </p:sp>
      <p:sp>
        <p:nvSpPr>
          <p:cNvPr id="3" name="Text 1"/>
          <p:cNvSpPr/>
          <p:nvPr/>
        </p:nvSpPr>
        <p:spPr>
          <a:xfrm>
            <a:off x="279053" y="488305"/>
            <a:ext cx="8864947" cy="91976"/>
          </a:xfrm>
          <a:prstGeom prst="rect">
            <a:avLst/>
          </a:prstGeom>
          <a:noFill/>
          <a:ln/>
        </p:spPr>
        <p:txBody>
          <a:bodyPr wrap="none" lIns="0" tIns="0" rIns="0" bIns="0" rtlCol="0" anchor="t"/>
          <a:lstStyle/>
          <a:p>
            <a:pPr algn="l" indent="0" marL="0">
              <a:lnSpc>
                <a:spcPct val="104000"/>
              </a:lnSpc>
              <a:buNone/>
            </a:pPr>
            <a:r>
              <a:rPr lang="en-US" sz="500" dirty="0">
                <a:solidFill>
                  <a:srgbClr val="3C3939"/>
                </a:solidFill>
                <a:highlight>
                  <a:srgbClr val="F2F2F2"/>
                </a:highlight>
                <a:latin typeface="Consolas" pitchFamily="34" charset="0"/>
                <a:ea typeface="Consolas" pitchFamily="34" charset="-122"/>
                <a:cs typeface="Consolas" pitchFamily="34" charset="-120"/>
              </a:rPr>
              <a:t>RecursiveCharacterTextSplitter</a:t>
            </a:r>
            <a:pPr algn="l" indent="0" marL="0">
              <a:lnSpc>
                <a:spcPct val="104000"/>
              </a:lnSpc>
              <a:buNone/>
            </a:pPr>
            <a:r>
              <a:rPr lang="en-US" sz="500" dirty="0">
                <a:solidFill>
                  <a:srgbClr val="3C3939"/>
                </a:solidFill>
                <a:latin typeface="Roboto" pitchFamily="34" charset="0"/>
                <a:ea typeface="Roboto" pitchFamily="34" charset="-122"/>
                <a:cs typeface="Roboto" pitchFamily="34" charset="-120"/>
              </a:rPr>
              <a:t> from LangChain is the industry-standard starting point. It tries to preserve semantic boundaries by attempting splits in this order:</a:t>
            </a:r>
            <a:endParaRPr lang="en-US" sz="500" dirty="0"/>
          </a:p>
        </p:txBody>
      </p:sp>
      <p:pic>
        <p:nvPicPr>
          <p:cNvPr id="4" name="Image 0" descr="preencoded.png">    </p:cNvPr>
          <p:cNvPicPr>
            <a:picLocks noChangeAspect="1"/>
          </p:cNvPicPr>
          <p:nvPr/>
        </p:nvPicPr>
        <p:blipFill>
          <a:blip r:embed="rId1"/>
          <a:stretch>
            <a:fillRect/>
          </a:stretch>
        </p:blipFill>
        <p:spPr>
          <a:xfrm>
            <a:off x="279053" y="624408"/>
            <a:ext cx="8585895" cy="4197772"/>
          </a:xfrm>
          <a:prstGeom prst="rect">
            <a:avLst/>
          </a:prstGeom>
        </p:spPr>
      </p:pic>
      <p:sp>
        <p:nvSpPr>
          <p:cNvPr id="5" name="Text 2"/>
          <p:cNvSpPr/>
          <p:nvPr/>
        </p:nvSpPr>
        <p:spPr>
          <a:xfrm>
            <a:off x="482362" y="956079"/>
            <a:ext cx="2309879" cy="238508"/>
          </a:xfrm>
          <a:prstGeom prst="rect">
            <a:avLst/>
          </a:prstGeom>
          <a:noFill/>
          <a:ln/>
        </p:spPr>
        <p:txBody>
          <a:bodyPr wrap="none" lIns="0" tIns="0" rIns="0" bIns="0" rtlCol="0" anchor="t"/>
          <a:lstStyle/>
          <a:p>
            <a:pPr algn="l" indent="0" marL="0">
              <a:lnSpc>
                <a:spcPct val="104000"/>
              </a:lnSpc>
              <a:buNone/>
            </a:pPr>
            <a:r>
              <a:rPr lang="en-US" sz="1500" dirty="0">
                <a:solidFill>
                  <a:srgbClr val="1B1B27"/>
                </a:solidFill>
                <a:latin typeface="Raleway" pitchFamily="34" charset="0"/>
                <a:ea typeface="Raleway" pitchFamily="34" charset="-122"/>
                <a:cs typeface="Raleway" pitchFamily="34" charset="-120"/>
              </a:rPr>
              <a:t>Try Paragraphs</a:t>
            </a:r>
            <a:endParaRPr lang="en-US" sz="1500" dirty="0"/>
          </a:p>
        </p:txBody>
      </p:sp>
      <p:sp>
        <p:nvSpPr>
          <p:cNvPr id="6" name="Text 3"/>
          <p:cNvSpPr/>
          <p:nvPr/>
        </p:nvSpPr>
        <p:spPr>
          <a:xfrm>
            <a:off x="482362" y="1262429"/>
            <a:ext cx="1852679" cy="298135"/>
          </a:xfrm>
          <a:prstGeom prst="rect">
            <a:avLst/>
          </a:prstGeom>
          <a:noFill/>
          <a:ln/>
        </p:spPr>
        <p:txBody>
          <a:bodyPr wrap="square" lIns="0" tIns="0" rIns="0" bIns="0" rtlCol="0" anchor="t">
            <a:normAutofit/>
          </a:bodyPr>
          <a:lstStyle/>
          <a:p>
            <a:pPr algn="l" indent="0" marL="0">
              <a:lnSpc>
                <a:spcPct val="81000"/>
              </a:lnSpc>
              <a:buNone/>
            </a:pPr>
            <a:r>
              <a:rPr lang="en-US" sz="1200" dirty="0">
                <a:solidFill>
                  <a:srgbClr val="3C3939"/>
                </a:solidFill>
                <a:latin typeface="Roboto" pitchFamily="34" charset="0"/>
                <a:ea typeface="Roboto" pitchFamily="34" charset="-122"/>
                <a:cs typeface="Roboto" pitchFamily="34" charset="-120"/>
              </a:rPr>
              <a:t>Prefer paragraph breaks to keep context</a:t>
            </a:r>
            <a:endParaRPr lang="en-US" sz="1200" dirty="0"/>
          </a:p>
        </p:txBody>
      </p:sp>
      <p:sp>
        <p:nvSpPr>
          <p:cNvPr id="7" name="Text 4"/>
          <p:cNvSpPr/>
          <p:nvPr/>
        </p:nvSpPr>
        <p:spPr>
          <a:xfrm>
            <a:off x="6801769" y="956079"/>
            <a:ext cx="2309878" cy="238508"/>
          </a:xfrm>
          <a:prstGeom prst="rect">
            <a:avLst/>
          </a:prstGeom>
          <a:noFill/>
          <a:ln/>
        </p:spPr>
        <p:txBody>
          <a:bodyPr wrap="none" lIns="0" tIns="0" rIns="0" bIns="0" rtlCol="0" anchor="t"/>
          <a:lstStyle/>
          <a:p>
            <a:pPr algn="l" indent="0" marL="0">
              <a:lnSpc>
                <a:spcPct val="104000"/>
              </a:lnSpc>
              <a:buNone/>
            </a:pPr>
            <a:r>
              <a:rPr lang="en-US" sz="1500" dirty="0">
                <a:solidFill>
                  <a:srgbClr val="1B1B27"/>
                </a:solidFill>
                <a:latin typeface="Raleway" pitchFamily="34" charset="0"/>
                <a:ea typeface="Raleway" pitchFamily="34" charset="-122"/>
                <a:cs typeface="Raleway" pitchFamily="34" charset="-120"/>
              </a:rPr>
              <a:t>Then Lines</a:t>
            </a:r>
            <a:endParaRPr lang="en-US" sz="1500" dirty="0"/>
          </a:p>
        </p:txBody>
      </p:sp>
      <p:sp>
        <p:nvSpPr>
          <p:cNvPr id="8" name="Text 5"/>
          <p:cNvSpPr/>
          <p:nvPr/>
        </p:nvSpPr>
        <p:spPr>
          <a:xfrm>
            <a:off x="6801769" y="1262429"/>
            <a:ext cx="1852678" cy="298135"/>
          </a:xfrm>
          <a:prstGeom prst="rect">
            <a:avLst/>
          </a:prstGeom>
          <a:noFill/>
          <a:ln/>
        </p:spPr>
        <p:txBody>
          <a:bodyPr wrap="square" lIns="0" tIns="0" rIns="0" bIns="0" rtlCol="0" anchor="t">
            <a:normAutofit/>
          </a:bodyPr>
          <a:lstStyle/>
          <a:p>
            <a:pPr algn="l" indent="0" marL="0">
              <a:lnSpc>
                <a:spcPct val="81000"/>
              </a:lnSpc>
              <a:buNone/>
            </a:pPr>
            <a:r>
              <a:rPr lang="en-US" sz="1200" dirty="0">
                <a:solidFill>
                  <a:srgbClr val="3C3939"/>
                </a:solidFill>
                <a:latin typeface="Roboto" pitchFamily="34" charset="0"/>
                <a:ea typeface="Roboto" pitchFamily="34" charset="-122"/>
                <a:cs typeface="Roboto" pitchFamily="34" charset="-120"/>
              </a:rPr>
              <a:t>Split at line breaks when needed</a:t>
            </a:r>
            <a:endParaRPr lang="en-US" sz="1200" dirty="0"/>
          </a:p>
        </p:txBody>
      </p:sp>
      <p:sp>
        <p:nvSpPr>
          <p:cNvPr id="9" name="Text 6"/>
          <p:cNvSpPr/>
          <p:nvPr/>
        </p:nvSpPr>
        <p:spPr>
          <a:xfrm>
            <a:off x="482362" y="3164399"/>
            <a:ext cx="2309879" cy="238508"/>
          </a:xfrm>
          <a:prstGeom prst="rect">
            <a:avLst/>
          </a:prstGeom>
          <a:noFill/>
          <a:ln/>
        </p:spPr>
        <p:txBody>
          <a:bodyPr wrap="none" lIns="0" tIns="0" rIns="0" bIns="0" rtlCol="0" anchor="t"/>
          <a:lstStyle/>
          <a:p>
            <a:pPr algn="l" indent="0" marL="0">
              <a:lnSpc>
                <a:spcPct val="104000"/>
              </a:lnSpc>
              <a:buNone/>
            </a:pPr>
            <a:r>
              <a:rPr lang="en-US" sz="1500" dirty="0">
                <a:solidFill>
                  <a:srgbClr val="1B1B27"/>
                </a:solidFill>
                <a:latin typeface="Raleway" pitchFamily="34" charset="0"/>
                <a:ea typeface="Raleway" pitchFamily="34" charset="-122"/>
                <a:cs typeface="Raleway" pitchFamily="34" charset="-120"/>
              </a:rPr>
              <a:t>Then Words</a:t>
            </a:r>
            <a:endParaRPr lang="en-US" sz="1500" dirty="0"/>
          </a:p>
        </p:txBody>
      </p:sp>
      <p:sp>
        <p:nvSpPr>
          <p:cNvPr id="10" name="Text 7"/>
          <p:cNvSpPr/>
          <p:nvPr/>
        </p:nvSpPr>
        <p:spPr>
          <a:xfrm>
            <a:off x="482362" y="3470750"/>
            <a:ext cx="1852679" cy="298135"/>
          </a:xfrm>
          <a:prstGeom prst="rect">
            <a:avLst/>
          </a:prstGeom>
          <a:noFill/>
          <a:ln/>
        </p:spPr>
        <p:txBody>
          <a:bodyPr wrap="square" lIns="0" tIns="0" rIns="0" bIns="0" rtlCol="0" anchor="t">
            <a:normAutofit/>
          </a:bodyPr>
          <a:lstStyle/>
          <a:p>
            <a:pPr algn="l" indent="0" marL="0">
              <a:lnSpc>
                <a:spcPct val="81000"/>
              </a:lnSpc>
              <a:buNone/>
            </a:pPr>
            <a:r>
              <a:rPr lang="en-US" sz="1200" dirty="0">
                <a:solidFill>
                  <a:srgbClr val="3C3939"/>
                </a:solidFill>
                <a:latin typeface="Roboto" pitchFamily="34" charset="0"/>
                <a:ea typeface="Roboto" pitchFamily="34" charset="-122"/>
                <a:cs typeface="Roboto" pitchFamily="34" charset="-120"/>
              </a:rPr>
              <a:t>Use word boundaries to refine chunks</a:t>
            </a:r>
            <a:endParaRPr lang="en-US" sz="1200" dirty="0"/>
          </a:p>
        </p:txBody>
      </p:sp>
      <p:sp>
        <p:nvSpPr>
          <p:cNvPr id="11" name="Text 8"/>
          <p:cNvSpPr/>
          <p:nvPr/>
        </p:nvSpPr>
        <p:spPr>
          <a:xfrm>
            <a:off x="6793156" y="3164399"/>
            <a:ext cx="2309879" cy="238508"/>
          </a:xfrm>
          <a:prstGeom prst="rect">
            <a:avLst/>
          </a:prstGeom>
          <a:noFill/>
          <a:ln/>
        </p:spPr>
        <p:txBody>
          <a:bodyPr wrap="none" lIns="0" tIns="0" rIns="0" bIns="0" rtlCol="0" anchor="t"/>
          <a:lstStyle/>
          <a:p>
            <a:pPr algn="l" indent="0" marL="0">
              <a:lnSpc>
                <a:spcPct val="104000"/>
              </a:lnSpc>
              <a:buNone/>
            </a:pPr>
            <a:r>
              <a:rPr lang="en-US" sz="1500" dirty="0">
                <a:solidFill>
                  <a:srgbClr val="1B1B27"/>
                </a:solidFill>
                <a:latin typeface="Raleway" pitchFamily="34" charset="0"/>
                <a:ea typeface="Raleway" pitchFamily="34" charset="-122"/>
                <a:cs typeface="Raleway" pitchFamily="34" charset="-120"/>
              </a:rPr>
              <a:t>Then Characters</a:t>
            </a:r>
            <a:endParaRPr lang="en-US" sz="1500" dirty="0"/>
          </a:p>
        </p:txBody>
      </p:sp>
      <p:sp>
        <p:nvSpPr>
          <p:cNvPr id="12" name="Text 9"/>
          <p:cNvSpPr/>
          <p:nvPr/>
        </p:nvSpPr>
        <p:spPr>
          <a:xfrm>
            <a:off x="6793156" y="3470750"/>
            <a:ext cx="1852679" cy="298135"/>
          </a:xfrm>
          <a:prstGeom prst="rect">
            <a:avLst/>
          </a:prstGeom>
          <a:noFill/>
          <a:ln/>
        </p:spPr>
        <p:txBody>
          <a:bodyPr wrap="square" lIns="0" tIns="0" rIns="0" bIns="0" rtlCol="0" anchor="t">
            <a:normAutofit/>
          </a:bodyPr>
          <a:lstStyle/>
          <a:p>
            <a:pPr algn="l" indent="0" marL="0">
              <a:lnSpc>
                <a:spcPct val="81000"/>
              </a:lnSpc>
              <a:buNone/>
            </a:pPr>
            <a:r>
              <a:rPr lang="en-US" sz="1200" dirty="0">
                <a:solidFill>
                  <a:srgbClr val="3C3939"/>
                </a:solidFill>
                <a:latin typeface="Roboto" pitchFamily="34" charset="0"/>
                <a:ea typeface="Roboto" pitchFamily="34" charset="-122"/>
                <a:cs typeface="Roboto" pitchFamily="34" charset="-120"/>
              </a:rPr>
              <a:t>Last resort: split by characters</a:t>
            </a:r>
            <a:endParaRPr lang="en-US" sz="1200" dirty="0"/>
          </a:p>
        </p:txBody>
      </p:sp>
      <p:sp>
        <p:nvSpPr>
          <p:cNvPr id="13" name="Text 10"/>
          <p:cNvSpPr/>
          <p:nvPr/>
        </p:nvSpPr>
        <p:spPr>
          <a:xfrm>
            <a:off x="279053" y="4866308"/>
            <a:ext cx="8864947" cy="87213"/>
          </a:xfrm>
          <a:prstGeom prst="rect">
            <a:avLst/>
          </a:prstGeom>
          <a:noFill/>
          <a:ln/>
        </p:spPr>
        <p:txBody>
          <a:bodyPr wrap="none" lIns="0" tIns="0" rIns="0" bIns="0" rtlCol="0" anchor="t"/>
          <a:lstStyle/>
          <a:p>
            <a:pPr algn="l" indent="0" marL="0">
              <a:lnSpc>
                <a:spcPct val="104000"/>
              </a:lnSpc>
              <a:buNone/>
            </a:pPr>
            <a:r>
              <a:rPr lang="en-US" sz="500" dirty="0">
                <a:solidFill>
                  <a:srgbClr val="3C3939"/>
                </a:solidFill>
                <a:latin typeface="Roboto" pitchFamily="34" charset="0"/>
                <a:ea typeface="Roboto" pitchFamily="34" charset="-122"/>
                <a:cs typeface="Roboto" pitchFamily="34" charset="-120"/>
              </a:rPr>
              <a:t>Only if a split at a higher level produces a chunk that is still too large does it fall back to the next level. This gives you size-controlled chunks that respect natural language boundaries as much as possible.</a:t>
            </a:r>
            <a:endParaRPr lang="en-US" sz="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96119" y="1021407"/>
            <a:ext cx="7920037"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Two Key Parameters: chunk_size and chunk_overlap</a:t>
            </a:r>
            <a:endParaRPr lang="en-US" sz="2400" dirty="0"/>
          </a:p>
        </p:txBody>
      </p:sp>
      <p:sp>
        <p:nvSpPr>
          <p:cNvPr id="3" name="Shape 1"/>
          <p:cNvSpPr/>
          <p:nvPr/>
        </p:nvSpPr>
        <p:spPr>
          <a:xfrm>
            <a:off x="406822" y="1594991"/>
            <a:ext cx="4103191" cy="1657350"/>
          </a:xfrm>
          <a:prstGeom prst="roundRect">
            <a:avLst>
              <a:gd name="adj" fmla="val 5389"/>
            </a:avLst>
          </a:prstGeom>
          <a:solidFill>
            <a:srgbClr val="1B1B27">
              <a:alpha val="95000"/>
            </a:srgbClr>
          </a:solidFill>
          <a:ln/>
        </p:spPr>
      </p:sp>
      <p:sp>
        <p:nvSpPr>
          <p:cNvPr id="4" name="Text 2"/>
          <p:cNvSpPr/>
          <p:nvPr/>
        </p:nvSpPr>
        <p:spPr>
          <a:xfrm>
            <a:off x="530796" y="1718965"/>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chunk_size = 300</a:t>
            </a:r>
            <a:endParaRPr lang="en-US" sz="1200" dirty="0"/>
          </a:p>
        </p:txBody>
      </p:sp>
      <p:sp>
        <p:nvSpPr>
          <p:cNvPr id="5" name="Text 3"/>
          <p:cNvSpPr/>
          <p:nvPr/>
        </p:nvSpPr>
        <p:spPr>
          <a:xfrm>
            <a:off x="530796" y="2036787"/>
            <a:ext cx="3855244" cy="1103933"/>
          </a:xfrm>
          <a:prstGeom prst="rect">
            <a:avLst/>
          </a:prstGeom>
          <a:noFill/>
          <a:ln/>
        </p:spPr>
        <p:txBody>
          <a:bodyPr wrap="square" lIns="0" tIns="0" rIns="0" bIns="0" rtlCol="0" anchor="t"/>
          <a:lstStyle/>
          <a:p>
            <a:pPr algn="l" indent="0" marL="0">
              <a:lnSpc>
                <a:spcPct val="133000"/>
              </a:lnSpc>
              <a:spcAft>
                <a:spcPts val="850"/>
              </a:spcAft>
              <a:buNone/>
            </a:pPr>
            <a:r>
              <a:rPr lang="en-US" sz="950" dirty="0">
                <a:solidFill>
                  <a:srgbClr val="FFFFFF"/>
                </a:solidFill>
                <a:latin typeface="Roboto" pitchFamily="34" charset="0"/>
                <a:ea typeface="Roboto" pitchFamily="34" charset="-122"/>
                <a:cs typeface="Roboto" pitchFamily="34" charset="-120"/>
              </a:rPr>
              <a:t>Maximum number of characters per chunk.</a:t>
            </a:r>
            <a:endParaRPr lang="en-US" sz="950" dirty="0"/>
          </a:p>
          <a:p>
            <a:pPr algn="l" indent="0" marL="0">
              <a:lnSpc>
                <a:spcPct val="133000"/>
              </a:lnSpc>
              <a:buNone/>
            </a:pPr>
            <a:r>
              <a:rPr lang="en-US" sz="950" b="1" dirty="0">
                <a:solidFill>
                  <a:srgbClr val="FFFFFF"/>
                </a:solidFill>
                <a:latin typeface="Roboto" pitchFamily="34" charset="0"/>
                <a:ea typeface="Roboto" pitchFamily="34" charset="-122"/>
                <a:cs typeface="Roboto" pitchFamily="34" charset="-120"/>
              </a:rPr>
              <a:t>Too small:</a:t>
            </a:r>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 Chunks lack context — "15 days" with no surrounding explanation.</a:t>
            </a:r>
            <a:endParaRPr lang="en-US" sz="950" dirty="0"/>
          </a:p>
          <a:p>
            <a:pPr algn="l" indent="0" marL="0">
              <a:lnSpc>
                <a:spcPct val="133000"/>
              </a:lnSpc>
              <a:buNone/>
            </a:pPr>
            <a:r>
              <a:rPr lang="en-US" sz="950" b="1" dirty="0">
                <a:solidFill>
                  <a:srgbClr val="FFFFFF"/>
                </a:solidFill>
                <a:latin typeface="Roboto" pitchFamily="34" charset="0"/>
                <a:ea typeface="Roboto" pitchFamily="34" charset="-122"/>
                <a:cs typeface="Roboto" pitchFamily="34" charset="-120"/>
              </a:rPr>
              <a:t>Too large:</a:t>
            </a:r>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 Chunks mix multiple topics, weakening the embedding signal.</a:t>
            </a:r>
            <a:endParaRPr lang="en-US" sz="950" dirty="0"/>
          </a:p>
        </p:txBody>
      </p:sp>
      <p:sp>
        <p:nvSpPr>
          <p:cNvPr id="6" name="Text 4"/>
          <p:cNvSpPr/>
          <p:nvPr/>
        </p:nvSpPr>
        <p:spPr>
          <a:xfrm>
            <a:off x="4728046" y="1718965"/>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chunk_overlap = 50</a:t>
            </a:r>
            <a:endParaRPr lang="en-US" sz="1200" dirty="0"/>
          </a:p>
        </p:txBody>
      </p:sp>
      <p:sp>
        <p:nvSpPr>
          <p:cNvPr id="7" name="Text 5"/>
          <p:cNvSpPr/>
          <p:nvPr/>
        </p:nvSpPr>
        <p:spPr>
          <a:xfrm>
            <a:off x="4728046" y="2036787"/>
            <a:ext cx="3924598" cy="1103933"/>
          </a:xfrm>
          <a:prstGeom prst="rect">
            <a:avLst/>
          </a:prstGeom>
          <a:noFill/>
          <a:ln/>
        </p:spPr>
        <p:txBody>
          <a:bodyPr wrap="square" lIns="0" tIns="0" rIns="0" bIns="0" rtlCol="0" anchor="t">
            <a:normAutofit/>
          </a:bodyPr>
          <a:lstStyle/>
          <a:p>
            <a:pPr algn="l" indent="0" marL="0">
              <a:lnSpc>
                <a:spcPct val="133000"/>
              </a:lnSpc>
              <a:spcAft>
                <a:spcPts val="850"/>
              </a:spcAft>
              <a:buNone/>
            </a:pPr>
            <a:r>
              <a:rPr lang="en-US" sz="950" dirty="0">
                <a:solidFill>
                  <a:srgbClr val="3C3939"/>
                </a:solidFill>
                <a:latin typeface="Roboto" pitchFamily="34" charset="0"/>
                <a:ea typeface="Roboto" pitchFamily="34" charset="-122"/>
                <a:cs typeface="Roboto" pitchFamily="34" charset="-120"/>
              </a:rPr>
              <a:t>How many characters the end of one chunk shares with the start of the next.</a:t>
            </a:r>
            <a:endParaRPr lang="en-US" sz="950" dirty="0"/>
          </a:p>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Without overlap, a sentence that spans a chunk boundary gets split. Overlap ensures that boundary context appears in both adjacent chunks, preventing information loss.</a:t>
            </a:r>
            <a:endParaRPr lang="en-US" sz="950" dirty="0"/>
          </a:p>
        </p:txBody>
      </p:sp>
      <p:sp>
        <p:nvSpPr>
          <p:cNvPr id="8" name="Shape 6"/>
          <p:cNvSpPr/>
          <p:nvPr/>
        </p:nvSpPr>
        <p:spPr>
          <a:xfrm>
            <a:off x="496119" y="3391867"/>
            <a:ext cx="8151763" cy="730225"/>
          </a:xfrm>
          <a:prstGeom prst="roundRect">
            <a:avLst>
              <a:gd name="adj" fmla="val 7135"/>
            </a:avLst>
          </a:prstGeom>
          <a:solidFill>
            <a:srgbClr val="D2D2E0"/>
          </a:solidFill>
          <a:ln/>
        </p:spPr>
      </p:sp>
      <p:pic>
        <p:nvPicPr>
          <p:cNvPr id="9" name="Image 0" descr="preencoded.png">    </p:cNvPr>
          <p:cNvPicPr>
            <a:picLocks noChangeAspect="1"/>
          </p:cNvPicPr>
          <p:nvPr/>
        </p:nvPicPr>
        <p:blipFill>
          <a:blip r:embed="rId1"/>
          <a:stretch>
            <a:fillRect/>
          </a:stretch>
        </p:blipFill>
        <p:spPr>
          <a:xfrm>
            <a:off x="620092" y="3576414"/>
            <a:ext cx="155004" cy="123974"/>
          </a:xfrm>
          <a:prstGeom prst="rect">
            <a:avLst/>
          </a:prstGeom>
        </p:spPr>
      </p:pic>
      <p:sp>
        <p:nvSpPr>
          <p:cNvPr id="10" name="Text 7"/>
          <p:cNvSpPr/>
          <p:nvPr/>
        </p:nvSpPr>
        <p:spPr>
          <a:xfrm>
            <a:off x="899071" y="3546797"/>
            <a:ext cx="7624837"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Start with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chunk_size=300, chunk_overlap=50</a:t>
            </a:r>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 Tune based on your document structure and retrieval quality. These are not magic numbers.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96119" y="370805"/>
            <a:ext cx="6140797"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Why Chunking Quality Matters So Much</a:t>
            </a:r>
            <a:endParaRPr lang="en-US" sz="2400" dirty="0"/>
          </a:p>
        </p:txBody>
      </p:sp>
      <p:pic>
        <p:nvPicPr>
          <p:cNvPr id="3" name="Image 0" descr="preencoded.png">    </p:cNvPr>
          <p:cNvPicPr>
            <a:picLocks noChangeAspect="1"/>
          </p:cNvPicPr>
          <p:nvPr/>
        </p:nvPicPr>
        <p:blipFill>
          <a:blip r:embed="rId1"/>
          <a:stretch>
            <a:fillRect/>
          </a:stretch>
        </p:blipFill>
        <p:spPr>
          <a:xfrm>
            <a:off x="1402407" y="1006376"/>
            <a:ext cx="6339185" cy="2901255"/>
          </a:xfrm>
          <a:prstGeom prst="rect">
            <a:avLst/>
          </a:prstGeom>
        </p:spPr>
      </p:pic>
      <p:sp>
        <p:nvSpPr>
          <p:cNvPr id="4" name="Text 1"/>
          <p:cNvSpPr/>
          <p:nvPr/>
        </p:nvSpPr>
        <p:spPr>
          <a:xfrm>
            <a:off x="6256361" y="310404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Good Answers</a:t>
            </a:r>
            <a:endParaRPr lang="en-US" sz="1400" dirty="0"/>
          </a:p>
        </p:txBody>
      </p:sp>
      <p:sp>
        <p:nvSpPr>
          <p:cNvPr id="5" name="Text 2"/>
          <p:cNvSpPr/>
          <p:nvPr/>
        </p:nvSpPr>
        <p:spPr>
          <a:xfrm>
            <a:off x="4756456" y="3104041"/>
            <a:ext cx="1190143"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Good Retrieval</a:t>
            </a:r>
            <a:endParaRPr lang="en-US" sz="1400" dirty="0"/>
          </a:p>
        </p:txBody>
      </p:sp>
      <p:sp>
        <p:nvSpPr>
          <p:cNvPr id="6" name="Text 3"/>
          <p:cNvSpPr/>
          <p:nvPr/>
        </p:nvSpPr>
        <p:spPr>
          <a:xfrm>
            <a:off x="3264702" y="310404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Good Embeddings</a:t>
            </a:r>
            <a:endParaRPr lang="en-US" sz="1400" dirty="0"/>
          </a:p>
        </p:txBody>
      </p:sp>
      <p:sp>
        <p:nvSpPr>
          <p:cNvPr id="7" name="Text 4"/>
          <p:cNvSpPr/>
          <p:nvPr/>
        </p:nvSpPr>
        <p:spPr>
          <a:xfrm>
            <a:off x="1740341" y="310404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Good Chunking</a:t>
            </a:r>
            <a:endParaRPr lang="en-US" sz="1400" dirty="0"/>
          </a:p>
        </p:txBody>
      </p:sp>
      <p:sp>
        <p:nvSpPr>
          <p:cNvPr id="8" name="Shape 5"/>
          <p:cNvSpPr/>
          <p:nvPr/>
        </p:nvSpPr>
        <p:spPr>
          <a:xfrm>
            <a:off x="496119" y="4047158"/>
            <a:ext cx="8151763" cy="725463"/>
          </a:xfrm>
          <a:prstGeom prst="roundRect">
            <a:avLst>
              <a:gd name="adj" fmla="val 7182"/>
            </a:avLst>
          </a:prstGeom>
          <a:solidFill>
            <a:srgbClr val="FCF2B5"/>
          </a:solidFill>
          <a:ln/>
        </p:spPr>
      </p:sp>
      <p:pic>
        <p:nvPicPr>
          <p:cNvPr id="9" name="Image 1" descr="preencoded.png">    </p:cNvPr>
          <p:cNvPicPr>
            <a:picLocks noChangeAspect="1"/>
          </p:cNvPicPr>
          <p:nvPr/>
        </p:nvPicPr>
        <p:blipFill>
          <a:blip r:embed="rId2"/>
          <a:stretch>
            <a:fillRect/>
          </a:stretch>
        </p:blipFill>
        <p:spPr>
          <a:xfrm>
            <a:off x="620092" y="4231704"/>
            <a:ext cx="155004" cy="123974"/>
          </a:xfrm>
          <a:prstGeom prst="rect">
            <a:avLst/>
          </a:prstGeom>
        </p:spPr>
      </p:pic>
      <p:sp>
        <p:nvSpPr>
          <p:cNvPr id="10" name="Text 6"/>
          <p:cNvSpPr/>
          <p:nvPr/>
        </p:nvSpPr>
        <p:spPr>
          <a:xfrm>
            <a:off x="899071" y="4202088"/>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Chunking is upstream of everything. A poorly chunked document cannot be saved by a better embedding model or a smarter LLM. </a:t>
            </a:r>
            <a:pPr algn="l" indent="0" marL="0">
              <a:lnSpc>
                <a:spcPct val="133000"/>
              </a:lnSpc>
              <a:buNone/>
            </a:pPr>
            <a:r>
              <a:rPr lang="en-US" sz="950" b="1" dirty="0">
                <a:solidFill>
                  <a:srgbClr val="000000"/>
                </a:solidFill>
                <a:latin typeface="Roboto" pitchFamily="34" charset="0"/>
                <a:ea typeface="Roboto" pitchFamily="34" charset="-122"/>
                <a:cs typeface="Roboto" pitchFamily="34" charset="-120"/>
              </a:rPr>
              <a:t>Garbage in, garbage out.</a:t>
            </a:r>
            <a:pPr algn="l" indent="0" marL="0">
              <a:lnSpc>
                <a:spcPct val="133000"/>
              </a:lnSpc>
              <a:buNone/>
            </a:pPr>
            <a:r>
              <a:rPr lang="en-US" sz="950" dirty="0">
                <a:solidFill>
                  <a:srgbClr val="000000"/>
                </a:solidFill>
                <a:latin typeface="Roboto" pitchFamily="34" charset="0"/>
                <a:ea typeface="Roboto" pitchFamily="34" charset="-122"/>
                <a:cs typeface="Roboto" pitchFamily="34" charset="-120"/>
              </a:rPr>
              <a:t> Always inspect your chunks visually before proceeding.</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96119" y="399231"/>
            <a:ext cx="522238" cy="217736"/>
          </a:xfrm>
          <a:prstGeom prst="roundRect">
            <a:avLst>
              <a:gd name="adj" fmla="val 18185"/>
            </a:avLst>
          </a:prstGeom>
          <a:solidFill>
            <a:srgbClr val="E1E1EA"/>
          </a:solidFill>
          <a:ln/>
        </p:spPr>
      </p:sp>
      <p:sp>
        <p:nvSpPr>
          <p:cNvPr id="3" name="Text 1"/>
          <p:cNvSpPr/>
          <p:nvPr/>
        </p:nvSpPr>
        <p:spPr>
          <a:xfrm>
            <a:off x="566812" y="434578"/>
            <a:ext cx="838051" cy="147042"/>
          </a:xfrm>
          <a:prstGeom prst="rect">
            <a:avLst/>
          </a:prstGeom>
          <a:noFill/>
          <a:ln/>
        </p:spPr>
        <p:txBody>
          <a:bodyPr wrap="none" lIns="0" tIns="0" rIns="0" bIns="0" rtlCol="0" anchor="t"/>
          <a:lstStyle/>
          <a:p>
            <a:pPr algn="l" indent="0" marL="0">
              <a:lnSpc>
                <a:spcPct val="130000"/>
              </a:lnSpc>
              <a:buNone/>
            </a:pPr>
            <a:r>
              <a:rPr lang="en-US" sz="700" dirty="0">
                <a:solidFill>
                  <a:srgbClr val="3C3939"/>
                </a:solidFill>
                <a:latin typeface="Roboto" pitchFamily="34" charset="0"/>
                <a:ea typeface="Roboto" pitchFamily="34" charset="-122"/>
                <a:cs typeface="Roboto" pitchFamily="34" charset="-120"/>
              </a:rPr>
              <a:t>VS CODE</a:t>
            </a:r>
            <a:endParaRPr lang="en-US" sz="700" dirty="0"/>
          </a:p>
        </p:txBody>
      </p:sp>
      <p:sp>
        <p:nvSpPr>
          <p:cNvPr id="4" name="Text 2"/>
          <p:cNvSpPr/>
          <p:nvPr/>
        </p:nvSpPr>
        <p:spPr>
          <a:xfrm>
            <a:off x="496119" y="661690"/>
            <a:ext cx="7288560" cy="368201"/>
          </a:xfrm>
          <a:prstGeom prst="rect">
            <a:avLst/>
          </a:prstGeom>
          <a:noFill/>
          <a:ln/>
        </p:spPr>
        <p:txBody>
          <a:bodyPr wrap="none" lIns="0" tIns="0" rIns="0" bIns="0" rtlCol="0" anchor="t"/>
          <a:lstStyle/>
          <a:p>
            <a:pPr algn="l" indent="0" marL="0">
              <a:lnSpc>
                <a:spcPct val="104000"/>
              </a:lnSpc>
              <a:buNone/>
            </a:pPr>
            <a:r>
              <a:rPr lang="en-US" sz="2300" dirty="0">
                <a:solidFill>
                  <a:srgbClr val="1B1B27"/>
                </a:solidFill>
                <a:latin typeface="Raleway" pitchFamily="34" charset="0"/>
                <a:ea typeface="Raleway" pitchFamily="34" charset="-122"/>
                <a:cs typeface="Raleway" pitchFamily="34" charset="-120"/>
              </a:rPr>
              <a:t>Over to VS Code — RecursiveCharacterTextSplitter</a:t>
            </a:r>
            <a:endParaRPr lang="en-US" sz="2300" dirty="0"/>
          </a:p>
        </p:txBody>
      </p:sp>
      <p:sp>
        <p:nvSpPr>
          <p:cNvPr id="5" name="Text 3"/>
          <p:cNvSpPr/>
          <p:nvPr/>
        </p:nvSpPr>
        <p:spPr>
          <a:xfrm>
            <a:off x="496119" y="1197769"/>
            <a:ext cx="8608963" cy="183877"/>
          </a:xfrm>
          <a:prstGeom prst="rect">
            <a:avLst/>
          </a:prstGeom>
          <a:noFill/>
          <a:ln/>
        </p:spPr>
        <p:txBody>
          <a:bodyPr wrap="none" lIns="0" tIns="0" rIns="0" bIns="0" rtlCol="0" anchor="t"/>
          <a:lstStyle/>
          <a:p>
            <a:pPr algn="l" indent="0" marL="0">
              <a:lnSpc>
                <a:spcPct val="130000"/>
              </a:lnSpc>
              <a:buNone/>
            </a:pPr>
            <a:r>
              <a:rPr lang="en-US" sz="900" dirty="0">
                <a:solidFill>
                  <a:srgbClr val="3C3939"/>
                </a:solidFill>
                <a:latin typeface="Roboto" pitchFamily="34" charset="0"/>
                <a:ea typeface="Roboto" pitchFamily="34" charset="-122"/>
                <a:cs typeface="Roboto" pitchFamily="34" charset="-120"/>
              </a:rPr>
              <a:t>Install LangChain's text splitters and chunk our extracted document text.</a:t>
            </a:r>
            <a:endParaRPr lang="en-US" sz="900" dirty="0"/>
          </a:p>
        </p:txBody>
      </p:sp>
      <p:sp>
        <p:nvSpPr>
          <p:cNvPr id="6" name="Shape 4"/>
          <p:cNvSpPr/>
          <p:nvPr/>
        </p:nvSpPr>
        <p:spPr>
          <a:xfrm>
            <a:off x="496119" y="1507554"/>
            <a:ext cx="8151763" cy="2442121"/>
          </a:xfrm>
          <a:prstGeom prst="roundRect">
            <a:avLst>
              <a:gd name="adj" fmla="val 2027"/>
            </a:avLst>
          </a:prstGeom>
          <a:solidFill>
            <a:srgbClr val="F2F2F2"/>
          </a:solidFill>
          <a:ln/>
        </p:spPr>
      </p:sp>
      <p:sp>
        <p:nvSpPr>
          <p:cNvPr id="7" name="Shape 5"/>
          <p:cNvSpPr/>
          <p:nvPr/>
        </p:nvSpPr>
        <p:spPr>
          <a:xfrm>
            <a:off x="490240" y="1507554"/>
            <a:ext cx="8163520" cy="2442121"/>
          </a:xfrm>
          <a:prstGeom prst="roundRect">
            <a:avLst>
              <a:gd name="adj" fmla="val 724"/>
            </a:avLst>
          </a:prstGeom>
          <a:solidFill>
            <a:srgbClr val="F2F2F2"/>
          </a:solidFill>
          <a:ln/>
        </p:spPr>
      </p:sp>
      <p:sp>
        <p:nvSpPr>
          <p:cNvPr id="8" name="Text 6"/>
          <p:cNvSpPr/>
          <p:nvPr/>
        </p:nvSpPr>
        <p:spPr>
          <a:xfrm>
            <a:off x="637505" y="1625352"/>
            <a:ext cx="7868989" cy="2206526"/>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from langchain.text_splitter import RecursiveCharacterTextSplitter</a:t>
            </a:r>
            <a:endParaRPr lang="en-US" sz="900" dirty="0"/>
          </a:p>
          <a:p>
            <a:pPr algn="l" indent="0" marL="0">
              <a:lnSpc>
                <a:spcPct val="130000"/>
              </a:lnSpc>
              <a:buNone/>
            </a:pP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splitter = RecursiveCharacterTextSplitter(</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chunk_size=300,</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    chunk_overlap=50</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a:t>
            </a:r>
            <a:endParaRPr lang="en-US" sz="900" dirty="0"/>
          </a:p>
          <a:p>
            <a:pPr algn="l" indent="0" marL="0">
              <a:lnSpc>
                <a:spcPct val="130000"/>
              </a:lnSpc>
              <a:buNone/>
            </a:pP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chunks = splitter.split_text(full_text)</a:t>
            </a:r>
            <a:endParaRPr lang="en-US" sz="900" dirty="0"/>
          </a:p>
          <a:p>
            <a:pPr algn="l" indent="0" marL="0">
              <a:lnSpc>
                <a:spcPct val="130000"/>
              </a:lnSpc>
              <a:buNone/>
            </a:pP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print(f"Total chunks: {len(chunks)}")</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print(f"\n--- Chunk 0 ---\n{chunks[0]}")</a:t>
            </a:r>
            <a:endParaRPr lang="en-US" sz="900" dirty="0"/>
          </a:p>
          <a:p>
            <a:pPr algn="l" indent="0" marL="0">
              <a:lnSpc>
                <a:spcPct val="130000"/>
              </a:lnSpc>
              <a:buNone/>
            </a:pPr>
            <a:r>
              <a:rPr lang="en-US" sz="900" dirty="0">
                <a:solidFill>
                  <a:srgbClr val="D73A49"/>
                </a:solidFill>
                <a:highlight>
                  <a:srgbClr val="F2F2F2"/>
                </a:highlight>
                <a:latin typeface="Consolas" pitchFamily="34" charset="0"/>
                <a:ea typeface="Consolas" pitchFamily="34" charset="-122"/>
                <a:cs typeface="Consolas" pitchFamily="34" charset="-120"/>
              </a:rPr>
              <a:t>print(f"\n--- Chunk 1 ---\n{chunks[1]}")</a:t>
            </a:r>
            <a:endParaRPr lang="en-US" sz="900" dirty="0"/>
          </a:p>
        </p:txBody>
      </p:sp>
      <p:sp>
        <p:nvSpPr>
          <p:cNvPr id="9" name="Shape 7"/>
          <p:cNvSpPr/>
          <p:nvPr/>
        </p:nvSpPr>
        <p:spPr>
          <a:xfrm>
            <a:off x="496119" y="4075584"/>
            <a:ext cx="8151763" cy="668685"/>
          </a:xfrm>
          <a:prstGeom prst="roundRect">
            <a:avLst>
              <a:gd name="adj" fmla="val 7402"/>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613916" y="4248224"/>
            <a:ext cx="147265" cy="117797"/>
          </a:xfrm>
          <a:prstGeom prst="rect">
            <a:avLst/>
          </a:prstGeom>
        </p:spPr>
      </p:pic>
      <p:sp>
        <p:nvSpPr>
          <p:cNvPr id="11" name="Text 8"/>
          <p:cNvSpPr/>
          <p:nvPr/>
        </p:nvSpPr>
        <p:spPr>
          <a:xfrm>
            <a:off x="878979" y="4216896"/>
            <a:ext cx="7651105" cy="367754"/>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000000"/>
                </a:solidFill>
                <a:latin typeface="Roboto" pitchFamily="34" charset="0"/>
                <a:ea typeface="Roboto" pitchFamily="34" charset="-122"/>
                <a:cs typeface="Roboto" pitchFamily="34" charset="-120"/>
              </a:rPr>
              <a:t>Inspect several chunks. Do they make sense on their own? Would they be useful if retrieved in isolation? This is your quality check before proceeding to embeddings.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6</a:t>
            </a:r>
            <a:endParaRPr lang="en-US" sz="750" dirty="0"/>
          </a:p>
        </p:txBody>
      </p:sp>
      <p:sp>
        <p:nvSpPr>
          <p:cNvPr id="4" name="Shape 2"/>
          <p:cNvSpPr/>
          <p:nvPr/>
        </p:nvSpPr>
        <p:spPr>
          <a:xfrm>
            <a:off x="1022449" y="1558900"/>
            <a:ext cx="1340197"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639044"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EMBEDDING THE CHUNKS</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6</a:t>
            </a:r>
            <a:endParaRPr lang="en-US" sz="2400" dirty="0"/>
          </a:p>
        </p:txBody>
      </p:sp>
      <p:sp>
        <p:nvSpPr>
          <p:cNvPr id="7" name="Text 5"/>
          <p:cNvSpPr/>
          <p:nvPr/>
        </p:nvSpPr>
        <p:spPr>
          <a:xfrm>
            <a:off x="496119" y="2424782"/>
            <a:ext cx="7194724"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Embedding the Chunks</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Converting every chunk of our document into a searchable vector.</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96119" y="392311"/>
            <a:ext cx="5414516"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From Chunks to Vectors: The Index</a:t>
            </a:r>
            <a:endParaRPr lang="en-US" sz="2400" dirty="0"/>
          </a:p>
        </p:txBody>
      </p:sp>
      <p:sp>
        <p:nvSpPr>
          <p:cNvPr id="3" name="Text 1"/>
          <p:cNvSpPr/>
          <p:nvPr/>
        </p:nvSpPr>
        <p:spPr>
          <a:xfrm>
            <a:off x="496119" y="1027881"/>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Now we apply the embedding model to every chunk. The result is our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vector index</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 a list of (chunk_text, vector) pairs. This is the searchable knowledge base for all future queries.</a:t>
            </a:r>
            <a:endParaRPr lang="en-US" sz="950" dirty="0"/>
          </a:p>
        </p:txBody>
      </p:sp>
      <p:pic>
        <p:nvPicPr>
          <p:cNvPr id="4" name="Image 0" descr="preencoded.png">    </p:cNvPr>
          <p:cNvPicPr>
            <a:picLocks noChangeAspect="1"/>
          </p:cNvPicPr>
          <p:nvPr/>
        </p:nvPicPr>
        <p:blipFill>
          <a:blip r:embed="rId1"/>
          <a:stretch>
            <a:fillRect/>
          </a:stretch>
        </p:blipFill>
        <p:spPr>
          <a:xfrm>
            <a:off x="911200" y="1564332"/>
            <a:ext cx="7321525" cy="2650406"/>
          </a:xfrm>
          <a:prstGeom prst="rect">
            <a:avLst/>
          </a:prstGeom>
        </p:spPr>
      </p:pic>
      <p:sp>
        <p:nvSpPr>
          <p:cNvPr id="5" name="Text 2"/>
          <p:cNvSpPr/>
          <p:nvPr/>
        </p:nvSpPr>
        <p:spPr>
          <a:xfrm>
            <a:off x="1448656" y="3567774"/>
            <a:ext cx="2291314" cy="229264"/>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Raleway" pitchFamily="34" charset="0"/>
                <a:ea typeface="Raleway" pitchFamily="34" charset="-122"/>
                <a:cs typeface="Raleway" pitchFamily="34" charset="-120"/>
              </a:rPr>
              <a:t>Vector Index</a:t>
            </a:r>
            <a:endParaRPr lang="en-US" sz="1400" dirty="0"/>
          </a:p>
        </p:txBody>
      </p:sp>
      <p:sp>
        <p:nvSpPr>
          <p:cNvPr id="6" name="Text 3"/>
          <p:cNvSpPr/>
          <p:nvPr/>
        </p:nvSpPr>
        <p:spPr>
          <a:xfrm>
            <a:off x="1448656" y="2768916"/>
            <a:ext cx="2291314" cy="229264"/>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Raleway" pitchFamily="34" charset="0"/>
                <a:ea typeface="Raleway" pitchFamily="34" charset="-122"/>
                <a:cs typeface="Raleway" pitchFamily="34" charset="-120"/>
              </a:rPr>
              <a:t>Embedding Model</a:t>
            </a:r>
            <a:endParaRPr lang="en-US" sz="1400" dirty="0"/>
          </a:p>
        </p:txBody>
      </p:sp>
      <p:sp>
        <p:nvSpPr>
          <p:cNvPr id="7" name="Text 4"/>
          <p:cNvSpPr/>
          <p:nvPr/>
        </p:nvSpPr>
        <p:spPr>
          <a:xfrm>
            <a:off x="1448656" y="1961906"/>
            <a:ext cx="2291314" cy="229264"/>
          </a:xfrm>
          <a:prstGeom prst="rect">
            <a:avLst/>
          </a:prstGeom>
          <a:noFill/>
          <a:ln/>
        </p:spPr>
        <p:txBody>
          <a:bodyPr wrap="none" lIns="0" tIns="0" rIns="0" bIns="0" rtlCol="0" anchor="t"/>
          <a:lstStyle/>
          <a:p>
            <a:pPr algn="l" indent="0" marL="0">
              <a:lnSpc>
                <a:spcPct val="104000"/>
              </a:lnSpc>
              <a:buNone/>
            </a:pPr>
            <a:r>
              <a:rPr lang="en-US" sz="1400" dirty="0">
                <a:solidFill>
                  <a:srgbClr val="FFFFFF"/>
                </a:solidFill>
                <a:latin typeface="Raleway" pitchFamily="34" charset="0"/>
                <a:ea typeface="Raleway" pitchFamily="34" charset="-122"/>
                <a:cs typeface="Raleway" pitchFamily="34" charset="-120"/>
              </a:rPr>
              <a:t>Text Chunks</a:t>
            </a:r>
            <a:endParaRPr lang="en-US" sz="1400" dirty="0"/>
          </a:p>
        </p:txBody>
      </p:sp>
      <p:sp>
        <p:nvSpPr>
          <p:cNvPr id="8" name="Text 5"/>
          <p:cNvSpPr/>
          <p:nvPr/>
        </p:nvSpPr>
        <p:spPr>
          <a:xfrm>
            <a:off x="496119" y="4354264"/>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This step runs once per document. In production systems, you'd store these vectors in a dedicated vector database (FAISS, Chroma, Pinecone). For now, we'll keep them in memory as a Python list.</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96119" y="396404"/>
            <a:ext cx="494928" cy="202704"/>
          </a:xfrm>
          <a:prstGeom prst="roundRect">
            <a:avLst>
              <a:gd name="adj" fmla="val 18506"/>
            </a:avLst>
          </a:prstGeom>
          <a:solidFill>
            <a:srgbClr val="E1E1EA"/>
          </a:solidFill>
          <a:ln/>
        </p:spPr>
      </p:sp>
      <p:sp>
        <p:nvSpPr>
          <p:cNvPr id="3" name="Text 1"/>
          <p:cNvSpPr/>
          <p:nvPr/>
        </p:nvSpPr>
        <p:spPr>
          <a:xfrm>
            <a:off x="563091" y="429890"/>
            <a:ext cx="818183" cy="135731"/>
          </a:xfrm>
          <a:prstGeom prst="rect">
            <a:avLst/>
          </a:prstGeom>
          <a:noFill/>
          <a:ln/>
        </p:spPr>
        <p:txBody>
          <a:bodyPr wrap="none" lIns="0" tIns="0" rIns="0" bIns="0" rtlCol="0" anchor="t"/>
          <a:lstStyle/>
          <a:p>
            <a:pPr algn="l" indent="0" marL="0">
              <a:lnSpc>
                <a:spcPct val="127000"/>
              </a:lnSpc>
              <a:buNone/>
            </a:pPr>
            <a:r>
              <a:rPr lang="en-US" sz="700" dirty="0">
                <a:solidFill>
                  <a:srgbClr val="3C3939"/>
                </a:solidFill>
                <a:latin typeface="Roboto" pitchFamily="34" charset="0"/>
                <a:ea typeface="Roboto" pitchFamily="34" charset="-122"/>
                <a:cs typeface="Roboto" pitchFamily="34" charset="-120"/>
              </a:rPr>
              <a:t>VS CODE</a:t>
            </a:r>
            <a:endParaRPr lang="en-US" sz="700" dirty="0"/>
          </a:p>
        </p:txBody>
      </p:sp>
      <p:sp>
        <p:nvSpPr>
          <p:cNvPr id="4" name="Text 2"/>
          <p:cNvSpPr/>
          <p:nvPr/>
        </p:nvSpPr>
        <p:spPr>
          <a:xfrm>
            <a:off x="496119" y="639291"/>
            <a:ext cx="5904309" cy="348853"/>
          </a:xfrm>
          <a:prstGeom prst="rect">
            <a:avLst/>
          </a:prstGeom>
          <a:noFill/>
          <a:ln/>
        </p:spPr>
        <p:txBody>
          <a:bodyPr wrap="none" lIns="0" tIns="0" rIns="0" bIns="0" rtlCol="0" anchor="t"/>
          <a:lstStyle/>
          <a:p>
            <a:pPr algn="l" indent="0" marL="0">
              <a:lnSpc>
                <a:spcPct val="104000"/>
              </a:lnSpc>
              <a:buNone/>
            </a:pPr>
            <a:r>
              <a:rPr lang="en-US" sz="2150" dirty="0">
                <a:solidFill>
                  <a:srgbClr val="1B1B27"/>
                </a:solidFill>
                <a:latin typeface="Raleway" pitchFamily="34" charset="0"/>
                <a:ea typeface="Raleway" pitchFamily="34" charset="-122"/>
                <a:cs typeface="Raleway" pitchFamily="34" charset="-120"/>
              </a:rPr>
              <a:t>Over to VS Code — Embedding All Chunks</a:t>
            </a:r>
            <a:endParaRPr lang="en-US" sz="2150" dirty="0"/>
          </a:p>
        </p:txBody>
      </p:sp>
      <p:sp>
        <p:nvSpPr>
          <p:cNvPr id="5" name="Text 3"/>
          <p:cNvSpPr/>
          <p:nvPr/>
        </p:nvSpPr>
        <p:spPr>
          <a:xfrm>
            <a:off x="496119" y="1138833"/>
            <a:ext cx="8608963" cy="169664"/>
          </a:xfrm>
          <a:prstGeom prst="rect">
            <a:avLst/>
          </a:prstGeom>
          <a:noFill/>
          <a:ln/>
        </p:spPr>
        <p:txBody>
          <a:bodyPr wrap="none" lIns="0" tIns="0" rIns="0" bIns="0" rtlCol="0" anchor="t"/>
          <a:lstStyle/>
          <a:p>
            <a:pPr algn="l" indent="0" marL="0">
              <a:lnSpc>
                <a:spcPct val="127000"/>
              </a:lnSpc>
              <a:buNone/>
            </a:pPr>
            <a:r>
              <a:rPr lang="en-US" sz="850" dirty="0">
                <a:solidFill>
                  <a:srgbClr val="3C3939"/>
                </a:solidFill>
                <a:latin typeface="Roboto" pitchFamily="34" charset="0"/>
                <a:ea typeface="Roboto" pitchFamily="34" charset="-122"/>
                <a:cs typeface="Roboto" pitchFamily="34" charset="-120"/>
              </a:rPr>
              <a:t>We embed all chunks in a single API call — the OpenAI API accepts a list as input, making this efficient.</a:t>
            </a:r>
            <a:endParaRPr lang="en-US" sz="850" dirty="0"/>
          </a:p>
        </p:txBody>
      </p:sp>
      <p:sp>
        <p:nvSpPr>
          <p:cNvPr id="6" name="Shape 4"/>
          <p:cNvSpPr/>
          <p:nvPr/>
        </p:nvSpPr>
        <p:spPr>
          <a:xfrm>
            <a:off x="496119" y="1421532"/>
            <a:ext cx="8151763" cy="2768203"/>
          </a:xfrm>
          <a:prstGeom prst="roundRect">
            <a:avLst>
              <a:gd name="adj" fmla="val 1694"/>
            </a:avLst>
          </a:prstGeom>
          <a:solidFill>
            <a:srgbClr val="F2F2F2"/>
          </a:solidFill>
          <a:ln/>
        </p:spPr>
      </p:sp>
      <p:sp>
        <p:nvSpPr>
          <p:cNvPr id="7" name="Shape 5"/>
          <p:cNvSpPr/>
          <p:nvPr/>
        </p:nvSpPr>
        <p:spPr>
          <a:xfrm>
            <a:off x="490537" y="1421532"/>
            <a:ext cx="8162925" cy="2768203"/>
          </a:xfrm>
          <a:prstGeom prst="roundRect">
            <a:avLst>
              <a:gd name="adj" fmla="val 605"/>
            </a:avLst>
          </a:prstGeom>
          <a:solidFill>
            <a:srgbClr val="F2F2F2"/>
          </a:solidFill>
          <a:ln/>
        </p:spPr>
      </p:sp>
      <p:sp>
        <p:nvSpPr>
          <p:cNvPr id="8" name="Text 6"/>
          <p:cNvSpPr/>
          <p:nvPr/>
        </p:nvSpPr>
        <p:spPr>
          <a:xfrm>
            <a:off x="630064" y="1533153"/>
            <a:ext cx="7883872" cy="2544961"/>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def embed_chunks(chunks):</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response = client.embeddings.create(</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model="text-embedding-3-small",</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input=chunks          # Send all chunks at once</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embeddings = [item.embedding for item in response.data]</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return embeddings</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chunk_embeddings = embed_chunks(chunks)</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 Build our searchable index</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chunk_index = list(zip(chunks, chunk_embeddings))</a:t>
            </a:r>
            <a:endParaRPr lang="en-US" sz="850" dirty="0"/>
          </a:p>
          <a:p>
            <a:pPr algn="l" indent="0" marL="0">
              <a:lnSpc>
                <a:spcPct val="127000"/>
              </a:lnSpc>
              <a:buNone/>
            </a:pP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print(f"Indexed {len(chunk_index)} chunks")</a:t>
            </a:r>
            <a:endParaRPr lang="en-US" sz="850" dirty="0"/>
          </a:p>
          <a:p>
            <a:pPr algn="l" indent="0" marL="0">
              <a:lnSpc>
                <a:spcPct val="127000"/>
              </a:lnSpc>
              <a:buNone/>
            </a:pPr>
            <a:r>
              <a:rPr lang="en-US" sz="850" dirty="0">
                <a:solidFill>
                  <a:srgbClr val="D73A49"/>
                </a:solidFill>
                <a:highlight>
                  <a:srgbClr val="F2F2F2"/>
                </a:highlight>
                <a:latin typeface="Consolas" pitchFamily="34" charset="0"/>
                <a:ea typeface="Consolas" pitchFamily="34" charset="-122"/>
                <a:cs typeface="Consolas" pitchFamily="34" charset="-120"/>
              </a:rPr>
              <a:t>print(f"Each vector has {len(chunk_index[0][1])} dimensions")</a:t>
            </a:r>
            <a:endParaRPr lang="en-US" sz="850" dirty="0"/>
          </a:p>
        </p:txBody>
      </p:sp>
      <p:sp>
        <p:nvSpPr>
          <p:cNvPr id="9" name="Shape 7"/>
          <p:cNvSpPr/>
          <p:nvPr/>
        </p:nvSpPr>
        <p:spPr>
          <a:xfrm>
            <a:off x="496119" y="4302770"/>
            <a:ext cx="8151763" cy="444252"/>
          </a:xfrm>
          <a:prstGeom prst="roundRect">
            <a:avLst>
              <a:gd name="adj" fmla="val 10555"/>
            </a:avLst>
          </a:prstGeom>
          <a:solidFill>
            <a:srgbClr val="FCF2B5"/>
          </a:solidFill>
          <a:ln/>
        </p:spPr>
      </p:sp>
      <p:pic>
        <p:nvPicPr>
          <p:cNvPr id="10" name="Image 0" descr="preencoded.png">    </p:cNvPr>
          <p:cNvPicPr>
            <a:picLocks noChangeAspect="1"/>
          </p:cNvPicPr>
          <p:nvPr/>
        </p:nvPicPr>
        <p:blipFill>
          <a:blip r:embed="rId1"/>
          <a:stretch>
            <a:fillRect/>
          </a:stretch>
        </p:blipFill>
        <p:spPr>
          <a:xfrm>
            <a:off x="607740" y="4463653"/>
            <a:ext cx="139526" cy="111621"/>
          </a:xfrm>
          <a:prstGeom prst="rect">
            <a:avLst/>
          </a:prstGeom>
        </p:spPr>
      </p:pic>
      <p:sp>
        <p:nvSpPr>
          <p:cNvPr id="11" name="Text 8"/>
          <p:cNvSpPr/>
          <p:nvPr/>
        </p:nvSpPr>
        <p:spPr>
          <a:xfrm>
            <a:off x="858887" y="4431134"/>
            <a:ext cx="8134573" cy="169664"/>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Roboto" pitchFamily="34" charset="0"/>
                <a:ea typeface="Roboto" pitchFamily="34" charset="-122"/>
                <a:cs typeface="Roboto" pitchFamily="34" charset="-120"/>
              </a:rPr>
              <a:t>Be mindful of API costs. For large documents, batch your calls. For this exercise, the full handbook will cost a fraction of a cent.</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7</a:t>
            </a:r>
            <a:endParaRPr lang="en-US" sz="750" dirty="0"/>
          </a:p>
        </p:txBody>
      </p:sp>
      <p:sp>
        <p:nvSpPr>
          <p:cNvPr id="4" name="Shape 2"/>
          <p:cNvSpPr/>
          <p:nvPr/>
        </p:nvSpPr>
        <p:spPr>
          <a:xfrm>
            <a:off x="1022449" y="1558900"/>
            <a:ext cx="658192"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957039"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RETRIEVAL</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7</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Retrieval</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Finding the most relevant chunks for any given user question.</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96119" y="363736"/>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The Retrieval Pipeline</a:t>
            </a:r>
            <a:endParaRPr lang="en-US" sz="2400" dirty="0"/>
          </a:p>
        </p:txBody>
      </p:sp>
      <p:sp>
        <p:nvSpPr>
          <p:cNvPr id="3" name="Text 1"/>
          <p:cNvSpPr/>
          <p:nvPr/>
        </p:nvSpPr>
        <p:spPr>
          <a:xfrm>
            <a:off x="496119" y="999306"/>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Every time a user asks a question, we run this four-step process. It happens in milliseconds and is the entire value proposition of the R in RAG.</a:t>
            </a:r>
            <a:endParaRPr lang="en-US" sz="950" dirty="0"/>
          </a:p>
        </p:txBody>
      </p:sp>
      <p:pic>
        <p:nvPicPr>
          <p:cNvPr id="4" name="Image 0" descr="preencoded.png">    </p:cNvPr>
          <p:cNvPicPr>
            <a:picLocks noChangeAspect="1"/>
          </p:cNvPicPr>
          <p:nvPr/>
        </p:nvPicPr>
        <p:blipFill>
          <a:blip r:embed="rId1"/>
          <a:stretch>
            <a:fillRect/>
          </a:stretch>
        </p:blipFill>
        <p:spPr>
          <a:xfrm>
            <a:off x="1402407" y="1337295"/>
            <a:ext cx="6339185" cy="2901255"/>
          </a:xfrm>
          <a:prstGeom prst="rect">
            <a:avLst/>
          </a:prstGeom>
        </p:spPr>
      </p:pic>
      <p:sp>
        <p:nvSpPr>
          <p:cNvPr id="5" name="Text 2"/>
          <p:cNvSpPr/>
          <p:nvPr/>
        </p:nvSpPr>
        <p:spPr>
          <a:xfrm>
            <a:off x="6027761" y="3549594"/>
            <a:ext cx="1418742" cy="229265"/>
          </a:xfrm>
          <a:prstGeom prst="rect">
            <a:avLst/>
          </a:prstGeom>
          <a:noFill/>
          <a:ln/>
        </p:spPr>
        <p:txBody>
          <a:bodyPr wrap="none" lIns="0" tIns="0" rIns="0" bIns="0" rtlCol="0" anchor="t"/>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Return Top-3</a:t>
            </a:r>
            <a:endParaRPr lang="en-US" sz="1400" dirty="0"/>
          </a:p>
        </p:txBody>
      </p:sp>
      <p:sp>
        <p:nvSpPr>
          <p:cNvPr id="6" name="Text 3"/>
          <p:cNvSpPr/>
          <p:nvPr/>
        </p:nvSpPr>
        <p:spPr>
          <a:xfrm>
            <a:off x="4756456" y="3434961"/>
            <a:ext cx="1190143"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Compute Cosine</a:t>
            </a:r>
            <a:endParaRPr lang="en-US" sz="1400" dirty="0"/>
          </a:p>
        </p:txBody>
      </p:sp>
      <p:sp>
        <p:nvSpPr>
          <p:cNvPr id="7" name="Text 4"/>
          <p:cNvSpPr/>
          <p:nvPr/>
        </p:nvSpPr>
        <p:spPr>
          <a:xfrm>
            <a:off x="3264702" y="343496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Embed Question</a:t>
            </a:r>
            <a:endParaRPr lang="en-US" sz="1400" dirty="0"/>
          </a:p>
        </p:txBody>
      </p:sp>
      <p:sp>
        <p:nvSpPr>
          <p:cNvPr id="8" name="Text 5"/>
          <p:cNvSpPr/>
          <p:nvPr/>
        </p:nvSpPr>
        <p:spPr>
          <a:xfrm>
            <a:off x="1740341" y="3434961"/>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3C3939"/>
                </a:solidFill>
                <a:latin typeface="Raleway" pitchFamily="34" charset="0"/>
                <a:ea typeface="Raleway" pitchFamily="34" charset="-122"/>
                <a:cs typeface="Raleway" pitchFamily="34" charset="-120"/>
              </a:rPr>
              <a:t>User Question</a:t>
            </a:r>
            <a:endParaRPr lang="en-US" sz="1400" dirty="0"/>
          </a:p>
        </p:txBody>
      </p:sp>
      <p:sp>
        <p:nvSpPr>
          <p:cNvPr id="9" name="Text 6"/>
          <p:cNvSpPr/>
          <p:nvPr/>
        </p:nvSpPr>
        <p:spPr>
          <a:xfrm>
            <a:off x="496119" y="4378077"/>
            <a:ext cx="815176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Notice that we embed the question using the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same model</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a:t>
            </a:r>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text-embedding-3-small</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that we used for the chunks. This is essential — the vectors must live in the same semantic space to be comparable.</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96119" y="733276"/>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Top-K Retrieval</a:t>
            </a:r>
            <a:endParaRPr lang="en-US" sz="2400" dirty="0"/>
          </a:p>
        </p:txBody>
      </p:sp>
      <p:sp>
        <p:nvSpPr>
          <p:cNvPr id="3" name="Text 1"/>
          <p:cNvSpPr/>
          <p:nvPr/>
        </p:nvSpPr>
        <p:spPr>
          <a:xfrm>
            <a:off x="496119" y="136884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We don't return all matching chunks — only the top K by similarity score. Passing too many chunks into the prompt introduces noise and inflates costs.</a:t>
            </a:r>
            <a:endParaRPr lang="en-US" sz="950" dirty="0"/>
          </a:p>
        </p:txBody>
      </p:sp>
      <p:sp>
        <p:nvSpPr>
          <p:cNvPr id="4" name="Shape 2"/>
          <p:cNvSpPr/>
          <p:nvPr/>
        </p:nvSpPr>
        <p:spPr>
          <a:xfrm>
            <a:off x="406822" y="1905298"/>
            <a:ext cx="3680445" cy="2504926"/>
          </a:xfrm>
          <a:prstGeom prst="roundRect">
            <a:avLst>
              <a:gd name="adj" fmla="val 3566"/>
            </a:avLst>
          </a:prstGeom>
          <a:solidFill>
            <a:srgbClr val="1B1B27">
              <a:alpha val="95000"/>
            </a:srgbClr>
          </a:solidFill>
          <a:ln/>
        </p:spPr>
      </p:sp>
      <p:sp>
        <p:nvSpPr>
          <p:cNvPr id="5" name="Text 3"/>
          <p:cNvSpPr/>
          <p:nvPr/>
        </p:nvSpPr>
        <p:spPr>
          <a:xfrm>
            <a:off x="530796" y="2029271"/>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Why K = 3?</a:t>
            </a:r>
            <a:endParaRPr lang="en-US" sz="1200" dirty="0"/>
          </a:p>
        </p:txBody>
      </p:sp>
      <p:sp>
        <p:nvSpPr>
          <p:cNvPr id="6" name="Text 4"/>
          <p:cNvSpPr/>
          <p:nvPr/>
        </p:nvSpPr>
        <p:spPr>
          <a:xfrm>
            <a:off x="530796" y="2347094"/>
            <a:ext cx="343249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Roboto" pitchFamily="34" charset="0"/>
                <a:ea typeface="Roboto" pitchFamily="34" charset="-122"/>
                <a:cs typeface="Roboto" pitchFamily="34" charset="-120"/>
              </a:rPr>
              <a:t>For most HR policy questions, the answer lives in 1–2 chunks. Retrieving 3 gives a safety margin without flooding the prompt with irrelevant content.</a:t>
            </a:r>
            <a:endParaRPr lang="en-US" sz="950" dirty="0"/>
          </a:p>
        </p:txBody>
      </p:sp>
      <p:sp>
        <p:nvSpPr>
          <p:cNvPr id="7" name="Text 5"/>
          <p:cNvSpPr/>
          <p:nvPr/>
        </p:nvSpPr>
        <p:spPr>
          <a:xfrm>
            <a:off x="4305300" y="2029271"/>
            <a:ext cx="2234952" cy="193849"/>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Example Retrieval Result</a:t>
            </a:r>
            <a:endParaRPr lang="en-US" sz="1200" dirty="0"/>
          </a:p>
        </p:txBody>
      </p:sp>
      <p:sp>
        <p:nvSpPr>
          <p:cNvPr id="8" name="Shape 6"/>
          <p:cNvSpPr/>
          <p:nvPr/>
        </p:nvSpPr>
        <p:spPr>
          <a:xfrm>
            <a:off x="4305300" y="2362646"/>
            <a:ext cx="2111648" cy="991270"/>
          </a:xfrm>
          <a:prstGeom prst="roundRect">
            <a:avLst>
              <a:gd name="adj" fmla="val 5256"/>
            </a:avLst>
          </a:prstGeom>
          <a:solidFill>
            <a:srgbClr val="FFFFFF">
              <a:alpha val="95000"/>
            </a:srgbClr>
          </a:solidFill>
          <a:ln w="14288">
            <a:solidFill>
              <a:srgbClr val="C7C7D0"/>
            </a:solidFill>
            <a:prstDash val="solid"/>
          </a:ln>
        </p:spPr>
      </p:sp>
      <p:sp>
        <p:nvSpPr>
          <p:cNvPr id="9" name="Text 7"/>
          <p:cNvSpPr/>
          <p:nvPr/>
        </p:nvSpPr>
        <p:spPr>
          <a:xfrm>
            <a:off x="4443561" y="250090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Rank 1 — Score: 0.92</a:t>
            </a:r>
            <a:endParaRPr lang="en-US" sz="1200" dirty="0"/>
          </a:p>
        </p:txBody>
      </p:sp>
      <p:sp>
        <p:nvSpPr>
          <p:cNvPr id="10" name="Text 8"/>
          <p:cNvSpPr/>
          <p:nvPr/>
        </p:nvSpPr>
        <p:spPr>
          <a:xfrm>
            <a:off x="4443561" y="2818730"/>
            <a:ext cx="183512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Notice Period Policy — Intern rules</a:t>
            </a:r>
            <a:endParaRPr lang="en-US" sz="950" dirty="0"/>
          </a:p>
        </p:txBody>
      </p:sp>
      <p:sp>
        <p:nvSpPr>
          <p:cNvPr id="11" name="Shape 9"/>
          <p:cNvSpPr/>
          <p:nvPr/>
        </p:nvSpPr>
        <p:spPr>
          <a:xfrm>
            <a:off x="6540922" y="2362646"/>
            <a:ext cx="2111648" cy="991270"/>
          </a:xfrm>
          <a:prstGeom prst="roundRect">
            <a:avLst>
              <a:gd name="adj" fmla="val 5256"/>
            </a:avLst>
          </a:prstGeom>
          <a:solidFill>
            <a:srgbClr val="FFFFFF">
              <a:alpha val="95000"/>
            </a:srgbClr>
          </a:solidFill>
          <a:ln w="14288">
            <a:solidFill>
              <a:srgbClr val="C7C7D0"/>
            </a:solidFill>
            <a:prstDash val="solid"/>
          </a:ln>
        </p:spPr>
      </p:sp>
      <p:sp>
        <p:nvSpPr>
          <p:cNvPr id="12" name="Text 10"/>
          <p:cNvSpPr/>
          <p:nvPr/>
        </p:nvSpPr>
        <p:spPr>
          <a:xfrm>
            <a:off x="6679183" y="250090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Rank 2 — Score: 0.81</a:t>
            </a:r>
            <a:endParaRPr lang="en-US" sz="1200" dirty="0"/>
          </a:p>
        </p:txBody>
      </p:sp>
      <p:sp>
        <p:nvSpPr>
          <p:cNvPr id="13" name="Text 11"/>
          <p:cNvSpPr/>
          <p:nvPr/>
        </p:nvSpPr>
        <p:spPr>
          <a:xfrm>
            <a:off x="6679183" y="2818730"/>
            <a:ext cx="1835125"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Exit Process — General procedures</a:t>
            </a:r>
            <a:endParaRPr lang="en-US" sz="950" dirty="0"/>
          </a:p>
        </p:txBody>
      </p:sp>
      <p:sp>
        <p:nvSpPr>
          <p:cNvPr id="14" name="Shape 12"/>
          <p:cNvSpPr/>
          <p:nvPr/>
        </p:nvSpPr>
        <p:spPr>
          <a:xfrm>
            <a:off x="4305300" y="3477890"/>
            <a:ext cx="4347270" cy="792807"/>
          </a:xfrm>
          <a:prstGeom prst="roundRect">
            <a:avLst>
              <a:gd name="adj" fmla="val 6572"/>
            </a:avLst>
          </a:prstGeom>
          <a:solidFill>
            <a:srgbClr val="FFFFFF">
              <a:alpha val="95000"/>
            </a:srgbClr>
          </a:solidFill>
          <a:ln w="14288">
            <a:solidFill>
              <a:srgbClr val="C7C7D0"/>
            </a:solidFill>
            <a:prstDash val="solid"/>
          </a:ln>
        </p:spPr>
      </p:sp>
      <p:sp>
        <p:nvSpPr>
          <p:cNvPr id="15" name="Text 13"/>
          <p:cNvSpPr/>
          <p:nvPr/>
        </p:nvSpPr>
        <p:spPr>
          <a:xfrm>
            <a:off x="4443561" y="3616151"/>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Rank 3 — Score: 0.74</a:t>
            </a:r>
            <a:endParaRPr lang="en-US" sz="1200" dirty="0"/>
          </a:p>
        </p:txBody>
      </p:sp>
      <p:sp>
        <p:nvSpPr>
          <p:cNvPr id="16" name="Text 14"/>
          <p:cNvSpPr/>
          <p:nvPr/>
        </p:nvSpPr>
        <p:spPr>
          <a:xfrm>
            <a:off x="4443561" y="3933974"/>
            <a:ext cx="4070747"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Intern Guidelines — General conduct</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96119" y="396032"/>
            <a:ext cx="439713" cy="173831"/>
          </a:xfrm>
          <a:prstGeom prst="roundRect">
            <a:avLst>
              <a:gd name="adj" fmla="val 19182"/>
            </a:avLst>
          </a:prstGeom>
          <a:solidFill>
            <a:srgbClr val="E1E1EA"/>
          </a:solidFill>
          <a:ln/>
        </p:spPr>
      </p:sp>
      <p:sp>
        <p:nvSpPr>
          <p:cNvPr id="3" name="Text 1"/>
          <p:cNvSpPr/>
          <p:nvPr/>
        </p:nvSpPr>
        <p:spPr>
          <a:xfrm>
            <a:off x="555650" y="425797"/>
            <a:ext cx="777850" cy="114300"/>
          </a:xfrm>
          <a:prstGeom prst="rect">
            <a:avLst/>
          </a:prstGeom>
          <a:noFill/>
          <a:ln/>
        </p:spPr>
        <p:txBody>
          <a:bodyPr wrap="none" lIns="0" tIns="0" rIns="0" bIns="0" rtlCol="0" anchor="t"/>
          <a:lstStyle/>
          <a:p>
            <a:pPr algn="l" indent="0" marL="0">
              <a:lnSpc>
                <a:spcPct val="120000"/>
              </a:lnSpc>
              <a:buNone/>
            </a:pPr>
            <a:r>
              <a:rPr lang="en-US" sz="600" dirty="0">
                <a:solidFill>
                  <a:srgbClr val="3C3939"/>
                </a:solidFill>
                <a:latin typeface="Roboto" pitchFamily="34" charset="0"/>
                <a:ea typeface="Roboto" pitchFamily="34" charset="-122"/>
                <a:cs typeface="Roboto" pitchFamily="34" charset="-120"/>
              </a:rPr>
              <a:t>VS CODE</a:t>
            </a:r>
            <a:endParaRPr lang="en-US" sz="600" dirty="0"/>
          </a:p>
        </p:txBody>
      </p:sp>
      <p:sp>
        <p:nvSpPr>
          <p:cNvPr id="4" name="Text 2"/>
          <p:cNvSpPr/>
          <p:nvPr/>
        </p:nvSpPr>
        <p:spPr>
          <a:xfrm>
            <a:off x="496119" y="601563"/>
            <a:ext cx="5244033" cy="310083"/>
          </a:xfrm>
          <a:prstGeom prst="rect">
            <a:avLst/>
          </a:prstGeom>
          <a:noFill/>
          <a:ln/>
        </p:spPr>
        <p:txBody>
          <a:bodyPr wrap="none" lIns="0" tIns="0" rIns="0" bIns="0" rtlCol="0" anchor="t"/>
          <a:lstStyle/>
          <a:p>
            <a:pPr algn="l" indent="0" marL="0">
              <a:lnSpc>
                <a:spcPct val="104000"/>
              </a:lnSpc>
              <a:buNone/>
            </a:pPr>
            <a:r>
              <a:rPr lang="en-US" sz="1950" dirty="0">
                <a:solidFill>
                  <a:srgbClr val="1B1B27"/>
                </a:solidFill>
                <a:latin typeface="Raleway" pitchFamily="34" charset="0"/>
                <a:ea typeface="Raleway" pitchFamily="34" charset="-122"/>
                <a:cs typeface="Raleway" pitchFamily="34" charset="-120"/>
              </a:rPr>
              <a:t>Over to VS Code — Retrieving Top Chunks</a:t>
            </a:r>
            <a:endParaRPr lang="en-US" sz="1950" dirty="0"/>
          </a:p>
        </p:txBody>
      </p:sp>
      <p:sp>
        <p:nvSpPr>
          <p:cNvPr id="5" name="Text 3"/>
          <p:cNvSpPr/>
          <p:nvPr/>
        </p:nvSpPr>
        <p:spPr>
          <a:xfrm>
            <a:off x="496119" y="1030709"/>
            <a:ext cx="8608963" cy="142875"/>
          </a:xfrm>
          <a:prstGeom prst="rect">
            <a:avLst/>
          </a:prstGeom>
          <a:noFill/>
          <a:ln/>
        </p:spPr>
        <p:txBody>
          <a:bodyPr wrap="none" lIns="0" tIns="0" rIns="0" bIns="0" rtlCol="0" anchor="t"/>
          <a:lstStyle/>
          <a:p>
            <a:pPr algn="l" indent="0" marL="0">
              <a:lnSpc>
                <a:spcPct val="120000"/>
              </a:lnSpc>
              <a:buNone/>
            </a:pPr>
            <a:r>
              <a:rPr lang="en-US" sz="750" dirty="0">
                <a:solidFill>
                  <a:srgbClr val="3C3939"/>
                </a:solidFill>
                <a:latin typeface="Roboto" pitchFamily="34" charset="0"/>
                <a:ea typeface="Roboto" pitchFamily="34" charset="-122"/>
                <a:cs typeface="Roboto" pitchFamily="34" charset="-120"/>
              </a:rPr>
              <a:t>Embed the user's question, compute similarity against every indexed chunk, sort, and return the top K results.</a:t>
            </a:r>
            <a:endParaRPr lang="en-US" sz="750" dirty="0"/>
          </a:p>
        </p:txBody>
      </p:sp>
      <p:sp>
        <p:nvSpPr>
          <p:cNvPr id="6" name="Shape 4"/>
          <p:cNvSpPr/>
          <p:nvPr/>
        </p:nvSpPr>
        <p:spPr>
          <a:xfrm>
            <a:off x="496119" y="1262881"/>
            <a:ext cx="8151763" cy="3484513"/>
          </a:xfrm>
          <a:prstGeom prst="roundRect">
            <a:avLst>
              <a:gd name="adj" fmla="val 1196"/>
            </a:avLst>
          </a:prstGeom>
          <a:solidFill>
            <a:srgbClr val="F2F2F2"/>
          </a:solidFill>
          <a:ln/>
        </p:spPr>
      </p:sp>
      <p:sp>
        <p:nvSpPr>
          <p:cNvPr id="7" name="Shape 5"/>
          <p:cNvSpPr/>
          <p:nvPr/>
        </p:nvSpPr>
        <p:spPr>
          <a:xfrm>
            <a:off x="491207" y="1262881"/>
            <a:ext cx="8161586" cy="3484513"/>
          </a:xfrm>
          <a:prstGeom prst="roundRect">
            <a:avLst>
              <a:gd name="adj" fmla="val 427"/>
            </a:avLst>
          </a:prstGeom>
          <a:solidFill>
            <a:srgbClr val="F2F2F2"/>
          </a:solidFill>
          <a:ln/>
        </p:spPr>
      </p:sp>
      <p:sp>
        <p:nvSpPr>
          <p:cNvPr id="8" name="Text 6"/>
          <p:cNvSpPr/>
          <p:nvPr/>
        </p:nvSpPr>
        <p:spPr>
          <a:xfrm>
            <a:off x="615181" y="1362075"/>
            <a:ext cx="7913638" cy="3286125"/>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def retrieve_top_chunks(question, chunk_index, k=3):</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1. Embed the question</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q_embedding = client.embeddings.create(</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model="text-embedding-3-small",</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input=question</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).data[0].embedding</a:t>
            </a:r>
            <a:endParaRPr lang="en-US" sz="750" dirty="0"/>
          </a:p>
          <a:p>
            <a:pPr algn="l" indent="0" marL="0">
              <a:lnSpc>
                <a:spcPct val="120000"/>
              </a:lnSpc>
              <a:buNone/>
            </a:pP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2. Score every chunk</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scores = []</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for chunk_text, chunk_vec in chunk_index:</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score = cosine_similarity(q_embedding, chunk_vec)</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scores.append((chunk_text, score))</a:t>
            </a:r>
            <a:endParaRPr lang="en-US" sz="750" dirty="0"/>
          </a:p>
          <a:p>
            <a:pPr algn="l" indent="0" marL="0">
              <a:lnSpc>
                <a:spcPct val="120000"/>
              </a:lnSpc>
              <a:buNone/>
            </a:pP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 3. Sort and return top-k</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scores.sort(key=lambda x: x[1], reverse=True)</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return scores[:k]</a:t>
            </a:r>
            <a:endParaRPr lang="en-US" sz="750" dirty="0"/>
          </a:p>
          <a:p>
            <a:pPr algn="l" indent="0" marL="0">
              <a:lnSpc>
                <a:spcPct val="120000"/>
              </a:lnSpc>
              <a:buNone/>
            </a:pP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results = retrieve_top_chunks(</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"What is the notice period for interns?",</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chunk_index</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for text, score in results:</a:t>
            </a:r>
            <a:endParaRPr lang="en-US" sz="750" dirty="0"/>
          </a:p>
          <a:p>
            <a:pPr algn="l" indent="0" marL="0">
              <a:lnSpc>
                <a:spcPct val="120000"/>
              </a:lnSpc>
              <a:buNone/>
            </a:pPr>
            <a:r>
              <a:rPr lang="en-US" sz="750" dirty="0">
                <a:solidFill>
                  <a:srgbClr val="D73A49"/>
                </a:solidFill>
                <a:highlight>
                  <a:srgbClr val="F2F2F2"/>
                </a:highlight>
                <a:latin typeface="Consolas" pitchFamily="34" charset="0"/>
                <a:ea typeface="Consolas" pitchFamily="34" charset="-122"/>
                <a:cs typeface="Consolas" pitchFamily="34" charset="-120"/>
              </a:rPr>
              <a:t> print(f"Score: {score:.4f}\n{text}\n")</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8</a:t>
            </a:r>
            <a:endParaRPr lang="en-US" sz="750" dirty="0"/>
          </a:p>
        </p:txBody>
      </p:sp>
      <p:sp>
        <p:nvSpPr>
          <p:cNvPr id="4" name="Shape 2"/>
          <p:cNvSpPr/>
          <p:nvPr/>
        </p:nvSpPr>
        <p:spPr>
          <a:xfrm>
            <a:off x="1022449" y="1558900"/>
            <a:ext cx="754261"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053108"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GENERATION</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8</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Generation</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Using the retrieved context to produce a grounded, accurate answer.</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34132" y="352648"/>
            <a:ext cx="3373562" cy="339179"/>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Retrieval Is Not the End</a:t>
            </a:r>
            <a:endParaRPr lang="en-US" sz="2100" dirty="0"/>
          </a:p>
        </p:txBody>
      </p:sp>
      <p:sp>
        <p:nvSpPr>
          <p:cNvPr id="3" name="Text 1"/>
          <p:cNvSpPr/>
          <p:nvPr/>
        </p:nvSpPr>
        <p:spPr>
          <a:xfrm>
            <a:off x="434132" y="881732"/>
            <a:ext cx="8709868" cy="162818"/>
          </a:xfrm>
          <a:prstGeom prst="rect">
            <a:avLst/>
          </a:prstGeom>
          <a:noFill/>
          <a:ln/>
        </p:spPr>
        <p:txBody>
          <a:bodyPr wrap="none" lIns="0" tIns="0" rIns="0" bIns="0" rtlCol="0" anchor="t"/>
          <a:lstStyle/>
          <a:p>
            <a:pPr algn="l" indent="0" marL="0">
              <a:lnSpc>
                <a:spcPct val="125000"/>
              </a:lnSpc>
              <a:buNone/>
            </a:pPr>
            <a:r>
              <a:rPr lang="en-US" sz="850" dirty="0">
                <a:solidFill>
                  <a:srgbClr val="3C3939"/>
                </a:solidFill>
                <a:latin typeface="Roboto" pitchFamily="34" charset="0"/>
                <a:ea typeface="Roboto" pitchFamily="34" charset="-122"/>
                <a:cs typeface="Roboto" pitchFamily="34" charset="-120"/>
              </a:rPr>
              <a:t>We've found the right chunks. But raw retrieved text is not an answer — it's evidence. We now need the LLM to read that evidence and synthesize a clear, coherent response.</a:t>
            </a:r>
            <a:endParaRPr lang="en-US" sz="850" dirty="0"/>
          </a:p>
        </p:txBody>
      </p:sp>
      <p:pic>
        <p:nvPicPr>
          <p:cNvPr id="4" name="Image 0" descr="preencoded.png">    </p:cNvPr>
          <p:cNvPicPr>
            <a:picLocks noChangeAspect="1"/>
          </p:cNvPicPr>
          <p:nvPr/>
        </p:nvPicPr>
        <p:blipFill>
          <a:blip r:embed="rId1"/>
          <a:stretch>
            <a:fillRect/>
          </a:stretch>
        </p:blipFill>
        <p:spPr>
          <a:xfrm>
            <a:off x="1354187" y="1151334"/>
            <a:ext cx="6435626" cy="2945383"/>
          </a:xfrm>
          <a:prstGeom prst="rect">
            <a:avLst/>
          </a:prstGeom>
        </p:spPr>
      </p:pic>
      <p:sp>
        <p:nvSpPr>
          <p:cNvPr id="5" name="Text 2"/>
          <p:cNvSpPr/>
          <p:nvPr/>
        </p:nvSpPr>
        <p:spPr>
          <a:xfrm>
            <a:off x="6281980" y="3280905"/>
            <a:ext cx="1208244" cy="465505"/>
          </a:xfrm>
          <a:prstGeom prst="rect">
            <a:avLst/>
          </a:prstGeom>
          <a:noFill/>
          <a:ln/>
        </p:spPr>
        <p:txBody>
          <a:bodyPr wrap="square" lIns="0" tIns="0" rIns="0" bIns="0" rtlCol="0" anchor="t">
            <a:normAutofit/>
          </a:bodyPr>
          <a:lstStyle/>
          <a:p>
            <a:pPr algn="ctr" indent="0" marL="0">
              <a:lnSpc>
                <a:spcPct val="104000"/>
              </a:lnSpc>
              <a:buNone/>
            </a:pPr>
            <a:r>
              <a:rPr lang="en-US" sz="1450" dirty="0">
                <a:solidFill>
                  <a:srgbClr val="3C3939"/>
                </a:solidFill>
                <a:latin typeface="Raleway" pitchFamily="34" charset="0"/>
                <a:ea typeface="Raleway" pitchFamily="34" charset="-122"/>
                <a:cs typeface="Raleway" pitchFamily="34" charset="-120"/>
              </a:rPr>
              <a:t>Produce Answer</a:t>
            </a:r>
            <a:endParaRPr lang="en-US" sz="1450" dirty="0"/>
          </a:p>
        </p:txBody>
      </p:sp>
      <p:sp>
        <p:nvSpPr>
          <p:cNvPr id="6" name="Text 3"/>
          <p:cNvSpPr/>
          <p:nvPr/>
        </p:nvSpPr>
        <p:spPr>
          <a:xfrm>
            <a:off x="4759261" y="3280905"/>
            <a:ext cx="1208244" cy="465505"/>
          </a:xfrm>
          <a:prstGeom prst="rect">
            <a:avLst/>
          </a:prstGeom>
          <a:noFill/>
          <a:ln/>
        </p:spPr>
        <p:txBody>
          <a:bodyPr wrap="square" lIns="0" tIns="0" rIns="0" bIns="0" rtlCol="0" anchor="t">
            <a:normAutofit/>
          </a:bodyPr>
          <a:lstStyle/>
          <a:p>
            <a:pPr algn="ctr" indent="0" marL="0">
              <a:lnSpc>
                <a:spcPct val="104000"/>
              </a:lnSpc>
              <a:buNone/>
            </a:pPr>
            <a:r>
              <a:rPr lang="en-US" sz="1450" dirty="0">
                <a:solidFill>
                  <a:srgbClr val="3C3939"/>
                </a:solidFill>
                <a:latin typeface="Raleway" pitchFamily="34" charset="0"/>
                <a:ea typeface="Raleway" pitchFamily="34" charset="-122"/>
                <a:cs typeface="Raleway" pitchFamily="34" charset="-120"/>
              </a:rPr>
              <a:t>LLM Reads Context</a:t>
            </a:r>
            <a:endParaRPr lang="en-US" sz="1450" dirty="0"/>
          </a:p>
        </p:txBody>
      </p:sp>
      <p:sp>
        <p:nvSpPr>
          <p:cNvPr id="7" name="Text 4"/>
          <p:cNvSpPr/>
          <p:nvPr/>
        </p:nvSpPr>
        <p:spPr>
          <a:xfrm>
            <a:off x="3016218" y="3397282"/>
            <a:ext cx="1436844" cy="232752"/>
          </a:xfrm>
          <a:prstGeom prst="rect">
            <a:avLst/>
          </a:prstGeom>
          <a:noFill/>
          <a:ln/>
        </p:spPr>
        <p:txBody>
          <a:bodyPr wrap="none" lIns="0" tIns="0" rIns="0" bIns="0" rtlCol="0" anchor="t"/>
          <a:lstStyle/>
          <a:p>
            <a:pPr algn="ctr" indent="0" marL="0">
              <a:lnSpc>
                <a:spcPct val="104000"/>
              </a:lnSpc>
              <a:buNone/>
            </a:pPr>
            <a:r>
              <a:rPr lang="en-US" sz="1450" dirty="0">
                <a:solidFill>
                  <a:srgbClr val="3C3939"/>
                </a:solidFill>
                <a:latin typeface="Raleway" pitchFamily="34" charset="0"/>
                <a:ea typeface="Raleway" pitchFamily="34" charset="-122"/>
                <a:cs typeface="Raleway" pitchFamily="34" charset="-120"/>
              </a:rPr>
              <a:t>Build Context</a:t>
            </a:r>
            <a:endParaRPr lang="en-US" sz="1450" dirty="0"/>
          </a:p>
        </p:txBody>
      </p:sp>
      <p:sp>
        <p:nvSpPr>
          <p:cNvPr id="8" name="Text 5"/>
          <p:cNvSpPr/>
          <p:nvPr/>
        </p:nvSpPr>
        <p:spPr>
          <a:xfrm>
            <a:off x="1697273" y="3280905"/>
            <a:ext cx="1208244" cy="465505"/>
          </a:xfrm>
          <a:prstGeom prst="rect">
            <a:avLst/>
          </a:prstGeom>
          <a:noFill/>
          <a:ln/>
        </p:spPr>
        <p:txBody>
          <a:bodyPr wrap="square" lIns="0" tIns="0" rIns="0" bIns="0" rtlCol="0" anchor="t">
            <a:normAutofit/>
          </a:bodyPr>
          <a:lstStyle/>
          <a:p>
            <a:pPr algn="ctr" indent="0" marL="0">
              <a:lnSpc>
                <a:spcPct val="104000"/>
              </a:lnSpc>
              <a:buNone/>
            </a:pPr>
            <a:r>
              <a:rPr lang="en-US" sz="1450" dirty="0">
                <a:solidFill>
                  <a:srgbClr val="3C3939"/>
                </a:solidFill>
                <a:latin typeface="Raleway" pitchFamily="34" charset="0"/>
                <a:ea typeface="Raleway" pitchFamily="34" charset="-122"/>
                <a:cs typeface="Raleway" pitchFamily="34" charset="-120"/>
              </a:rPr>
              <a:t>Retrieve Chunks</a:t>
            </a:r>
            <a:endParaRPr lang="en-US" sz="1450" dirty="0"/>
          </a:p>
        </p:txBody>
      </p:sp>
      <p:sp>
        <p:nvSpPr>
          <p:cNvPr id="9" name="Shape 6"/>
          <p:cNvSpPr/>
          <p:nvPr/>
        </p:nvSpPr>
        <p:spPr>
          <a:xfrm>
            <a:off x="434132" y="4203502"/>
            <a:ext cx="8275737" cy="587350"/>
          </a:xfrm>
          <a:prstGeom prst="roundRect">
            <a:avLst>
              <a:gd name="adj" fmla="val 7761"/>
            </a:avLst>
          </a:prstGeom>
          <a:solidFill>
            <a:srgbClr val="B6D6FC"/>
          </a:solidFill>
          <a:ln/>
        </p:spPr>
      </p:sp>
      <p:pic>
        <p:nvPicPr>
          <p:cNvPr id="10" name="Image 1" descr="preencoded.png">    </p:cNvPr>
          <p:cNvPicPr>
            <a:picLocks noChangeAspect="1"/>
          </p:cNvPicPr>
          <p:nvPr/>
        </p:nvPicPr>
        <p:blipFill>
          <a:blip r:embed="rId2"/>
          <a:stretch>
            <a:fillRect/>
          </a:stretch>
        </p:blipFill>
        <p:spPr>
          <a:xfrm>
            <a:off x="542627" y="4358432"/>
            <a:ext cx="135657" cy="108496"/>
          </a:xfrm>
          <a:prstGeom prst="rect">
            <a:avLst/>
          </a:prstGeom>
        </p:spPr>
      </p:pic>
      <p:sp>
        <p:nvSpPr>
          <p:cNvPr id="11" name="Text 7"/>
          <p:cNvSpPr/>
          <p:nvPr/>
        </p:nvSpPr>
        <p:spPr>
          <a:xfrm>
            <a:off x="786780" y="4325541"/>
            <a:ext cx="7814593"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000000"/>
                </a:solidFill>
                <a:latin typeface="Roboto" pitchFamily="34" charset="0"/>
                <a:ea typeface="Roboto" pitchFamily="34" charset="-122"/>
                <a:cs typeface="Roboto" pitchFamily="34" charset="-120"/>
              </a:rPr>
              <a:t>The LLM's role in RAG is not to recall from memory. It is to </a:t>
            </a:r>
            <a:pPr algn="l" indent="0" marL="0">
              <a:lnSpc>
                <a:spcPct val="125000"/>
              </a:lnSpc>
              <a:buNone/>
            </a:pPr>
            <a:r>
              <a:rPr lang="en-US" sz="850" b="1" dirty="0">
                <a:solidFill>
                  <a:srgbClr val="000000"/>
                </a:solidFill>
                <a:latin typeface="Roboto" pitchFamily="34" charset="0"/>
                <a:ea typeface="Roboto" pitchFamily="34" charset="-122"/>
                <a:cs typeface="Roboto" pitchFamily="34" charset="-120"/>
              </a:rPr>
              <a:t>read and reason</a:t>
            </a:r>
            <a:pPr algn="l" indent="0" marL="0">
              <a:lnSpc>
                <a:spcPct val="125000"/>
              </a:lnSpc>
              <a:buNone/>
            </a:pPr>
            <a:r>
              <a:rPr lang="en-US" sz="850" dirty="0">
                <a:solidFill>
                  <a:srgbClr val="000000"/>
                </a:solidFill>
                <a:latin typeface="Roboto" pitchFamily="34" charset="0"/>
                <a:ea typeface="Roboto" pitchFamily="34" charset="-122"/>
                <a:cs typeface="Roboto" pitchFamily="34" charset="-120"/>
              </a:rPr>
              <a:t> over the provided context. This is a fundamentally different task from open-ended generation.</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96119" y="426244"/>
            <a:ext cx="5285631" cy="329431"/>
          </a:xfrm>
          <a:prstGeom prst="rect">
            <a:avLst/>
          </a:prstGeom>
          <a:noFill/>
          <a:ln/>
        </p:spPr>
        <p:txBody>
          <a:bodyPr wrap="none" lIns="0" tIns="0" rIns="0" bIns="0" rtlCol="0" anchor="t"/>
          <a:lstStyle/>
          <a:p>
            <a:pPr algn="l" indent="0" marL="0">
              <a:lnSpc>
                <a:spcPct val="104000"/>
              </a:lnSpc>
              <a:buNone/>
            </a:pPr>
            <a:r>
              <a:rPr lang="en-US" sz="2050" dirty="0">
                <a:solidFill>
                  <a:srgbClr val="1B1B27"/>
                </a:solidFill>
                <a:latin typeface="Raleway" pitchFamily="34" charset="0"/>
                <a:ea typeface="Raleway" pitchFamily="34" charset="-122"/>
                <a:cs typeface="Raleway" pitchFamily="34" charset="-120"/>
              </a:rPr>
              <a:t>Building the Prompt: Context + Question</a:t>
            </a:r>
            <a:endParaRPr lang="en-US" sz="2050" dirty="0"/>
          </a:p>
        </p:txBody>
      </p:sp>
      <p:sp>
        <p:nvSpPr>
          <p:cNvPr id="3" name="Text 1"/>
          <p:cNvSpPr/>
          <p:nvPr/>
        </p:nvSpPr>
        <p:spPr>
          <a:xfrm>
            <a:off x="496119" y="934864"/>
            <a:ext cx="8608963" cy="156046"/>
          </a:xfrm>
          <a:prstGeom prst="rect">
            <a:avLst/>
          </a:prstGeom>
          <a:noFill/>
          <a:ln/>
        </p:spPr>
        <p:txBody>
          <a:bodyPr wrap="none" lIns="0" tIns="0" rIns="0" bIns="0" rtlCol="0" anchor="t"/>
          <a:lstStyle/>
          <a:p>
            <a:pPr algn="l" indent="0" marL="0">
              <a:lnSpc>
                <a:spcPct val="123000"/>
              </a:lnSpc>
              <a:buNone/>
            </a:pPr>
            <a:r>
              <a:rPr lang="en-US" sz="800" dirty="0">
                <a:solidFill>
                  <a:srgbClr val="3C3939"/>
                </a:solidFill>
                <a:latin typeface="Roboto" pitchFamily="34" charset="0"/>
                <a:ea typeface="Roboto" pitchFamily="34" charset="-122"/>
                <a:cs typeface="Roboto" pitchFamily="34" charset="-120"/>
              </a:rPr>
              <a:t>A well-structured RAG prompt has two parts: the retrieved context and the user's question. How you frame the instructions to the LLM significantly affects answer quality.</a:t>
            </a:r>
            <a:endParaRPr lang="en-US" sz="800" dirty="0"/>
          </a:p>
        </p:txBody>
      </p:sp>
      <p:sp>
        <p:nvSpPr>
          <p:cNvPr id="4" name="Shape 2"/>
          <p:cNvSpPr/>
          <p:nvPr/>
        </p:nvSpPr>
        <p:spPr>
          <a:xfrm>
            <a:off x="496119" y="1191667"/>
            <a:ext cx="8151763" cy="3019574"/>
          </a:xfrm>
          <a:prstGeom prst="roundRect">
            <a:avLst>
              <a:gd name="adj" fmla="val 1467"/>
            </a:avLst>
          </a:prstGeom>
          <a:solidFill>
            <a:srgbClr val="F2F2F2"/>
          </a:solidFill>
          <a:ln/>
        </p:spPr>
      </p:sp>
      <p:sp>
        <p:nvSpPr>
          <p:cNvPr id="5" name="Shape 3"/>
          <p:cNvSpPr/>
          <p:nvPr/>
        </p:nvSpPr>
        <p:spPr>
          <a:xfrm>
            <a:off x="490910" y="1191667"/>
            <a:ext cx="8162181" cy="3019574"/>
          </a:xfrm>
          <a:prstGeom prst="roundRect">
            <a:avLst>
              <a:gd name="adj" fmla="val 524"/>
            </a:avLst>
          </a:prstGeom>
          <a:solidFill>
            <a:srgbClr val="F2F2F2"/>
          </a:solidFill>
          <a:ln/>
        </p:spPr>
      </p:sp>
      <p:sp>
        <p:nvSpPr>
          <p:cNvPr id="6" name="Text 4"/>
          <p:cNvSpPr/>
          <p:nvPr/>
        </p:nvSpPr>
        <p:spPr>
          <a:xfrm>
            <a:off x="622697" y="1297037"/>
            <a:ext cx="7898606" cy="2808833"/>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SYSTEM PROMPT:</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You are an HR policy assistant for our company.</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Answer the user's question using ONLY the information</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provided in the context below.</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If the answer is not found in the context, respond with:</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"This information is not available in the provided documents."</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Do not use any outside knowledge.</a:t>
            </a:r>
            <a:endParaRPr lang="en-US" sz="800" dirty="0"/>
          </a:p>
          <a:p>
            <a:pPr algn="l" indent="0" marL="0">
              <a:lnSpc>
                <a:spcPct val="123000"/>
              </a:lnSpc>
              <a:buNone/>
            </a:pP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USER PROMPT:</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Context:</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{chunk_1}</a:t>
            </a:r>
            <a:endParaRPr lang="en-US" sz="800" dirty="0"/>
          </a:p>
          <a:p>
            <a:pPr algn="l" indent="0" marL="0">
              <a:lnSpc>
                <a:spcPct val="123000"/>
              </a:lnSpc>
              <a:buNone/>
            </a:pP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{chunk_2}</a:t>
            </a:r>
            <a:endParaRPr lang="en-US" sz="800" dirty="0"/>
          </a:p>
          <a:p>
            <a:pPr algn="l" indent="0" marL="0">
              <a:lnSpc>
                <a:spcPct val="123000"/>
              </a:lnSpc>
              <a:buNone/>
            </a:pP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{chunk_3}</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a:t>
            </a:r>
            <a:endParaRPr lang="en-US" sz="800" dirty="0"/>
          </a:p>
          <a:p>
            <a:pPr algn="l" indent="0" marL="0">
              <a:lnSpc>
                <a:spcPct val="123000"/>
              </a:lnSpc>
              <a:buNone/>
            </a:pPr>
            <a:r>
              <a:rPr lang="en-US" sz="800" dirty="0">
                <a:solidFill>
                  <a:srgbClr val="005CC5"/>
                </a:solidFill>
                <a:highlight>
                  <a:srgbClr val="F2F2F2"/>
                </a:highlight>
                <a:latin typeface="Consolas" pitchFamily="34" charset="0"/>
                <a:ea typeface="Consolas" pitchFamily="34" charset="-122"/>
                <a:cs typeface="Consolas" pitchFamily="34" charset="-120"/>
              </a:rPr>
              <a:t>Question: {user_question}</a:t>
            </a:r>
            <a:endParaRPr lang="en-US" sz="800" dirty="0"/>
          </a:p>
        </p:txBody>
      </p:sp>
      <p:sp>
        <p:nvSpPr>
          <p:cNvPr id="7" name="Shape 5"/>
          <p:cNvSpPr/>
          <p:nvPr/>
        </p:nvSpPr>
        <p:spPr>
          <a:xfrm>
            <a:off x="496119" y="4311997"/>
            <a:ext cx="8151763" cy="405259"/>
          </a:xfrm>
          <a:prstGeom prst="roundRect">
            <a:avLst>
              <a:gd name="adj" fmla="val 10927"/>
            </a:avLst>
          </a:prstGeom>
          <a:solidFill>
            <a:srgbClr val="B6FCB8"/>
          </a:solidFill>
          <a:ln/>
        </p:spPr>
      </p:sp>
      <p:pic>
        <p:nvPicPr>
          <p:cNvPr id="8" name="Image 0" descr="preencoded.png">    </p:cNvPr>
          <p:cNvPicPr>
            <a:picLocks noChangeAspect="1"/>
          </p:cNvPicPr>
          <p:nvPr/>
        </p:nvPicPr>
        <p:blipFill>
          <a:blip r:embed="rId1"/>
          <a:stretch>
            <a:fillRect/>
          </a:stretch>
        </p:blipFill>
        <p:spPr>
          <a:xfrm>
            <a:off x="601489" y="4465811"/>
            <a:ext cx="131787" cy="105370"/>
          </a:xfrm>
          <a:prstGeom prst="rect">
            <a:avLst/>
          </a:prstGeom>
        </p:spPr>
      </p:pic>
      <p:sp>
        <p:nvSpPr>
          <p:cNvPr id="9" name="Text 6"/>
          <p:cNvSpPr/>
          <p:nvPr/>
        </p:nvSpPr>
        <p:spPr>
          <a:xfrm>
            <a:off x="838646" y="4427934"/>
            <a:ext cx="8161065" cy="156046"/>
          </a:xfrm>
          <a:prstGeom prst="rect">
            <a:avLst/>
          </a:prstGeom>
          <a:noFill/>
          <a:ln/>
        </p:spPr>
        <p:txBody>
          <a:bodyPr wrap="none" lIns="0" tIns="0" rIns="0" bIns="0" rtlCol="0" anchor="t"/>
          <a:lstStyle/>
          <a:p>
            <a:pPr algn="l" indent="0" marL="0">
              <a:lnSpc>
                <a:spcPct val="123000"/>
              </a:lnSpc>
              <a:buNone/>
            </a:pPr>
            <a:r>
              <a:rPr lang="en-US" sz="800" dirty="0">
                <a:solidFill>
                  <a:srgbClr val="000000"/>
                </a:solidFill>
                <a:latin typeface="Roboto" pitchFamily="34" charset="0"/>
                <a:ea typeface="Roboto" pitchFamily="34" charset="-122"/>
                <a:cs typeface="Roboto" pitchFamily="34" charset="-120"/>
              </a:rPr>
              <a:t>The key instruction: </a:t>
            </a:r>
            <a:pPr algn="l" indent="0" marL="0">
              <a:lnSpc>
                <a:spcPct val="123000"/>
              </a:lnSpc>
              <a:buNone/>
            </a:pPr>
            <a:r>
              <a:rPr lang="en-US" sz="800" b="1" dirty="0">
                <a:solidFill>
                  <a:srgbClr val="000000"/>
                </a:solidFill>
                <a:latin typeface="Roboto" pitchFamily="34" charset="0"/>
                <a:ea typeface="Roboto" pitchFamily="34" charset="-122"/>
                <a:cs typeface="Roboto" pitchFamily="34" charset="-120"/>
              </a:rPr>
              <a:t>"Answer using ONLY the provided context."</a:t>
            </a:r>
            <a:pPr algn="l" indent="0" marL="0">
              <a:lnSpc>
                <a:spcPct val="123000"/>
              </a:lnSpc>
              <a:buNone/>
            </a:pPr>
            <a:r>
              <a:rPr lang="en-US" sz="800" dirty="0">
                <a:solidFill>
                  <a:srgbClr val="000000"/>
                </a:solidFill>
                <a:latin typeface="Roboto" pitchFamily="34" charset="0"/>
                <a:ea typeface="Roboto" pitchFamily="34" charset="-122"/>
                <a:cs typeface="Roboto" pitchFamily="34" charset="-120"/>
              </a:rPr>
              <a:t> This constraint is what prevents hallucinations and keeps responses grounded in your documents.</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72901" y="338435"/>
            <a:ext cx="419026" cy="163339"/>
          </a:xfrm>
          <a:prstGeom prst="roundRect">
            <a:avLst>
              <a:gd name="adj" fmla="val 19457"/>
            </a:avLst>
          </a:prstGeom>
          <a:solidFill>
            <a:srgbClr val="E1E1EA"/>
          </a:solidFill>
          <a:ln/>
        </p:spPr>
      </p:sp>
      <p:sp>
        <p:nvSpPr>
          <p:cNvPr id="3" name="Text 1"/>
          <p:cNvSpPr/>
          <p:nvPr/>
        </p:nvSpPr>
        <p:spPr>
          <a:xfrm>
            <a:off x="529605" y="366787"/>
            <a:ext cx="762819" cy="106635"/>
          </a:xfrm>
          <a:prstGeom prst="rect">
            <a:avLst/>
          </a:prstGeom>
          <a:noFill/>
          <a:ln/>
        </p:spPr>
        <p:txBody>
          <a:bodyPr wrap="none" lIns="0" tIns="0" rIns="0" bIns="0" rtlCol="0" anchor="t"/>
          <a:lstStyle/>
          <a:p>
            <a:pPr algn="l" indent="0" marL="0">
              <a:lnSpc>
                <a:spcPct val="117000"/>
              </a:lnSpc>
              <a:buNone/>
            </a:pPr>
            <a:r>
              <a:rPr lang="en-US" sz="550" dirty="0">
                <a:solidFill>
                  <a:srgbClr val="3C3939"/>
                </a:solidFill>
                <a:latin typeface="Roboto" pitchFamily="34" charset="0"/>
                <a:ea typeface="Roboto" pitchFamily="34" charset="-122"/>
                <a:cs typeface="Roboto" pitchFamily="34" charset="-120"/>
              </a:rPr>
              <a:t>VS CODE</a:t>
            </a:r>
            <a:endParaRPr lang="en-US" sz="550" dirty="0"/>
          </a:p>
        </p:txBody>
      </p:sp>
      <p:sp>
        <p:nvSpPr>
          <p:cNvPr id="4" name="Text 2"/>
          <p:cNvSpPr/>
          <p:nvPr/>
        </p:nvSpPr>
        <p:spPr>
          <a:xfrm>
            <a:off x="472901" y="530572"/>
            <a:ext cx="4806776" cy="295573"/>
          </a:xfrm>
          <a:prstGeom prst="rect">
            <a:avLst/>
          </a:prstGeom>
          <a:noFill/>
          <a:ln/>
        </p:spPr>
        <p:txBody>
          <a:bodyPr wrap="none" lIns="0" tIns="0" rIns="0" bIns="0" rtlCol="0" anchor="t"/>
          <a:lstStyle/>
          <a:p>
            <a:pPr algn="l" indent="0" marL="0">
              <a:lnSpc>
                <a:spcPct val="104000"/>
              </a:lnSpc>
              <a:buNone/>
            </a:pPr>
            <a:r>
              <a:rPr lang="en-US" sz="1850" dirty="0">
                <a:solidFill>
                  <a:srgbClr val="1B1B27"/>
                </a:solidFill>
                <a:latin typeface="Raleway" pitchFamily="34" charset="0"/>
                <a:ea typeface="Raleway" pitchFamily="34" charset="-122"/>
                <a:cs typeface="Raleway" pitchFamily="34" charset="-120"/>
              </a:rPr>
              <a:t>Over to VS Code — Full Generation Step</a:t>
            </a:r>
            <a:endParaRPr lang="en-US" sz="1850" dirty="0"/>
          </a:p>
        </p:txBody>
      </p:sp>
      <p:sp>
        <p:nvSpPr>
          <p:cNvPr id="5" name="Text 3"/>
          <p:cNvSpPr/>
          <p:nvPr/>
        </p:nvSpPr>
        <p:spPr>
          <a:xfrm>
            <a:off x="472901" y="934269"/>
            <a:ext cx="8655397" cy="133350"/>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Combine the retrieved chunks into a context string and call the Chat Completions API.</a:t>
            </a:r>
            <a:endParaRPr lang="en-US" sz="700" dirty="0"/>
          </a:p>
        </p:txBody>
      </p:sp>
      <p:sp>
        <p:nvSpPr>
          <p:cNvPr id="6" name="Shape 4"/>
          <p:cNvSpPr/>
          <p:nvPr/>
        </p:nvSpPr>
        <p:spPr>
          <a:xfrm>
            <a:off x="472901" y="1148730"/>
            <a:ext cx="8198197" cy="3656261"/>
          </a:xfrm>
          <a:prstGeom prst="roundRect">
            <a:avLst>
              <a:gd name="adj" fmla="val 1087"/>
            </a:avLst>
          </a:prstGeom>
          <a:solidFill>
            <a:srgbClr val="F2F2F2"/>
          </a:solidFill>
          <a:ln/>
        </p:spPr>
      </p:sp>
      <p:sp>
        <p:nvSpPr>
          <p:cNvPr id="7" name="Shape 5"/>
          <p:cNvSpPr/>
          <p:nvPr/>
        </p:nvSpPr>
        <p:spPr>
          <a:xfrm>
            <a:off x="468213" y="1148730"/>
            <a:ext cx="8207573" cy="3656261"/>
          </a:xfrm>
          <a:prstGeom prst="roundRect">
            <a:avLst>
              <a:gd name="adj" fmla="val 388"/>
            </a:avLst>
          </a:prstGeom>
          <a:solidFill>
            <a:srgbClr val="F2F2F2"/>
          </a:solidFill>
          <a:ln/>
        </p:spPr>
      </p:sp>
      <p:sp>
        <p:nvSpPr>
          <p:cNvPr id="8" name="Text 6"/>
          <p:cNvSpPr/>
          <p:nvPr/>
        </p:nvSpPr>
        <p:spPr>
          <a:xfrm>
            <a:off x="586383" y="1243310"/>
            <a:ext cx="7971234" cy="3467100"/>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def generate_answer(question, chunk_index, k=3):</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 Retrieve relevant chunks</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top_chunks = retrieve_top_chunks(question, chunk_index, k)</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context = "\n\n".join([text for text, _ in top_chunks])</a:t>
            </a:r>
            <a:endParaRPr lang="en-US" sz="700" dirty="0"/>
          </a:p>
          <a:p>
            <a:pPr algn="l" indent="0" marL="0">
              <a:lnSpc>
                <a:spcPct val="117000"/>
              </a:lnSpc>
              <a:buNone/>
            </a:pP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 Build and send the prompt</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response = client.chat.completions.create(</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model="gpt-4o-mini",</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messages=[</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{"role": "system", "content":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"You are an HR policy assistant. Answer using ONLY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"the provided context. If the answer is not there,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"say: 'Not found in the provided documents.'"</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{"role": "user", "content":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f"Context:\n{context}\n\nQuestion: {question}"</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return response.choices[0].message.content</a:t>
            </a:r>
            <a:endParaRPr lang="en-US" sz="700" dirty="0"/>
          </a:p>
          <a:p>
            <a:pPr algn="l" indent="0" marL="0">
              <a:lnSpc>
                <a:spcPct val="117000"/>
              </a:lnSpc>
              <a:buNone/>
            </a:pP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answer = generate_answer(</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"What is the notice period for interns?",</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 chunk_index</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a:t>
            </a:r>
            <a:endParaRPr lang="en-US" sz="700" dirty="0"/>
          </a:p>
          <a:p>
            <a:pPr algn="l" indent="0" marL="0">
              <a:lnSpc>
                <a:spcPct val="117000"/>
              </a:lnSpc>
              <a:buNone/>
            </a:pPr>
            <a:r>
              <a:rPr lang="en-US" sz="700" dirty="0">
                <a:solidFill>
                  <a:srgbClr val="D73A49"/>
                </a:solidFill>
                <a:highlight>
                  <a:srgbClr val="F2F2F2"/>
                </a:highlight>
                <a:latin typeface="Consolas" pitchFamily="34" charset="0"/>
                <a:ea typeface="Consolas" pitchFamily="34" charset="-122"/>
                <a:cs typeface="Consolas" pitchFamily="34" charset="-120"/>
              </a:rPr>
              <a:t>print(answer)</a:t>
            </a:r>
            <a:endParaRPr lang="en-US" sz="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395362" y="279127"/>
            <a:ext cx="4442743" cy="308893"/>
          </a:xfrm>
          <a:prstGeom prst="rect">
            <a:avLst/>
          </a:prstGeom>
          <a:noFill/>
          <a:ln/>
        </p:spPr>
        <p:txBody>
          <a:bodyPr wrap="none" lIns="0" tIns="0" rIns="0" bIns="0" rtlCol="0" anchor="t"/>
          <a:lstStyle/>
          <a:p>
            <a:pPr algn="l" indent="0" marL="0">
              <a:lnSpc>
                <a:spcPct val="104000"/>
              </a:lnSpc>
              <a:buNone/>
            </a:pPr>
            <a:r>
              <a:rPr lang="en-US" sz="1900" dirty="0">
                <a:solidFill>
                  <a:srgbClr val="1B1B27"/>
                </a:solidFill>
                <a:latin typeface="Raleway" pitchFamily="34" charset="0"/>
                <a:ea typeface="Raleway" pitchFamily="34" charset="-122"/>
                <a:cs typeface="Raleway" pitchFamily="34" charset="-120"/>
              </a:rPr>
              <a:t>The Complete Vanilla RAG Pipeline</a:t>
            </a:r>
            <a:endParaRPr lang="en-US" sz="1900" dirty="0"/>
          </a:p>
        </p:txBody>
      </p:sp>
      <p:sp>
        <p:nvSpPr>
          <p:cNvPr id="3" name="Text 1"/>
          <p:cNvSpPr/>
          <p:nvPr/>
        </p:nvSpPr>
        <p:spPr>
          <a:xfrm>
            <a:off x="395362" y="745554"/>
            <a:ext cx="8748638" cy="142056"/>
          </a:xfrm>
          <a:prstGeom prst="rect">
            <a:avLst/>
          </a:prstGeom>
          <a:noFill/>
          <a:ln/>
        </p:spPr>
        <p:txBody>
          <a:bodyPr wrap="none" lIns="0" tIns="0" rIns="0" bIns="0" rtlCol="0" anchor="t"/>
          <a:lstStyle/>
          <a:p>
            <a:pPr algn="l" indent="0" marL="0">
              <a:lnSpc>
                <a:spcPct val="120000"/>
              </a:lnSpc>
              <a:buNone/>
            </a:pPr>
            <a:r>
              <a:rPr lang="en-US" sz="750" dirty="0">
                <a:solidFill>
                  <a:srgbClr val="3C3939"/>
                </a:solidFill>
                <a:latin typeface="Roboto" pitchFamily="34" charset="0"/>
                <a:ea typeface="Roboto" pitchFamily="34" charset="-122"/>
                <a:cs typeface="Roboto" pitchFamily="34" charset="-120"/>
              </a:rPr>
              <a:t>You've now built every piece. Here is the full end-to-end architecture from PDF to answer.</a:t>
            </a:r>
            <a:endParaRPr lang="en-US" sz="750" dirty="0"/>
          </a:p>
        </p:txBody>
      </p:sp>
      <p:pic>
        <p:nvPicPr>
          <p:cNvPr id="4" name="Image 0" descr="preencoded.png">    </p:cNvPr>
          <p:cNvPicPr>
            <a:picLocks noChangeAspect="1"/>
          </p:cNvPicPr>
          <p:nvPr/>
        </p:nvPicPr>
        <p:blipFill>
          <a:blip r:embed="rId1"/>
          <a:stretch>
            <a:fillRect/>
          </a:stretch>
        </p:blipFill>
        <p:spPr>
          <a:xfrm>
            <a:off x="395362" y="976164"/>
            <a:ext cx="6553200" cy="3657600"/>
          </a:xfrm>
          <a:prstGeom prst="rect">
            <a:avLst/>
          </a:prstGeom>
        </p:spPr>
      </p:pic>
      <p:pic>
        <p:nvPicPr>
          <p:cNvPr id="5" name="Image 1" descr="preencoded.png">    </p:cNvPr>
          <p:cNvPicPr>
            <a:picLocks noChangeAspect="1"/>
          </p:cNvPicPr>
          <p:nvPr/>
        </p:nvPicPr>
        <p:blipFill>
          <a:blip r:embed="rId2"/>
          <a:stretch>
            <a:fillRect/>
          </a:stretch>
        </p:blipFill>
        <p:spPr>
          <a:xfrm>
            <a:off x="395362" y="976164"/>
            <a:ext cx="6553200" cy="3657600"/>
          </a:xfrm>
          <a:prstGeom prst="rect">
            <a:avLst/>
          </a:prstGeom>
        </p:spPr>
      </p:pic>
      <p:sp>
        <p:nvSpPr>
          <p:cNvPr id="6" name="Text 2"/>
          <p:cNvSpPr/>
          <p:nvPr/>
        </p:nvSpPr>
        <p:spPr>
          <a:xfrm>
            <a:off x="395362" y="4722316"/>
            <a:ext cx="8748638" cy="142056"/>
          </a:xfrm>
          <a:prstGeom prst="rect">
            <a:avLst/>
          </a:prstGeom>
          <a:noFill/>
          <a:ln/>
        </p:spPr>
        <p:txBody>
          <a:bodyPr wrap="none" lIns="0" tIns="0" rIns="0" bIns="0" rtlCol="0" anchor="t"/>
          <a:lstStyle/>
          <a:p>
            <a:pPr algn="l" indent="0" marL="0">
              <a:lnSpc>
                <a:spcPct val="120000"/>
              </a:lnSpc>
              <a:buNone/>
            </a:pPr>
            <a:r>
              <a:rPr lang="en-US" sz="750" dirty="0">
                <a:solidFill>
                  <a:srgbClr val="3C3939"/>
                </a:solidFill>
                <a:latin typeface="Roboto" pitchFamily="34" charset="0"/>
                <a:ea typeface="Roboto" pitchFamily="34" charset="-122"/>
                <a:cs typeface="Roboto" pitchFamily="34" charset="-120"/>
              </a:rPr>
              <a:t>Each stage has one clear responsibility. This separation makes the system easy to debug, replace components in, and extend.</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96119" y="1563663"/>
            <a:ext cx="464344" cy="233214"/>
          </a:xfrm>
          <a:prstGeom prst="roundRect">
            <a:avLst>
              <a:gd name="adj" fmla="val 17872"/>
            </a:avLst>
          </a:prstGeom>
          <a:solidFill>
            <a:srgbClr val="E1E1EA"/>
          </a:solidFill>
          <a:ln/>
        </p:spPr>
      </p:sp>
      <p:sp>
        <p:nvSpPr>
          <p:cNvPr id="3" name="Text 1"/>
          <p:cNvSpPr/>
          <p:nvPr/>
        </p:nvSpPr>
        <p:spPr>
          <a:xfrm>
            <a:off x="570533" y="1600870"/>
            <a:ext cx="772716"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PART 9</a:t>
            </a:r>
            <a:endParaRPr lang="en-US" sz="750" dirty="0"/>
          </a:p>
        </p:txBody>
      </p:sp>
      <p:sp>
        <p:nvSpPr>
          <p:cNvPr id="4" name="Shape 2"/>
          <p:cNvSpPr/>
          <p:nvPr/>
        </p:nvSpPr>
        <p:spPr>
          <a:xfrm>
            <a:off x="1022449" y="1558900"/>
            <a:ext cx="868040" cy="242739"/>
          </a:xfrm>
          <a:prstGeom prst="roundRect">
            <a:avLst>
              <a:gd name="adj" fmla="val 17171"/>
            </a:avLst>
          </a:prstGeom>
          <a:noFill/>
          <a:ln w="4763">
            <a:solidFill>
              <a:srgbClr val="1B1B27"/>
            </a:solidFill>
            <a:prstDash val="solid"/>
          </a:ln>
        </p:spPr>
      </p:sp>
      <p:sp>
        <p:nvSpPr>
          <p:cNvPr id="5" name="Text 3"/>
          <p:cNvSpPr/>
          <p:nvPr/>
        </p:nvSpPr>
        <p:spPr>
          <a:xfrm>
            <a:off x="1101626" y="1600870"/>
            <a:ext cx="1166887" cy="158800"/>
          </a:xfrm>
          <a:prstGeom prst="rect">
            <a:avLst/>
          </a:prstGeom>
          <a:noFill/>
          <a:ln/>
        </p:spPr>
        <p:txBody>
          <a:bodyPr wrap="none" lIns="0" tIns="0" rIns="0" bIns="0" rtlCol="0" anchor="t"/>
          <a:lstStyle/>
          <a:p>
            <a:pPr algn="l" indent="0" marL="0">
              <a:lnSpc>
                <a:spcPct val="133000"/>
              </a:lnSpc>
              <a:buNone/>
            </a:pPr>
            <a:r>
              <a:rPr lang="en-US" sz="750" dirty="0">
                <a:solidFill>
                  <a:srgbClr val="1B1B27"/>
                </a:solidFill>
                <a:latin typeface="Roboto" pitchFamily="34" charset="0"/>
                <a:ea typeface="Roboto" pitchFamily="34" charset="-122"/>
                <a:cs typeface="Roboto" pitchFamily="34" charset="-120"/>
              </a:rPr>
              <a:t>WHY RAG FAILS</a:t>
            </a:r>
            <a:endParaRPr lang="en-US" sz="750" dirty="0"/>
          </a:p>
        </p:txBody>
      </p:sp>
      <p:sp>
        <p:nvSpPr>
          <p:cNvPr id="6" name="Text 4"/>
          <p:cNvSpPr/>
          <p:nvPr/>
        </p:nvSpPr>
        <p:spPr>
          <a:xfrm>
            <a:off x="496119" y="1851199"/>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Part 9</a:t>
            </a:r>
            <a:endParaRPr lang="en-US" sz="2400" dirty="0"/>
          </a:p>
        </p:txBody>
      </p:sp>
      <p:sp>
        <p:nvSpPr>
          <p:cNvPr id="7" name="Text 5"/>
          <p:cNvSpPr/>
          <p:nvPr/>
        </p:nvSpPr>
        <p:spPr>
          <a:xfrm>
            <a:off x="496119" y="2424782"/>
            <a:ext cx="6659463" cy="775246"/>
          </a:xfrm>
          <a:prstGeom prst="rect">
            <a:avLst/>
          </a:prstGeom>
          <a:noFill/>
          <a:ln/>
        </p:spPr>
        <p:txBody>
          <a:bodyPr wrap="none" lIns="0" tIns="0" rIns="0" bIns="0" rtlCol="0" anchor="t"/>
          <a:lstStyle/>
          <a:p>
            <a:pPr algn="l" indent="0" marL="0">
              <a:lnSpc>
                <a:spcPct val="104000"/>
              </a:lnSpc>
              <a:buNone/>
            </a:pPr>
            <a:r>
              <a:rPr lang="en-US" sz="4850" dirty="0">
                <a:solidFill>
                  <a:srgbClr val="1B1B27"/>
                </a:solidFill>
                <a:latin typeface="Raleway" pitchFamily="34" charset="0"/>
                <a:ea typeface="Raleway" pitchFamily="34" charset="-122"/>
                <a:cs typeface="Raleway" pitchFamily="34" charset="-120"/>
              </a:rPr>
              <a:t>Why RAG Fails</a:t>
            </a:r>
            <a:endParaRPr lang="en-US" sz="4850" dirty="0"/>
          </a:p>
        </p:txBody>
      </p:sp>
      <p:sp>
        <p:nvSpPr>
          <p:cNvPr id="8" name="Text 6"/>
          <p:cNvSpPr/>
          <p:nvPr/>
        </p:nvSpPr>
        <p:spPr>
          <a:xfrm>
            <a:off x="496119" y="33860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Understanding failure modes is as important as understanding success cases.</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96119" y="880393"/>
            <a:ext cx="4468788"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Common RAG Failure Cases</a:t>
            </a:r>
            <a:endParaRPr lang="en-US" sz="2400" dirty="0"/>
          </a:p>
        </p:txBody>
      </p:sp>
      <p:sp>
        <p:nvSpPr>
          <p:cNvPr id="3" name="Text 1"/>
          <p:cNvSpPr/>
          <p:nvPr/>
        </p:nvSpPr>
        <p:spPr>
          <a:xfrm>
            <a:off x="496119" y="15159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RAG is not magic. Each stage in the pipeline can fail independently. Here are the four most common failure modes you'll encounter in practice.</a:t>
            </a:r>
            <a:endParaRPr lang="en-US" sz="950" dirty="0"/>
          </a:p>
        </p:txBody>
      </p:sp>
      <p:sp>
        <p:nvSpPr>
          <p:cNvPr id="4" name="Shape 2"/>
          <p:cNvSpPr/>
          <p:nvPr/>
        </p:nvSpPr>
        <p:spPr>
          <a:xfrm>
            <a:off x="496119" y="1853952"/>
            <a:ext cx="4013895" cy="1144935"/>
          </a:xfrm>
          <a:prstGeom prst="roundRect">
            <a:avLst>
              <a:gd name="adj" fmla="val 5990"/>
            </a:avLst>
          </a:prstGeom>
          <a:solidFill>
            <a:srgbClr val="FFFFFF">
              <a:alpha val="95000"/>
            </a:srgbClr>
          </a:solidFill>
          <a:ln w="14288">
            <a:solidFill>
              <a:srgbClr val="C7C7D0"/>
            </a:solidFill>
            <a:prstDash val="solid"/>
          </a:ln>
        </p:spPr>
      </p:sp>
      <p:sp>
        <p:nvSpPr>
          <p:cNvPr id="5" name="Shape 3"/>
          <p:cNvSpPr/>
          <p:nvPr/>
        </p:nvSpPr>
        <p:spPr>
          <a:xfrm>
            <a:off x="481831" y="1853952"/>
            <a:ext cx="57150" cy="1144935"/>
          </a:xfrm>
          <a:prstGeom prst="roundRect">
            <a:avLst>
              <a:gd name="adj" fmla="val 91163"/>
            </a:avLst>
          </a:prstGeom>
          <a:solidFill>
            <a:srgbClr val="1B1B27"/>
          </a:solidFill>
          <a:ln/>
        </p:spPr>
      </p:sp>
      <p:sp>
        <p:nvSpPr>
          <p:cNvPr id="6" name="Text 4"/>
          <p:cNvSpPr/>
          <p:nvPr/>
        </p:nvSpPr>
        <p:spPr>
          <a:xfrm>
            <a:off x="677242" y="199221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1. Retrieval Failure</a:t>
            </a:r>
            <a:endParaRPr lang="en-US" sz="1200" dirty="0"/>
          </a:p>
        </p:txBody>
      </p:sp>
      <p:sp>
        <p:nvSpPr>
          <p:cNvPr id="7" name="Text 5"/>
          <p:cNvSpPr/>
          <p:nvPr/>
        </p:nvSpPr>
        <p:spPr>
          <a:xfrm>
            <a:off x="677242" y="2260476"/>
            <a:ext cx="3694509" cy="6001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The right chunk exists but isn't retrieved. Usually caused by poor embeddings, mismatched phrasing, or an incorrect </a:t>
            </a:r>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k</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value.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Fix:</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inspect similarity scores and lower the threshold.</a:t>
            </a:r>
            <a:endParaRPr lang="en-US" sz="950" dirty="0"/>
          </a:p>
        </p:txBody>
      </p:sp>
      <p:sp>
        <p:nvSpPr>
          <p:cNvPr id="8" name="Shape 6"/>
          <p:cNvSpPr/>
          <p:nvPr/>
        </p:nvSpPr>
        <p:spPr>
          <a:xfrm>
            <a:off x="4633987" y="1853952"/>
            <a:ext cx="4013895" cy="1144935"/>
          </a:xfrm>
          <a:prstGeom prst="roundRect">
            <a:avLst>
              <a:gd name="adj" fmla="val 5990"/>
            </a:avLst>
          </a:prstGeom>
          <a:solidFill>
            <a:srgbClr val="FFFFFF">
              <a:alpha val="95000"/>
            </a:srgbClr>
          </a:solidFill>
          <a:ln w="14288">
            <a:solidFill>
              <a:srgbClr val="C7C7D0"/>
            </a:solidFill>
            <a:prstDash val="solid"/>
          </a:ln>
        </p:spPr>
      </p:sp>
      <p:sp>
        <p:nvSpPr>
          <p:cNvPr id="9" name="Shape 7"/>
          <p:cNvSpPr/>
          <p:nvPr/>
        </p:nvSpPr>
        <p:spPr>
          <a:xfrm>
            <a:off x="4619699" y="1853952"/>
            <a:ext cx="57150" cy="1144935"/>
          </a:xfrm>
          <a:prstGeom prst="roundRect">
            <a:avLst>
              <a:gd name="adj" fmla="val 91163"/>
            </a:avLst>
          </a:prstGeom>
          <a:solidFill>
            <a:srgbClr val="1B1B27"/>
          </a:solidFill>
          <a:ln/>
        </p:spPr>
      </p:sp>
      <p:sp>
        <p:nvSpPr>
          <p:cNvPr id="10" name="Text 8"/>
          <p:cNvSpPr/>
          <p:nvPr/>
        </p:nvSpPr>
        <p:spPr>
          <a:xfrm>
            <a:off x="4815111" y="1992213"/>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2. Bad Chunking</a:t>
            </a:r>
            <a:endParaRPr lang="en-US" sz="1200" dirty="0"/>
          </a:p>
        </p:txBody>
      </p:sp>
      <p:sp>
        <p:nvSpPr>
          <p:cNvPr id="11" name="Text 9"/>
          <p:cNvSpPr/>
          <p:nvPr/>
        </p:nvSpPr>
        <p:spPr>
          <a:xfrm>
            <a:off x="4815111" y="2260476"/>
            <a:ext cx="3694509" cy="6001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The answer is split across a chunk boundary. One chunk has "interns must serve" and another has "15 days" — neither alone is useful.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Fix:</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increase </a:t>
            </a:r>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chunk_overlap</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or adjust </a:t>
            </a:r>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chunk_size</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12" name="Shape 10"/>
          <p:cNvSpPr/>
          <p:nvPr/>
        </p:nvSpPr>
        <p:spPr>
          <a:xfrm>
            <a:off x="496119" y="3122861"/>
            <a:ext cx="4013895" cy="1140172"/>
          </a:xfrm>
          <a:prstGeom prst="roundRect">
            <a:avLst>
              <a:gd name="adj" fmla="val 6015"/>
            </a:avLst>
          </a:prstGeom>
          <a:solidFill>
            <a:srgbClr val="FFFFFF">
              <a:alpha val="95000"/>
            </a:srgbClr>
          </a:solidFill>
          <a:ln w="14288">
            <a:solidFill>
              <a:srgbClr val="C7C7D0"/>
            </a:solidFill>
            <a:prstDash val="solid"/>
          </a:ln>
        </p:spPr>
      </p:sp>
      <p:sp>
        <p:nvSpPr>
          <p:cNvPr id="13" name="Shape 11"/>
          <p:cNvSpPr/>
          <p:nvPr/>
        </p:nvSpPr>
        <p:spPr>
          <a:xfrm>
            <a:off x="481831" y="3122861"/>
            <a:ext cx="57150" cy="1140172"/>
          </a:xfrm>
          <a:prstGeom prst="roundRect">
            <a:avLst>
              <a:gd name="adj" fmla="val 91163"/>
            </a:avLst>
          </a:prstGeom>
          <a:solidFill>
            <a:srgbClr val="1B1B27"/>
          </a:solidFill>
          <a:ln/>
        </p:spPr>
      </p:sp>
      <p:sp>
        <p:nvSpPr>
          <p:cNvPr id="14" name="Text 12"/>
          <p:cNvSpPr/>
          <p:nvPr/>
        </p:nvSpPr>
        <p:spPr>
          <a:xfrm>
            <a:off x="677242" y="3261122"/>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3. Context Pollution</a:t>
            </a:r>
            <a:endParaRPr lang="en-US" sz="1200" dirty="0"/>
          </a:p>
        </p:txBody>
      </p:sp>
      <p:sp>
        <p:nvSpPr>
          <p:cNvPr id="15" name="Text 13"/>
          <p:cNvSpPr/>
          <p:nvPr/>
        </p:nvSpPr>
        <p:spPr>
          <a:xfrm>
            <a:off x="677242" y="3529385"/>
            <a:ext cx="369450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Irrelevant chunks are retrieved alongside the correct one. The LLM gets confused by contradictory or unrelated content.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Fix:</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tighten retrieval with a similarity threshold filter.</a:t>
            </a:r>
            <a:endParaRPr lang="en-US" sz="950" dirty="0"/>
          </a:p>
        </p:txBody>
      </p:sp>
      <p:sp>
        <p:nvSpPr>
          <p:cNvPr id="16" name="Shape 14"/>
          <p:cNvSpPr/>
          <p:nvPr/>
        </p:nvSpPr>
        <p:spPr>
          <a:xfrm>
            <a:off x="4633987" y="3122861"/>
            <a:ext cx="4013895" cy="1140172"/>
          </a:xfrm>
          <a:prstGeom prst="roundRect">
            <a:avLst>
              <a:gd name="adj" fmla="val 6015"/>
            </a:avLst>
          </a:prstGeom>
          <a:solidFill>
            <a:srgbClr val="FFFFFF">
              <a:alpha val="95000"/>
            </a:srgbClr>
          </a:solidFill>
          <a:ln w="14288">
            <a:solidFill>
              <a:srgbClr val="C7C7D0"/>
            </a:solidFill>
            <a:prstDash val="solid"/>
          </a:ln>
        </p:spPr>
      </p:sp>
      <p:sp>
        <p:nvSpPr>
          <p:cNvPr id="17" name="Shape 15"/>
          <p:cNvSpPr/>
          <p:nvPr/>
        </p:nvSpPr>
        <p:spPr>
          <a:xfrm>
            <a:off x="4619699" y="3122861"/>
            <a:ext cx="57150" cy="1140172"/>
          </a:xfrm>
          <a:prstGeom prst="roundRect">
            <a:avLst>
              <a:gd name="adj" fmla="val 91163"/>
            </a:avLst>
          </a:prstGeom>
          <a:solidFill>
            <a:srgbClr val="1B1B27"/>
          </a:solidFill>
          <a:ln/>
        </p:spPr>
      </p:sp>
      <p:sp>
        <p:nvSpPr>
          <p:cNvPr id="18" name="Text 16"/>
          <p:cNvSpPr/>
          <p:nvPr/>
        </p:nvSpPr>
        <p:spPr>
          <a:xfrm>
            <a:off x="4815111" y="3261122"/>
            <a:ext cx="2028602"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4. Hallucination Despite RAG</a:t>
            </a:r>
            <a:endParaRPr lang="en-US" sz="1200" dirty="0"/>
          </a:p>
        </p:txBody>
      </p:sp>
      <p:sp>
        <p:nvSpPr>
          <p:cNvPr id="19" name="Text 17"/>
          <p:cNvSpPr/>
          <p:nvPr/>
        </p:nvSpPr>
        <p:spPr>
          <a:xfrm>
            <a:off x="4815111" y="3529385"/>
            <a:ext cx="369450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The LLM ignores the provided context and answers from memory. Usually a prompting problem. </a:t>
            </a:r>
            <a:pPr algn="l" indent="0" marL="0">
              <a:lnSpc>
                <a:spcPct val="133000"/>
              </a:lnSpc>
              <a:buNone/>
            </a:pPr>
            <a:r>
              <a:rPr lang="en-US" sz="950" b="1" dirty="0">
                <a:solidFill>
                  <a:srgbClr val="3C3939"/>
                </a:solidFill>
                <a:latin typeface="Roboto" pitchFamily="34" charset="0"/>
                <a:ea typeface="Roboto" pitchFamily="34" charset="-122"/>
                <a:cs typeface="Roboto" pitchFamily="34" charset="-120"/>
              </a:rPr>
              <a:t>Fix:</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 strengthen the system prompt constraint and use a lower-temperature model.</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96119" y="461665"/>
            <a:ext cx="3233142" cy="290736"/>
          </a:xfrm>
          <a:prstGeom prst="rect">
            <a:avLst/>
          </a:prstGeom>
          <a:noFill/>
          <a:ln/>
        </p:spPr>
        <p:txBody>
          <a:bodyPr wrap="none" lIns="0" tIns="0" rIns="0" bIns="0" rtlCol="0" anchor="t"/>
          <a:lstStyle/>
          <a:p>
            <a:pPr algn="l" indent="0" marL="0">
              <a:lnSpc>
                <a:spcPct val="104000"/>
              </a:lnSpc>
              <a:buNone/>
            </a:pPr>
            <a:r>
              <a:rPr lang="en-US" sz="1800" dirty="0">
                <a:solidFill>
                  <a:srgbClr val="1B1B27"/>
                </a:solidFill>
                <a:latin typeface="Raleway" pitchFamily="34" charset="0"/>
                <a:ea typeface="Raleway" pitchFamily="34" charset="-122"/>
                <a:cs typeface="Raleway" pitchFamily="34" charset="-120"/>
              </a:rPr>
              <a:t>RAG Debugging Checklist</a:t>
            </a:r>
            <a:endParaRPr lang="en-US" sz="1800" dirty="0"/>
          </a:p>
        </p:txBody>
      </p:sp>
      <p:sp>
        <p:nvSpPr>
          <p:cNvPr id="3" name="Text 1"/>
          <p:cNvSpPr/>
          <p:nvPr/>
        </p:nvSpPr>
        <p:spPr>
          <a:xfrm>
            <a:off x="496119" y="891927"/>
            <a:ext cx="8608963"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When your RAG system gives a wrong answer, work through this checklist stage by stage. The bug is almost always isolated to one step.</a:t>
            </a:r>
            <a:endParaRPr lang="en-US" sz="700" dirty="0"/>
          </a:p>
        </p:txBody>
      </p:sp>
      <p:sp>
        <p:nvSpPr>
          <p:cNvPr id="4" name="Text 2"/>
          <p:cNvSpPr/>
          <p:nvPr/>
        </p:nvSpPr>
        <p:spPr>
          <a:xfrm>
            <a:off x="496119" y="1179016"/>
            <a:ext cx="186035" cy="116235"/>
          </a:xfrm>
          <a:prstGeom prst="rect">
            <a:avLst/>
          </a:prstGeom>
          <a:noFill/>
          <a:ln/>
        </p:spPr>
        <p:txBody>
          <a:bodyPr wrap="none" lIns="0" tIns="0" rIns="0" bIns="0" rtlCol="0" anchor="ctr"/>
          <a:lstStyle/>
          <a:p>
            <a:pPr algn="l" indent="0" marL="0">
              <a:lnSpc>
                <a:spcPct val="100000"/>
              </a:lnSpc>
              <a:buNone/>
            </a:pPr>
            <a:r>
              <a:rPr lang="en-US" sz="700" dirty="0">
                <a:solidFill>
                  <a:srgbClr val="3C3939"/>
                </a:solidFill>
                <a:latin typeface="Raleway Light" pitchFamily="34" charset="0"/>
                <a:ea typeface="Raleway Light" pitchFamily="34" charset="-122"/>
                <a:cs typeface="Raleway Light" pitchFamily="34" charset="-120"/>
              </a:rPr>
              <a:t>01</a:t>
            </a:r>
            <a:endParaRPr lang="en-US" sz="700" dirty="0"/>
          </a:p>
        </p:txBody>
      </p:sp>
      <p:sp>
        <p:nvSpPr>
          <p:cNvPr id="5" name="Shape 3"/>
          <p:cNvSpPr/>
          <p:nvPr/>
        </p:nvSpPr>
        <p:spPr>
          <a:xfrm>
            <a:off x="496119" y="1327547"/>
            <a:ext cx="3962400" cy="9525"/>
          </a:xfrm>
          <a:prstGeom prst="rect">
            <a:avLst/>
          </a:prstGeom>
          <a:solidFill>
            <a:srgbClr val="1B1B27"/>
          </a:solidFill>
          <a:ln/>
        </p:spPr>
      </p:sp>
      <p:sp>
        <p:nvSpPr>
          <p:cNvPr id="6" name="Text 4"/>
          <p:cNvSpPr/>
          <p:nvPr/>
        </p:nvSpPr>
        <p:spPr>
          <a:xfrm>
            <a:off x="496119" y="1393106"/>
            <a:ext cx="1162869" cy="145331"/>
          </a:xfrm>
          <a:prstGeom prst="rect">
            <a:avLst/>
          </a:prstGeom>
          <a:noFill/>
          <a:ln/>
        </p:spPr>
        <p:txBody>
          <a:bodyPr wrap="none" lIns="0" tIns="0" rIns="0" bIns="0" rtlCol="0" anchor="t"/>
          <a:lstStyle/>
          <a:p>
            <a:pPr algn="l" indent="0" marL="0">
              <a:lnSpc>
                <a:spcPct val="104000"/>
              </a:lnSpc>
              <a:buNone/>
            </a:pPr>
            <a:r>
              <a:rPr lang="en-US" sz="900" dirty="0">
                <a:solidFill>
                  <a:srgbClr val="3C3939"/>
                </a:solidFill>
                <a:latin typeface="Raleway" pitchFamily="34" charset="0"/>
                <a:ea typeface="Raleway" pitchFamily="34" charset="-122"/>
                <a:cs typeface="Raleway" pitchFamily="34" charset="-120"/>
              </a:rPr>
              <a:t>Check extracted text</a:t>
            </a:r>
            <a:endParaRPr lang="en-US" sz="900" dirty="0"/>
          </a:p>
        </p:txBody>
      </p:sp>
      <p:sp>
        <p:nvSpPr>
          <p:cNvPr id="7" name="Text 5"/>
          <p:cNvSpPr/>
          <p:nvPr/>
        </p:nvSpPr>
        <p:spPr>
          <a:xfrm>
            <a:off x="496119" y="1608162"/>
            <a:ext cx="3962400"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Is the answer actually in the raw extracted text? Print and confirm.</a:t>
            </a:r>
            <a:endParaRPr lang="en-US" sz="700" dirty="0"/>
          </a:p>
        </p:txBody>
      </p:sp>
      <p:sp>
        <p:nvSpPr>
          <p:cNvPr id="8" name="Text 6"/>
          <p:cNvSpPr/>
          <p:nvPr/>
        </p:nvSpPr>
        <p:spPr>
          <a:xfrm>
            <a:off x="496119" y="1877839"/>
            <a:ext cx="186035" cy="116235"/>
          </a:xfrm>
          <a:prstGeom prst="rect">
            <a:avLst/>
          </a:prstGeom>
          <a:noFill/>
          <a:ln/>
        </p:spPr>
        <p:txBody>
          <a:bodyPr wrap="none" lIns="0" tIns="0" rIns="0" bIns="0" rtlCol="0" anchor="ctr"/>
          <a:lstStyle/>
          <a:p>
            <a:pPr algn="l" indent="0" marL="0">
              <a:lnSpc>
                <a:spcPct val="100000"/>
              </a:lnSpc>
              <a:buNone/>
            </a:pPr>
            <a:r>
              <a:rPr lang="en-US" sz="700" dirty="0">
                <a:solidFill>
                  <a:srgbClr val="3C3939"/>
                </a:solidFill>
                <a:latin typeface="Raleway Light" pitchFamily="34" charset="0"/>
                <a:ea typeface="Raleway Light" pitchFamily="34" charset="-122"/>
                <a:cs typeface="Raleway Light" pitchFamily="34" charset="-120"/>
              </a:rPr>
              <a:t>02</a:t>
            </a:r>
            <a:endParaRPr lang="en-US" sz="700" dirty="0"/>
          </a:p>
        </p:txBody>
      </p:sp>
      <p:sp>
        <p:nvSpPr>
          <p:cNvPr id="9" name="Shape 7"/>
          <p:cNvSpPr/>
          <p:nvPr/>
        </p:nvSpPr>
        <p:spPr>
          <a:xfrm>
            <a:off x="496119" y="2026369"/>
            <a:ext cx="3962400" cy="9525"/>
          </a:xfrm>
          <a:prstGeom prst="rect">
            <a:avLst/>
          </a:prstGeom>
          <a:solidFill>
            <a:srgbClr val="1B1B27"/>
          </a:solidFill>
          <a:ln/>
        </p:spPr>
      </p:sp>
      <p:sp>
        <p:nvSpPr>
          <p:cNvPr id="10" name="Text 8"/>
          <p:cNvSpPr/>
          <p:nvPr/>
        </p:nvSpPr>
        <p:spPr>
          <a:xfrm>
            <a:off x="496119" y="2091928"/>
            <a:ext cx="1162869" cy="145331"/>
          </a:xfrm>
          <a:prstGeom prst="rect">
            <a:avLst/>
          </a:prstGeom>
          <a:noFill/>
          <a:ln/>
        </p:spPr>
        <p:txBody>
          <a:bodyPr wrap="none" lIns="0" tIns="0" rIns="0" bIns="0" rtlCol="0" anchor="t"/>
          <a:lstStyle/>
          <a:p>
            <a:pPr algn="l" indent="0" marL="0">
              <a:lnSpc>
                <a:spcPct val="104000"/>
              </a:lnSpc>
              <a:buNone/>
            </a:pPr>
            <a:r>
              <a:rPr lang="en-US" sz="900" dirty="0">
                <a:solidFill>
                  <a:srgbClr val="3C3939"/>
                </a:solidFill>
                <a:latin typeface="Raleway" pitchFamily="34" charset="0"/>
                <a:ea typeface="Raleway" pitchFamily="34" charset="-122"/>
                <a:cs typeface="Raleway" pitchFamily="34" charset="-120"/>
              </a:rPr>
              <a:t>Check chunks</a:t>
            </a:r>
            <a:endParaRPr lang="en-US" sz="900" dirty="0"/>
          </a:p>
        </p:txBody>
      </p:sp>
      <p:sp>
        <p:nvSpPr>
          <p:cNvPr id="11" name="Text 9"/>
          <p:cNvSpPr/>
          <p:nvPr/>
        </p:nvSpPr>
        <p:spPr>
          <a:xfrm>
            <a:off x="496119" y="2306985"/>
            <a:ext cx="3962400"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Does any single chunk contain the complete answer? Check chunk boundaries.</a:t>
            </a:r>
            <a:endParaRPr lang="en-US" sz="700" dirty="0"/>
          </a:p>
        </p:txBody>
      </p:sp>
      <p:sp>
        <p:nvSpPr>
          <p:cNvPr id="12" name="Text 10"/>
          <p:cNvSpPr/>
          <p:nvPr/>
        </p:nvSpPr>
        <p:spPr>
          <a:xfrm>
            <a:off x="496119" y="2576661"/>
            <a:ext cx="186035" cy="116235"/>
          </a:xfrm>
          <a:prstGeom prst="rect">
            <a:avLst/>
          </a:prstGeom>
          <a:noFill/>
          <a:ln/>
        </p:spPr>
        <p:txBody>
          <a:bodyPr wrap="none" lIns="0" tIns="0" rIns="0" bIns="0" rtlCol="0" anchor="ctr"/>
          <a:lstStyle/>
          <a:p>
            <a:pPr algn="l" indent="0" marL="0">
              <a:lnSpc>
                <a:spcPct val="100000"/>
              </a:lnSpc>
              <a:buNone/>
            </a:pPr>
            <a:r>
              <a:rPr lang="en-US" sz="700" dirty="0">
                <a:solidFill>
                  <a:srgbClr val="3C3939"/>
                </a:solidFill>
                <a:latin typeface="Raleway Light" pitchFamily="34" charset="0"/>
                <a:ea typeface="Raleway Light" pitchFamily="34" charset="-122"/>
                <a:cs typeface="Raleway Light" pitchFamily="34" charset="-120"/>
              </a:rPr>
              <a:t>03</a:t>
            </a:r>
            <a:endParaRPr lang="en-US" sz="700" dirty="0"/>
          </a:p>
        </p:txBody>
      </p:sp>
      <p:sp>
        <p:nvSpPr>
          <p:cNvPr id="13" name="Shape 11"/>
          <p:cNvSpPr/>
          <p:nvPr/>
        </p:nvSpPr>
        <p:spPr>
          <a:xfrm>
            <a:off x="496119" y="2725192"/>
            <a:ext cx="3962400" cy="9525"/>
          </a:xfrm>
          <a:prstGeom prst="rect">
            <a:avLst/>
          </a:prstGeom>
          <a:solidFill>
            <a:srgbClr val="1B1B27"/>
          </a:solidFill>
          <a:ln/>
        </p:spPr>
      </p:sp>
      <p:sp>
        <p:nvSpPr>
          <p:cNvPr id="14" name="Text 12"/>
          <p:cNvSpPr/>
          <p:nvPr/>
        </p:nvSpPr>
        <p:spPr>
          <a:xfrm>
            <a:off x="496119" y="2790751"/>
            <a:ext cx="1162869" cy="145331"/>
          </a:xfrm>
          <a:prstGeom prst="rect">
            <a:avLst/>
          </a:prstGeom>
          <a:noFill/>
          <a:ln/>
        </p:spPr>
        <p:txBody>
          <a:bodyPr wrap="none" lIns="0" tIns="0" rIns="0" bIns="0" rtlCol="0" anchor="t"/>
          <a:lstStyle/>
          <a:p>
            <a:pPr algn="l" indent="0" marL="0">
              <a:lnSpc>
                <a:spcPct val="104000"/>
              </a:lnSpc>
              <a:buNone/>
            </a:pPr>
            <a:r>
              <a:rPr lang="en-US" sz="900" dirty="0">
                <a:solidFill>
                  <a:srgbClr val="3C3939"/>
                </a:solidFill>
                <a:latin typeface="Raleway" pitchFamily="34" charset="0"/>
                <a:ea typeface="Raleway" pitchFamily="34" charset="-122"/>
                <a:cs typeface="Raleway" pitchFamily="34" charset="-120"/>
              </a:rPr>
              <a:t>Check embeddings</a:t>
            </a:r>
            <a:endParaRPr lang="en-US" sz="900" dirty="0"/>
          </a:p>
        </p:txBody>
      </p:sp>
      <p:sp>
        <p:nvSpPr>
          <p:cNvPr id="15" name="Text 13"/>
          <p:cNvSpPr/>
          <p:nvPr/>
        </p:nvSpPr>
        <p:spPr>
          <a:xfrm>
            <a:off x="496119" y="3005807"/>
            <a:ext cx="3962400"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Are embeddings being created without errors? Check dimensions and values.</a:t>
            </a:r>
            <a:endParaRPr lang="en-US" sz="700" dirty="0"/>
          </a:p>
        </p:txBody>
      </p:sp>
      <p:sp>
        <p:nvSpPr>
          <p:cNvPr id="16" name="Text 14"/>
          <p:cNvSpPr/>
          <p:nvPr/>
        </p:nvSpPr>
        <p:spPr>
          <a:xfrm>
            <a:off x="496119" y="3275484"/>
            <a:ext cx="186035" cy="116235"/>
          </a:xfrm>
          <a:prstGeom prst="rect">
            <a:avLst/>
          </a:prstGeom>
          <a:noFill/>
          <a:ln/>
        </p:spPr>
        <p:txBody>
          <a:bodyPr wrap="none" lIns="0" tIns="0" rIns="0" bIns="0" rtlCol="0" anchor="ctr"/>
          <a:lstStyle/>
          <a:p>
            <a:pPr algn="l" indent="0" marL="0">
              <a:lnSpc>
                <a:spcPct val="100000"/>
              </a:lnSpc>
              <a:buNone/>
            </a:pPr>
            <a:r>
              <a:rPr lang="en-US" sz="700" dirty="0">
                <a:solidFill>
                  <a:srgbClr val="3C3939"/>
                </a:solidFill>
                <a:latin typeface="Raleway Light" pitchFamily="34" charset="0"/>
                <a:ea typeface="Raleway Light" pitchFamily="34" charset="-122"/>
                <a:cs typeface="Raleway Light" pitchFamily="34" charset="-120"/>
              </a:rPr>
              <a:t>04</a:t>
            </a:r>
            <a:endParaRPr lang="en-US" sz="700" dirty="0"/>
          </a:p>
        </p:txBody>
      </p:sp>
      <p:sp>
        <p:nvSpPr>
          <p:cNvPr id="17" name="Shape 15"/>
          <p:cNvSpPr/>
          <p:nvPr/>
        </p:nvSpPr>
        <p:spPr>
          <a:xfrm>
            <a:off x="496119" y="3424014"/>
            <a:ext cx="3962400" cy="9525"/>
          </a:xfrm>
          <a:prstGeom prst="rect">
            <a:avLst/>
          </a:prstGeom>
          <a:solidFill>
            <a:srgbClr val="1B1B27"/>
          </a:solidFill>
          <a:ln/>
        </p:spPr>
      </p:sp>
      <p:sp>
        <p:nvSpPr>
          <p:cNvPr id="18" name="Text 16"/>
          <p:cNvSpPr/>
          <p:nvPr/>
        </p:nvSpPr>
        <p:spPr>
          <a:xfrm>
            <a:off x="496119" y="3489573"/>
            <a:ext cx="1162869" cy="145331"/>
          </a:xfrm>
          <a:prstGeom prst="rect">
            <a:avLst/>
          </a:prstGeom>
          <a:noFill/>
          <a:ln/>
        </p:spPr>
        <p:txBody>
          <a:bodyPr wrap="none" lIns="0" tIns="0" rIns="0" bIns="0" rtlCol="0" anchor="t"/>
          <a:lstStyle/>
          <a:p>
            <a:pPr algn="l" indent="0" marL="0">
              <a:lnSpc>
                <a:spcPct val="104000"/>
              </a:lnSpc>
              <a:buNone/>
            </a:pPr>
            <a:r>
              <a:rPr lang="en-US" sz="900" dirty="0">
                <a:solidFill>
                  <a:srgbClr val="3C3939"/>
                </a:solidFill>
                <a:latin typeface="Raleway" pitchFamily="34" charset="0"/>
                <a:ea typeface="Raleway" pitchFamily="34" charset="-122"/>
                <a:cs typeface="Raleway" pitchFamily="34" charset="-120"/>
              </a:rPr>
              <a:t>Check retrieval</a:t>
            </a:r>
            <a:endParaRPr lang="en-US" sz="900" dirty="0"/>
          </a:p>
        </p:txBody>
      </p:sp>
      <p:sp>
        <p:nvSpPr>
          <p:cNvPr id="19" name="Text 17"/>
          <p:cNvSpPr/>
          <p:nvPr/>
        </p:nvSpPr>
        <p:spPr>
          <a:xfrm>
            <a:off x="496119" y="3704630"/>
            <a:ext cx="3962400"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Is the correct chunk in the top-K results? Print scores and inspect.</a:t>
            </a:r>
            <a:endParaRPr lang="en-US" sz="700" dirty="0"/>
          </a:p>
        </p:txBody>
      </p:sp>
      <p:sp>
        <p:nvSpPr>
          <p:cNvPr id="20" name="Text 18"/>
          <p:cNvSpPr/>
          <p:nvPr/>
        </p:nvSpPr>
        <p:spPr>
          <a:xfrm>
            <a:off x="496119" y="3974306"/>
            <a:ext cx="186035" cy="116235"/>
          </a:xfrm>
          <a:prstGeom prst="rect">
            <a:avLst/>
          </a:prstGeom>
          <a:noFill/>
          <a:ln/>
        </p:spPr>
        <p:txBody>
          <a:bodyPr wrap="none" lIns="0" tIns="0" rIns="0" bIns="0" rtlCol="0" anchor="ctr"/>
          <a:lstStyle/>
          <a:p>
            <a:pPr algn="l" indent="0" marL="0">
              <a:lnSpc>
                <a:spcPct val="100000"/>
              </a:lnSpc>
              <a:buNone/>
            </a:pPr>
            <a:r>
              <a:rPr lang="en-US" sz="700" dirty="0">
                <a:solidFill>
                  <a:srgbClr val="3C3939"/>
                </a:solidFill>
                <a:latin typeface="Raleway Light" pitchFamily="34" charset="0"/>
                <a:ea typeface="Raleway Light" pitchFamily="34" charset="-122"/>
                <a:cs typeface="Raleway Light" pitchFamily="34" charset="-120"/>
              </a:rPr>
              <a:t>05</a:t>
            </a:r>
            <a:endParaRPr lang="en-US" sz="700" dirty="0"/>
          </a:p>
        </p:txBody>
      </p:sp>
      <p:sp>
        <p:nvSpPr>
          <p:cNvPr id="21" name="Shape 19"/>
          <p:cNvSpPr/>
          <p:nvPr/>
        </p:nvSpPr>
        <p:spPr>
          <a:xfrm>
            <a:off x="496119" y="4122837"/>
            <a:ext cx="3962400" cy="9525"/>
          </a:xfrm>
          <a:prstGeom prst="rect">
            <a:avLst/>
          </a:prstGeom>
          <a:solidFill>
            <a:srgbClr val="1B1B27"/>
          </a:solidFill>
          <a:ln/>
        </p:spPr>
      </p:sp>
      <p:sp>
        <p:nvSpPr>
          <p:cNvPr id="22" name="Text 20"/>
          <p:cNvSpPr/>
          <p:nvPr/>
        </p:nvSpPr>
        <p:spPr>
          <a:xfrm>
            <a:off x="496119" y="4188396"/>
            <a:ext cx="1291530" cy="145331"/>
          </a:xfrm>
          <a:prstGeom prst="rect">
            <a:avLst/>
          </a:prstGeom>
          <a:noFill/>
          <a:ln/>
        </p:spPr>
        <p:txBody>
          <a:bodyPr wrap="none" lIns="0" tIns="0" rIns="0" bIns="0" rtlCol="0" anchor="t"/>
          <a:lstStyle/>
          <a:p>
            <a:pPr algn="l" indent="0" marL="0">
              <a:lnSpc>
                <a:spcPct val="104000"/>
              </a:lnSpc>
              <a:buNone/>
            </a:pPr>
            <a:r>
              <a:rPr lang="en-US" sz="900" dirty="0">
                <a:solidFill>
                  <a:srgbClr val="3C3939"/>
                </a:solidFill>
                <a:latin typeface="Raleway" pitchFamily="34" charset="0"/>
                <a:ea typeface="Raleway" pitchFamily="34" charset="-122"/>
                <a:cs typeface="Raleway" pitchFamily="34" charset="-120"/>
              </a:rPr>
              <a:t>Check prompt &amp; answer</a:t>
            </a:r>
            <a:endParaRPr lang="en-US" sz="900" dirty="0"/>
          </a:p>
        </p:txBody>
      </p:sp>
      <p:sp>
        <p:nvSpPr>
          <p:cNvPr id="23" name="Text 21"/>
          <p:cNvSpPr/>
          <p:nvPr/>
        </p:nvSpPr>
        <p:spPr>
          <a:xfrm>
            <a:off x="496119" y="4403452"/>
            <a:ext cx="3962400" cy="130225"/>
          </a:xfrm>
          <a:prstGeom prst="rect">
            <a:avLst/>
          </a:prstGeom>
          <a:noFill/>
          <a:ln/>
        </p:spPr>
        <p:txBody>
          <a:bodyPr wrap="none" lIns="0" tIns="0" rIns="0" bIns="0" rtlCol="0" anchor="t"/>
          <a:lstStyle/>
          <a:p>
            <a:pPr algn="l" indent="0" marL="0">
              <a:lnSpc>
                <a:spcPct val="117000"/>
              </a:lnSpc>
              <a:buNone/>
            </a:pPr>
            <a:r>
              <a:rPr lang="en-US" sz="700" dirty="0">
                <a:solidFill>
                  <a:srgbClr val="3C3939"/>
                </a:solidFill>
                <a:latin typeface="Roboto" pitchFamily="34" charset="0"/>
                <a:ea typeface="Roboto" pitchFamily="34" charset="-122"/>
                <a:cs typeface="Roboto" pitchFamily="34" charset="-120"/>
              </a:rPr>
              <a:t>Is the context being passed correctly? Is the system prompt constraining hallucination?</a:t>
            </a:r>
            <a:endParaRPr lang="en-US" sz="700" dirty="0"/>
          </a:p>
        </p:txBody>
      </p:sp>
      <p:sp>
        <p:nvSpPr>
          <p:cNvPr id="24" name="Shape 22"/>
          <p:cNvSpPr/>
          <p:nvPr/>
        </p:nvSpPr>
        <p:spPr>
          <a:xfrm>
            <a:off x="4690244" y="1179016"/>
            <a:ext cx="3962400" cy="1243980"/>
          </a:xfrm>
          <a:prstGeom prst="roundRect">
            <a:avLst>
              <a:gd name="adj" fmla="val 3141"/>
            </a:avLst>
          </a:prstGeom>
          <a:solidFill>
            <a:srgbClr val="D2D2E0"/>
          </a:solidFill>
          <a:ln/>
        </p:spPr>
      </p:sp>
      <p:pic>
        <p:nvPicPr>
          <p:cNvPr id="25" name="Image 0" descr="preencoded.png">    </p:cNvPr>
          <p:cNvPicPr>
            <a:picLocks noChangeAspect="1"/>
          </p:cNvPicPr>
          <p:nvPr/>
        </p:nvPicPr>
        <p:blipFill>
          <a:blip r:embed="rId1"/>
          <a:stretch>
            <a:fillRect/>
          </a:stretch>
        </p:blipFill>
        <p:spPr>
          <a:xfrm>
            <a:off x="4783262" y="1309092"/>
            <a:ext cx="116235" cy="93018"/>
          </a:xfrm>
          <a:prstGeom prst="rect">
            <a:avLst/>
          </a:prstGeom>
        </p:spPr>
      </p:pic>
      <p:sp>
        <p:nvSpPr>
          <p:cNvPr id="26" name="Text 23"/>
          <p:cNvSpPr/>
          <p:nvPr/>
        </p:nvSpPr>
        <p:spPr>
          <a:xfrm>
            <a:off x="4992514" y="1271960"/>
            <a:ext cx="3567112" cy="1041797"/>
          </a:xfrm>
          <a:prstGeom prst="rect">
            <a:avLst/>
          </a:prstGeom>
          <a:noFill/>
          <a:ln/>
        </p:spPr>
        <p:txBody>
          <a:bodyPr wrap="square" lIns="0" tIns="0" rIns="0" bIns="0" rtlCol="0" anchor="t">
            <a:normAutofit/>
          </a:bodyPr>
          <a:lstStyle/>
          <a:p>
            <a:pPr algn="l" indent="0" marL="0">
              <a:lnSpc>
                <a:spcPct val="117000"/>
              </a:lnSpc>
              <a:buNone/>
            </a:pPr>
            <a:r>
              <a:rPr lang="en-US" sz="700" b="1" dirty="0">
                <a:solidFill>
                  <a:srgbClr val="000000"/>
                </a:solidFill>
                <a:latin typeface="Roboto" pitchFamily="34" charset="0"/>
                <a:ea typeface="Roboto" pitchFamily="34" charset="-122"/>
                <a:cs typeface="Roboto" pitchFamily="34" charset="-120"/>
              </a:rPr>
              <a:t>What We Intentionally Skipped</a:t>
            </a:r>
            <a:endParaRPr lang="en-US" sz="700" dirty="0"/>
          </a:p>
          <a:p>
            <a:pPr algn="l" indent="0" marL="0">
              <a:lnSpc>
                <a:spcPct val="117000"/>
              </a:lnSpc>
              <a:buNone/>
            </a:pPr>
            <a:r>
              <a:rPr lang="en-US" sz="700" dirty="0">
                <a:solidFill>
                  <a:srgbClr val="000000"/>
                </a:solidFill>
                <a:latin typeface="Roboto" pitchFamily="34" charset="0"/>
                <a:ea typeface="Roboto" pitchFamily="34" charset="-122"/>
                <a:cs typeface="Roboto" pitchFamily="34" charset="-120"/>
              </a:rPr>
              <a:t>This module focused on the core concepts. These tools are wrappers around the same ideas:</a:t>
            </a:r>
            <a:endParaRPr lang="en-US" sz="700" dirty="0"/>
          </a:p>
          <a:p>
            <a:pPr algn="l" indent="0" marL="0">
              <a:lnSpc>
                <a:spcPct val="117000"/>
              </a:lnSpc>
              <a:buNone/>
            </a:pPr>
            <a:r>
              <a:rPr lang="en-US" sz="700" dirty="0">
                <a:solidFill>
                  <a:srgbClr val="000000"/>
                </a:solidFill>
                <a:latin typeface="Roboto" pitchFamily="34" charset="0"/>
                <a:ea typeface="Roboto" pitchFamily="34" charset="-122"/>
                <a:cs typeface="Roboto" pitchFamily="34" charset="-120"/>
              </a:rPr>
              <a:t>• Vector Stores: FAISS, Chroma, Pinecone</a:t>
            </a:r>
            <a:endParaRPr lang="en-US" sz="700" dirty="0"/>
          </a:p>
          <a:p>
            <a:pPr algn="l" indent="0" marL="0">
              <a:lnSpc>
                <a:spcPct val="117000"/>
              </a:lnSpc>
              <a:buNone/>
            </a:pPr>
            <a:r>
              <a:rPr lang="en-US" sz="700" dirty="0">
                <a:solidFill>
                  <a:srgbClr val="000000"/>
                </a:solidFill>
                <a:latin typeface="Roboto" pitchFamily="34" charset="0"/>
                <a:ea typeface="Roboto" pitchFamily="34" charset="-122"/>
                <a:cs typeface="Roboto" pitchFamily="34" charset="-120"/>
              </a:rPr>
              <a:t>• Semantic Chunking</a:t>
            </a:r>
            <a:endParaRPr lang="en-US" sz="700" dirty="0"/>
          </a:p>
          <a:p>
            <a:pPr algn="l" indent="0" marL="0">
              <a:lnSpc>
                <a:spcPct val="117000"/>
              </a:lnSpc>
              <a:buNone/>
            </a:pPr>
            <a:r>
              <a:rPr lang="en-US" sz="700" dirty="0">
                <a:solidFill>
                  <a:srgbClr val="000000"/>
                </a:solidFill>
                <a:latin typeface="Roboto" pitchFamily="34" charset="0"/>
                <a:ea typeface="Roboto" pitchFamily="34" charset="-122"/>
                <a:cs typeface="Roboto" pitchFamily="34" charset="-120"/>
              </a:rPr>
              <a:t>• Re-ranking</a:t>
            </a:r>
            <a:endParaRPr lang="en-US" sz="700" dirty="0"/>
          </a:p>
          <a:p>
            <a:pPr algn="l" indent="0" marL="0">
              <a:lnSpc>
                <a:spcPct val="117000"/>
              </a:lnSpc>
              <a:buNone/>
            </a:pPr>
            <a:r>
              <a:rPr lang="en-US" sz="700" dirty="0">
                <a:solidFill>
                  <a:srgbClr val="000000"/>
                </a:solidFill>
                <a:latin typeface="Roboto" pitchFamily="34" charset="0"/>
                <a:ea typeface="Roboto" pitchFamily="34" charset="-122"/>
                <a:cs typeface="Roboto" pitchFamily="34" charset="-120"/>
              </a:rPr>
              <a:t>• Hybrid Search</a:t>
            </a:r>
            <a:endParaRPr lang="en-US" sz="700" dirty="0"/>
          </a:p>
          <a:p>
            <a:pPr algn="l" indent="0" marL="0">
              <a:lnSpc>
                <a:spcPct val="117000"/>
              </a:lnSpc>
              <a:buNone/>
            </a:pPr>
            <a:r>
              <a:rPr lang="en-US" sz="700" b="1" dirty="0">
                <a:solidFill>
                  <a:srgbClr val="000000"/>
                </a:solidFill>
                <a:latin typeface="Roboto" pitchFamily="34" charset="0"/>
                <a:ea typeface="Roboto" pitchFamily="34" charset="-122"/>
                <a:cs typeface="Roboto" pitchFamily="34" charset="-120"/>
              </a:rPr>
              <a:t>Understand retrieval first. Tools can come later.</a:t>
            </a:r>
            <a:endParaRPr lang="en-US" sz="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96119" y="491505"/>
            <a:ext cx="887909" cy="233214"/>
          </a:xfrm>
          <a:prstGeom prst="roundRect">
            <a:avLst>
              <a:gd name="adj" fmla="val 17872"/>
            </a:avLst>
          </a:prstGeom>
          <a:solidFill>
            <a:srgbClr val="E1E1EA"/>
          </a:solidFill>
          <a:ln/>
        </p:spPr>
      </p:sp>
      <p:sp>
        <p:nvSpPr>
          <p:cNvPr id="3" name="Text 1"/>
          <p:cNvSpPr/>
          <p:nvPr/>
        </p:nvSpPr>
        <p:spPr>
          <a:xfrm>
            <a:off x="570533" y="528712"/>
            <a:ext cx="1196280" cy="158800"/>
          </a:xfrm>
          <a:prstGeom prst="rect">
            <a:avLst/>
          </a:prstGeom>
          <a:noFill/>
          <a:ln/>
        </p:spPr>
        <p:txBody>
          <a:bodyPr wrap="none" lIns="0" tIns="0" rIns="0" bIns="0" rtlCol="0" anchor="t"/>
          <a:lstStyle/>
          <a:p>
            <a:pPr algn="l" indent="0" marL="0">
              <a:lnSpc>
                <a:spcPct val="133000"/>
              </a:lnSpc>
              <a:buNone/>
            </a:pPr>
            <a:r>
              <a:rPr lang="en-US" sz="750" dirty="0">
                <a:solidFill>
                  <a:srgbClr val="3C3939"/>
                </a:solidFill>
                <a:latin typeface="Roboto" pitchFamily="34" charset="0"/>
                <a:ea typeface="Roboto" pitchFamily="34" charset="-122"/>
                <a:cs typeface="Roboto" pitchFamily="34" charset="-120"/>
              </a:rPr>
              <a:t>FINAL EXERCISE</a:t>
            </a:r>
            <a:endParaRPr lang="en-US" sz="750" dirty="0"/>
          </a:p>
        </p:txBody>
      </p:sp>
      <p:sp>
        <p:nvSpPr>
          <p:cNvPr id="4" name="Text 2"/>
          <p:cNvSpPr/>
          <p:nvPr/>
        </p:nvSpPr>
        <p:spPr>
          <a:xfrm>
            <a:off x="496119" y="774278"/>
            <a:ext cx="5424488"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Build the Employee Policy Chatbot</a:t>
            </a:r>
            <a:endParaRPr lang="en-US" sz="2400" dirty="0"/>
          </a:p>
        </p:txBody>
      </p:sp>
      <p:sp>
        <p:nvSpPr>
          <p:cNvPr id="5" name="Text 3"/>
          <p:cNvSpPr/>
          <p:nvPr/>
        </p:nvSpPr>
        <p:spPr>
          <a:xfrm>
            <a:off x="496119" y="1347862"/>
            <a:ext cx="8151763"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Your final exercise is to combine everything from this module into a working interactive chatbot that answers questions from </a:t>
            </a:r>
            <a:pPr algn="l" indent="0" marL="0">
              <a:lnSpc>
                <a:spcPct val="13300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employee_policy_handbook.pdf</a:t>
            </a:r>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a:t>
            </a:r>
            <a:endParaRPr lang="en-US" sz="950" dirty="0"/>
          </a:p>
        </p:txBody>
      </p:sp>
      <p:sp>
        <p:nvSpPr>
          <p:cNvPr id="6" name="Shape 4"/>
          <p:cNvSpPr/>
          <p:nvPr/>
        </p:nvSpPr>
        <p:spPr>
          <a:xfrm>
            <a:off x="496119" y="1889075"/>
            <a:ext cx="2634555" cy="1418704"/>
          </a:xfrm>
          <a:prstGeom prst="roundRect">
            <a:avLst>
              <a:gd name="adj" fmla="val 3672"/>
            </a:avLst>
          </a:prstGeom>
          <a:solidFill>
            <a:srgbClr val="E1E1EA"/>
          </a:solidFill>
          <a:ln w="4763">
            <a:solidFill>
              <a:srgbClr val="C7C7D0"/>
            </a:solidFill>
            <a:prstDash val="solid"/>
          </a:ln>
        </p:spPr>
      </p:sp>
      <p:sp>
        <p:nvSpPr>
          <p:cNvPr id="7" name="Shape 5"/>
          <p:cNvSpPr/>
          <p:nvPr/>
        </p:nvSpPr>
        <p:spPr>
          <a:xfrm>
            <a:off x="624855" y="2017812"/>
            <a:ext cx="372070" cy="372070"/>
          </a:xfrm>
          <a:prstGeom prst="roundRect">
            <a:avLst>
              <a:gd name="adj" fmla="val 15358477"/>
            </a:avLst>
          </a:prstGeom>
          <a:solidFill>
            <a:srgbClr val="1B1B27"/>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120057"/>
            <a:ext cx="167432" cy="167432"/>
          </a:xfrm>
          <a:prstGeom prst="rect">
            <a:avLst/>
          </a:prstGeom>
        </p:spPr>
      </p:pic>
      <p:sp>
        <p:nvSpPr>
          <p:cNvPr id="9" name="Text 6"/>
          <p:cNvSpPr/>
          <p:nvPr/>
        </p:nvSpPr>
        <p:spPr>
          <a:xfrm>
            <a:off x="624855" y="251385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PDF Loader</a:t>
            </a:r>
            <a:endParaRPr lang="en-US" sz="1200" dirty="0"/>
          </a:p>
        </p:txBody>
      </p:sp>
      <p:sp>
        <p:nvSpPr>
          <p:cNvPr id="10" name="Text 7"/>
          <p:cNvSpPr/>
          <p:nvPr/>
        </p:nvSpPr>
        <p:spPr>
          <a:xfrm>
            <a:off x="624855" y="2782119"/>
            <a:ext cx="23770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Extract full text from the handbook using PyPDF</a:t>
            </a:r>
            <a:endParaRPr lang="en-US" sz="950" dirty="0"/>
          </a:p>
        </p:txBody>
      </p:sp>
      <p:sp>
        <p:nvSpPr>
          <p:cNvPr id="11" name="Shape 8"/>
          <p:cNvSpPr/>
          <p:nvPr/>
        </p:nvSpPr>
        <p:spPr>
          <a:xfrm>
            <a:off x="3254648" y="1889075"/>
            <a:ext cx="2634630" cy="1418704"/>
          </a:xfrm>
          <a:prstGeom prst="roundRect">
            <a:avLst>
              <a:gd name="adj" fmla="val 3672"/>
            </a:avLst>
          </a:prstGeom>
          <a:solidFill>
            <a:srgbClr val="E1E1EA"/>
          </a:solidFill>
          <a:ln w="4763">
            <a:solidFill>
              <a:srgbClr val="C7C7D0"/>
            </a:solidFill>
            <a:prstDash val="solid"/>
          </a:ln>
        </p:spPr>
      </p:sp>
      <p:sp>
        <p:nvSpPr>
          <p:cNvPr id="12" name="Shape 9"/>
          <p:cNvSpPr/>
          <p:nvPr/>
        </p:nvSpPr>
        <p:spPr>
          <a:xfrm>
            <a:off x="3383384" y="2017812"/>
            <a:ext cx="372070" cy="372070"/>
          </a:xfrm>
          <a:prstGeom prst="roundRect">
            <a:avLst>
              <a:gd name="adj" fmla="val 15358477"/>
            </a:avLst>
          </a:prstGeom>
          <a:solidFill>
            <a:srgbClr val="1B1B27"/>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5704" y="2120057"/>
            <a:ext cx="167432" cy="167432"/>
          </a:xfrm>
          <a:prstGeom prst="rect">
            <a:avLst/>
          </a:prstGeom>
        </p:spPr>
      </p:pic>
      <p:sp>
        <p:nvSpPr>
          <p:cNvPr id="14" name="Text 10"/>
          <p:cNvSpPr/>
          <p:nvPr/>
        </p:nvSpPr>
        <p:spPr>
          <a:xfrm>
            <a:off x="3383384" y="251385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Chunking</a:t>
            </a:r>
            <a:endParaRPr lang="en-US" sz="1200" dirty="0"/>
          </a:p>
        </p:txBody>
      </p:sp>
      <p:sp>
        <p:nvSpPr>
          <p:cNvPr id="15" name="Text 11"/>
          <p:cNvSpPr/>
          <p:nvPr/>
        </p:nvSpPr>
        <p:spPr>
          <a:xfrm>
            <a:off x="3383384" y="2782119"/>
            <a:ext cx="237715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Split with RecursiveCharacterTextSplitter (300/50)</a:t>
            </a:r>
            <a:endParaRPr lang="en-US" sz="950" dirty="0"/>
          </a:p>
        </p:txBody>
      </p:sp>
      <p:sp>
        <p:nvSpPr>
          <p:cNvPr id="16" name="Shape 12"/>
          <p:cNvSpPr/>
          <p:nvPr/>
        </p:nvSpPr>
        <p:spPr>
          <a:xfrm>
            <a:off x="6013252" y="1889075"/>
            <a:ext cx="2634555" cy="1418704"/>
          </a:xfrm>
          <a:prstGeom prst="roundRect">
            <a:avLst>
              <a:gd name="adj" fmla="val 3672"/>
            </a:avLst>
          </a:prstGeom>
          <a:solidFill>
            <a:srgbClr val="E1E1EA"/>
          </a:solidFill>
          <a:ln w="4763">
            <a:solidFill>
              <a:srgbClr val="C7C7D0"/>
            </a:solidFill>
            <a:prstDash val="solid"/>
          </a:ln>
        </p:spPr>
      </p:sp>
      <p:sp>
        <p:nvSpPr>
          <p:cNvPr id="17" name="Shape 13"/>
          <p:cNvSpPr/>
          <p:nvPr/>
        </p:nvSpPr>
        <p:spPr>
          <a:xfrm>
            <a:off x="6141988" y="2017812"/>
            <a:ext cx="372070" cy="372070"/>
          </a:xfrm>
          <a:prstGeom prst="roundRect">
            <a:avLst>
              <a:gd name="adj" fmla="val 15358477"/>
            </a:avLst>
          </a:prstGeom>
          <a:solidFill>
            <a:srgbClr val="1B1B27"/>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4307" y="2120057"/>
            <a:ext cx="167432" cy="167432"/>
          </a:xfrm>
          <a:prstGeom prst="rect">
            <a:avLst/>
          </a:prstGeom>
        </p:spPr>
      </p:pic>
      <p:sp>
        <p:nvSpPr>
          <p:cNvPr id="19" name="Text 14"/>
          <p:cNvSpPr/>
          <p:nvPr/>
        </p:nvSpPr>
        <p:spPr>
          <a:xfrm>
            <a:off x="6141988" y="2513856"/>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Embeddings</a:t>
            </a:r>
            <a:endParaRPr lang="en-US" sz="1200" dirty="0"/>
          </a:p>
        </p:txBody>
      </p:sp>
      <p:sp>
        <p:nvSpPr>
          <p:cNvPr id="20" name="Text 15"/>
          <p:cNvSpPr/>
          <p:nvPr/>
        </p:nvSpPr>
        <p:spPr>
          <a:xfrm>
            <a:off x="6141988" y="2782119"/>
            <a:ext cx="237708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Embed all chunks with text-embedding-3-small</a:t>
            </a:r>
            <a:endParaRPr lang="en-US" sz="950" dirty="0"/>
          </a:p>
        </p:txBody>
      </p:sp>
      <p:sp>
        <p:nvSpPr>
          <p:cNvPr id="21" name="Shape 16"/>
          <p:cNvSpPr/>
          <p:nvPr/>
        </p:nvSpPr>
        <p:spPr>
          <a:xfrm>
            <a:off x="496119" y="3431753"/>
            <a:ext cx="4013820" cy="1220242"/>
          </a:xfrm>
          <a:prstGeom prst="roundRect">
            <a:avLst>
              <a:gd name="adj" fmla="val 4270"/>
            </a:avLst>
          </a:prstGeom>
          <a:solidFill>
            <a:srgbClr val="E1E1EA"/>
          </a:solidFill>
          <a:ln w="4763">
            <a:solidFill>
              <a:srgbClr val="C7C7D0"/>
            </a:solidFill>
            <a:prstDash val="solid"/>
          </a:ln>
        </p:spPr>
      </p:sp>
      <p:sp>
        <p:nvSpPr>
          <p:cNvPr id="22" name="Shape 17"/>
          <p:cNvSpPr/>
          <p:nvPr/>
        </p:nvSpPr>
        <p:spPr>
          <a:xfrm>
            <a:off x="624855" y="3560490"/>
            <a:ext cx="372070" cy="372070"/>
          </a:xfrm>
          <a:prstGeom prst="roundRect">
            <a:avLst>
              <a:gd name="adj" fmla="val 15358477"/>
            </a:avLst>
          </a:prstGeom>
          <a:solidFill>
            <a:srgbClr val="1B1B27"/>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7174" y="3662735"/>
            <a:ext cx="167432" cy="167432"/>
          </a:xfrm>
          <a:prstGeom prst="rect">
            <a:avLst/>
          </a:prstGeom>
        </p:spPr>
      </p:pic>
      <p:sp>
        <p:nvSpPr>
          <p:cNvPr id="24" name="Text 18"/>
          <p:cNvSpPr/>
          <p:nvPr/>
        </p:nvSpPr>
        <p:spPr>
          <a:xfrm>
            <a:off x="624855" y="405653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Retrieval</a:t>
            </a:r>
            <a:endParaRPr lang="en-US" sz="1200" dirty="0"/>
          </a:p>
        </p:txBody>
      </p:sp>
      <p:sp>
        <p:nvSpPr>
          <p:cNvPr id="25" name="Text 19"/>
          <p:cNvSpPr/>
          <p:nvPr/>
        </p:nvSpPr>
        <p:spPr>
          <a:xfrm>
            <a:off x="624855" y="4324796"/>
            <a:ext cx="3756347"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Embed the question and fetch top-3 by cosine similarity</a:t>
            </a:r>
            <a:endParaRPr lang="en-US" sz="950" dirty="0"/>
          </a:p>
        </p:txBody>
      </p:sp>
      <p:sp>
        <p:nvSpPr>
          <p:cNvPr id="26" name="Shape 20"/>
          <p:cNvSpPr/>
          <p:nvPr/>
        </p:nvSpPr>
        <p:spPr>
          <a:xfrm>
            <a:off x="4633913" y="3431753"/>
            <a:ext cx="4013895" cy="1220242"/>
          </a:xfrm>
          <a:prstGeom prst="roundRect">
            <a:avLst>
              <a:gd name="adj" fmla="val 4270"/>
            </a:avLst>
          </a:prstGeom>
          <a:solidFill>
            <a:srgbClr val="E1E1EA"/>
          </a:solidFill>
          <a:ln w="4763">
            <a:solidFill>
              <a:srgbClr val="C7C7D0"/>
            </a:solidFill>
            <a:prstDash val="solid"/>
          </a:ln>
        </p:spPr>
      </p:sp>
      <p:sp>
        <p:nvSpPr>
          <p:cNvPr id="27" name="Shape 21"/>
          <p:cNvSpPr/>
          <p:nvPr/>
        </p:nvSpPr>
        <p:spPr>
          <a:xfrm>
            <a:off x="4762649" y="3560490"/>
            <a:ext cx="372070" cy="372070"/>
          </a:xfrm>
          <a:prstGeom prst="roundRect">
            <a:avLst>
              <a:gd name="adj" fmla="val 15358477"/>
            </a:avLst>
          </a:prstGeom>
          <a:solidFill>
            <a:srgbClr val="1B1B27"/>
          </a:solidFill>
          <a:ln/>
        </p:spPr>
      </p:sp>
      <p:pic>
        <p:nvPicPr>
          <p:cNvPr id="2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64968" y="3662735"/>
            <a:ext cx="167432" cy="167432"/>
          </a:xfrm>
          <a:prstGeom prst="rect">
            <a:avLst/>
          </a:prstGeom>
        </p:spPr>
      </p:pic>
      <p:sp>
        <p:nvSpPr>
          <p:cNvPr id="29" name="Text 22"/>
          <p:cNvSpPr/>
          <p:nvPr/>
        </p:nvSpPr>
        <p:spPr>
          <a:xfrm>
            <a:off x="4762649" y="4056534"/>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Prompt + Generation</a:t>
            </a:r>
            <a:endParaRPr lang="en-US" sz="1200" dirty="0"/>
          </a:p>
        </p:txBody>
      </p:sp>
      <p:sp>
        <p:nvSpPr>
          <p:cNvPr id="30" name="Text 23"/>
          <p:cNvSpPr/>
          <p:nvPr/>
        </p:nvSpPr>
        <p:spPr>
          <a:xfrm>
            <a:off x="4762649" y="4324796"/>
            <a:ext cx="3756422" cy="198462"/>
          </a:xfrm>
          <a:prstGeom prst="rect">
            <a:avLst/>
          </a:prstGeom>
          <a:noFill/>
          <a:ln/>
        </p:spPr>
        <p:txBody>
          <a:bodyPr wrap="none" lIns="0" tIns="0" rIns="0" bIns="0" rtlCol="0" anchor="t"/>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Build the context string and call GPT-4o-mini in a loop</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92943"/>
            <a:ext cx="3305026" cy="4957539"/>
          </a:xfrm>
          <a:prstGeom prst="rect">
            <a:avLst/>
          </a:prstGeom>
        </p:spPr>
      </p:pic>
      <p:sp>
        <p:nvSpPr>
          <p:cNvPr id="4" name="Text 1"/>
          <p:cNvSpPr/>
          <p:nvPr/>
        </p:nvSpPr>
        <p:spPr>
          <a:xfrm>
            <a:off x="496119" y="497235"/>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Key Takeaways</a:t>
            </a:r>
            <a:endParaRPr lang="en-US" sz="2400" dirty="0"/>
          </a:p>
        </p:txBody>
      </p:sp>
      <p:sp>
        <p:nvSpPr>
          <p:cNvPr id="5" name="Shape 2"/>
          <p:cNvSpPr/>
          <p:nvPr/>
        </p:nvSpPr>
        <p:spPr>
          <a:xfrm>
            <a:off x="496119" y="1070818"/>
            <a:ext cx="279053" cy="279053"/>
          </a:xfrm>
          <a:prstGeom prst="roundRect">
            <a:avLst>
              <a:gd name="adj" fmla="val 18670"/>
            </a:avLst>
          </a:prstGeom>
          <a:solidFill>
            <a:srgbClr val="E1E1EA"/>
          </a:solidFill>
          <a:ln w="4763">
            <a:solidFill>
              <a:srgbClr val="C7C7D0"/>
            </a:solidFill>
            <a:prstDash val="solid"/>
          </a:ln>
        </p:spPr>
      </p:sp>
      <p:sp>
        <p:nvSpPr>
          <p:cNvPr id="6" name="Text 3"/>
          <p:cNvSpPr/>
          <p:nvPr/>
        </p:nvSpPr>
        <p:spPr>
          <a:xfrm>
            <a:off x="899145" y="1113458"/>
            <a:ext cx="2868216"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LLMs need help with private knowledge</a:t>
            </a:r>
            <a:endParaRPr lang="en-US" sz="1200" dirty="0"/>
          </a:p>
        </p:txBody>
      </p:sp>
      <p:sp>
        <p:nvSpPr>
          <p:cNvPr id="7" name="Text 4"/>
          <p:cNvSpPr/>
          <p:nvPr/>
        </p:nvSpPr>
        <p:spPr>
          <a:xfrm>
            <a:off x="899145" y="1381720"/>
            <a:ext cx="431973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RAG is the standard pattern for grounding LLM responses in your own documents.</a:t>
            </a:r>
            <a:endParaRPr lang="en-US" sz="950" dirty="0"/>
          </a:p>
        </p:txBody>
      </p:sp>
      <p:sp>
        <p:nvSpPr>
          <p:cNvPr id="8" name="Shape 5"/>
          <p:cNvSpPr/>
          <p:nvPr/>
        </p:nvSpPr>
        <p:spPr>
          <a:xfrm>
            <a:off x="496119" y="2026667"/>
            <a:ext cx="279053" cy="279053"/>
          </a:xfrm>
          <a:prstGeom prst="roundRect">
            <a:avLst>
              <a:gd name="adj" fmla="val 18670"/>
            </a:avLst>
          </a:prstGeom>
          <a:solidFill>
            <a:srgbClr val="E1E1EA"/>
          </a:solidFill>
          <a:ln w="4763">
            <a:solidFill>
              <a:srgbClr val="C7C7D0"/>
            </a:solidFill>
            <a:prstDash val="solid"/>
          </a:ln>
        </p:spPr>
      </p:sp>
      <p:sp>
        <p:nvSpPr>
          <p:cNvPr id="9" name="Text 6"/>
          <p:cNvSpPr/>
          <p:nvPr/>
        </p:nvSpPr>
        <p:spPr>
          <a:xfrm>
            <a:off x="899145" y="2069306"/>
            <a:ext cx="2654498"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Embeddings enable semantic search</a:t>
            </a:r>
            <a:endParaRPr lang="en-US" sz="1200" dirty="0"/>
          </a:p>
        </p:txBody>
      </p:sp>
      <p:sp>
        <p:nvSpPr>
          <p:cNvPr id="10" name="Text 7"/>
          <p:cNvSpPr/>
          <p:nvPr/>
        </p:nvSpPr>
        <p:spPr>
          <a:xfrm>
            <a:off x="899145" y="2337569"/>
            <a:ext cx="431973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Converting meaning to vectors lets you find relevant content even when the words don't match.</a:t>
            </a:r>
            <a:endParaRPr lang="en-US" sz="950" dirty="0"/>
          </a:p>
        </p:txBody>
      </p:sp>
      <p:sp>
        <p:nvSpPr>
          <p:cNvPr id="11" name="Shape 8"/>
          <p:cNvSpPr/>
          <p:nvPr/>
        </p:nvSpPr>
        <p:spPr>
          <a:xfrm>
            <a:off x="496119" y="2982516"/>
            <a:ext cx="279053" cy="279053"/>
          </a:xfrm>
          <a:prstGeom prst="roundRect">
            <a:avLst>
              <a:gd name="adj" fmla="val 18670"/>
            </a:avLst>
          </a:prstGeom>
          <a:solidFill>
            <a:srgbClr val="E1E1EA"/>
          </a:solidFill>
          <a:ln w="4763">
            <a:solidFill>
              <a:srgbClr val="C7C7D0"/>
            </a:solidFill>
            <a:prstDash val="solid"/>
          </a:ln>
        </p:spPr>
      </p:sp>
      <p:sp>
        <p:nvSpPr>
          <p:cNvPr id="12" name="Text 9"/>
          <p:cNvSpPr/>
          <p:nvPr/>
        </p:nvSpPr>
        <p:spPr>
          <a:xfrm>
            <a:off x="899145" y="3025155"/>
            <a:ext cx="3050679"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Chunking quality is upstream of everything</a:t>
            </a:r>
            <a:endParaRPr lang="en-US" sz="1200" dirty="0"/>
          </a:p>
        </p:txBody>
      </p:sp>
      <p:sp>
        <p:nvSpPr>
          <p:cNvPr id="13" name="Text 10"/>
          <p:cNvSpPr/>
          <p:nvPr/>
        </p:nvSpPr>
        <p:spPr>
          <a:xfrm>
            <a:off x="899145" y="3293418"/>
            <a:ext cx="431973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Bad chunks produce bad embeddings, bad retrieval, and bad answers. Inspect every stage.</a:t>
            </a:r>
            <a:endParaRPr lang="en-US" sz="950" dirty="0"/>
          </a:p>
        </p:txBody>
      </p:sp>
      <p:sp>
        <p:nvSpPr>
          <p:cNvPr id="14" name="Shape 11"/>
          <p:cNvSpPr/>
          <p:nvPr/>
        </p:nvSpPr>
        <p:spPr>
          <a:xfrm>
            <a:off x="496119" y="3938364"/>
            <a:ext cx="279053" cy="279053"/>
          </a:xfrm>
          <a:prstGeom prst="roundRect">
            <a:avLst>
              <a:gd name="adj" fmla="val 18670"/>
            </a:avLst>
          </a:prstGeom>
          <a:solidFill>
            <a:srgbClr val="E1E1EA"/>
          </a:solidFill>
          <a:ln w="4763">
            <a:solidFill>
              <a:srgbClr val="C7C7D0"/>
            </a:solidFill>
            <a:prstDash val="solid"/>
          </a:ln>
        </p:spPr>
      </p:sp>
      <p:sp>
        <p:nvSpPr>
          <p:cNvPr id="15" name="Text 12"/>
          <p:cNvSpPr/>
          <p:nvPr/>
        </p:nvSpPr>
        <p:spPr>
          <a:xfrm>
            <a:off x="899145" y="3981004"/>
            <a:ext cx="2760315" cy="1938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Understand retrieval first, tools second</a:t>
            </a:r>
            <a:endParaRPr lang="en-US" sz="1200" dirty="0"/>
          </a:p>
        </p:txBody>
      </p:sp>
      <p:sp>
        <p:nvSpPr>
          <p:cNvPr id="16" name="Text 13"/>
          <p:cNvSpPr/>
          <p:nvPr/>
        </p:nvSpPr>
        <p:spPr>
          <a:xfrm>
            <a:off x="899145" y="4249266"/>
            <a:ext cx="431973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3C3939"/>
                </a:solidFill>
                <a:latin typeface="Roboto" pitchFamily="34" charset="0"/>
                <a:ea typeface="Roboto" pitchFamily="34" charset="-122"/>
                <a:cs typeface="Roboto" pitchFamily="34" charset="-120"/>
              </a:rPr>
              <a:t>FAISS, Chroma, and Pinecone are optimizations of the same core ideas you built today.</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2026-05-25T14:55:46Z</dcterms:created>
  <dcterms:modified xsi:type="dcterms:W3CDTF">2026-05-25T14:55:46Z</dcterms:modified>
</cp:coreProperties>
</file>