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9144000" cy="5143500"/>
  <p:notesSz cx="5143500" cy="9144000"/>
  <p:embeddedFontLst>
    <p:embeddedFont>
      <p:font typeface="Raleway"/>
      <p:regular r:id="rId67"/>
    </p:embeddedFont>
    <p:embeddedFont>
      <p:font typeface="Raleway"/>
      <p:regular r:id="rId68"/>
    </p:embeddedFont>
    <p:embeddedFont>
      <p:font typeface="Raleway"/>
      <p:regular r:id="rId69"/>
    </p:embeddedFont>
    <p:embeddedFont>
      <p:font typeface="Raleway"/>
      <p:regular r:id="rId70"/>
    </p:embeddedFont>
    <p:embeddedFont>
      <p:font typeface="Roboto"/>
      <p:regular r:id="rId71"/>
    </p:embeddedFont>
    <p:embeddedFont>
      <p:font typeface="Roboto"/>
      <p:regular r:id="rId72"/>
    </p:embeddedFont>
    <p:embeddedFont>
      <p:font typeface="Roboto"/>
      <p:regular r:id="rId73"/>
    </p:embeddedFont>
    <p:embeddedFont>
      <p:font typeface="Roboto"/>
      <p:regular r:id="rId7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 Id="rId67" Type="http://schemas.openxmlformats.org/officeDocument/2006/relationships/font" Target="fonts/font1.fntdata"/><Relationship Id="rId68" Type="http://schemas.openxmlformats.org/officeDocument/2006/relationships/font" Target="fonts/font2.fntdata"/><Relationship Id="rId69" Type="http://schemas.openxmlformats.org/officeDocument/2006/relationships/font" Target="fonts/font3.fntdata"/><Relationship Id="rId70" Type="http://schemas.openxmlformats.org/officeDocument/2006/relationships/font" Target="fonts/font4.fntdata"/><Relationship Id="rId71" Type="http://schemas.openxmlformats.org/officeDocument/2006/relationships/font" Target="fonts/font5.fntdata"/><Relationship Id="rId72" Type="http://schemas.openxmlformats.org/officeDocument/2006/relationships/font" Target="fonts/font6.fntdata"/><Relationship Id="rId73" Type="http://schemas.openxmlformats.org/officeDocument/2006/relationships/font" Target="fonts/font7.fntdata"/><Relationship Id="rId7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ide 3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ide 3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lide 3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lide 3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lide 3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lide 3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lide 3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lide 3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lide 4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lide 4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lide 4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lide 4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lide 4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lide 4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lide 4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lide 4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lide 4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lide 4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lide 5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lide 5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lide 5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lide 5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lide 5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Slide 5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lide 5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Slide 5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lide 5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Slide 5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Slide 6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CECF3"/>
          </a:solidFill>
          <a:ln/>
        </p:spPr>
      </p:sp>
      <p:sp>
        <p:nvSpPr>
          <p:cNvPr id="3" name="Shape 1"/>
          <p:cNvSpPr/>
          <p:nvPr/>
        </p:nvSpPr>
        <p:spPr>
          <a:xfrm>
            <a:off x="0" y="0"/>
            <a:ext cx="9144000" cy="5143500"/>
          </a:xfrm>
          <a:prstGeom prst="rect">
            <a:avLst/>
          </a:prstGeom>
          <a:solidFill>
            <a:srgbClr val="FFFF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9.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4.png"/><Relationship Id="rId5" Type="http://schemas.openxmlformats.org/officeDocument/2006/relationships/image" Target="../media/image-9-5.svg"/><Relationship Id="rId6" Type="http://schemas.openxmlformats.org/officeDocument/2006/relationships/image" Target="../media/image-9-6.png"/><Relationship Id="rId7" Type="http://schemas.openxmlformats.org/officeDocument/2006/relationships/image" Target="../media/image-9-7.svg"/><Relationship Id="rId8" Type="http://schemas.openxmlformats.org/officeDocument/2006/relationships/image" Target="../media/image-9-8.png"/><Relationship Id="rId9" Type="http://schemas.openxmlformats.org/officeDocument/2006/relationships/image" Target="../media/image-9-9.svg"/><Relationship Id="rId10" Type="http://schemas.openxmlformats.org/officeDocument/2006/relationships/image" Target="../media/image-9-10.png"/><Relationship Id="rId11" Type="http://schemas.openxmlformats.org/officeDocument/2006/relationships/image" Target="../media/image-9-11.svg"/><Relationship Id="rId12" Type="http://schemas.openxmlformats.org/officeDocument/2006/relationships/slideLayout" Target="../slideLayouts/slideLayout10.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svg"/><Relationship Id="rId4" Type="http://schemas.openxmlformats.org/officeDocument/2006/relationships/image" Target="../media/image-16-4.png"/><Relationship Id="rId5" Type="http://schemas.openxmlformats.org/officeDocument/2006/relationships/image" Target="../media/image-16-5.svg"/><Relationship Id="rId6" Type="http://schemas.openxmlformats.org/officeDocument/2006/relationships/image" Target="../media/image-16-6.png"/><Relationship Id="rId7" Type="http://schemas.openxmlformats.org/officeDocument/2006/relationships/image" Target="../media/image-16-7.svg"/><Relationship Id="rId8" Type="http://schemas.openxmlformats.org/officeDocument/2006/relationships/image" Target="../media/image-16-8.png"/><Relationship Id="rId9" Type="http://schemas.openxmlformats.org/officeDocument/2006/relationships/slideLayout" Target="../slideLayouts/slideLayout17.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8.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3.png"/><Relationship Id="rId4" Type="http://schemas.openxmlformats.org/officeDocument/2006/relationships/image" Target="../media/image-18-4.svg"/><Relationship Id="rId5" Type="http://schemas.openxmlformats.org/officeDocument/2006/relationships/image" Target="../media/image-18-5.png"/><Relationship Id="rId6" Type="http://schemas.openxmlformats.org/officeDocument/2006/relationships/image" Target="../media/image-18-6.svg"/><Relationship Id="rId7" Type="http://schemas.openxmlformats.org/officeDocument/2006/relationships/slideLayout" Target="../slideLayouts/slideLayout19.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image" Target="../media/image-19-5.png"/><Relationship Id="rId6" Type="http://schemas.openxmlformats.org/officeDocument/2006/relationships/image" Target="../media/image-19-6.svg"/><Relationship Id="rId7" Type="http://schemas.openxmlformats.org/officeDocument/2006/relationships/image" Target="../media/image-19-7.png"/><Relationship Id="rId8" Type="http://schemas.openxmlformats.org/officeDocument/2006/relationships/image" Target="../media/image-19-8.svg"/><Relationship Id="rId9" Type="http://schemas.openxmlformats.org/officeDocument/2006/relationships/slideLayout" Target="../slideLayouts/slideLayout20.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6.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svg"/><Relationship Id="rId4" Type="http://schemas.openxmlformats.org/officeDocument/2006/relationships/image" Target="../media/image-27-4.png"/><Relationship Id="rId5" Type="http://schemas.openxmlformats.org/officeDocument/2006/relationships/image" Target="../media/image-27-5.svg"/><Relationship Id="rId6" Type="http://schemas.openxmlformats.org/officeDocument/2006/relationships/image" Target="../media/image-27-6.png"/><Relationship Id="rId7" Type="http://schemas.openxmlformats.org/officeDocument/2006/relationships/image" Target="../media/image-27-7.svg"/><Relationship Id="rId8" Type="http://schemas.openxmlformats.org/officeDocument/2006/relationships/image" Target="../media/image-27-8.png"/><Relationship Id="rId9" Type="http://schemas.openxmlformats.org/officeDocument/2006/relationships/image" Target="../media/image-27-9.svg"/><Relationship Id="rId10" Type="http://schemas.openxmlformats.org/officeDocument/2006/relationships/slideLayout" Target="../slideLayouts/slideLayout28.xml"/><Relationship Id="rId11"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3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35.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38.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39.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svg"/><Relationship Id="rId3" Type="http://schemas.openxmlformats.org/officeDocument/2006/relationships/image" Target="../media/image-39-3.png"/><Relationship Id="rId4" Type="http://schemas.openxmlformats.org/officeDocument/2006/relationships/image" Target="../media/image-39-4.svg"/><Relationship Id="rId5" Type="http://schemas.openxmlformats.org/officeDocument/2006/relationships/image" Target="../media/image-39-5.png"/><Relationship Id="rId6" Type="http://schemas.openxmlformats.org/officeDocument/2006/relationships/image" Target="../media/image-39-6.svg"/><Relationship Id="rId7" Type="http://schemas.openxmlformats.org/officeDocument/2006/relationships/slideLayout" Target="../slideLayouts/slideLayout40.xml"/><Relationship Id="rId8"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45.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46.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svg"/><Relationship Id="rId3" Type="http://schemas.openxmlformats.org/officeDocument/2006/relationships/image" Target="../media/image-48-3.png"/><Relationship Id="rId4" Type="http://schemas.openxmlformats.org/officeDocument/2006/relationships/image" Target="../media/image-48-4.svg"/><Relationship Id="rId5" Type="http://schemas.openxmlformats.org/officeDocument/2006/relationships/image" Target="../media/image-48-5.png"/><Relationship Id="rId6" Type="http://schemas.openxmlformats.org/officeDocument/2006/relationships/image" Target="../media/image-48-6.svg"/><Relationship Id="rId7" Type="http://schemas.openxmlformats.org/officeDocument/2006/relationships/slideLayout" Target="../slideLayouts/slideLayout49.xml"/><Relationship Id="rId8"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54.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55.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57.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svg"/><Relationship Id="rId4" Type="http://schemas.openxmlformats.org/officeDocument/2006/relationships/image" Target="../media/image-60-4.png"/><Relationship Id="rId5" Type="http://schemas.openxmlformats.org/officeDocument/2006/relationships/image" Target="../media/image-60-5.svg"/><Relationship Id="rId6" Type="http://schemas.openxmlformats.org/officeDocument/2006/relationships/image" Target="../media/image-60-6.png"/><Relationship Id="rId7" Type="http://schemas.openxmlformats.org/officeDocument/2006/relationships/image" Target="../media/image-60-7.svg"/><Relationship Id="rId8" Type="http://schemas.openxmlformats.org/officeDocument/2006/relationships/image" Target="../media/image-60-8.png"/><Relationship Id="rId9" Type="http://schemas.openxmlformats.org/officeDocument/2006/relationships/image" Target="../media/image-60-9.svg"/><Relationship Id="rId10" Type="http://schemas.openxmlformats.org/officeDocument/2006/relationships/slideLayout" Target="../slideLayouts/slideLayout61.xml"/><Relationship Id="rId11"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61987" y="368424"/>
            <a:ext cx="3304952" cy="4406652"/>
          </a:xfrm>
          <a:prstGeom prst="rect">
            <a:avLst/>
          </a:prstGeom>
        </p:spPr>
      </p:pic>
      <p:sp>
        <p:nvSpPr>
          <p:cNvPr id="4" name="Text 1"/>
          <p:cNvSpPr/>
          <p:nvPr/>
        </p:nvSpPr>
        <p:spPr>
          <a:xfrm>
            <a:off x="3925119" y="1994595"/>
            <a:ext cx="4659660"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Backend Development with APIs</a:t>
            </a:r>
            <a:endParaRPr lang="en-US" sz="2400" dirty="0"/>
          </a:p>
        </p:txBody>
      </p:sp>
      <p:sp>
        <p:nvSpPr>
          <p:cNvPr id="5" name="Text 2"/>
          <p:cNvSpPr/>
          <p:nvPr/>
        </p:nvSpPr>
        <p:spPr>
          <a:xfrm>
            <a:off x="3925119" y="2568178"/>
            <a:ext cx="4722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Building Real Backend Systems Using FastAPI</a:t>
            </a:r>
            <a:endParaRPr lang="en-US" sz="950" dirty="0"/>
          </a:p>
        </p:txBody>
      </p:sp>
      <p:sp>
        <p:nvSpPr>
          <p:cNvPr id="6" name="Shape 3"/>
          <p:cNvSpPr/>
          <p:nvPr/>
        </p:nvSpPr>
        <p:spPr>
          <a:xfrm>
            <a:off x="3925119" y="2910929"/>
            <a:ext cx="623292" cy="233214"/>
          </a:xfrm>
          <a:prstGeom prst="roundRect">
            <a:avLst>
              <a:gd name="adj" fmla="val 17872"/>
            </a:avLst>
          </a:prstGeom>
          <a:solidFill>
            <a:srgbClr val="E1E1EA"/>
          </a:solidFill>
          <a:ln/>
        </p:spPr>
      </p:sp>
      <p:sp>
        <p:nvSpPr>
          <p:cNvPr id="7" name="Text 4"/>
          <p:cNvSpPr/>
          <p:nvPr/>
        </p:nvSpPr>
        <p:spPr>
          <a:xfrm>
            <a:off x="3999533" y="2948136"/>
            <a:ext cx="474464"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MODULE 3</a:t>
            </a:r>
            <a:endParaRPr lang="en-US" sz="750" dirty="0"/>
          </a:p>
        </p:txBody>
      </p:sp>
      <p:sp>
        <p:nvSpPr>
          <p:cNvPr id="8" name="Shape 5"/>
          <p:cNvSpPr/>
          <p:nvPr/>
        </p:nvSpPr>
        <p:spPr>
          <a:xfrm>
            <a:off x="4610398" y="2906167"/>
            <a:ext cx="1781845" cy="242739"/>
          </a:xfrm>
          <a:prstGeom prst="roundRect">
            <a:avLst>
              <a:gd name="adj" fmla="val 17171"/>
            </a:avLst>
          </a:prstGeom>
          <a:noFill/>
          <a:ln w="4763">
            <a:solidFill>
              <a:srgbClr val="1B1B27"/>
            </a:solidFill>
            <a:prstDash val="solid"/>
          </a:ln>
        </p:spPr>
      </p:sp>
      <p:sp>
        <p:nvSpPr>
          <p:cNvPr id="9" name="Text 6"/>
          <p:cNvSpPr/>
          <p:nvPr/>
        </p:nvSpPr>
        <p:spPr>
          <a:xfrm>
            <a:off x="4689574" y="2948136"/>
            <a:ext cx="1623492"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FORWARD DEPLOYED ENGINEERING</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96119" y="1084362"/>
            <a:ext cx="1636068" cy="242739"/>
          </a:xfrm>
          <a:prstGeom prst="roundRect">
            <a:avLst>
              <a:gd name="adj" fmla="val 17171"/>
            </a:avLst>
          </a:prstGeom>
          <a:noFill/>
          <a:ln w="4763">
            <a:solidFill>
              <a:srgbClr val="1B1B27"/>
            </a:solidFill>
            <a:prstDash val="solid"/>
          </a:ln>
        </p:spPr>
      </p:sp>
      <p:sp>
        <p:nvSpPr>
          <p:cNvPr id="3" name="Text 1"/>
          <p:cNvSpPr/>
          <p:nvPr/>
        </p:nvSpPr>
        <p:spPr>
          <a:xfrm>
            <a:off x="575295" y="1126331"/>
            <a:ext cx="1477714"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1 — UNDERSTANDING APIS</a:t>
            </a:r>
            <a:endParaRPr lang="en-US" sz="750" dirty="0"/>
          </a:p>
        </p:txBody>
      </p:sp>
      <p:sp>
        <p:nvSpPr>
          <p:cNvPr id="4" name="Text 2"/>
          <p:cNvSpPr/>
          <p:nvPr/>
        </p:nvSpPr>
        <p:spPr>
          <a:xfrm>
            <a:off x="496119" y="1376660"/>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What is a Backend?</a:t>
            </a:r>
            <a:endParaRPr lang="en-US" sz="2400" dirty="0"/>
          </a:p>
        </p:txBody>
      </p:sp>
      <p:sp>
        <p:nvSpPr>
          <p:cNvPr id="5" name="Text 3"/>
          <p:cNvSpPr/>
          <p:nvPr/>
        </p:nvSpPr>
        <p:spPr>
          <a:xfrm>
            <a:off x="496119" y="1950244"/>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backend is the engine of any application — invisible to users, but responsible for everything that matters. It receives requests, applies rules, processes data, and sends back a structured response.</a:t>
            </a:r>
            <a:endParaRPr lang="en-US" sz="950" dirty="0"/>
          </a:p>
        </p:txBody>
      </p:sp>
      <p:sp>
        <p:nvSpPr>
          <p:cNvPr id="6" name="Shape 4"/>
          <p:cNvSpPr/>
          <p:nvPr/>
        </p:nvSpPr>
        <p:spPr>
          <a:xfrm>
            <a:off x="496119" y="2486695"/>
            <a:ext cx="4013895" cy="724198"/>
          </a:xfrm>
          <a:prstGeom prst="roundRect">
            <a:avLst>
              <a:gd name="adj" fmla="val 7194"/>
            </a:avLst>
          </a:prstGeom>
          <a:solidFill>
            <a:srgbClr val="E1E1EA"/>
          </a:solidFill>
          <a:ln w="4763">
            <a:solidFill>
              <a:srgbClr val="C7C7D0"/>
            </a:solidFill>
            <a:prstDash val="solid"/>
          </a:ln>
        </p:spPr>
      </p:sp>
      <p:sp>
        <p:nvSpPr>
          <p:cNvPr id="7" name="Text 5"/>
          <p:cNvSpPr/>
          <p:nvPr/>
        </p:nvSpPr>
        <p:spPr>
          <a:xfrm>
            <a:off x="624855" y="2615431"/>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Business Logic</a:t>
            </a:r>
            <a:endParaRPr lang="en-US" sz="1200" dirty="0"/>
          </a:p>
        </p:txBody>
      </p:sp>
      <p:sp>
        <p:nvSpPr>
          <p:cNvPr id="8" name="Text 6"/>
          <p:cNvSpPr/>
          <p:nvPr/>
        </p:nvSpPr>
        <p:spPr>
          <a:xfrm>
            <a:off x="624855" y="2883694"/>
            <a:ext cx="375642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Applies rules and decisions that define how the system behaves</a:t>
            </a:r>
            <a:endParaRPr lang="en-US" sz="950" dirty="0"/>
          </a:p>
        </p:txBody>
      </p:sp>
      <p:sp>
        <p:nvSpPr>
          <p:cNvPr id="9" name="Shape 7"/>
          <p:cNvSpPr/>
          <p:nvPr/>
        </p:nvSpPr>
        <p:spPr>
          <a:xfrm>
            <a:off x="4633987" y="2486695"/>
            <a:ext cx="4013895" cy="724198"/>
          </a:xfrm>
          <a:prstGeom prst="roundRect">
            <a:avLst>
              <a:gd name="adj" fmla="val 7194"/>
            </a:avLst>
          </a:prstGeom>
          <a:solidFill>
            <a:srgbClr val="E1E1EA"/>
          </a:solidFill>
          <a:ln w="4763">
            <a:solidFill>
              <a:srgbClr val="C7C7D0"/>
            </a:solidFill>
            <a:prstDash val="solid"/>
          </a:ln>
        </p:spPr>
      </p:sp>
      <p:sp>
        <p:nvSpPr>
          <p:cNvPr id="10" name="Text 8"/>
          <p:cNvSpPr/>
          <p:nvPr/>
        </p:nvSpPr>
        <p:spPr>
          <a:xfrm>
            <a:off x="4762723" y="2615431"/>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Request Processing</a:t>
            </a:r>
            <a:endParaRPr lang="en-US" sz="1200" dirty="0"/>
          </a:p>
        </p:txBody>
      </p:sp>
      <p:sp>
        <p:nvSpPr>
          <p:cNvPr id="11" name="Text 9"/>
          <p:cNvSpPr/>
          <p:nvPr/>
        </p:nvSpPr>
        <p:spPr>
          <a:xfrm>
            <a:off x="4762723" y="2883694"/>
            <a:ext cx="375642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Receives and interprets incoming client requests</a:t>
            </a:r>
            <a:endParaRPr lang="en-US" sz="950" dirty="0"/>
          </a:p>
        </p:txBody>
      </p:sp>
      <p:sp>
        <p:nvSpPr>
          <p:cNvPr id="12" name="Shape 10"/>
          <p:cNvSpPr/>
          <p:nvPr/>
        </p:nvSpPr>
        <p:spPr>
          <a:xfrm>
            <a:off x="496119" y="3334866"/>
            <a:ext cx="4013895" cy="724198"/>
          </a:xfrm>
          <a:prstGeom prst="roundRect">
            <a:avLst>
              <a:gd name="adj" fmla="val 7194"/>
            </a:avLst>
          </a:prstGeom>
          <a:solidFill>
            <a:srgbClr val="E1E1EA"/>
          </a:solidFill>
          <a:ln w="4763">
            <a:solidFill>
              <a:srgbClr val="C7C7D0"/>
            </a:solidFill>
            <a:prstDash val="solid"/>
          </a:ln>
        </p:spPr>
      </p:sp>
      <p:sp>
        <p:nvSpPr>
          <p:cNvPr id="13" name="Text 11"/>
          <p:cNvSpPr/>
          <p:nvPr/>
        </p:nvSpPr>
        <p:spPr>
          <a:xfrm>
            <a:off x="624855" y="3463603"/>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Data Validation</a:t>
            </a:r>
            <a:endParaRPr lang="en-US" sz="1200" dirty="0"/>
          </a:p>
        </p:txBody>
      </p:sp>
      <p:sp>
        <p:nvSpPr>
          <p:cNvPr id="14" name="Text 12"/>
          <p:cNvSpPr/>
          <p:nvPr/>
        </p:nvSpPr>
        <p:spPr>
          <a:xfrm>
            <a:off x="624855" y="3731865"/>
            <a:ext cx="375642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Ensures all incoming data is correct before acting on it</a:t>
            </a:r>
            <a:endParaRPr lang="en-US" sz="950" dirty="0"/>
          </a:p>
        </p:txBody>
      </p:sp>
      <p:sp>
        <p:nvSpPr>
          <p:cNvPr id="15" name="Shape 13"/>
          <p:cNvSpPr/>
          <p:nvPr/>
        </p:nvSpPr>
        <p:spPr>
          <a:xfrm>
            <a:off x="4633987" y="3334866"/>
            <a:ext cx="4013895" cy="724198"/>
          </a:xfrm>
          <a:prstGeom prst="roundRect">
            <a:avLst>
              <a:gd name="adj" fmla="val 7194"/>
            </a:avLst>
          </a:prstGeom>
          <a:solidFill>
            <a:srgbClr val="E1E1EA"/>
          </a:solidFill>
          <a:ln w="4763">
            <a:solidFill>
              <a:srgbClr val="C7C7D0"/>
            </a:solidFill>
            <a:prstDash val="solid"/>
          </a:ln>
        </p:spPr>
      </p:sp>
      <p:sp>
        <p:nvSpPr>
          <p:cNvPr id="16" name="Text 14"/>
          <p:cNvSpPr/>
          <p:nvPr/>
        </p:nvSpPr>
        <p:spPr>
          <a:xfrm>
            <a:off x="4762723" y="3463603"/>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Response Delivery</a:t>
            </a:r>
            <a:endParaRPr lang="en-US" sz="1200" dirty="0"/>
          </a:p>
        </p:txBody>
      </p:sp>
      <p:sp>
        <p:nvSpPr>
          <p:cNvPr id="17" name="Text 15"/>
          <p:cNvSpPr/>
          <p:nvPr/>
        </p:nvSpPr>
        <p:spPr>
          <a:xfrm>
            <a:off x="4762723" y="3731865"/>
            <a:ext cx="375642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Returns structured, meaningful responses to the client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96119" y="1165994"/>
            <a:ext cx="1636068" cy="242739"/>
          </a:xfrm>
          <a:prstGeom prst="roundRect">
            <a:avLst>
              <a:gd name="adj" fmla="val 17171"/>
            </a:avLst>
          </a:prstGeom>
          <a:noFill/>
          <a:ln w="4763">
            <a:solidFill>
              <a:srgbClr val="1B1B27"/>
            </a:solidFill>
            <a:prstDash val="solid"/>
          </a:ln>
        </p:spPr>
      </p:sp>
      <p:sp>
        <p:nvSpPr>
          <p:cNvPr id="3" name="Text 1"/>
          <p:cNvSpPr/>
          <p:nvPr/>
        </p:nvSpPr>
        <p:spPr>
          <a:xfrm>
            <a:off x="575295" y="1207963"/>
            <a:ext cx="1477714"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1 — UNDERSTANDING APIS</a:t>
            </a:r>
            <a:endParaRPr lang="en-US" sz="750" dirty="0"/>
          </a:p>
        </p:txBody>
      </p:sp>
      <p:sp>
        <p:nvSpPr>
          <p:cNvPr id="4" name="Text 2"/>
          <p:cNvSpPr/>
          <p:nvPr/>
        </p:nvSpPr>
        <p:spPr>
          <a:xfrm>
            <a:off x="496119" y="1458292"/>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Frontend vs. Backend</a:t>
            </a:r>
            <a:endParaRPr lang="en-US" sz="2400" dirty="0"/>
          </a:p>
        </p:txBody>
      </p:sp>
      <p:sp>
        <p:nvSpPr>
          <p:cNvPr id="5" name="Text 3"/>
          <p:cNvSpPr/>
          <p:nvPr/>
        </p:nvSpPr>
        <p:spPr>
          <a:xfrm>
            <a:off x="496119" y="2031876"/>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Every application has two distinct layers. The frontend is what users see and interact with. The backend is where all logic, rules, and data handling happen — completely separate from the UI.</a:t>
            </a:r>
            <a:endParaRPr lang="en-US" sz="950" dirty="0"/>
          </a:p>
        </p:txBody>
      </p:sp>
      <p:sp>
        <p:nvSpPr>
          <p:cNvPr id="6" name="Shape 4"/>
          <p:cNvSpPr/>
          <p:nvPr/>
        </p:nvSpPr>
        <p:spPr>
          <a:xfrm>
            <a:off x="406822" y="2568327"/>
            <a:ext cx="4103191" cy="1409179"/>
          </a:xfrm>
          <a:prstGeom prst="roundRect">
            <a:avLst>
              <a:gd name="adj" fmla="val 6338"/>
            </a:avLst>
          </a:prstGeom>
          <a:solidFill>
            <a:srgbClr val="1B1B27">
              <a:alpha val="95000"/>
            </a:srgbClr>
          </a:solidFill>
          <a:ln/>
        </p:spPr>
      </p:sp>
      <p:sp>
        <p:nvSpPr>
          <p:cNvPr id="7" name="Text 5"/>
          <p:cNvSpPr/>
          <p:nvPr/>
        </p:nvSpPr>
        <p:spPr>
          <a:xfrm>
            <a:off x="530796" y="2692301"/>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FFFFFF"/>
                </a:solidFill>
                <a:latin typeface="Raleway" pitchFamily="34" charset="0"/>
                <a:ea typeface="Raleway" pitchFamily="34" charset="-122"/>
                <a:cs typeface="Raleway" pitchFamily="34" charset="-120"/>
              </a:rPr>
              <a:t>Frontend</a:t>
            </a:r>
            <a:endParaRPr lang="en-US" sz="1200" dirty="0"/>
          </a:p>
        </p:txBody>
      </p:sp>
      <p:sp>
        <p:nvSpPr>
          <p:cNvPr id="8" name="Text 6"/>
          <p:cNvSpPr/>
          <p:nvPr/>
        </p:nvSpPr>
        <p:spPr>
          <a:xfrm>
            <a:off x="530796" y="3010123"/>
            <a:ext cx="3855244" cy="923999"/>
          </a:xfrm>
          <a:prstGeom prst="rect">
            <a:avLst/>
          </a:prstGeom>
          <a:noFill/>
          <a:ln/>
        </p:spPr>
        <p:txBody>
          <a:bodyPr wrap="square" lIns="0" tIns="0" rIns="0" bIns="0" rtlCol="0" anchor="t"/>
          <a:lstStyle/>
          <a:p>
            <a:pPr algn="l" marL="342900" indent="-342900">
              <a:lnSpc>
                <a:spcPts val="1550"/>
              </a:lnSpc>
              <a:buSzPct val="100000"/>
              <a:buChar char="•"/>
            </a:pPr>
            <a:r>
              <a:rPr lang="en-US" sz="950" dirty="0">
                <a:solidFill>
                  <a:srgbClr val="FFFFFF"/>
                </a:solidFill>
                <a:latin typeface="Roboto" pitchFamily="34" charset="0"/>
                <a:ea typeface="Roboto" pitchFamily="34" charset="-122"/>
                <a:cs typeface="Roboto" pitchFamily="34" charset="-120"/>
              </a:rPr>
              <a:t>User interface and visual elements</a:t>
            </a:r>
            <a:endParaRPr lang="en-US" sz="950" dirty="0"/>
          </a:p>
          <a:p>
            <a:pPr algn="l" marL="342900" indent="-342900">
              <a:lnSpc>
                <a:spcPts val="1550"/>
              </a:lnSpc>
              <a:buSzPct val="100000"/>
              <a:buChar char="•"/>
            </a:pPr>
            <a:r>
              <a:rPr lang="en-US" sz="950" dirty="0">
                <a:solidFill>
                  <a:srgbClr val="FFFFFF"/>
                </a:solidFill>
                <a:latin typeface="Roboto" pitchFamily="34" charset="0"/>
                <a:ea typeface="Roboto" pitchFamily="34" charset="-122"/>
                <a:cs typeface="Roboto" pitchFamily="34" charset="-120"/>
              </a:rPr>
              <a:t>Handles user interactions and events</a:t>
            </a:r>
            <a:endParaRPr lang="en-US" sz="950" dirty="0"/>
          </a:p>
          <a:p>
            <a:pPr algn="l" marL="342900" indent="-342900">
              <a:lnSpc>
                <a:spcPts val="1550"/>
              </a:lnSpc>
              <a:buSzPct val="100000"/>
              <a:buChar char="•"/>
            </a:pPr>
            <a:r>
              <a:rPr lang="en-US" sz="950" dirty="0">
                <a:solidFill>
                  <a:srgbClr val="FFFFFF"/>
                </a:solidFill>
                <a:latin typeface="Roboto" pitchFamily="34" charset="0"/>
                <a:ea typeface="Roboto" pitchFamily="34" charset="-122"/>
                <a:cs typeface="Roboto" pitchFamily="34" charset="-120"/>
              </a:rPr>
              <a:t>Runs in the browser or mobile app</a:t>
            </a:r>
            <a:endParaRPr lang="en-US" sz="950" dirty="0"/>
          </a:p>
          <a:p>
            <a:pPr algn="l" marL="342900" indent="-342900">
              <a:lnSpc>
                <a:spcPts val="1550"/>
              </a:lnSpc>
              <a:buSzPct val="100000"/>
              <a:buChar char="•"/>
            </a:pPr>
            <a:r>
              <a:rPr lang="en-US" sz="950" dirty="0">
                <a:solidFill>
                  <a:srgbClr val="FFFFFF"/>
                </a:solidFill>
                <a:latin typeface="Roboto" pitchFamily="34" charset="0"/>
                <a:ea typeface="Roboto" pitchFamily="34" charset="-122"/>
                <a:cs typeface="Roboto" pitchFamily="34" charset="-120"/>
              </a:rPr>
              <a:t>Sends requests — it does NOT make decisions</a:t>
            </a:r>
            <a:endParaRPr lang="en-US" sz="950" dirty="0"/>
          </a:p>
        </p:txBody>
      </p:sp>
      <p:sp>
        <p:nvSpPr>
          <p:cNvPr id="9" name="Text 7"/>
          <p:cNvSpPr/>
          <p:nvPr/>
        </p:nvSpPr>
        <p:spPr>
          <a:xfrm>
            <a:off x="4728046" y="2692301"/>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1B1B27"/>
                </a:solidFill>
                <a:latin typeface="Raleway" pitchFamily="34" charset="0"/>
                <a:ea typeface="Raleway" pitchFamily="34" charset="-122"/>
                <a:cs typeface="Raleway" pitchFamily="34" charset="-120"/>
              </a:rPr>
              <a:t>Backend</a:t>
            </a:r>
            <a:endParaRPr lang="en-US" sz="1200" dirty="0"/>
          </a:p>
        </p:txBody>
      </p:sp>
      <p:sp>
        <p:nvSpPr>
          <p:cNvPr id="10" name="Text 8"/>
          <p:cNvSpPr/>
          <p:nvPr/>
        </p:nvSpPr>
        <p:spPr>
          <a:xfrm>
            <a:off x="4728046" y="3010123"/>
            <a:ext cx="3924598" cy="923999"/>
          </a:xfrm>
          <a:prstGeom prst="rect">
            <a:avLst/>
          </a:prstGeom>
          <a:noFill/>
          <a:ln/>
        </p:spPr>
        <p:txBody>
          <a:bodyPr wrap="square" lIns="0" tIns="0" rIns="0" bIns="0" rtlCol="0" anchor="t"/>
          <a:lstStyle/>
          <a:p>
            <a:pPr algn="l" marL="342900" indent="-342900">
              <a:lnSpc>
                <a:spcPts val="1550"/>
              </a:lnSpc>
              <a:buSzPct val="100000"/>
              <a:buChar char="•"/>
            </a:pPr>
            <a:r>
              <a:rPr lang="en-US" sz="950" dirty="0">
                <a:solidFill>
                  <a:srgbClr val="3C3939"/>
                </a:solidFill>
                <a:latin typeface="Roboto" pitchFamily="34" charset="0"/>
                <a:ea typeface="Roboto" pitchFamily="34" charset="-122"/>
                <a:cs typeface="Roboto" pitchFamily="34" charset="-120"/>
              </a:rPr>
              <a:t>Business rules and application logic</a:t>
            </a:r>
            <a:endParaRPr lang="en-US" sz="950" dirty="0"/>
          </a:p>
          <a:p>
            <a:pPr algn="l" marL="342900" indent="-342900">
              <a:lnSpc>
                <a:spcPts val="1550"/>
              </a:lnSpc>
              <a:buSzPct val="100000"/>
              <a:buChar char="•"/>
            </a:pPr>
            <a:r>
              <a:rPr lang="en-US" sz="950" dirty="0">
                <a:solidFill>
                  <a:srgbClr val="3C3939"/>
                </a:solidFill>
                <a:latin typeface="Roboto" pitchFamily="34" charset="0"/>
                <a:ea typeface="Roboto" pitchFamily="34" charset="-122"/>
                <a:cs typeface="Roboto" pitchFamily="34" charset="-120"/>
              </a:rPr>
              <a:t>Controls what is allowed and what is not</a:t>
            </a:r>
            <a:endParaRPr lang="en-US" sz="950" dirty="0"/>
          </a:p>
          <a:p>
            <a:pPr algn="l" marL="342900" indent="-342900">
              <a:lnSpc>
                <a:spcPts val="1550"/>
              </a:lnSpc>
              <a:buSzPct val="100000"/>
              <a:buChar char="•"/>
            </a:pPr>
            <a:r>
              <a:rPr lang="en-US" sz="950" dirty="0">
                <a:solidFill>
                  <a:srgbClr val="3C3939"/>
                </a:solidFill>
                <a:latin typeface="Roboto" pitchFamily="34" charset="0"/>
                <a:ea typeface="Roboto" pitchFamily="34" charset="-122"/>
                <a:cs typeface="Roboto" pitchFamily="34" charset="-120"/>
              </a:rPr>
              <a:t>Reads and writes data to the database</a:t>
            </a:r>
            <a:endParaRPr lang="en-US" sz="950" dirty="0"/>
          </a:p>
          <a:p>
            <a:pPr algn="l" marL="342900" indent="-342900">
              <a:lnSpc>
                <a:spcPts val="1550"/>
              </a:lnSpc>
              <a:buSzPct val="100000"/>
              <a:buChar char="•"/>
            </a:pPr>
            <a:r>
              <a:rPr lang="en-US" sz="950" dirty="0">
                <a:solidFill>
                  <a:srgbClr val="3C3939"/>
                </a:solidFill>
                <a:latin typeface="Roboto" pitchFamily="34" charset="0"/>
                <a:ea typeface="Roboto" pitchFamily="34" charset="-122"/>
                <a:cs typeface="Roboto" pitchFamily="34" charset="-120"/>
              </a:rPr>
              <a:t>Returns a response the frontend can display</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372070" y="270495"/>
            <a:ext cx="1228576" cy="169515"/>
          </a:xfrm>
          <a:prstGeom prst="roundRect">
            <a:avLst>
              <a:gd name="adj" fmla="val 18441"/>
            </a:avLst>
          </a:prstGeom>
          <a:noFill/>
          <a:ln w="4763">
            <a:solidFill>
              <a:srgbClr val="1B1B27"/>
            </a:solidFill>
            <a:prstDash val="solid"/>
          </a:ln>
        </p:spPr>
      </p:sp>
      <p:sp>
        <p:nvSpPr>
          <p:cNvPr id="3" name="Text 1"/>
          <p:cNvSpPr/>
          <p:nvPr/>
        </p:nvSpPr>
        <p:spPr>
          <a:xfrm>
            <a:off x="432643" y="303163"/>
            <a:ext cx="1107430" cy="104180"/>
          </a:xfrm>
          <a:prstGeom prst="rect">
            <a:avLst/>
          </a:prstGeom>
          <a:noFill/>
          <a:ln/>
        </p:spPr>
        <p:txBody>
          <a:bodyPr wrap="none" lIns="0" tIns="0" rIns="0" bIns="0" rtlCol="0" anchor="t"/>
          <a:lstStyle/>
          <a:p>
            <a:pPr algn="l" indent="0" marL="0">
              <a:lnSpc>
                <a:spcPts val="800"/>
              </a:lnSpc>
              <a:buNone/>
            </a:pPr>
            <a:r>
              <a:rPr lang="en-US" sz="550" dirty="0">
                <a:solidFill>
                  <a:srgbClr val="1B1B27"/>
                </a:solidFill>
                <a:latin typeface="Roboto" pitchFamily="34" charset="0"/>
                <a:ea typeface="Roboto" pitchFamily="34" charset="-122"/>
                <a:cs typeface="Roboto" pitchFamily="34" charset="-120"/>
              </a:rPr>
              <a:t>PART 1 — UNDERSTANDING APIS</a:t>
            </a:r>
            <a:endParaRPr lang="en-US" sz="550" dirty="0"/>
          </a:p>
        </p:txBody>
      </p:sp>
      <p:sp>
        <p:nvSpPr>
          <p:cNvPr id="4" name="Text 2"/>
          <p:cNvSpPr/>
          <p:nvPr/>
        </p:nvSpPr>
        <p:spPr>
          <a:xfrm>
            <a:off x="372070" y="467916"/>
            <a:ext cx="2576140" cy="290736"/>
          </a:xfrm>
          <a:prstGeom prst="rect">
            <a:avLst/>
          </a:prstGeom>
          <a:noFill/>
          <a:ln/>
        </p:spPr>
        <p:txBody>
          <a:bodyPr wrap="none" lIns="0" tIns="0" rIns="0" bIns="0" rtlCol="0" anchor="t"/>
          <a:lstStyle/>
          <a:p>
            <a:pPr algn="l" indent="0" marL="0">
              <a:lnSpc>
                <a:spcPts val="2250"/>
              </a:lnSpc>
              <a:buNone/>
            </a:pPr>
            <a:r>
              <a:rPr lang="en-US" sz="1800" dirty="0">
                <a:solidFill>
                  <a:srgbClr val="1B1B27"/>
                </a:solidFill>
                <a:latin typeface="Raleway" pitchFamily="34" charset="0"/>
                <a:ea typeface="Raleway" pitchFamily="34" charset="-122"/>
                <a:cs typeface="Raleway" pitchFamily="34" charset="-120"/>
              </a:rPr>
              <a:t>The Restaurant Analogy</a:t>
            </a:r>
            <a:endParaRPr lang="en-US" sz="1800" dirty="0"/>
          </a:p>
        </p:txBody>
      </p:sp>
      <p:sp>
        <p:nvSpPr>
          <p:cNvPr id="5" name="Text 3"/>
          <p:cNvSpPr/>
          <p:nvPr/>
        </p:nvSpPr>
        <p:spPr>
          <a:xfrm>
            <a:off x="372070" y="863278"/>
            <a:ext cx="8399859" cy="130225"/>
          </a:xfrm>
          <a:prstGeom prst="rect">
            <a:avLst/>
          </a:prstGeom>
          <a:noFill/>
          <a:ln/>
        </p:spPr>
        <p:txBody>
          <a:bodyPr wrap="none" lIns="0" tIns="0" rIns="0" bIns="0" rtlCol="0" anchor="t"/>
          <a:lstStyle/>
          <a:p>
            <a:pPr algn="l" indent="0" marL="0">
              <a:lnSpc>
                <a:spcPts val="1000"/>
              </a:lnSpc>
              <a:buNone/>
            </a:pPr>
            <a:r>
              <a:rPr lang="en-US" sz="700" dirty="0">
                <a:solidFill>
                  <a:srgbClr val="3C3939"/>
                </a:solidFill>
                <a:latin typeface="Roboto" pitchFamily="34" charset="0"/>
                <a:ea typeface="Roboto" pitchFamily="34" charset="-122"/>
                <a:cs typeface="Roboto" pitchFamily="34" charset="-120"/>
              </a:rPr>
              <a:t>Think of a restaurant. The customer doesn't walk into the kitchen. They tell the waiter what they want, the kitchen prepares it, and the waiter brings it back. APIs work exactly the same way.</a:t>
            </a:r>
            <a:endParaRPr lang="en-US" sz="700" dirty="0"/>
          </a:p>
        </p:txBody>
      </p:sp>
      <p:pic>
        <p:nvPicPr>
          <p:cNvPr id="6" name="Image 0" descr="preencoded.png">    </p:cNvPr>
          <p:cNvPicPr>
            <a:picLocks noChangeAspect="1"/>
          </p:cNvPicPr>
          <p:nvPr/>
        </p:nvPicPr>
        <p:blipFill>
          <a:blip r:embed="rId1"/>
          <a:stretch>
            <a:fillRect/>
          </a:stretch>
        </p:blipFill>
        <p:spPr>
          <a:xfrm>
            <a:off x="406673" y="1071935"/>
            <a:ext cx="8330580" cy="3592339"/>
          </a:xfrm>
          <a:prstGeom prst="rect">
            <a:avLst/>
          </a:prstGeom>
        </p:spPr>
      </p:pic>
      <p:sp>
        <p:nvSpPr>
          <p:cNvPr id="7" name="Text 4"/>
          <p:cNvSpPr/>
          <p:nvPr/>
        </p:nvSpPr>
        <p:spPr>
          <a:xfrm>
            <a:off x="967233" y="3983032"/>
            <a:ext cx="1889928" cy="236241"/>
          </a:xfrm>
          <a:prstGeom prst="rect">
            <a:avLst/>
          </a:prstGeom>
          <a:noFill/>
          <a:ln/>
        </p:spPr>
        <p:txBody>
          <a:bodyPr wrap="none" lIns="0" tIns="0" rIns="0" bIns="0" rtlCol="0" anchor="t"/>
          <a:lstStyle/>
          <a:p>
            <a:pPr algn="l" indent="0" marL="0">
              <a:lnSpc>
                <a:spcPts val="1850"/>
              </a:lnSpc>
              <a:buNone/>
            </a:pPr>
            <a:r>
              <a:rPr lang="en-US" sz="1450" dirty="0">
                <a:solidFill>
                  <a:srgbClr val="FFFFFF"/>
                </a:solidFill>
                <a:latin typeface="Raleway" pitchFamily="34" charset="0"/>
                <a:ea typeface="Raleway" pitchFamily="34" charset="-122"/>
                <a:cs typeface="Raleway" pitchFamily="34" charset="-120"/>
              </a:rPr>
              <a:t>Food Response</a:t>
            </a:r>
            <a:endParaRPr lang="en-US" sz="1450" dirty="0"/>
          </a:p>
        </p:txBody>
      </p:sp>
      <p:sp>
        <p:nvSpPr>
          <p:cNvPr id="8" name="Text 5"/>
          <p:cNvSpPr/>
          <p:nvPr/>
        </p:nvSpPr>
        <p:spPr>
          <a:xfrm>
            <a:off x="967233" y="3151463"/>
            <a:ext cx="1889928" cy="236241"/>
          </a:xfrm>
          <a:prstGeom prst="rect">
            <a:avLst/>
          </a:prstGeom>
          <a:noFill/>
          <a:ln/>
        </p:spPr>
        <p:txBody>
          <a:bodyPr wrap="none" lIns="0" tIns="0" rIns="0" bIns="0" rtlCol="0" anchor="t"/>
          <a:lstStyle/>
          <a:p>
            <a:pPr algn="l" indent="0" marL="0">
              <a:lnSpc>
                <a:spcPts val="1850"/>
              </a:lnSpc>
              <a:buNone/>
            </a:pPr>
            <a:r>
              <a:rPr lang="en-US" sz="1450" dirty="0">
                <a:solidFill>
                  <a:srgbClr val="FFFFFF"/>
                </a:solidFill>
                <a:latin typeface="Raleway" pitchFamily="34" charset="0"/>
                <a:ea typeface="Raleway" pitchFamily="34" charset="-122"/>
                <a:cs typeface="Raleway" pitchFamily="34" charset="-120"/>
              </a:rPr>
              <a:t>Kitchen Prepare</a:t>
            </a:r>
            <a:endParaRPr lang="en-US" sz="1450" dirty="0"/>
          </a:p>
        </p:txBody>
      </p:sp>
      <p:sp>
        <p:nvSpPr>
          <p:cNvPr id="9" name="Text 6"/>
          <p:cNvSpPr/>
          <p:nvPr/>
        </p:nvSpPr>
        <p:spPr>
          <a:xfrm>
            <a:off x="967233" y="2328294"/>
            <a:ext cx="1889928" cy="236241"/>
          </a:xfrm>
          <a:prstGeom prst="rect">
            <a:avLst/>
          </a:prstGeom>
          <a:noFill/>
          <a:ln/>
        </p:spPr>
        <p:txBody>
          <a:bodyPr wrap="none" lIns="0" tIns="0" rIns="0" bIns="0" rtlCol="0" anchor="t"/>
          <a:lstStyle/>
          <a:p>
            <a:pPr algn="l" indent="0" marL="0">
              <a:lnSpc>
                <a:spcPts val="1850"/>
              </a:lnSpc>
              <a:buNone/>
            </a:pPr>
            <a:r>
              <a:rPr lang="en-US" sz="1450" dirty="0">
                <a:solidFill>
                  <a:srgbClr val="FFFFFF"/>
                </a:solidFill>
                <a:latin typeface="Raleway" pitchFamily="34" charset="0"/>
                <a:ea typeface="Raleway" pitchFamily="34" charset="-122"/>
                <a:cs typeface="Raleway" pitchFamily="34" charset="-120"/>
              </a:rPr>
              <a:t>Waiter Relay</a:t>
            </a:r>
            <a:endParaRPr lang="en-US" sz="1450" dirty="0"/>
          </a:p>
        </p:txBody>
      </p:sp>
      <p:sp>
        <p:nvSpPr>
          <p:cNvPr id="10" name="Text 7"/>
          <p:cNvSpPr/>
          <p:nvPr/>
        </p:nvSpPr>
        <p:spPr>
          <a:xfrm>
            <a:off x="967233" y="1496726"/>
            <a:ext cx="1889928" cy="236241"/>
          </a:xfrm>
          <a:prstGeom prst="rect">
            <a:avLst/>
          </a:prstGeom>
          <a:noFill/>
          <a:ln/>
        </p:spPr>
        <p:txBody>
          <a:bodyPr wrap="none" lIns="0" tIns="0" rIns="0" bIns="0" rtlCol="0" anchor="t"/>
          <a:lstStyle/>
          <a:p>
            <a:pPr algn="l" indent="0" marL="0">
              <a:lnSpc>
                <a:spcPts val="1850"/>
              </a:lnSpc>
              <a:buNone/>
            </a:pPr>
            <a:r>
              <a:rPr lang="en-US" sz="1450" dirty="0">
                <a:solidFill>
                  <a:srgbClr val="FFFFFF"/>
                </a:solidFill>
                <a:latin typeface="Raleway" pitchFamily="34" charset="0"/>
                <a:ea typeface="Raleway" pitchFamily="34" charset="-122"/>
                <a:cs typeface="Raleway" pitchFamily="34" charset="-120"/>
              </a:rPr>
              <a:t>Customer Order</a:t>
            </a:r>
            <a:endParaRPr lang="en-US" sz="1450" dirty="0"/>
          </a:p>
        </p:txBody>
      </p:sp>
      <p:sp>
        <p:nvSpPr>
          <p:cNvPr id="11" name="Text 8"/>
          <p:cNvSpPr/>
          <p:nvPr/>
        </p:nvSpPr>
        <p:spPr>
          <a:xfrm>
            <a:off x="372070" y="4742706"/>
            <a:ext cx="8399859" cy="130225"/>
          </a:xfrm>
          <a:prstGeom prst="rect">
            <a:avLst/>
          </a:prstGeom>
          <a:noFill/>
          <a:ln/>
        </p:spPr>
        <p:txBody>
          <a:bodyPr wrap="none" lIns="0" tIns="0" rIns="0" bIns="0" rtlCol="0" anchor="t"/>
          <a:lstStyle/>
          <a:p>
            <a:pPr algn="l" indent="0" marL="0">
              <a:lnSpc>
                <a:spcPts val="1000"/>
              </a:lnSpc>
              <a:buNone/>
            </a:pPr>
            <a:r>
              <a:rPr lang="en-US" sz="700" dirty="0">
                <a:solidFill>
                  <a:srgbClr val="3C3939"/>
                </a:solidFill>
                <a:latin typeface="Roboto" pitchFamily="34" charset="0"/>
                <a:ea typeface="Roboto" pitchFamily="34" charset="-122"/>
                <a:cs typeface="Roboto" pitchFamily="34" charset="-120"/>
              </a:rPr>
              <a:t>The waiter is the API — a defined contract that bridges the customer and the kitchen without exposing how the kitchen works internally.</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96119" y="1399729"/>
            <a:ext cx="1636068" cy="242739"/>
          </a:xfrm>
          <a:prstGeom prst="roundRect">
            <a:avLst>
              <a:gd name="adj" fmla="val 17171"/>
            </a:avLst>
          </a:prstGeom>
          <a:noFill/>
          <a:ln w="4763">
            <a:solidFill>
              <a:srgbClr val="1B1B27"/>
            </a:solidFill>
            <a:prstDash val="solid"/>
          </a:ln>
        </p:spPr>
      </p:sp>
      <p:sp>
        <p:nvSpPr>
          <p:cNvPr id="3" name="Text 1"/>
          <p:cNvSpPr/>
          <p:nvPr/>
        </p:nvSpPr>
        <p:spPr>
          <a:xfrm>
            <a:off x="575295" y="1441698"/>
            <a:ext cx="1477714"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1 — UNDERSTANDING APIS</a:t>
            </a:r>
            <a:endParaRPr lang="en-US" sz="750" dirty="0"/>
          </a:p>
        </p:txBody>
      </p:sp>
      <p:sp>
        <p:nvSpPr>
          <p:cNvPr id="4" name="Text 2"/>
          <p:cNvSpPr/>
          <p:nvPr/>
        </p:nvSpPr>
        <p:spPr>
          <a:xfrm>
            <a:off x="496119" y="1692027"/>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What is an API?</a:t>
            </a:r>
            <a:endParaRPr lang="en-US" sz="2400" dirty="0"/>
          </a:p>
        </p:txBody>
      </p:sp>
      <p:sp>
        <p:nvSpPr>
          <p:cNvPr id="5" name="Text 3"/>
          <p:cNvSpPr/>
          <p:nvPr/>
        </p:nvSpPr>
        <p:spPr>
          <a:xfrm>
            <a:off x="496119" y="2265611"/>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An API (Application Programming Interface) is a formal contract between a client and a server. It defines exactly what requests can be made, what responses will be returned, and what rules must be followed by both sides.</a:t>
            </a:r>
            <a:endParaRPr lang="en-US" sz="950" dirty="0"/>
          </a:p>
        </p:txBody>
      </p:sp>
      <p:sp>
        <p:nvSpPr>
          <p:cNvPr id="6" name="Shape 4"/>
          <p:cNvSpPr/>
          <p:nvPr/>
        </p:nvSpPr>
        <p:spPr>
          <a:xfrm>
            <a:off x="496119" y="2802062"/>
            <a:ext cx="2634555" cy="941710"/>
          </a:xfrm>
          <a:prstGeom prst="roundRect">
            <a:avLst>
              <a:gd name="adj" fmla="val 7282"/>
            </a:avLst>
          </a:prstGeom>
          <a:solidFill>
            <a:srgbClr val="FFFFFF">
              <a:alpha val="95000"/>
            </a:srgbClr>
          </a:solidFill>
          <a:ln w="14288">
            <a:solidFill>
              <a:srgbClr val="C7C7D0"/>
            </a:solidFill>
            <a:prstDash val="solid"/>
          </a:ln>
        </p:spPr>
      </p:sp>
      <p:sp>
        <p:nvSpPr>
          <p:cNvPr id="7" name="Shape 5"/>
          <p:cNvSpPr/>
          <p:nvPr/>
        </p:nvSpPr>
        <p:spPr>
          <a:xfrm>
            <a:off x="481831" y="2802062"/>
            <a:ext cx="57150" cy="941710"/>
          </a:xfrm>
          <a:prstGeom prst="roundRect">
            <a:avLst>
              <a:gd name="adj" fmla="val 91163"/>
            </a:avLst>
          </a:prstGeom>
          <a:solidFill>
            <a:srgbClr val="1B1B27"/>
          </a:solidFill>
          <a:ln/>
        </p:spPr>
      </p:sp>
      <p:sp>
        <p:nvSpPr>
          <p:cNvPr id="8" name="Text 6"/>
          <p:cNvSpPr/>
          <p:nvPr/>
        </p:nvSpPr>
        <p:spPr>
          <a:xfrm>
            <a:off x="677242" y="2940323"/>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Requests</a:t>
            </a:r>
            <a:endParaRPr lang="en-US" sz="1200" dirty="0"/>
          </a:p>
        </p:txBody>
      </p:sp>
      <p:sp>
        <p:nvSpPr>
          <p:cNvPr id="9" name="Text 7"/>
          <p:cNvSpPr/>
          <p:nvPr/>
        </p:nvSpPr>
        <p:spPr>
          <a:xfrm>
            <a:off x="677242" y="3208586"/>
            <a:ext cx="2315170"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Defines which endpoints exist, what methods to use, and what data to send</a:t>
            </a:r>
            <a:endParaRPr lang="en-US" sz="950" dirty="0"/>
          </a:p>
        </p:txBody>
      </p:sp>
      <p:sp>
        <p:nvSpPr>
          <p:cNvPr id="10" name="Shape 8"/>
          <p:cNvSpPr/>
          <p:nvPr/>
        </p:nvSpPr>
        <p:spPr>
          <a:xfrm>
            <a:off x="3254648" y="2802062"/>
            <a:ext cx="2634630" cy="941710"/>
          </a:xfrm>
          <a:prstGeom prst="roundRect">
            <a:avLst>
              <a:gd name="adj" fmla="val 7282"/>
            </a:avLst>
          </a:prstGeom>
          <a:solidFill>
            <a:srgbClr val="FFFFFF">
              <a:alpha val="95000"/>
            </a:srgbClr>
          </a:solidFill>
          <a:ln w="14288">
            <a:solidFill>
              <a:srgbClr val="C7C7D0"/>
            </a:solidFill>
            <a:prstDash val="solid"/>
          </a:ln>
        </p:spPr>
      </p:sp>
      <p:sp>
        <p:nvSpPr>
          <p:cNvPr id="11" name="Shape 9"/>
          <p:cNvSpPr/>
          <p:nvPr/>
        </p:nvSpPr>
        <p:spPr>
          <a:xfrm>
            <a:off x="3240360" y="2802062"/>
            <a:ext cx="57150" cy="941710"/>
          </a:xfrm>
          <a:prstGeom prst="roundRect">
            <a:avLst>
              <a:gd name="adj" fmla="val 91163"/>
            </a:avLst>
          </a:prstGeom>
          <a:solidFill>
            <a:srgbClr val="1B1B27"/>
          </a:solidFill>
          <a:ln/>
        </p:spPr>
      </p:sp>
      <p:sp>
        <p:nvSpPr>
          <p:cNvPr id="12" name="Text 10"/>
          <p:cNvSpPr/>
          <p:nvPr/>
        </p:nvSpPr>
        <p:spPr>
          <a:xfrm>
            <a:off x="3435772" y="2940323"/>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Responses</a:t>
            </a:r>
            <a:endParaRPr lang="en-US" sz="1200" dirty="0"/>
          </a:p>
        </p:txBody>
      </p:sp>
      <p:sp>
        <p:nvSpPr>
          <p:cNvPr id="13" name="Text 11"/>
          <p:cNvSpPr/>
          <p:nvPr/>
        </p:nvSpPr>
        <p:spPr>
          <a:xfrm>
            <a:off x="3435772" y="3208586"/>
            <a:ext cx="2315245"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Defines the structure and format of data returned by the server</a:t>
            </a:r>
            <a:endParaRPr lang="en-US" sz="950" dirty="0"/>
          </a:p>
        </p:txBody>
      </p:sp>
      <p:sp>
        <p:nvSpPr>
          <p:cNvPr id="14" name="Shape 12"/>
          <p:cNvSpPr/>
          <p:nvPr/>
        </p:nvSpPr>
        <p:spPr>
          <a:xfrm>
            <a:off x="6013252" y="2802062"/>
            <a:ext cx="2634555" cy="941710"/>
          </a:xfrm>
          <a:prstGeom prst="roundRect">
            <a:avLst>
              <a:gd name="adj" fmla="val 7282"/>
            </a:avLst>
          </a:prstGeom>
          <a:solidFill>
            <a:srgbClr val="FFFFFF">
              <a:alpha val="95000"/>
            </a:srgbClr>
          </a:solidFill>
          <a:ln w="14288">
            <a:solidFill>
              <a:srgbClr val="C7C7D0"/>
            </a:solidFill>
            <a:prstDash val="solid"/>
          </a:ln>
        </p:spPr>
      </p:sp>
      <p:sp>
        <p:nvSpPr>
          <p:cNvPr id="15" name="Shape 13"/>
          <p:cNvSpPr/>
          <p:nvPr/>
        </p:nvSpPr>
        <p:spPr>
          <a:xfrm>
            <a:off x="5998964" y="2802062"/>
            <a:ext cx="57150" cy="941710"/>
          </a:xfrm>
          <a:prstGeom prst="roundRect">
            <a:avLst>
              <a:gd name="adj" fmla="val 91163"/>
            </a:avLst>
          </a:prstGeom>
          <a:solidFill>
            <a:srgbClr val="1B1B27"/>
          </a:solidFill>
          <a:ln/>
        </p:spPr>
      </p:sp>
      <p:sp>
        <p:nvSpPr>
          <p:cNvPr id="16" name="Text 14"/>
          <p:cNvSpPr/>
          <p:nvPr/>
        </p:nvSpPr>
        <p:spPr>
          <a:xfrm>
            <a:off x="6194375" y="2940323"/>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Rules</a:t>
            </a:r>
            <a:endParaRPr lang="en-US" sz="1200" dirty="0"/>
          </a:p>
        </p:txBody>
      </p:sp>
      <p:sp>
        <p:nvSpPr>
          <p:cNvPr id="17" name="Text 15"/>
          <p:cNvSpPr/>
          <p:nvPr/>
        </p:nvSpPr>
        <p:spPr>
          <a:xfrm>
            <a:off x="6194375" y="3208586"/>
            <a:ext cx="2315170"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Enforces authentication, validation, and constraints on every interaction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96119" y="1286917"/>
            <a:ext cx="1636068" cy="242739"/>
          </a:xfrm>
          <a:prstGeom prst="roundRect">
            <a:avLst>
              <a:gd name="adj" fmla="val 17171"/>
            </a:avLst>
          </a:prstGeom>
          <a:noFill/>
          <a:ln w="4763">
            <a:solidFill>
              <a:srgbClr val="1B1B27"/>
            </a:solidFill>
            <a:prstDash val="solid"/>
          </a:ln>
        </p:spPr>
      </p:sp>
      <p:sp>
        <p:nvSpPr>
          <p:cNvPr id="3" name="Text 1"/>
          <p:cNvSpPr/>
          <p:nvPr/>
        </p:nvSpPr>
        <p:spPr>
          <a:xfrm>
            <a:off x="575295" y="1328886"/>
            <a:ext cx="1477714"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1 — UNDERSTANDING APIS</a:t>
            </a:r>
            <a:endParaRPr lang="en-US" sz="750" dirty="0"/>
          </a:p>
        </p:txBody>
      </p:sp>
      <p:sp>
        <p:nvSpPr>
          <p:cNvPr id="4" name="Text 2"/>
          <p:cNvSpPr/>
          <p:nvPr/>
        </p:nvSpPr>
        <p:spPr>
          <a:xfrm>
            <a:off x="496119" y="1579215"/>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Client vs. Server</a:t>
            </a:r>
            <a:endParaRPr lang="en-US" sz="2400" dirty="0"/>
          </a:p>
        </p:txBody>
      </p:sp>
      <p:sp>
        <p:nvSpPr>
          <p:cNvPr id="5" name="Text 3"/>
          <p:cNvSpPr/>
          <p:nvPr/>
        </p:nvSpPr>
        <p:spPr>
          <a:xfrm>
            <a:off x="496119" y="2152799"/>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In every API interaction, there are two roles: the client and the server. Understanding their responsibilities is fundamental to designing robust backends.</a:t>
            </a:r>
            <a:endParaRPr lang="en-US" sz="950" dirty="0"/>
          </a:p>
        </p:txBody>
      </p:sp>
      <p:sp>
        <p:nvSpPr>
          <p:cNvPr id="6" name="Shape 4"/>
          <p:cNvSpPr/>
          <p:nvPr/>
        </p:nvSpPr>
        <p:spPr>
          <a:xfrm>
            <a:off x="406822" y="2689250"/>
            <a:ext cx="4103191" cy="1167333"/>
          </a:xfrm>
          <a:prstGeom prst="roundRect">
            <a:avLst>
              <a:gd name="adj" fmla="val 7651"/>
            </a:avLst>
          </a:prstGeom>
          <a:solidFill>
            <a:srgbClr val="1B1B27">
              <a:alpha val="95000"/>
            </a:srgbClr>
          </a:solidFill>
          <a:ln/>
        </p:spPr>
      </p:sp>
      <p:sp>
        <p:nvSpPr>
          <p:cNvPr id="7" name="Text 5"/>
          <p:cNvSpPr/>
          <p:nvPr/>
        </p:nvSpPr>
        <p:spPr>
          <a:xfrm>
            <a:off x="530796" y="2813224"/>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FFFFFF"/>
                </a:solidFill>
                <a:latin typeface="Raleway" pitchFamily="34" charset="0"/>
                <a:ea typeface="Raleway" pitchFamily="34" charset="-122"/>
                <a:cs typeface="Raleway" pitchFamily="34" charset="-120"/>
              </a:rPr>
              <a:t>Client</a:t>
            </a:r>
            <a:endParaRPr lang="en-US" sz="1200" dirty="0"/>
          </a:p>
        </p:txBody>
      </p:sp>
      <p:sp>
        <p:nvSpPr>
          <p:cNvPr id="8" name="Text 6"/>
          <p:cNvSpPr/>
          <p:nvPr/>
        </p:nvSpPr>
        <p:spPr>
          <a:xfrm>
            <a:off x="530796" y="3131046"/>
            <a:ext cx="3855244" cy="682154"/>
          </a:xfrm>
          <a:prstGeom prst="rect">
            <a:avLst/>
          </a:prstGeom>
          <a:noFill/>
          <a:ln/>
        </p:spPr>
        <p:txBody>
          <a:bodyPr wrap="square" lIns="0" tIns="0" rIns="0" bIns="0" rtlCol="0" anchor="t"/>
          <a:lstStyle/>
          <a:p>
            <a:pPr algn="l" marL="342900" indent="-342900">
              <a:lnSpc>
                <a:spcPts val="1550"/>
              </a:lnSpc>
              <a:buSzPct val="100000"/>
              <a:buChar char="•"/>
            </a:pPr>
            <a:r>
              <a:rPr lang="en-US" sz="950" dirty="0">
                <a:solidFill>
                  <a:srgbClr val="FFFFFF"/>
                </a:solidFill>
                <a:latin typeface="Roboto" pitchFamily="34" charset="0"/>
                <a:ea typeface="Roboto" pitchFamily="34" charset="-122"/>
                <a:cs typeface="Roboto" pitchFamily="34" charset="-120"/>
              </a:rPr>
              <a:t>Initiates the interaction by sending a request</a:t>
            </a:r>
            <a:endParaRPr lang="en-US" sz="950" dirty="0"/>
          </a:p>
          <a:p>
            <a:pPr algn="l" marL="342900" indent="-342900">
              <a:lnSpc>
                <a:spcPts val="1550"/>
              </a:lnSpc>
              <a:buSzPct val="100000"/>
              <a:buChar char="•"/>
            </a:pPr>
            <a:r>
              <a:rPr lang="en-US" sz="950" dirty="0">
                <a:solidFill>
                  <a:srgbClr val="FFFFFF"/>
                </a:solidFill>
                <a:latin typeface="Roboto" pitchFamily="34" charset="0"/>
                <a:ea typeface="Roboto" pitchFamily="34" charset="-122"/>
                <a:cs typeface="Roboto" pitchFamily="34" charset="-120"/>
              </a:rPr>
              <a:t>Can be a browser, mobile app, or another service</a:t>
            </a:r>
            <a:endParaRPr lang="en-US" sz="950" dirty="0"/>
          </a:p>
          <a:p>
            <a:pPr algn="l" marL="342900" indent="-342900">
              <a:lnSpc>
                <a:spcPts val="1550"/>
              </a:lnSpc>
              <a:buSzPct val="100000"/>
              <a:buChar char="•"/>
            </a:pPr>
            <a:r>
              <a:rPr lang="en-US" sz="950" dirty="0">
                <a:solidFill>
                  <a:srgbClr val="FFFFFF"/>
                </a:solidFill>
                <a:latin typeface="Roboto" pitchFamily="34" charset="0"/>
                <a:ea typeface="Roboto" pitchFamily="34" charset="-122"/>
                <a:cs typeface="Roboto" pitchFamily="34" charset="-120"/>
              </a:rPr>
              <a:t>Does not control backend logic</a:t>
            </a:r>
            <a:endParaRPr lang="en-US" sz="950" dirty="0"/>
          </a:p>
        </p:txBody>
      </p:sp>
      <p:sp>
        <p:nvSpPr>
          <p:cNvPr id="9" name="Text 7"/>
          <p:cNvSpPr/>
          <p:nvPr/>
        </p:nvSpPr>
        <p:spPr>
          <a:xfrm>
            <a:off x="4728046" y="2813224"/>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1B1B27"/>
                </a:solidFill>
                <a:latin typeface="Raleway" pitchFamily="34" charset="0"/>
                <a:ea typeface="Raleway" pitchFamily="34" charset="-122"/>
                <a:cs typeface="Raleway" pitchFamily="34" charset="-120"/>
              </a:rPr>
              <a:t>Server</a:t>
            </a:r>
            <a:endParaRPr lang="en-US" sz="1200" dirty="0"/>
          </a:p>
        </p:txBody>
      </p:sp>
      <p:sp>
        <p:nvSpPr>
          <p:cNvPr id="10" name="Text 8"/>
          <p:cNvSpPr/>
          <p:nvPr/>
        </p:nvSpPr>
        <p:spPr>
          <a:xfrm>
            <a:off x="4728046" y="3131046"/>
            <a:ext cx="3924598" cy="682154"/>
          </a:xfrm>
          <a:prstGeom prst="rect">
            <a:avLst/>
          </a:prstGeom>
          <a:noFill/>
          <a:ln/>
        </p:spPr>
        <p:txBody>
          <a:bodyPr wrap="square" lIns="0" tIns="0" rIns="0" bIns="0" rtlCol="0" anchor="t"/>
          <a:lstStyle/>
          <a:p>
            <a:pPr algn="l" marL="342900" indent="-342900">
              <a:lnSpc>
                <a:spcPts val="1550"/>
              </a:lnSpc>
              <a:buSzPct val="100000"/>
              <a:buChar char="•"/>
            </a:pPr>
            <a:r>
              <a:rPr lang="en-US" sz="950" dirty="0">
                <a:solidFill>
                  <a:srgbClr val="3C3939"/>
                </a:solidFill>
                <a:latin typeface="Roboto" pitchFamily="34" charset="0"/>
                <a:ea typeface="Roboto" pitchFamily="34" charset="-122"/>
                <a:cs typeface="Roboto" pitchFamily="34" charset="-120"/>
              </a:rPr>
              <a:t>Receives and processes every incoming request</a:t>
            </a:r>
            <a:endParaRPr lang="en-US" sz="950" dirty="0"/>
          </a:p>
          <a:p>
            <a:pPr algn="l" marL="342900" indent="-342900">
              <a:lnSpc>
                <a:spcPts val="1550"/>
              </a:lnSpc>
              <a:buSzPct val="100000"/>
              <a:buChar char="•"/>
            </a:pPr>
            <a:r>
              <a:rPr lang="en-US" sz="950" dirty="0">
                <a:solidFill>
                  <a:srgbClr val="3C3939"/>
                </a:solidFill>
                <a:latin typeface="Roboto" pitchFamily="34" charset="0"/>
                <a:ea typeface="Roboto" pitchFamily="34" charset="-122"/>
                <a:cs typeface="Roboto" pitchFamily="34" charset="-120"/>
              </a:rPr>
              <a:t>Owns and enforces all business logic</a:t>
            </a:r>
            <a:endParaRPr lang="en-US" sz="950" dirty="0"/>
          </a:p>
          <a:p>
            <a:pPr algn="l" marL="342900" indent="-342900">
              <a:lnSpc>
                <a:spcPts val="1550"/>
              </a:lnSpc>
              <a:buSzPct val="100000"/>
              <a:buChar char="•"/>
            </a:pPr>
            <a:r>
              <a:rPr lang="en-US" sz="950" dirty="0">
                <a:solidFill>
                  <a:srgbClr val="3C3939"/>
                </a:solidFill>
                <a:latin typeface="Roboto" pitchFamily="34" charset="0"/>
                <a:ea typeface="Roboto" pitchFamily="34" charset="-122"/>
                <a:cs typeface="Roboto" pitchFamily="34" charset="-120"/>
              </a:rPr>
              <a:t>Decides what the client is allowed to see or do</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61987" y="368424"/>
            <a:ext cx="3304952" cy="4406652"/>
          </a:xfrm>
          <a:prstGeom prst="rect">
            <a:avLst/>
          </a:prstGeom>
        </p:spPr>
      </p:pic>
      <p:sp>
        <p:nvSpPr>
          <p:cNvPr id="4" name="Shape 1"/>
          <p:cNvSpPr/>
          <p:nvPr/>
        </p:nvSpPr>
        <p:spPr>
          <a:xfrm>
            <a:off x="3925119" y="453405"/>
            <a:ext cx="1636068" cy="242739"/>
          </a:xfrm>
          <a:prstGeom prst="roundRect">
            <a:avLst>
              <a:gd name="adj" fmla="val 17171"/>
            </a:avLst>
          </a:prstGeom>
          <a:noFill/>
          <a:ln w="4763">
            <a:solidFill>
              <a:srgbClr val="1B1B27"/>
            </a:solidFill>
            <a:prstDash val="solid"/>
          </a:ln>
        </p:spPr>
      </p:sp>
      <p:sp>
        <p:nvSpPr>
          <p:cNvPr id="5" name="Text 2"/>
          <p:cNvSpPr/>
          <p:nvPr/>
        </p:nvSpPr>
        <p:spPr>
          <a:xfrm>
            <a:off x="4004295" y="495374"/>
            <a:ext cx="1477714"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1 — UNDERSTANDING APIS</a:t>
            </a:r>
            <a:endParaRPr lang="en-US" sz="750" dirty="0"/>
          </a:p>
        </p:txBody>
      </p:sp>
      <p:sp>
        <p:nvSpPr>
          <p:cNvPr id="6" name="Text 3"/>
          <p:cNvSpPr/>
          <p:nvPr/>
        </p:nvSpPr>
        <p:spPr>
          <a:xfrm>
            <a:off x="3925119" y="745703"/>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Never Trust the Client</a:t>
            </a:r>
            <a:endParaRPr lang="en-US" sz="2400" dirty="0"/>
          </a:p>
        </p:txBody>
      </p:sp>
      <p:sp>
        <p:nvSpPr>
          <p:cNvPr id="7" name="Text 4"/>
          <p:cNvSpPr/>
          <p:nvPr/>
        </p:nvSpPr>
        <p:spPr>
          <a:xfrm>
            <a:off x="3925119" y="1319287"/>
            <a:ext cx="4722763" cy="5953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This is one of the most important principles in backend development. The client can send anything — incorrect data, fake values, or requests that violate your rules. Your backend must always validate everything, no exceptions.</a:t>
            </a:r>
            <a:endParaRPr lang="en-US" sz="950" dirty="0"/>
          </a:p>
        </p:txBody>
      </p:sp>
      <p:sp>
        <p:nvSpPr>
          <p:cNvPr id="8" name="Shape 5"/>
          <p:cNvSpPr/>
          <p:nvPr/>
        </p:nvSpPr>
        <p:spPr>
          <a:xfrm>
            <a:off x="3925119" y="2054200"/>
            <a:ext cx="2299395" cy="922660"/>
          </a:xfrm>
          <a:prstGeom prst="roundRect">
            <a:avLst>
              <a:gd name="adj" fmla="val 5647"/>
            </a:avLst>
          </a:prstGeom>
          <a:solidFill>
            <a:srgbClr val="E1E1EA"/>
          </a:solidFill>
          <a:ln w="4763">
            <a:solidFill>
              <a:srgbClr val="C7C7D0"/>
            </a:solidFill>
            <a:prstDash val="solid"/>
          </a:ln>
        </p:spPr>
      </p:sp>
      <p:sp>
        <p:nvSpPr>
          <p:cNvPr id="9" name="Text 6"/>
          <p:cNvSpPr/>
          <p:nvPr/>
        </p:nvSpPr>
        <p:spPr>
          <a:xfrm>
            <a:off x="4053855" y="2182937"/>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Wrong Data</a:t>
            </a:r>
            <a:endParaRPr lang="en-US" sz="1200" dirty="0"/>
          </a:p>
        </p:txBody>
      </p:sp>
      <p:sp>
        <p:nvSpPr>
          <p:cNvPr id="10" name="Text 7"/>
          <p:cNvSpPr/>
          <p:nvPr/>
        </p:nvSpPr>
        <p:spPr>
          <a:xfrm>
            <a:off x="4053855" y="2451199"/>
            <a:ext cx="2041922"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 string sent where a number is expected</a:t>
            </a:r>
            <a:endParaRPr lang="en-US" sz="950" dirty="0"/>
          </a:p>
        </p:txBody>
      </p:sp>
      <p:sp>
        <p:nvSpPr>
          <p:cNvPr id="11" name="Shape 8"/>
          <p:cNvSpPr/>
          <p:nvPr/>
        </p:nvSpPr>
        <p:spPr>
          <a:xfrm>
            <a:off x="6348487" y="2054200"/>
            <a:ext cx="2299395" cy="922660"/>
          </a:xfrm>
          <a:prstGeom prst="roundRect">
            <a:avLst>
              <a:gd name="adj" fmla="val 5647"/>
            </a:avLst>
          </a:prstGeom>
          <a:solidFill>
            <a:srgbClr val="E1E1EA"/>
          </a:solidFill>
          <a:ln w="4763">
            <a:solidFill>
              <a:srgbClr val="C7C7D0"/>
            </a:solidFill>
            <a:prstDash val="solid"/>
          </a:ln>
        </p:spPr>
      </p:sp>
      <p:sp>
        <p:nvSpPr>
          <p:cNvPr id="12" name="Text 9"/>
          <p:cNvSpPr/>
          <p:nvPr/>
        </p:nvSpPr>
        <p:spPr>
          <a:xfrm>
            <a:off x="6477223" y="2182937"/>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Fake Data</a:t>
            </a:r>
            <a:endParaRPr lang="en-US" sz="1200" dirty="0"/>
          </a:p>
        </p:txBody>
      </p:sp>
      <p:sp>
        <p:nvSpPr>
          <p:cNvPr id="13" name="Text 10"/>
          <p:cNvSpPr/>
          <p:nvPr/>
        </p:nvSpPr>
        <p:spPr>
          <a:xfrm>
            <a:off x="6477223" y="2451199"/>
            <a:ext cx="2041922"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 user claiming to be an admin when they are not</a:t>
            </a:r>
            <a:endParaRPr lang="en-US" sz="950" dirty="0"/>
          </a:p>
        </p:txBody>
      </p:sp>
      <p:sp>
        <p:nvSpPr>
          <p:cNvPr id="14" name="Shape 11"/>
          <p:cNvSpPr/>
          <p:nvPr/>
        </p:nvSpPr>
        <p:spPr>
          <a:xfrm>
            <a:off x="3925119" y="3100834"/>
            <a:ext cx="4722763" cy="724198"/>
          </a:xfrm>
          <a:prstGeom prst="roundRect">
            <a:avLst>
              <a:gd name="adj" fmla="val 7194"/>
            </a:avLst>
          </a:prstGeom>
          <a:solidFill>
            <a:srgbClr val="E1E1EA"/>
          </a:solidFill>
          <a:ln w="4763">
            <a:solidFill>
              <a:srgbClr val="C7C7D0"/>
            </a:solidFill>
            <a:prstDash val="solid"/>
          </a:ln>
        </p:spPr>
      </p:sp>
      <p:sp>
        <p:nvSpPr>
          <p:cNvPr id="15" name="Text 12"/>
          <p:cNvSpPr/>
          <p:nvPr/>
        </p:nvSpPr>
        <p:spPr>
          <a:xfrm>
            <a:off x="4053855" y="3229570"/>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Broken Rules</a:t>
            </a:r>
            <a:endParaRPr lang="en-US" sz="1200" dirty="0"/>
          </a:p>
        </p:txBody>
      </p:sp>
      <p:sp>
        <p:nvSpPr>
          <p:cNvPr id="16" name="Text 13"/>
          <p:cNvSpPr/>
          <p:nvPr/>
        </p:nvSpPr>
        <p:spPr>
          <a:xfrm>
            <a:off x="4053855" y="3497833"/>
            <a:ext cx="4465290"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 negative price, a missing required field, an invalid ID</a:t>
            </a:r>
            <a:endParaRPr lang="en-US" sz="950" dirty="0"/>
          </a:p>
        </p:txBody>
      </p:sp>
      <p:sp>
        <p:nvSpPr>
          <p:cNvPr id="17" name="Shape 14"/>
          <p:cNvSpPr/>
          <p:nvPr/>
        </p:nvSpPr>
        <p:spPr>
          <a:xfrm>
            <a:off x="3925119" y="3964558"/>
            <a:ext cx="4722763" cy="725463"/>
          </a:xfrm>
          <a:prstGeom prst="roundRect">
            <a:avLst>
              <a:gd name="adj" fmla="val 7182"/>
            </a:avLst>
          </a:prstGeom>
          <a:solidFill>
            <a:srgbClr val="FCF2B5"/>
          </a:solidFill>
          <a:ln/>
        </p:spPr>
      </p:sp>
      <p:pic>
        <p:nvPicPr>
          <p:cNvPr id="18" name="Image 1" descr="preencoded.png">    </p:cNvPr>
          <p:cNvPicPr>
            <a:picLocks noChangeAspect="1"/>
          </p:cNvPicPr>
          <p:nvPr/>
        </p:nvPicPr>
        <p:blipFill>
          <a:blip r:embed="rId2"/>
          <a:stretch>
            <a:fillRect/>
          </a:stretch>
        </p:blipFill>
        <p:spPr>
          <a:xfrm>
            <a:off x="4049092" y="4149105"/>
            <a:ext cx="155004" cy="123974"/>
          </a:xfrm>
          <a:prstGeom prst="rect">
            <a:avLst/>
          </a:prstGeom>
        </p:spPr>
      </p:pic>
      <p:sp>
        <p:nvSpPr>
          <p:cNvPr id="19" name="Text 15"/>
          <p:cNvSpPr/>
          <p:nvPr/>
        </p:nvSpPr>
        <p:spPr>
          <a:xfrm>
            <a:off x="4328071" y="4119488"/>
            <a:ext cx="4195837" cy="396925"/>
          </a:xfrm>
          <a:prstGeom prst="rect">
            <a:avLst/>
          </a:prstGeom>
          <a:noFill/>
          <a:ln/>
        </p:spPr>
        <p:txBody>
          <a:bodyPr wrap="squar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Backend must validate all incoming data — never rely on the client to send correct values.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96119" y="1165920"/>
            <a:ext cx="1636068" cy="242739"/>
          </a:xfrm>
          <a:prstGeom prst="roundRect">
            <a:avLst>
              <a:gd name="adj" fmla="val 17171"/>
            </a:avLst>
          </a:prstGeom>
          <a:noFill/>
          <a:ln w="4763">
            <a:solidFill>
              <a:srgbClr val="1B1B27"/>
            </a:solidFill>
            <a:prstDash val="solid"/>
          </a:ln>
        </p:spPr>
      </p:sp>
      <p:sp>
        <p:nvSpPr>
          <p:cNvPr id="3" name="Text 1"/>
          <p:cNvSpPr/>
          <p:nvPr/>
        </p:nvSpPr>
        <p:spPr>
          <a:xfrm>
            <a:off x="575295" y="1207889"/>
            <a:ext cx="1477714"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1 — UNDERSTANDING APIS</a:t>
            </a:r>
            <a:endParaRPr lang="en-US" sz="750" dirty="0"/>
          </a:p>
        </p:txBody>
      </p:sp>
      <p:sp>
        <p:nvSpPr>
          <p:cNvPr id="4" name="Text 2"/>
          <p:cNvSpPr/>
          <p:nvPr/>
        </p:nvSpPr>
        <p:spPr>
          <a:xfrm>
            <a:off x="496119" y="1458218"/>
            <a:ext cx="3145557"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HTTP Communication</a:t>
            </a:r>
            <a:endParaRPr lang="en-US" sz="2400" dirty="0"/>
          </a:p>
        </p:txBody>
      </p:sp>
      <p:sp>
        <p:nvSpPr>
          <p:cNvPr id="5" name="Text 3"/>
          <p:cNvSpPr/>
          <p:nvPr/>
        </p:nvSpPr>
        <p:spPr>
          <a:xfrm>
            <a:off x="496119" y="2031802"/>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HTTP (HyperText Transfer Protocol) is the language that clients and servers use to communicate on the web. Every API interaction is an HTTP conversation — a request is sent, and a response is returned.</a:t>
            </a:r>
            <a:endParaRPr lang="en-US" sz="950" dirty="0"/>
          </a:p>
        </p:txBody>
      </p:sp>
      <p:pic>
        <p:nvPicPr>
          <p:cNvPr id="6" name="Image 0" descr="preencoded.png">    </p:cNvPr>
          <p:cNvPicPr>
            <a:picLocks noChangeAspect="1"/>
          </p:cNvPicPr>
          <p:nvPr/>
        </p:nvPicPr>
        <p:blipFill>
          <a:blip r:embed="rId1"/>
          <a:stretch>
            <a:fillRect/>
          </a:stretch>
        </p:blipFill>
        <p:spPr>
          <a:xfrm>
            <a:off x="496119" y="2568253"/>
            <a:ext cx="2717229" cy="496119"/>
          </a:xfrm>
          <a:prstGeom prst="rect">
            <a:avLst/>
          </a:prstGeom>
        </p:spPr>
      </p:pic>
      <p:sp>
        <p:nvSpPr>
          <p:cNvPr id="7" name="Text 4"/>
          <p:cNvSpPr/>
          <p:nvPr/>
        </p:nvSpPr>
        <p:spPr>
          <a:xfrm>
            <a:off x="620092" y="3188345"/>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Client</a:t>
            </a:r>
            <a:endParaRPr lang="en-US" sz="1200" dirty="0"/>
          </a:p>
        </p:txBody>
      </p:sp>
      <p:sp>
        <p:nvSpPr>
          <p:cNvPr id="8" name="Text 5"/>
          <p:cNvSpPr/>
          <p:nvPr/>
        </p:nvSpPr>
        <p:spPr>
          <a:xfrm>
            <a:off x="620092" y="3456608"/>
            <a:ext cx="2469282"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Initiates the conversation by sending an HTTP request</a:t>
            </a:r>
            <a:endParaRPr lang="en-US" sz="950" dirty="0"/>
          </a:p>
        </p:txBody>
      </p:sp>
      <p:pic>
        <p:nvPicPr>
          <p:cNvPr id="9" name="Image 1" descr="preencoded.png">    </p:cNvPr>
          <p:cNvPicPr>
            <a:picLocks noChangeAspect="1"/>
          </p:cNvPicPr>
          <p:nvPr/>
        </p:nvPicPr>
        <p:blipFill>
          <a:blip r:embed="rId2"/>
          <a:stretch>
            <a:fillRect/>
          </a:stretch>
        </p:blipFill>
        <p:spPr>
          <a:xfrm>
            <a:off x="3213348" y="2568253"/>
            <a:ext cx="2717229" cy="496119"/>
          </a:xfrm>
          <a:prstGeom prst="rect">
            <a:avLst/>
          </a:prstGeom>
        </p:spPr>
      </p:pic>
      <p:sp>
        <p:nvSpPr>
          <p:cNvPr id="10" name="Text 6"/>
          <p:cNvSpPr/>
          <p:nvPr/>
        </p:nvSpPr>
        <p:spPr>
          <a:xfrm>
            <a:off x="3337322" y="3188345"/>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HTTP Request</a:t>
            </a:r>
            <a:endParaRPr lang="en-US" sz="1200" dirty="0"/>
          </a:p>
        </p:txBody>
      </p:sp>
      <p:sp>
        <p:nvSpPr>
          <p:cNvPr id="11" name="Text 7"/>
          <p:cNvSpPr/>
          <p:nvPr/>
        </p:nvSpPr>
        <p:spPr>
          <a:xfrm>
            <a:off x="3337322" y="3456608"/>
            <a:ext cx="2469282"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Travels over the network carrying method, URL, headers, and body</a:t>
            </a:r>
            <a:endParaRPr lang="en-US" sz="950" dirty="0"/>
          </a:p>
        </p:txBody>
      </p:sp>
      <p:pic>
        <p:nvPicPr>
          <p:cNvPr id="12" name="Image 2" descr="preencoded.png">    </p:cNvPr>
          <p:cNvPicPr>
            <a:picLocks noChangeAspect="1"/>
          </p:cNvPicPr>
          <p:nvPr/>
        </p:nvPicPr>
        <p:blipFill>
          <a:blip r:embed="rId3"/>
          <a:stretch>
            <a:fillRect/>
          </a:stretch>
        </p:blipFill>
        <p:spPr>
          <a:xfrm>
            <a:off x="5930578" y="2568253"/>
            <a:ext cx="2717229" cy="496119"/>
          </a:xfrm>
          <a:prstGeom prst="rect">
            <a:avLst/>
          </a:prstGeom>
        </p:spPr>
      </p:pic>
      <p:sp>
        <p:nvSpPr>
          <p:cNvPr id="13" name="Text 8"/>
          <p:cNvSpPr/>
          <p:nvPr/>
        </p:nvSpPr>
        <p:spPr>
          <a:xfrm>
            <a:off x="6054551" y="3188345"/>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HTTP Response</a:t>
            </a:r>
            <a:endParaRPr lang="en-US" sz="1200" dirty="0"/>
          </a:p>
        </p:txBody>
      </p:sp>
      <p:sp>
        <p:nvSpPr>
          <p:cNvPr id="14" name="Text 9"/>
          <p:cNvSpPr/>
          <p:nvPr/>
        </p:nvSpPr>
        <p:spPr>
          <a:xfrm>
            <a:off x="6054551" y="3456608"/>
            <a:ext cx="2469282"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Server replies with a status code and structured data</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49610" y="323180"/>
            <a:ext cx="1483519" cy="214089"/>
          </a:xfrm>
          <a:prstGeom prst="roundRect">
            <a:avLst>
              <a:gd name="adj" fmla="val 17643"/>
            </a:avLst>
          </a:prstGeom>
          <a:noFill/>
          <a:ln w="4763">
            <a:solidFill>
              <a:srgbClr val="1B1B27"/>
            </a:solidFill>
            <a:prstDash val="solid"/>
          </a:ln>
        </p:spPr>
      </p:sp>
      <p:sp>
        <p:nvSpPr>
          <p:cNvPr id="3" name="Text 1"/>
          <p:cNvSpPr/>
          <p:nvPr/>
        </p:nvSpPr>
        <p:spPr>
          <a:xfrm>
            <a:off x="521791" y="361652"/>
            <a:ext cx="1339155" cy="137145"/>
          </a:xfrm>
          <a:prstGeom prst="rect">
            <a:avLst/>
          </a:prstGeom>
          <a:noFill/>
          <a:ln/>
        </p:spPr>
        <p:txBody>
          <a:bodyPr wrap="none" lIns="0" tIns="0" rIns="0" bIns="0" rtlCol="0" anchor="t"/>
          <a:lstStyle/>
          <a:p>
            <a:pPr algn="l" indent="0" marL="0">
              <a:lnSpc>
                <a:spcPts val="1050"/>
              </a:lnSpc>
              <a:buNone/>
            </a:pPr>
            <a:r>
              <a:rPr lang="en-US" sz="700" dirty="0">
                <a:solidFill>
                  <a:srgbClr val="1B1B27"/>
                </a:solidFill>
                <a:latin typeface="Roboto" pitchFamily="34" charset="0"/>
                <a:ea typeface="Roboto" pitchFamily="34" charset="-122"/>
                <a:cs typeface="Roboto" pitchFamily="34" charset="-120"/>
              </a:rPr>
              <a:t>PART 1 — UNDERSTANDING APIS</a:t>
            </a:r>
            <a:endParaRPr lang="en-US" sz="700" dirty="0"/>
          </a:p>
        </p:txBody>
      </p:sp>
      <p:sp>
        <p:nvSpPr>
          <p:cNvPr id="4" name="Text 2"/>
          <p:cNvSpPr/>
          <p:nvPr/>
        </p:nvSpPr>
        <p:spPr>
          <a:xfrm>
            <a:off x="449610" y="577974"/>
            <a:ext cx="3492178" cy="351309"/>
          </a:xfrm>
          <a:prstGeom prst="rect">
            <a:avLst/>
          </a:prstGeom>
          <a:noFill/>
          <a:ln/>
        </p:spPr>
        <p:txBody>
          <a:bodyPr wrap="none" lIns="0" tIns="0" rIns="0" bIns="0" rtlCol="0" anchor="t"/>
          <a:lstStyle/>
          <a:p>
            <a:pPr algn="l" indent="0" marL="0">
              <a:lnSpc>
                <a:spcPts val="2750"/>
              </a:lnSpc>
              <a:buNone/>
            </a:pPr>
            <a:r>
              <a:rPr lang="en-US" sz="2200" dirty="0">
                <a:solidFill>
                  <a:srgbClr val="1B1B27"/>
                </a:solidFill>
                <a:latin typeface="Raleway" pitchFamily="34" charset="0"/>
                <a:ea typeface="Raleway" pitchFamily="34" charset="-122"/>
                <a:cs typeface="Raleway" pitchFamily="34" charset="-120"/>
              </a:rPr>
              <a:t>Request → Response Flow</a:t>
            </a:r>
            <a:endParaRPr lang="en-US" sz="2200" dirty="0"/>
          </a:p>
        </p:txBody>
      </p:sp>
      <p:sp>
        <p:nvSpPr>
          <p:cNvPr id="5" name="Text 3"/>
          <p:cNvSpPr/>
          <p:nvPr/>
        </p:nvSpPr>
        <p:spPr>
          <a:xfrm>
            <a:off x="449610" y="1082055"/>
            <a:ext cx="8244780" cy="342900"/>
          </a:xfrm>
          <a:prstGeom prst="rect">
            <a:avLst/>
          </a:prstGeom>
          <a:noFill/>
          <a:ln/>
        </p:spPr>
        <p:txBody>
          <a:bodyPr wrap="square" lIns="0" tIns="0" rIns="0" bIns="0" rtlCol="0" anchor="t"/>
          <a:lstStyle/>
          <a:p>
            <a:pPr algn="l" indent="0" marL="0">
              <a:lnSpc>
                <a:spcPts val="1300"/>
              </a:lnSpc>
              <a:buNone/>
            </a:pPr>
            <a:r>
              <a:rPr lang="en-US" sz="850" dirty="0">
                <a:solidFill>
                  <a:srgbClr val="3C3939"/>
                </a:solidFill>
                <a:latin typeface="Roboto" pitchFamily="34" charset="0"/>
                <a:ea typeface="Roboto" pitchFamily="34" charset="-122"/>
                <a:cs typeface="Roboto" pitchFamily="34" charset="-120"/>
              </a:rPr>
              <a:t>Every backend interaction follows the same lifecycle. A client sends an HTTP request, the backend applies its business logic, and a structured HTTP response is returned. Understanding this flow is the foundation of API development.</a:t>
            </a:r>
            <a:endParaRPr lang="en-US" sz="850" dirty="0"/>
          </a:p>
        </p:txBody>
      </p:sp>
      <p:pic>
        <p:nvPicPr>
          <p:cNvPr id="6" name="Image 0" descr="preencoded.png">    </p:cNvPr>
          <p:cNvPicPr>
            <a:picLocks noChangeAspect="1"/>
          </p:cNvPicPr>
          <p:nvPr/>
        </p:nvPicPr>
        <p:blipFill>
          <a:blip r:embed="rId1"/>
          <a:stretch>
            <a:fillRect/>
          </a:stretch>
        </p:blipFill>
        <p:spPr>
          <a:xfrm>
            <a:off x="581620" y="1539553"/>
            <a:ext cx="7980685" cy="2994720"/>
          </a:xfrm>
          <a:prstGeom prst="rect">
            <a:avLst/>
          </a:prstGeom>
        </p:spPr>
      </p:pic>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97214" y="2302361"/>
            <a:ext cx="412235" cy="412235"/>
          </a:xfrm>
          <a:prstGeom prst="rect">
            <a:avLst/>
          </a:prstGeom>
        </p:spPr>
      </p:pic>
      <p:sp>
        <p:nvSpPr>
          <p:cNvPr id="8" name="Text 4"/>
          <p:cNvSpPr/>
          <p:nvPr/>
        </p:nvSpPr>
        <p:spPr>
          <a:xfrm>
            <a:off x="7029938" y="3691335"/>
            <a:ext cx="1203726" cy="463764"/>
          </a:xfrm>
          <a:prstGeom prst="rect">
            <a:avLst/>
          </a:prstGeom>
          <a:noFill/>
          <a:ln/>
        </p:spPr>
        <p:txBody>
          <a:bodyPr wrap="square" lIns="0" tIns="0" rIns="0" bIns="0" rtlCol="0" anchor="t"/>
          <a:lstStyle/>
          <a:p>
            <a:pPr algn="ctr" indent="0" marL="0">
              <a:lnSpc>
                <a:spcPts val="1800"/>
              </a:lnSpc>
              <a:buNone/>
            </a:pPr>
            <a:r>
              <a:rPr lang="en-US" sz="1450" dirty="0">
                <a:solidFill>
                  <a:srgbClr val="3C3939"/>
                </a:solidFill>
                <a:latin typeface="Raleway" pitchFamily="34" charset="0"/>
                <a:ea typeface="Raleway" pitchFamily="34" charset="-122"/>
                <a:cs typeface="Raleway" pitchFamily="34" charset="-120"/>
              </a:rPr>
              <a:t>Build Response</a:t>
            </a:r>
            <a:endParaRPr lang="en-US" sz="1450" dirty="0"/>
          </a:p>
        </p:txBody>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88048" y="2303134"/>
            <a:ext cx="412235" cy="412235"/>
          </a:xfrm>
          <a:prstGeom prst="rect">
            <a:avLst/>
          </a:prstGeom>
        </p:spPr>
      </p:pic>
      <p:sp>
        <p:nvSpPr>
          <p:cNvPr id="10" name="Text 5"/>
          <p:cNvSpPr/>
          <p:nvPr/>
        </p:nvSpPr>
        <p:spPr>
          <a:xfrm>
            <a:off x="5512913" y="3691335"/>
            <a:ext cx="1203726" cy="463764"/>
          </a:xfrm>
          <a:prstGeom prst="rect">
            <a:avLst/>
          </a:prstGeom>
          <a:noFill/>
          <a:ln/>
        </p:spPr>
        <p:txBody>
          <a:bodyPr wrap="square" lIns="0" tIns="0" rIns="0" bIns="0" rtlCol="0" anchor="t"/>
          <a:lstStyle/>
          <a:p>
            <a:pPr algn="ctr" indent="0" marL="0">
              <a:lnSpc>
                <a:spcPts val="1800"/>
              </a:lnSpc>
              <a:buNone/>
            </a:pPr>
            <a:r>
              <a:rPr lang="en-US" sz="1450" dirty="0">
                <a:solidFill>
                  <a:srgbClr val="3C3939"/>
                </a:solidFill>
                <a:latin typeface="Raleway" pitchFamily="34" charset="0"/>
                <a:ea typeface="Raleway" pitchFamily="34" charset="-122"/>
                <a:cs typeface="Raleway" pitchFamily="34" charset="-120"/>
              </a:rPr>
              <a:t>Execute Logic</a:t>
            </a:r>
            <a:endParaRPr lang="en-US" sz="145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79268" y="2303134"/>
            <a:ext cx="412235" cy="412235"/>
          </a:xfrm>
          <a:prstGeom prst="rect">
            <a:avLst/>
          </a:prstGeom>
        </p:spPr>
      </p:pic>
      <p:sp>
        <p:nvSpPr>
          <p:cNvPr id="12" name="Text 6"/>
          <p:cNvSpPr/>
          <p:nvPr/>
        </p:nvSpPr>
        <p:spPr>
          <a:xfrm>
            <a:off x="4004134" y="3691335"/>
            <a:ext cx="1203726" cy="463764"/>
          </a:xfrm>
          <a:prstGeom prst="rect">
            <a:avLst/>
          </a:prstGeom>
          <a:noFill/>
          <a:ln/>
        </p:spPr>
        <p:txBody>
          <a:bodyPr wrap="square" lIns="0" tIns="0" rIns="0" bIns="0" rtlCol="0" anchor="t"/>
          <a:lstStyle/>
          <a:p>
            <a:pPr algn="ctr" indent="0" marL="0">
              <a:lnSpc>
                <a:spcPts val="1800"/>
              </a:lnSpc>
              <a:buNone/>
            </a:pPr>
            <a:r>
              <a:rPr lang="en-US" sz="1450" dirty="0">
                <a:solidFill>
                  <a:srgbClr val="3C3939"/>
                </a:solidFill>
                <a:latin typeface="Raleway" pitchFamily="34" charset="0"/>
                <a:ea typeface="Raleway" pitchFamily="34" charset="-122"/>
                <a:cs typeface="Raleway" pitchFamily="34" charset="-120"/>
              </a:rPr>
              <a:t>Backend Receives</a:t>
            </a:r>
            <a:endParaRPr lang="en-US" sz="145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870488" y="2303134"/>
            <a:ext cx="412235" cy="412235"/>
          </a:xfrm>
          <a:prstGeom prst="rect">
            <a:avLst/>
          </a:prstGeom>
        </p:spPr>
      </p:pic>
      <p:sp>
        <p:nvSpPr>
          <p:cNvPr id="14" name="Text 7"/>
          <p:cNvSpPr/>
          <p:nvPr/>
        </p:nvSpPr>
        <p:spPr>
          <a:xfrm>
            <a:off x="2495354" y="3691335"/>
            <a:ext cx="1203726" cy="463764"/>
          </a:xfrm>
          <a:prstGeom prst="rect">
            <a:avLst/>
          </a:prstGeom>
          <a:noFill/>
          <a:ln/>
        </p:spPr>
        <p:txBody>
          <a:bodyPr wrap="square" lIns="0" tIns="0" rIns="0" bIns="0" rtlCol="0" anchor="t"/>
          <a:lstStyle/>
          <a:p>
            <a:pPr algn="ctr" indent="0" marL="0">
              <a:lnSpc>
                <a:spcPts val="1800"/>
              </a:lnSpc>
              <a:buNone/>
            </a:pPr>
            <a:r>
              <a:rPr lang="en-US" sz="1450" dirty="0">
                <a:solidFill>
                  <a:srgbClr val="3C3939"/>
                </a:solidFill>
                <a:latin typeface="Raleway" pitchFamily="34" charset="0"/>
                <a:ea typeface="Raleway" pitchFamily="34" charset="-122"/>
                <a:cs typeface="Raleway" pitchFamily="34" charset="-120"/>
              </a:rPr>
              <a:t>HTTP Over Network</a:t>
            </a:r>
            <a:endParaRPr lang="en-US" sz="1450" dirty="0"/>
          </a:p>
        </p:txBody>
      </p:sp>
      <p:pic>
        <p:nvPicPr>
          <p:cNvPr id="15"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353464" y="2303134"/>
            <a:ext cx="412235" cy="412235"/>
          </a:xfrm>
          <a:prstGeom prst="rect">
            <a:avLst/>
          </a:prstGeom>
        </p:spPr>
      </p:pic>
      <p:sp>
        <p:nvSpPr>
          <p:cNvPr id="16" name="Text 8"/>
          <p:cNvSpPr/>
          <p:nvPr/>
        </p:nvSpPr>
        <p:spPr>
          <a:xfrm>
            <a:off x="953596" y="3691335"/>
            <a:ext cx="1203726" cy="463764"/>
          </a:xfrm>
          <a:prstGeom prst="rect">
            <a:avLst/>
          </a:prstGeom>
          <a:noFill/>
          <a:ln/>
        </p:spPr>
        <p:txBody>
          <a:bodyPr wrap="square" lIns="0" tIns="0" rIns="0" bIns="0" rtlCol="0" anchor="t"/>
          <a:lstStyle/>
          <a:p>
            <a:pPr algn="ctr" indent="0" marL="0">
              <a:lnSpc>
                <a:spcPts val="1800"/>
              </a:lnSpc>
              <a:buNone/>
            </a:pPr>
            <a:r>
              <a:rPr lang="en-US" sz="1450" dirty="0">
                <a:solidFill>
                  <a:srgbClr val="3C3939"/>
                </a:solidFill>
                <a:latin typeface="Raleway" pitchFamily="34" charset="0"/>
                <a:ea typeface="Raleway" pitchFamily="34" charset="-122"/>
                <a:cs typeface="Raleway" pitchFamily="34" charset="-120"/>
              </a:rPr>
              <a:t>Client Request</a:t>
            </a:r>
            <a:endParaRPr lang="en-US" sz="1450" dirty="0"/>
          </a:p>
        </p:txBody>
      </p:sp>
      <p:sp>
        <p:nvSpPr>
          <p:cNvPr id="17" name="Text 9"/>
          <p:cNvSpPr/>
          <p:nvPr/>
        </p:nvSpPr>
        <p:spPr>
          <a:xfrm>
            <a:off x="449610" y="4648870"/>
            <a:ext cx="8244780" cy="171450"/>
          </a:xfrm>
          <a:prstGeom prst="rect">
            <a:avLst/>
          </a:prstGeom>
          <a:noFill/>
          <a:ln/>
        </p:spPr>
        <p:txBody>
          <a:bodyPr wrap="none" lIns="0" tIns="0" rIns="0" bIns="0" rtlCol="0" anchor="t"/>
          <a:lstStyle/>
          <a:p>
            <a:pPr algn="l" indent="0" marL="0">
              <a:lnSpc>
                <a:spcPts val="1300"/>
              </a:lnSpc>
              <a:buNone/>
            </a:pPr>
            <a:r>
              <a:rPr lang="en-US" sz="850" dirty="0">
                <a:solidFill>
                  <a:srgbClr val="3C3939"/>
                </a:solidFill>
                <a:latin typeface="Roboto" pitchFamily="34" charset="0"/>
                <a:ea typeface="Roboto" pitchFamily="34" charset="-122"/>
                <a:cs typeface="Roboto" pitchFamily="34" charset="-120"/>
              </a:rPr>
              <a:t>This cycle repeats for every single API call — at any scale, from a single user to millions of concurrent requests.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96119" y="690860"/>
            <a:ext cx="1636068" cy="242739"/>
          </a:xfrm>
          <a:prstGeom prst="roundRect">
            <a:avLst>
              <a:gd name="adj" fmla="val 17171"/>
            </a:avLst>
          </a:prstGeom>
          <a:noFill/>
          <a:ln w="4763">
            <a:solidFill>
              <a:srgbClr val="1B1B27"/>
            </a:solidFill>
            <a:prstDash val="solid"/>
          </a:ln>
        </p:spPr>
      </p:sp>
      <p:sp>
        <p:nvSpPr>
          <p:cNvPr id="3" name="Text 1"/>
          <p:cNvSpPr/>
          <p:nvPr/>
        </p:nvSpPr>
        <p:spPr>
          <a:xfrm>
            <a:off x="575295" y="732830"/>
            <a:ext cx="1477714"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1 — UNDERSTANDING APIS</a:t>
            </a:r>
            <a:endParaRPr lang="en-US" sz="750" dirty="0"/>
          </a:p>
        </p:txBody>
      </p:sp>
      <p:sp>
        <p:nvSpPr>
          <p:cNvPr id="4" name="Text 2"/>
          <p:cNvSpPr/>
          <p:nvPr/>
        </p:nvSpPr>
        <p:spPr>
          <a:xfrm>
            <a:off x="496119" y="983159"/>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Inside a Request</a:t>
            </a:r>
            <a:endParaRPr lang="en-US" sz="2400" dirty="0"/>
          </a:p>
        </p:txBody>
      </p:sp>
      <p:sp>
        <p:nvSpPr>
          <p:cNvPr id="5" name="Text 3"/>
          <p:cNvSpPr/>
          <p:nvPr/>
        </p:nvSpPr>
        <p:spPr>
          <a:xfrm>
            <a:off x="496119" y="1556742"/>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Every HTTP request is made up of four key components. Together, they give the server everything it needs to understand what the client wants and how to process it.</a:t>
            </a:r>
            <a:endParaRPr lang="en-US" sz="950" dirty="0"/>
          </a:p>
        </p:txBody>
      </p:sp>
      <p:sp>
        <p:nvSpPr>
          <p:cNvPr id="6" name="Shape 4"/>
          <p:cNvSpPr/>
          <p:nvPr/>
        </p:nvSpPr>
        <p:spPr>
          <a:xfrm>
            <a:off x="496119" y="2093193"/>
            <a:ext cx="4013895" cy="1120080"/>
          </a:xfrm>
          <a:prstGeom prst="roundRect">
            <a:avLst>
              <a:gd name="adj" fmla="val 4651"/>
            </a:avLst>
          </a:prstGeom>
          <a:solidFill>
            <a:srgbClr val="FFFFFF">
              <a:alpha val="95000"/>
            </a:srgbClr>
          </a:solidFill>
          <a:ln w="14288">
            <a:solidFill>
              <a:srgbClr val="C7C7D0"/>
            </a:solidFill>
            <a:prstDash val="solid"/>
          </a:ln>
        </p:spPr>
      </p:sp>
      <p:sp>
        <p:nvSpPr>
          <p:cNvPr id="7" name="Shape 5"/>
          <p:cNvSpPr/>
          <p:nvPr/>
        </p:nvSpPr>
        <p:spPr>
          <a:xfrm>
            <a:off x="510406" y="2107481"/>
            <a:ext cx="3985320" cy="372070"/>
          </a:xfrm>
          <a:prstGeom prst="roundRect">
            <a:avLst>
              <a:gd name="adj" fmla="val 9395"/>
            </a:avLst>
          </a:prstGeom>
          <a:solidFill>
            <a:srgbClr val="E1E1EA"/>
          </a:solidFill>
          <a:ln/>
        </p:spPr>
      </p:sp>
      <p:sp>
        <p:nvSpPr>
          <p:cNvPr id="8" name="Text 6"/>
          <p:cNvSpPr/>
          <p:nvPr/>
        </p:nvSpPr>
        <p:spPr>
          <a:xfrm>
            <a:off x="2410048" y="2174825"/>
            <a:ext cx="186035" cy="232544"/>
          </a:xfrm>
          <a:prstGeom prst="rect">
            <a:avLst/>
          </a:prstGeom>
          <a:noFill/>
          <a:ln/>
        </p:spPr>
        <p:txBody>
          <a:bodyPr wrap="none" lIns="0" tIns="0" rIns="0" bIns="0" rtlCol="0" anchor="ctr"/>
          <a:lstStyle/>
          <a:p>
            <a:pPr algn="ctr" indent="0" marL="0">
              <a:lnSpc>
                <a:spcPts val="1450"/>
              </a:lnSpc>
              <a:buNone/>
            </a:pPr>
            <a:r>
              <a:rPr lang="en-US" sz="1450" dirty="0">
                <a:solidFill>
                  <a:srgbClr val="3C3939"/>
                </a:solidFill>
                <a:latin typeface="Raleway" pitchFamily="34" charset="0"/>
                <a:ea typeface="Raleway" pitchFamily="34" charset="-122"/>
                <a:cs typeface="Raleway" pitchFamily="34" charset="-120"/>
              </a:rPr>
              <a:t>1</a:t>
            </a:r>
            <a:endParaRPr lang="en-US" sz="1450" dirty="0"/>
          </a:p>
        </p:txBody>
      </p:sp>
      <p:sp>
        <p:nvSpPr>
          <p:cNvPr id="9" name="Text 7"/>
          <p:cNvSpPr/>
          <p:nvPr/>
        </p:nvSpPr>
        <p:spPr>
          <a:xfrm>
            <a:off x="634380" y="2603525"/>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Method</a:t>
            </a:r>
            <a:endParaRPr lang="en-US" sz="1200" dirty="0"/>
          </a:p>
        </p:txBody>
      </p:sp>
      <p:sp>
        <p:nvSpPr>
          <p:cNvPr id="10" name="Text 8"/>
          <p:cNvSpPr/>
          <p:nvPr/>
        </p:nvSpPr>
        <p:spPr>
          <a:xfrm>
            <a:off x="634380" y="2871788"/>
            <a:ext cx="373737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action type — GET, POST, PUT, or DELETE</a:t>
            </a:r>
            <a:endParaRPr lang="en-US" sz="950" dirty="0"/>
          </a:p>
        </p:txBody>
      </p:sp>
      <p:sp>
        <p:nvSpPr>
          <p:cNvPr id="11" name="Shape 9"/>
          <p:cNvSpPr/>
          <p:nvPr/>
        </p:nvSpPr>
        <p:spPr>
          <a:xfrm>
            <a:off x="4633987" y="2093193"/>
            <a:ext cx="4013895" cy="1120080"/>
          </a:xfrm>
          <a:prstGeom prst="roundRect">
            <a:avLst>
              <a:gd name="adj" fmla="val 4651"/>
            </a:avLst>
          </a:prstGeom>
          <a:solidFill>
            <a:srgbClr val="FFFFFF">
              <a:alpha val="95000"/>
            </a:srgbClr>
          </a:solidFill>
          <a:ln w="14288">
            <a:solidFill>
              <a:srgbClr val="C7C7D0"/>
            </a:solidFill>
            <a:prstDash val="solid"/>
          </a:ln>
        </p:spPr>
      </p:sp>
      <p:sp>
        <p:nvSpPr>
          <p:cNvPr id="12" name="Shape 10"/>
          <p:cNvSpPr/>
          <p:nvPr/>
        </p:nvSpPr>
        <p:spPr>
          <a:xfrm>
            <a:off x="4648274" y="2107481"/>
            <a:ext cx="3985320" cy="372070"/>
          </a:xfrm>
          <a:prstGeom prst="roundRect">
            <a:avLst>
              <a:gd name="adj" fmla="val 9395"/>
            </a:avLst>
          </a:prstGeom>
          <a:solidFill>
            <a:srgbClr val="E1E1EA"/>
          </a:solidFill>
          <a:ln/>
        </p:spPr>
      </p:sp>
      <p:sp>
        <p:nvSpPr>
          <p:cNvPr id="13" name="Text 11"/>
          <p:cNvSpPr/>
          <p:nvPr/>
        </p:nvSpPr>
        <p:spPr>
          <a:xfrm>
            <a:off x="6547917" y="2174825"/>
            <a:ext cx="186035" cy="232544"/>
          </a:xfrm>
          <a:prstGeom prst="rect">
            <a:avLst/>
          </a:prstGeom>
          <a:noFill/>
          <a:ln/>
        </p:spPr>
        <p:txBody>
          <a:bodyPr wrap="none" lIns="0" tIns="0" rIns="0" bIns="0" rtlCol="0" anchor="ctr"/>
          <a:lstStyle/>
          <a:p>
            <a:pPr algn="ctr" indent="0" marL="0">
              <a:lnSpc>
                <a:spcPts val="1450"/>
              </a:lnSpc>
              <a:buNone/>
            </a:pPr>
            <a:r>
              <a:rPr lang="en-US" sz="1450" dirty="0">
                <a:solidFill>
                  <a:srgbClr val="3C3939"/>
                </a:solidFill>
                <a:latin typeface="Raleway" pitchFamily="34" charset="0"/>
                <a:ea typeface="Raleway" pitchFamily="34" charset="-122"/>
                <a:cs typeface="Raleway" pitchFamily="34" charset="-120"/>
              </a:rPr>
              <a:t>2</a:t>
            </a:r>
            <a:endParaRPr lang="en-US" sz="1450" dirty="0"/>
          </a:p>
        </p:txBody>
      </p:sp>
      <p:sp>
        <p:nvSpPr>
          <p:cNvPr id="14" name="Text 12"/>
          <p:cNvSpPr/>
          <p:nvPr/>
        </p:nvSpPr>
        <p:spPr>
          <a:xfrm>
            <a:off x="4772248" y="2603525"/>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URL</a:t>
            </a:r>
            <a:endParaRPr lang="en-US" sz="1200" dirty="0"/>
          </a:p>
        </p:txBody>
      </p:sp>
      <p:sp>
        <p:nvSpPr>
          <p:cNvPr id="15" name="Text 13"/>
          <p:cNvSpPr/>
          <p:nvPr/>
        </p:nvSpPr>
        <p:spPr>
          <a:xfrm>
            <a:off x="4772248" y="2871788"/>
            <a:ext cx="3737372"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resource being targeted — e.g.,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/items/10</a:t>
            </a:r>
            <a:endParaRPr lang="en-US" sz="950" dirty="0"/>
          </a:p>
        </p:txBody>
      </p:sp>
      <p:sp>
        <p:nvSpPr>
          <p:cNvPr id="16" name="Shape 14"/>
          <p:cNvSpPr/>
          <p:nvPr/>
        </p:nvSpPr>
        <p:spPr>
          <a:xfrm>
            <a:off x="496119" y="3337247"/>
            <a:ext cx="4013895" cy="1115318"/>
          </a:xfrm>
          <a:prstGeom prst="roundRect">
            <a:avLst>
              <a:gd name="adj" fmla="val 4671"/>
            </a:avLst>
          </a:prstGeom>
          <a:solidFill>
            <a:srgbClr val="FFFFFF">
              <a:alpha val="95000"/>
            </a:srgbClr>
          </a:solidFill>
          <a:ln w="14288">
            <a:solidFill>
              <a:srgbClr val="C7C7D0"/>
            </a:solidFill>
            <a:prstDash val="solid"/>
          </a:ln>
        </p:spPr>
      </p:sp>
      <p:sp>
        <p:nvSpPr>
          <p:cNvPr id="17" name="Shape 15"/>
          <p:cNvSpPr/>
          <p:nvPr/>
        </p:nvSpPr>
        <p:spPr>
          <a:xfrm>
            <a:off x="510406" y="3351535"/>
            <a:ext cx="3985320" cy="372070"/>
          </a:xfrm>
          <a:prstGeom prst="roundRect">
            <a:avLst>
              <a:gd name="adj" fmla="val 9395"/>
            </a:avLst>
          </a:prstGeom>
          <a:solidFill>
            <a:srgbClr val="E1E1EA"/>
          </a:solidFill>
          <a:ln/>
        </p:spPr>
      </p:sp>
      <p:sp>
        <p:nvSpPr>
          <p:cNvPr id="18" name="Text 16"/>
          <p:cNvSpPr/>
          <p:nvPr/>
        </p:nvSpPr>
        <p:spPr>
          <a:xfrm>
            <a:off x="2410048" y="3418880"/>
            <a:ext cx="186035" cy="232544"/>
          </a:xfrm>
          <a:prstGeom prst="rect">
            <a:avLst/>
          </a:prstGeom>
          <a:noFill/>
          <a:ln/>
        </p:spPr>
        <p:txBody>
          <a:bodyPr wrap="none" lIns="0" tIns="0" rIns="0" bIns="0" rtlCol="0" anchor="ctr"/>
          <a:lstStyle/>
          <a:p>
            <a:pPr algn="ctr" indent="0" marL="0">
              <a:lnSpc>
                <a:spcPts val="1450"/>
              </a:lnSpc>
              <a:buNone/>
            </a:pPr>
            <a:r>
              <a:rPr lang="en-US" sz="1450" dirty="0">
                <a:solidFill>
                  <a:srgbClr val="3C3939"/>
                </a:solidFill>
                <a:latin typeface="Raleway" pitchFamily="34" charset="0"/>
                <a:ea typeface="Raleway" pitchFamily="34" charset="-122"/>
                <a:cs typeface="Raleway" pitchFamily="34" charset="-120"/>
              </a:rPr>
              <a:t>3</a:t>
            </a:r>
            <a:endParaRPr lang="en-US" sz="1450" dirty="0"/>
          </a:p>
        </p:txBody>
      </p:sp>
      <p:sp>
        <p:nvSpPr>
          <p:cNvPr id="19" name="Text 17"/>
          <p:cNvSpPr/>
          <p:nvPr/>
        </p:nvSpPr>
        <p:spPr>
          <a:xfrm>
            <a:off x="634380" y="3847579"/>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Headers</a:t>
            </a:r>
            <a:endParaRPr lang="en-US" sz="1200" dirty="0"/>
          </a:p>
        </p:txBody>
      </p:sp>
      <p:sp>
        <p:nvSpPr>
          <p:cNvPr id="20" name="Text 18"/>
          <p:cNvSpPr/>
          <p:nvPr/>
        </p:nvSpPr>
        <p:spPr>
          <a:xfrm>
            <a:off x="634380" y="4115842"/>
            <a:ext cx="373737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Metadata such as content type, auth tokens, and encoding</a:t>
            </a:r>
            <a:endParaRPr lang="en-US" sz="950" dirty="0"/>
          </a:p>
        </p:txBody>
      </p:sp>
      <p:sp>
        <p:nvSpPr>
          <p:cNvPr id="21" name="Shape 19"/>
          <p:cNvSpPr/>
          <p:nvPr/>
        </p:nvSpPr>
        <p:spPr>
          <a:xfrm>
            <a:off x="4633987" y="3337247"/>
            <a:ext cx="4013895" cy="1115318"/>
          </a:xfrm>
          <a:prstGeom prst="roundRect">
            <a:avLst>
              <a:gd name="adj" fmla="val 4671"/>
            </a:avLst>
          </a:prstGeom>
          <a:solidFill>
            <a:srgbClr val="FFFFFF">
              <a:alpha val="95000"/>
            </a:srgbClr>
          </a:solidFill>
          <a:ln w="14288">
            <a:solidFill>
              <a:srgbClr val="C7C7D0"/>
            </a:solidFill>
            <a:prstDash val="solid"/>
          </a:ln>
        </p:spPr>
      </p:sp>
      <p:sp>
        <p:nvSpPr>
          <p:cNvPr id="22" name="Shape 20"/>
          <p:cNvSpPr/>
          <p:nvPr/>
        </p:nvSpPr>
        <p:spPr>
          <a:xfrm>
            <a:off x="4648274" y="3351535"/>
            <a:ext cx="3985320" cy="372070"/>
          </a:xfrm>
          <a:prstGeom prst="roundRect">
            <a:avLst>
              <a:gd name="adj" fmla="val 9395"/>
            </a:avLst>
          </a:prstGeom>
          <a:solidFill>
            <a:srgbClr val="E1E1EA"/>
          </a:solidFill>
          <a:ln/>
        </p:spPr>
      </p:sp>
      <p:sp>
        <p:nvSpPr>
          <p:cNvPr id="23" name="Text 21"/>
          <p:cNvSpPr/>
          <p:nvPr/>
        </p:nvSpPr>
        <p:spPr>
          <a:xfrm>
            <a:off x="6547917" y="3418880"/>
            <a:ext cx="186035" cy="232544"/>
          </a:xfrm>
          <a:prstGeom prst="rect">
            <a:avLst/>
          </a:prstGeom>
          <a:noFill/>
          <a:ln/>
        </p:spPr>
        <p:txBody>
          <a:bodyPr wrap="none" lIns="0" tIns="0" rIns="0" bIns="0" rtlCol="0" anchor="ctr"/>
          <a:lstStyle/>
          <a:p>
            <a:pPr algn="ctr" indent="0" marL="0">
              <a:lnSpc>
                <a:spcPts val="1450"/>
              </a:lnSpc>
              <a:buNone/>
            </a:pPr>
            <a:r>
              <a:rPr lang="en-US" sz="1450" dirty="0">
                <a:solidFill>
                  <a:srgbClr val="3C3939"/>
                </a:solidFill>
                <a:latin typeface="Raleway" pitchFamily="34" charset="0"/>
                <a:ea typeface="Raleway" pitchFamily="34" charset="-122"/>
                <a:cs typeface="Raleway" pitchFamily="34" charset="-120"/>
              </a:rPr>
              <a:t>4</a:t>
            </a:r>
            <a:endParaRPr lang="en-US" sz="1450" dirty="0"/>
          </a:p>
        </p:txBody>
      </p:sp>
      <p:sp>
        <p:nvSpPr>
          <p:cNvPr id="24" name="Text 22"/>
          <p:cNvSpPr/>
          <p:nvPr/>
        </p:nvSpPr>
        <p:spPr>
          <a:xfrm>
            <a:off x="4772248" y="3847579"/>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Body</a:t>
            </a:r>
            <a:endParaRPr lang="en-US" sz="1200" dirty="0"/>
          </a:p>
        </p:txBody>
      </p:sp>
      <p:sp>
        <p:nvSpPr>
          <p:cNvPr id="25" name="Text 23"/>
          <p:cNvSpPr/>
          <p:nvPr/>
        </p:nvSpPr>
        <p:spPr>
          <a:xfrm>
            <a:off x="4772248" y="4115842"/>
            <a:ext cx="373737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data payload — typically JSON, used with POST and PUT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96119" y="1406872"/>
            <a:ext cx="1636068" cy="242739"/>
          </a:xfrm>
          <a:prstGeom prst="roundRect">
            <a:avLst>
              <a:gd name="adj" fmla="val 17171"/>
            </a:avLst>
          </a:prstGeom>
          <a:noFill/>
          <a:ln w="4763">
            <a:solidFill>
              <a:srgbClr val="1B1B27"/>
            </a:solidFill>
            <a:prstDash val="solid"/>
          </a:ln>
        </p:spPr>
      </p:sp>
      <p:sp>
        <p:nvSpPr>
          <p:cNvPr id="3" name="Text 1"/>
          <p:cNvSpPr/>
          <p:nvPr/>
        </p:nvSpPr>
        <p:spPr>
          <a:xfrm>
            <a:off x="575295" y="1448842"/>
            <a:ext cx="1477714"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1 — UNDERSTANDING APIS</a:t>
            </a:r>
            <a:endParaRPr lang="en-US" sz="750" dirty="0"/>
          </a:p>
        </p:txBody>
      </p:sp>
      <p:sp>
        <p:nvSpPr>
          <p:cNvPr id="4" name="Text 2"/>
          <p:cNvSpPr/>
          <p:nvPr/>
        </p:nvSpPr>
        <p:spPr>
          <a:xfrm>
            <a:off x="496119" y="1699171"/>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Inside a Response</a:t>
            </a:r>
            <a:endParaRPr lang="en-US" sz="2400" dirty="0"/>
          </a:p>
        </p:txBody>
      </p:sp>
      <p:sp>
        <p:nvSpPr>
          <p:cNvPr id="5" name="Text 3"/>
          <p:cNvSpPr/>
          <p:nvPr/>
        </p:nvSpPr>
        <p:spPr>
          <a:xfrm>
            <a:off x="496119" y="2272754"/>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When a server finishes processing a request, it sends back an HTTP response. The response tells the client whether the operation succeeded, and delivers any resulting data in a structured format.</a:t>
            </a:r>
            <a:endParaRPr lang="en-US" sz="950" dirty="0"/>
          </a:p>
        </p:txBody>
      </p:sp>
      <p:sp>
        <p:nvSpPr>
          <p:cNvPr id="6" name="Shape 4"/>
          <p:cNvSpPr/>
          <p:nvPr/>
        </p:nvSpPr>
        <p:spPr>
          <a:xfrm>
            <a:off x="496119" y="2809205"/>
            <a:ext cx="2634555" cy="927422"/>
          </a:xfrm>
          <a:prstGeom prst="roundRect">
            <a:avLst>
              <a:gd name="adj" fmla="val 5618"/>
            </a:avLst>
          </a:prstGeom>
          <a:solidFill>
            <a:srgbClr val="E1E1EA"/>
          </a:solidFill>
          <a:ln w="4763">
            <a:solidFill>
              <a:srgbClr val="C7C7D0"/>
            </a:solidFill>
            <a:prstDash val="solid"/>
          </a:ln>
        </p:spPr>
      </p:sp>
      <p:sp>
        <p:nvSpPr>
          <p:cNvPr id="7" name="Text 5"/>
          <p:cNvSpPr/>
          <p:nvPr/>
        </p:nvSpPr>
        <p:spPr>
          <a:xfrm>
            <a:off x="624855" y="2937942"/>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Status Code</a:t>
            </a:r>
            <a:endParaRPr lang="en-US" sz="1200" dirty="0"/>
          </a:p>
        </p:txBody>
      </p:sp>
      <p:sp>
        <p:nvSpPr>
          <p:cNvPr id="8" name="Text 6"/>
          <p:cNvSpPr/>
          <p:nvPr/>
        </p:nvSpPr>
        <p:spPr>
          <a:xfrm>
            <a:off x="624855" y="3206204"/>
            <a:ext cx="2377083" cy="4016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 numeric code indicating success, failure, or redirection — e.g.,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200</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404</a:t>
            </a:r>
            <a:endParaRPr lang="en-US" sz="950" dirty="0"/>
          </a:p>
        </p:txBody>
      </p:sp>
      <p:sp>
        <p:nvSpPr>
          <p:cNvPr id="9" name="Shape 7"/>
          <p:cNvSpPr/>
          <p:nvPr/>
        </p:nvSpPr>
        <p:spPr>
          <a:xfrm>
            <a:off x="3254648" y="2809205"/>
            <a:ext cx="2634630" cy="927422"/>
          </a:xfrm>
          <a:prstGeom prst="roundRect">
            <a:avLst>
              <a:gd name="adj" fmla="val 5618"/>
            </a:avLst>
          </a:prstGeom>
          <a:solidFill>
            <a:srgbClr val="E1E1EA"/>
          </a:solidFill>
          <a:ln w="4763">
            <a:solidFill>
              <a:srgbClr val="C7C7D0"/>
            </a:solidFill>
            <a:prstDash val="solid"/>
          </a:ln>
        </p:spPr>
      </p:sp>
      <p:sp>
        <p:nvSpPr>
          <p:cNvPr id="10" name="Text 8"/>
          <p:cNvSpPr/>
          <p:nvPr/>
        </p:nvSpPr>
        <p:spPr>
          <a:xfrm>
            <a:off x="3383384" y="2937942"/>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JSON Data</a:t>
            </a:r>
            <a:endParaRPr lang="en-US" sz="1200" dirty="0"/>
          </a:p>
        </p:txBody>
      </p:sp>
      <p:sp>
        <p:nvSpPr>
          <p:cNvPr id="11" name="Text 9"/>
          <p:cNvSpPr/>
          <p:nvPr/>
        </p:nvSpPr>
        <p:spPr>
          <a:xfrm>
            <a:off x="3383384" y="3206204"/>
            <a:ext cx="2377157"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actual payload returned — structured data the client can parse and display</a:t>
            </a:r>
            <a:endParaRPr lang="en-US" sz="950" dirty="0"/>
          </a:p>
        </p:txBody>
      </p:sp>
      <p:sp>
        <p:nvSpPr>
          <p:cNvPr id="12" name="Shape 10"/>
          <p:cNvSpPr/>
          <p:nvPr/>
        </p:nvSpPr>
        <p:spPr>
          <a:xfrm>
            <a:off x="6013252" y="2809205"/>
            <a:ext cx="2634555" cy="927422"/>
          </a:xfrm>
          <a:prstGeom prst="roundRect">
            <a:avLst>
              <a:gd name="adj" fmla="val 5618"/>
            </a:avLst>
          </a:prstGeom>
          <a:solidFill>
            <a:srgbClr val="E1E1EA"/>
          </a:solidFill>
          <a:ln w="4763">
            <a:solidFill>
              <a:srgbClr val="C7C7D0"/>
            </a:solidFill>
            <a:prstDash val="solid"/>
          </a:ln>
        </p:spPr>
      </p:sp>
      <p:sp>
        <p:nvSpPr>
          <p:cNvPr id="13" name="Text 11"/>
          <p:cNvSpPr/>
          <p:nvPr/>
        </p:nvSpPr>
        <p:spPr>
          <a:xfrm>
            <a:off x="6141988" y="2937942"/>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Messages</a:t>
            </a:r>
            <a:endParaRPr lang="en-US" sz="1200" dirty="0"/>
          </a:p>
        </p:txBody>
      </p:sp>
      <p:sp>
        <p:nvSpPr>
          <p:cNvPr id="14" name="Text 12"/>
          <p:cNvSpPr/>
          <p:nvPr/>
        </p:nvSpPr>
        <p:spPr>
          <a:xfrm>
            <a:off x="6141988" y="3206204"/>
            <a:ext cx="237708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Human-readable details, especially useful when errors occur</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96119" y="1237952"/>
            <a:ext cx="1636068" cy="242739"/>
          </a:xfrm>
          <a:prstGeom prst="roundRect">
            <a:avLst>
              <a:gd name="adj" fmla="val 17171"/>
            </a:avLst>
          </a:prstGeom>
          <a:noFill/>
          <a:ln w="4763">
            <a:solidFill>
              <a:srgbClr val="1B1B27"/>
            </a:solidFill>
            <a:prstDash val="solid"/>
          </a:ln>
        </p:spPr>
      </p:sp>
      <p:sp>
        <p:nvSpPr>
          <p:cNvPr id="3" name="Text 1"/>
          <p:cNvSpPr/>
          <p:nvPr/>
        </p:nvSpPr>
        <p:spPr>
          <a:xfrm>
            <a:off x="575295" y="1279922"/>
            <a:ext cx="1477714"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1 — UNDERSTANDING APIS</a:t>
            </a:r>
            <a:endParaRPr lang="en-US" sz="750" dirty="0"/>
          </a:p>
        </p:txBody>
      </p:sp>
      <p:sp>
        <p:nvSpPr>
          <p:cNvPr id="4" name="Text 2"/>
          <p:cNvSpPr/>
          <p:nvPr/>
        </p:nvSpPr>
        <p:spPr>
          <a:xfrm>
            <a:off x="496119" y="1530251"/>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HTTP Methods</a:t>
            </a:r>
            <a:endParaRPr lang="en-US" sz="2400" dirty="0"/>
          </a:p>
        </p:txBody>
      </p:sp>
      <p:sp>
        <p:nvSpPr>
          <p:cNvPr id="5" name="Text 3"/>
          <p:cNvSpPr/>
          <p:nvPr/>
        </p:nvSpPr>
        <p:spPr>
          <a:xfrm>
            <a:off x="496119" y="2103834"/>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HTTP methods define the intent of a request. The two most fundamental methods are GET and POST — they cover the majority of API interactions you will build and use as a backend developer.</a:t>
            </a:r>
            <a:endParaRPr lang="en-US" sz="950" dirty="0"/>
          </a:p>
        </p:txBody>
      </p:sp>
      <p:sp>
        <p:nvSpPr>
          <p:cNvPr id="6" name="Shape 4"/>
          <p:cNvSpPr/>
          <p:nvPr/>
        </p:nvSpPr>
        <p:spPr>
          <a:xfrm>
            <a:off x="406822" y="2640285"/>
            <a:ext cx="4103191" cy="1265188"/>
          </a:xfrm>
          <a:prstGeom prst="roundRect">
            <a:avLst>
              <a:gd name="adj" fmla="val 7059"/>
            </a:avLst>
          </a:prstGeom>
          <a:solidFill>
            <a:srgbClr val="1B1B27">
              <a:alpha val="95000"/>
            </a:srgbClr>
          </a:solidFill>
          <a:ln/>
        </p:spPr>
      </p:sp>
      <p:sp>
        <p:nvSpPr>
          <p:cNvPr id="7" name="Text 5"/>
          <p:cNvSpPr/>
          <p:nvPr/>
        </p:nvSpPr>
        <p:spPr>
          <a:xfrm>
            <a:off x="530796" y="2764259"/>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FFFFFF"/>
                </a:solidFill>
                <a:latin typeface="Raleway" pitchFamily="34" charset="0"/>
                <a:ea typeface="Raleway" pitchFamily="34" charset="-122"/>
                <a:cs typeface="Raleway" pitchFamily="34" charset="-120"/>
              </a:rPr>
              <a:t>GET</a:t>
            </a:r>
            <a:endParaRPr lang="en-US" sz="1200" dirty="0"/>
          </a:p>
        </p:txBody>
      </p:sp>
      <p:sp>
        <p:nvSpPr>
          <p:cNvPr id="8" name="Text 6"/>
          <p:cNvSpPr/>
          <p:nvPr/>
        </p:nvSpPr>
        <p:spPr>
          <a:xfrm>
            <a:off x="530796" y="3082082"/>
            <a:ext cx="3855244" cy="396925"/>
          </a:xfrm>
          <a:prstGeom prst="rect">
            <a:avLst/>
          </a:prstGeom>
          <a:noFill/>
          <a:ln/>
        </p:spPr>
        <p:txBody>
          <a:bodyPr wrap="square" lIns="0" tIns="0" rIns="0" bIns="0" rtlCol="0" anchor="t"/>
          <a:lstStyle/>
          <a:p>
            <a:pPr algn="l" indent="0" marL="0">
              <a:lnSpc>
                <a:spcPts val="1550"/>
              </a:lnSpc>
              <a:buNone/>
            </a:pPr>
            <a:r>
              <a:rPr lang="en-US" sz="950" dirty="0">
                <a:solidFill>
                  <a:srgbClr val="FFFFFF"/>
                </a:solidFill>
                <a:latin typeface="Roboto" pitchFamily="34" charset="0"/>
                <a:ea typeface="Roboto" pitchFamily="34" charset="-122"/>
                <a:cs typeface="Roboto" pitchFamily="34" charset="-120"/>
              </a:rPr>
              <a:t>Used to </a:t>
            </a:r>
            <a:pPr algn="l" indent="0" marL="0">
              <a:lnSpc>
                <a:spcPts val="1550"/>
              </a:lnSpc>
              <a:buNone/>
            </a:pPr>
            <a:r>
              <a:rPr lang="en-US" sz="950" b="1" dirty="0">
                <a:solidFill>
                  <a:srgbClr val="FFFFFF"/>
                </a:solidFill>
                <a:latin typeface="Roboto" pitchFamily="34" charset="0"/>
                <a:ea typeface="Roboto" pitchFamily="34" charset="-122"/>
                <a:cs typeface="Roboto" pitchFamily="34" charset="-120"/>
              </a:rPr>
              <a:t>retrieve data</a:t>
            </a:r>
            <a:pPr algn="l" indent="0" marL="0">
              <a:lnSpc>
                <a:spcPts val="1550"/>
              </a:lnSpc>
              <a:buNone/>
            </a:pPr>
            <a:r>
              <a:rPr lang="en-US" sz="950" dirty="0">
                <a:solidFill>
                  <a:srgbClr val="FFFFFF"/>
                </a:solidFill>
                <a:latin typeface="Roboto" pitchFamily="34" charset="0"/>
                <a:ea typeface="Roboto" pitchFamily="34" charset="-122"/>
                <a:cs typeface="Roboto" pitchFamily="34" charset="-120"/>
              </a:rPr>
              <a:t> from the server. GET requests do not modify anything — they are read-only operations. No request body is sent.</a:t>
            </a:r>
            <a:endParaRPr lang="en-US" sz="950" dirty="0"/>
          </a:p>
        </p:txBody>
      </p:sp>
      <p:sp>
        <p:nvSpPr>
          <p:cNvPr id="9" name="Text 7"/>
          <p:cNvSpPr/>
          <p:nvPr/>
        </p:nvSpPr>
        <p:spPr>
          <a:xfrm>
            <a:off x="530796" y="3590627"/>
            <a:ext cx="3855244" cy="203225"/>
          </a:xfrm>
          <a:prstGeom prst="rect">
            <a:avLst/>
          </a:prstGeom>
          <a:noFill/>
          <a:ln/>
        </p:spPr>
        <p:txBody>
          <a:bodyPr wrap="none" lIns="0" tIns="0" rIns="0" bIns="0" rtlCol="0" anchor="t"/>
          <a:lstStyle/>
          <a:p>
            <a:pPr algn="l" indent="0" marL="0">
              <a:lnSpc>
                <a:spcPts val="1550"/>
              </a:lnSpc>
              <a:buNone/>
            </a:pPr>
            <a:r>
              <a:rPr lang="en-US" sz="950" dirty="0">
                <a:solidFill>
                  <a:srgbClr val="FFFFFF"/>
                </a:solidFill>
                <a:latin typeface="Roboto" pitchFamily="34" charset="0"/>
                <a:ea typeface="Roboto" pitchFamily="34" charset="-122"/>
                <a:cs typeface="Roboto" pitchFamily="34" charset="-120"/>
              </a:rPr>
              <a:t>Example: </a:t>
            </a:r>
            <a:pPr algn="l" indent="0" marL="0">
              <a:lnSpc>
                <a:spcPts val="1550"/>
              </a:lnSpc>
              <a:buNone/>
            </a:pPr>
            <a:r>
              <a:rPr lang="en-US" sz="950" dirty="0">
                <a:solidFill>
                  <a:srgbClr val="FFFFFF"/>
                </a:solidFill>
                <a:highlight>
                  <a:srgbClr val="282834"/>
                </a:highlight>
                <a:latin typeface="Consolas" pitchFamily="34" charset="0"/>
                <a:ea typeface="Consolas" pitchFamily="34" charset="-122"/>
                <a:cs typeface="Consolas" pitchFamily="34" charset="-120"/>
              </a:rPr>
              <a:t>GET /items/10</a:t>
            </a:r>
            <a:endParaRPr lang="en-US" sz="950" dirty="0"/>
          </a:p>
        </p:txBody>
      </p:sp>
      <p:sp>
        <p:nvSpPr>
          <p:cNvPr id="10" name="Text 8"/>
          <p:cNvSpPr/>
          <p:nvPr/>
        </p:nvSpPr>
        <p:spPr>
          <a:xfrm>
            <a:off x="4728046" y="2764259"/>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1B1B27"/>
                </a:solidFill>
                <a:latin typeface="Raleway" pitchFamily="34" charset="0"/>
                <a:ea typeface="Raleway" pitchFamily="34" charset="-122"/>
                <a:cs typeface="Raleway" pitchFamily="34" charset="-120"/>
              </a:rPr>
              <a:t>POST</a:t>
            </a:r>
            <a:endParaRPr lang="en-US" sz="1200" dirty="0"/>
          </a:p>
        </p:txBody>
      </p:sp>
      <p:sp>
        <p:nvSpPr>
          <p:cNvPr id="11" name="Text 9"/>
          <p:cNvSpPr/>
          <p:nvPr/>
        </p:nvSpPr>
        <p:spPr>
          <a:xfrm>
            <a:off x="4728046" y="3082082"/>
            <a:ext cx="3924598"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Used to </a:t>
            </a:r>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send data</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to the server to create or trigger something. POST requests include a body and change server state.</a:t>
            </a:r>
            <a:endParaRPr lang="en-US" sz="950" dirty="0"/>
          </a:p>
        </p:txBody>
      </p:sp>
      <p:sp>
        <p:nvSpPr>
          <p:cNvPr id="12" name="Text 10"/>
          <p:cNvSpPr/>
          <p:nvPr/>
        </p:nvSpPr>
        <p:spPr>
          <a:xfrm>
            <a:off x="4728046" y="3590627"/>
            <a:ext cx="3924598"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Example: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POST /items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96119" y="1049313"/>
            <a:ext cx="1636068" cy="242739"/>
          </a:xfrm>
          <a:prstGeom prst="roundRect">
            <a:avLst>
              <a:gd name="adj" fmla="val 17171"/>
            </a:avLst>
          </a:prstGeom>
          <a:noFill/>
          <a:ln w="4763">
            <a:solidFill>
              <a:srgbClr val="1B1B27"/>
            </a:solidFill>
            <a:prstDash val="solid"/>
          </a:ln>
        </p:spPr>
      </p:sp>
      <p:sp>
        <p:nvSpPr>
          <p:cNvPr id="3" name="Text 1"/>
          <p:cNvSpPr/>
          <p:nvPr/>
        </p:nvSpPr>
        <p:spPr>
          <a:xfrm>
            <a:off x="575295" y="1091282"/>
            <a:ext cx="1477714"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1 — UNDERSTANDING APIS</a:t>
            </a:r>
            <a:endParaRPr lang="en-US" sz="750" dirty="0"/>
          </a:p>
        </p:txBody>
      </p:sp>
      <p:sp>
        <p:nvSpPr>
          <p:cNvPr id="4" name="Text 2"/>
          <p:cNvSpPr/>
          <p:nvPr/>
        </p:nvSpPr>
        <p:spPr>
          <a:xfrm>
            <a:off x="496119" y="1341611"/>
            <a:ext cx="4585841"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GET vs. POST — Key Differences</a:t>
            </a:r>
            <a:endParaRPr lang="en-US" sz="2400" dirty="0"/>
          </a:p>
        </p:txBody>
      </p:sp>
      <p:sp>
        <p:nvSpPr>
          <p:cNvPr id="5" name="Shape 3"/>
          <p:cNvSpPr/>
          <p:nvPr/>
        </p:nvSpPr>
        <p:spPr>
          <a:xfrm>
            <a:off x="496119" y="1915195"/>
            <a:ext cx="8151763" cy="2178993"/>
          </a:xfrm>
          <a:prstGeom prst="roundRect">
            <a:avLst>
              <a:gd name="adj" fmla="val 2391"/>
            </a:avLst>
          </a:prstGeom>
          <a:noFill/>
          <a:ln w="4763">
            <a:solidFill>
              <a:srgbClr val="000000">
                <a:alpha val="8000"/>
              </a:srgbClr>
            </a:solidFill>
            <a:prstDash val="solid"/>
          </a:ln>
        </p:spPr>
      </p:sp>
      <p:sp>
        <p:nvSpPr>
          <p:cNvPr id="6" name="Text 4"/>
          <p:cNvSpPr/>
          <p:nvPr/>
        </p:nvSpPr>
        <p:spPr>
          <a:xfrm>
            <a:off x="624929" y="1999134"/>
            <a:ext cx="2192313" cy="198462"/>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Attribute</a:t>
            </a:r>
            <a:endParaRPr lang="en-US" sz="950" dirty="0"/>
          </a:p>
        </p:txBody>
      </p:sp>
      <p:sp>
        <p:nvSpPr>
          <p:cNvPr id="7" name="Text 5"/>
          <p:cNvSpPr/>
          <p:nvPr/>
        </p:nvSpPr>
        <p:spPr>
          <a:xfrm>
            <a:off x="3069952" y="1999134"/>
            <a:ext cx="2597051" cy="198462"/>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GET</a:t>
            </a:r>
            <a:endParaRPr lang="en-US" sz="950" dirty="0"/>
          </a:p>
        </p:txBody>
      </p:sp>
      <p:sp>
        <p:nvSpPr>
          <p:cNvPr id="8" name="Text 6"/>
          <p:cNvSpPr/>
          <p:nvPr/>
        </p:nvSpPr>
        <p:spPr>
          <a:xfrm>
            <a:off x="5919713" y="1999134"/>
            <a:ext cx="2599432" cy="198462"/>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POST</a:t>
            </a:r>
            <a:endParaRPr lang="en-US" sz="950" dirty="0"/>
          </a:p>
        </p:txBody>
      </p:sp>
      <p:sp>
        <p:nvSpPr>
          <p:cNvPr id="9" name="Text 7"/>
          <p:cNvSpPr/>
          <p:nvPr/>
        </p:nvSpPr>
        <p:spPr>
          <a:xfrm>
            <a:off x="624929" y="2360712"/>
            <a:ext cx="219231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Purpose</a:t>
            </a:r>
            <a:endParaRPr lang="en-US" sz="950" dirty="0"/>
          </a:p>
        </p:txBody>
      </p:sp>
      <p:sp>
        <p:nvSpPr>
          <p:cNvPr id="10" name="Text 8"/>
          <p:cNvSpPr/>
          <p:nvPr/>
        </p:nvSpPr>
        <p:spPr>
          <a:xfrm>
            <a:off x="3069952" y="2360712"/>
            <a:ext cx="2597051"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Fetch / read data</a:t>
            </a:r>
            <a:endParaRPr lang="en-US" sz="950" dirty="0"/>
          </a:p>
        </p:txBody>
      </p:sp>
      <p:sp>
        <p:nvSpPr>
          <p:cNvPr id="11" name="Text 9"/>
          <p:cNvSpPr/>
          <p:nvPr/>
        </p:nvSpPr>
        <p:spPr>
          <a:xfrm>
            <a:off x="5919713" y="2360712"/>
            <a:ext cx="259943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Create / send data</a:t>
            </a:r>
            <a:endParaRPr lang="en-US" sz="950" dirty="0"/>
          </a:p>
        </p:txBody>
      </p:sp>
      <p:sp>
        <p:nvSpPr>
          <p:cNvPr id="12" name="Text 10"/>
          <p:cNvSpPr/>
          <p:nvPr/>
        </p:nvSpPr>
        <p:spPr>
          <a:xfrm>
            <a:off x="624929" y="2722290"/>
            <a:ext cx="219231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Request Body</a:t>
            </a:r>
            <a:endParaRPr lang="en-US" sz="950" dirty="0"/>
          </a:p>
        </p:txBody>
      </p:sp>
      <p:sp>
        <p:nvSpPr>
          <p:cNvPr id="13" name="Text 11"/>
          <p:cNvSpPr/>
          <p:nvPr/>
        </p:nvSpPr>
        <p:spPr>
          <a:xfrm>
            <a:off x="3069952" y="2722290"/>
            <a:ext cx="2597051"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None</a:t>
            </a:r>
            <a:endParaRPr lang="en-US" sz="950" dirty="0"/>
          </a:p>
        </p:txBody>
      </p:sp>
      <p:sp>
        <p:nvSpPr>
          <p:cNvPr id="14" name="Text 12"/>
          <p:cNvSpPr/>
          <p:nvPr/>
        </p:nvSpPr>
        <p:spPr>
          <a:xfrm>
            <a:off x="5919713" y="2722290"/>
            <a:ext cx="259943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JSON payload required</a:t>
            </a:r>
            <a:endParaRPr lang="en-US" sz="950" dirty="0"/>
          </a:p>
        </p:txBody>
      </p:sp>
      <p:sp>
        <p:nvSpPr>
          <p:cNvPr id="15" name="Text 13"/>
          <p:cNvSpPr/>
          <p:nvPr/>
        </p:nvSpPr>
        <p:spPr>
          <a:xfrm>
            <a:off x="624929" y="3083868"/>
            <a:ext cx="219231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Server State</a:t>
            </a:r>
            <a:endParaRPr lang="en-US" sz="950" dirty="0"/>
          </a:p>
        </p:txBody>
      </p:sp>
      <p:sp>
        <p:nvSpPr>
          <p:cNvPr id="16" name="Text 14"/>
          <p:cNvSpPr/>
          <p:nvPr/>
        </p:nvSpPr>
        <p:spPr>
          <a:xfrm>
            <a:off x="3069952" y="3083868"/>
            <a:ext cx="2597051"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No change</a:t>
            </a:r>
            <a:endParaRPr lang="en-US" sz="950" dirty="0"/>
          </a:p>
        </p:txBody>
      </p:sp>
      <p:sp>
        <p:nvSpPr>
          <p:cNvPr id="17" name="Text 15"/>
          <p:cNvSpPr/>
          <p:nvPr/>
        </p:nvSpPr>
        <p:spPr>
          <a:xfrm>
            <a:off x="5919713" y="3083868"/>
            <a:ext cx="259943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Changes server state</a:t>
            </a:r>
            <a:endParaRPr lang="en-US" sz="950" dirty="0"/>
          </a:p>
        </p:txBody>
      </p:sp>
      <p:sp>
        <p:nvSpPr>
          <p:cNvPr id="18" name="Text 16"/>
          <p:cNvSpPr/>
          <p:nvPr/>
        </p:nvSpPr>
        <p:spPr>
          <a:xfrm>
            <a:off x="624929" y="3445446"/>
            <a:ext cx="219231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Typical Use</a:t>
            </a:r>
            <a:endParaRPr lang="en-US" sz="950" dirty="0"/>
          </a:p>
        </p:txBody>
      </p:sp>
      <p:sp>
        <p:nvSpPr>
          <p:cNvPr id="19" name="Text 17"/>
          <p:cNvSpPr/>
          <p:nvPr/>
        </p:nvSpPr>
        <p:spPr>
          <a:xfrm>
            <a:off x="3069952" y="3445446"/>
            <a:ext cx="2597051"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Retrieve a record</a:t>
            </a:r>
            <a:endParaRPr lang="en-US" sz="950" dirty="0"/>
          </a:p>
        </p:txBody>
      </p:sp>
      <p:sp>
        <p:nvSpPr>
          <p:cNvPr id="20" name="Text 18"/>
          <p:cNvSpPr/>
          <p:nvPr/>
        </p:nvSpPr>
        <p:spPr>
          <a:xfrm>
            <a:off x="5919713" y="3445446"/>
            <a:ext cx="259943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Create a new record</a:t>
            </a:r>
            <a:endParaRPr lang="en-US" sz="950" dirty="0"/>
          </a:p>
        </p:txBody>
      </p:sp>
      <p:sp>
        <p:nvSpPr>
          <p:cNvPr id="21" name="Text 19"/>
          <p:cNvSpPr/>
          <p:nvPr/>
        </p:nvSpPr>
        <p:spPr>
          <a:xfrm>
            <a:off x="624929" y="3807023"/>
            <a:ext cx="219231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Example URL</a:t>
            </a:r>
            <a:endParaRPr lang="en-US" sz="950" dirty="0"/>
          </a:p>
        </p:txBody>
      </p:sp>
      <p:sp>
        <p:nvSpPr>
          <p:cNvPr id="22" name="Text 20"/>
          <p:cNvSpPr/>
          <p:nvPr/>
        </p:nvSpPr>
        <p:spPr>
          <a:xfrm>
            <a:off x="3069952" y="3807023"/>
            <a:ext cx="2597051"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GET /items/5</a:t>
            </a:r>
            <a:endParaRPr lang="en-US" sz="950" dirty="0"/>
          </a:p>
        </p:txBody>
      </p:sp>
      <p:sp>
        <p:nvSpPr>
          <p:cNvPr id="23" name="Text 21"/>
          <p:cNvSpPr/>
          <p:nvPr/>
        </p:nvSpPr>
        <p:spPr>
          <a:xfrm>
            <a:off x="5919713" y="3807023"/>
            <a:ext cx="2599432"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POST /items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96119" y="783431"/>
            <a:ext cx="1636068" cy="242739"/>
          </a:xfrm>
          <a:prstGeom prst="roundRect">
            <a:avLst>
              <a:gd name="adj" fmla="val 17171"/>
            </a:avLst>
          </a:prstGeom>
          <a:noFill/>
          <a:ln w="4763">
            <a:solidFill>
              <a:srgbClr val="1B1B27"/>
            </a:solidFill>
            <a:prstDash val="solid"/>
          </a:ln>
        </p:spPr>
      </p:sp>
      <p:sp>
        <p:nvSpPr>
          <p:cNvPr id="3" name="Text 1"/>
          <p:cNvSpPr/>
          <p:nvPr/>
        </p:nvSpPr>
        <p:spPr>
          <a:xfrm>
            <a:off x="575295" y="825401"/>
            <a:ext cx="1477714"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1 — UNDERSTANDING APIS</a:t>
            </a:r>
            <a:endParaRPr lang="en-US" sz="750" dirty="0"/>
          </a:p>
        </p:txBody>
      </p:sp>
      <p:sp>
        <p:nvSpPr>
          <p:cNvPr id="4" name="Text 2"/>
          <p:cNvSpPr/>
          <p:nvPr/>
        </p:nvSpPr>
        <p:spPr>
          <a:xfrm>
            <a:off x="496119" y="1075730"/>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HTTP Status Codes</a:t>
            </a:r>
            <a:endParaRPr lang="en-US" sz="2400" dirty="0"/>
          </a:p>
        </p:txBody>
      </p:sp>
      <p:sp>
        <p:nvSpPr>
          <p:cNvPr id="5" name="Text 3"/>
          <p:cNvSpPr/>
          <p:nvPr/>
        </p:nvSpPr>
        <p:spPr>
          <a:xfrm>
            <a:off x="496119" y="1649313"/>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Status codes are the server's way of communicating the outcome of a request. Every response includes one. As a backend developer, you are responsible for returning the right code in every situation.</a:t>
            </a:r>
            <a:endParaRPr lang="en-US" sz="950" dirty="0"/>
          </a:p>
        </p:txBody>
      </p:sp>
      <p:sp>
        <p:nvSpPr>
          <p:cNvPr id="6" name="Shape 4"/>
          <p:cNvSpPr/>
          <p:nvPr/>
        </p:nvSpPr>
        <p:spPr>
          <a:xfrm>
            <a:off x="496119" y="2185764"/>
            <a:ext cx="8151763" cy="2174230"/>
          </a:xfrm>
          <a:prstGeom prst="roundRect">
            <a:avLst>
              <a:gd name="adj" fmla="val 2396"/>
            </a:avLst>
          </a:prstGeom>
          <a:noFill/>
          <a:ln w="4763">
            <a:solidFill>
              <a:srgbClr val="000000">
                <a:alpha val="8000"/>
              </a:srgbClr>
            </a:solidFill>
            <a:prstDash val="solid"/>
          </a:ln>
        </p:spPr>
      </p:sp>
      <p:sp>
        <p:nvSpPr>
          <p:cNvPr id="7" name="Shape 5"/>
          <p:cNvSpPr/>
          <p:nvPr/>
        </p:nvSpPr>
        <p:spPr>
          <a:xfrm>
            <a:off x="500881" y="2190527"/>
            <a:ext cx="8142238" cy="356815"/>
          </a:xfrm>
          <a:prstGeom prst="rect">
            <a:avLst/>
          </a:prstGeom>
          <a:solidFill>
            <a:srgbClr val="FFFFFF">
              <a:alpha val="4000"/>
            </a:srgbClr>
          </a:solidFill>
          <a:ln/>
        </p:spPr>
      </p:sp>
      <p:sp>
        <p:nvSpPr>
          <p:cNvPr id="8" name="Text 6"/>
          <p:cNvSpPr/>
          <p:nvPr/>
        </p:nvSpPr>
        <p:spPr>
          <a:xfrm>
            <a:off x="625004" y="2269703"/>
            <a:ext cx="1378074" cy="198462"/>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Code</a:t>
            </a:r>
            <a:endParaRPr lang="en-US" sz="950" dirty="0"/>
          </a:p>
        </p:txBody>
      </p:sp>
      <p:sp>
        <p:nvSpPr>
          <p:cNvPr id="9" name="Text 7"/>
          <p:cNvSpPr/>
          <p:nvPr/>
        </p:nvSpPr>
        <p:spPr>
          <a:xfrm>
            <a:off x="2255788" y="2269703"/>
            <a:ext cx="1782812" cy="198462"/>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Name</a:t>
            </a:r>
            <a:endParaRPr lang="en-US" sz="950" dirty="0"/>
          </a:p>
        </p:txBody>
      </p:sp>
      <p:sp>
        <p:nvSpPr>
          <p:cNvPr id="10" name="Text 8"/>
          <p:cNvSpPr/>
          <p:nvPr/>
        </p:nvSpPr>
        <p:spPr>
          <a:xfrm>
            <a:off x="4291310" y="2269703"/>
            <a:ext cx="4227835" cy="198462"/>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Meaning</a:t>
            </a:r>
            <a:endParaRPr lang="en-US" sz="950" dirty="0"/>
          </a:p>
        </p:txBody>
      </p:sp>
      <p:sp>
        <p:nvSpPr>
          <p:cNvPr id="11" name="Shape 9"/>
          <p:cNvSpPr/>
          <p:nvPr/>
        </p:nvSpPr>
        <p:spPr>
          <a:xfrm>
            <a:off x="500881" y="2547342"/>
            <a:ext cx="8142238" cy="361578"/>
          </a:xfrm>
          <a:prstGeom prst="rect">
            <a:avLst/>
          </a:prstGeom>
          <a:solidFill>
            <a:srgbClr val="000000">
              <a:alpha val="4000"/>
            </a:srgbClr>
          </a:solidFill>
          <a:ln/>
        </p:spPr>
      </p:sp>
      <p:sp>
        <p:nvSpPr>
          <p:cNvPr id="12" name="Text 10"/>
          <p:cNvSpPr/>
          <p:nvPr/>
        </p:nvSpPr>
        <p:spPr>
          <a:xfrm>
            <a:off x="625004" y="2626519"/>
            <a:ext cx="1378074"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200</a:t>
            </a:r>
            <a:endParaRPr lang="en-US" sz="950" dirty="0"/>
          </a:p>
        </p:txBody>
      </p:sp>
      <p:sp>
        <p:nvSpPr>
          <p:cNvPr id="13" name="Text 11"/>
          <p:cNvSpPr/>
          <p:nvPr/>
        </p:nvSpPr>
        <p:spPr>
          <a:xfrm>
            <a:off x="2255788" y="2626519"/>
            <a:ext cx="178281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OK</a:t>
            </a:r>
            <a:endParaRPr lang="en-US" sz="950" dirty="0"/>
          </a:p>
        </p:txBody>
      </p:sp>
      <p:sp>
        <p:nvSpPr>
          <p:cNvPr id="14" name="Text 12"/>
          <p:cNvSpPr/>
          <p:nvPr/>
        </p:nvSpPr>
        <p:spPr>
          <a:xfrm>
            <a:off x="4291310" y="2626519"/>
            <a:ext cx="4227835"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Request succeeded — data returned as expected</a:t>
            </a:r>
            <a:endParaRPr lang="en-US" sz="950" dirty="0"/>
          </a:p>
        </p:txBody>
      </p:sp>
      <p:sp>
        <p:nvSpPr>
          <p:cNvPr id="15" name="Shape 13"/>
          <p:cNvSpPr/>
          <p:nvPr/>
        </p:nvSpPr>
        <p:spPr>
          <a:xfrm>
            <a:off x="500881" y="2908920"/>
            <a:ext cx="8142238" cy="361578"/>
          </a:xfrm>
          <a:prstGeom prst="rect">
            <a:avLst/>
          </a:prstGeom>
          <a:solidFill>
            <a:srgbClr val="FFFFFF">
              <a:alpha val="4000"/>
            </a:srgbClr>
          </a:solidFill>
          <a:ln/>
        </p:spPr>
      </p:sp>
      <p:sp>
        <p:nvSpPr>
          <p:cNvPr id="16" name="Text 14"/>
          <p:cNvSpPr/>
          <p:nvPr/>
        </p:nvSpPr>
        <p:spPr>
          <a:xfrm>
            <a:off x="625004" y="2988097"/>
            <a:ext cx="1378074"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201</a:t>
            </a:r>
            <a:endParaRPr lang="en-US" sz="950" dirty="0"/>
          </a:p>
        </p:txBody>
      </p:sp>
      <p:sp>
        <p:nvSpPr>
          <p:cNvPr id="17" name="Text 15"/>
          <p:cNvSpPr/>
          <p:nvPr/>
        </p:nvSpPr>
        <p:spPr>
          <a:xfrm>
            <a:off x="2255788" y="2988097"/>
            <a:ext cx="178281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Created</a:t>
            </a:r>
            <a:endParaRPr lang="en-US" sz="950" dirty="0"/>
          </a:p>
        </p:txBody>
      </p:sp>
      <p:sp>
        <p:nvSpPr>
          <p:cNvPr id="18" name="Text 16"/>
          <p:cNvSpPr/>
          <p:nvPr/>
        </p:nvSpPr>
        <p:spPr>
          <a:xfrm>
            <a:off x="4291310" y="2988097"/>
            <a:ext cx="4227835"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Resource successfully created</a:t>
            </a:r>
            <a:endParaRPr lang="en-US" sz="950" dirty="0"/>
          </a:p>
        </p:txBody>
      </p:sp>
      <p:sp>
        <p:nvSpPr>
          <p:cNvPr id="19" name="Shape 17"/>
          <p:cNvSpPr/>
          <p:nvPr/>
        </p:nvSpPr>
        <p:spPr>
          <a:xfrm>
            <a:off x="500881" y="3270498"/>
            <a:ext cx="8142238" cy="361578"/>
          </a:xfrm>
          <a:prstGeom prst="rect">
            <a:avLst/>
          </a:prstGeom>
          <a:solidFill>
            <a:srgbClr val="000000">
              <a:alpha val="4000"/>
            </a:srgbClr>
          </a:solidFill>
          <a:ln/>
        </p:spPr>
      </p:sp>
      <p:sp>
        <p:nvSpPr>
          <p:cNvPr id="20" name="Text 18"/>
          <p:cNvSpPr/>
          <p:nvPr/>
        </p:nvSpPr>
        <p:spPr>
          <a:xfrm>
            <a:off x="625004" y="3349675"/>
            <a:ext cx="1378074"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400</a:t>
            </a:r>
            <a:endParaRPr lang="en-US" sz="950" dirty="0"/>
          </a:p>
        </p:txBody>
      </p:sp>
      <p:sp>
        <p:nvSpPr>
          <p:cNvPr id="21" name="Text 19"/>
          <p:cNvSpPr/>
          <p:nvPr/>
        </p:nvSpPr>
        <p:spPr>
          <a:xfrm>
            <a:off x="2255788" y="3349675"/>
            <a:ext cx="178281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Bad Request</a:t>
            </a:r>
            <a:endParaRPr lang="en-US" sz="950" dirty="0"/>
          </a:p>
        </p:txBody>
      </p:sp>
      <p:sp>
        <p:nvSpPr>
          <p:cNvPr id="22" name="Text 20"/>
          <p:cNvSpPr/>
          <p:nvPr/>
        </p:nvSpPr>
        <p:spPr>
          <a:xfrm>
            <a:off x="4291310" y="3349675"/>
            <a:ext cx="4227835"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Client sent invalid or malformed data</a:t>
            </a:r>
            <a:endParaRPr lang="en-US" sz="950" dirty="0"/>
          </a:p>
        </p:txBody>
      </p:sp>
      <p:sp>
        <p:nvSpPr>
          <p:cNvPr id="23" name="Shape 21"/>
          <p:cNvSpPr/>
          <p:nvPr/>
        </p:nvSpPr>
        <p:spPr>
          <a:xfrm>
            <a:off x="500881" y="3632076"/>
            <a:ext cx="8142238" cy="361578"/>
          </a:xfrm>
          <a:prstGeom prst="rect">
            <a:avLst/>
          </a:prstGeom>
          <a:solidFill>
            <a:srgbClr val="FFFFFF">
              <a:alpha val="4000"/>
            </a:srgbClr>
          </a:solidFill>
          <a:ln/>
        </p:spPr>
      </p:sp>
      <p:sp>
        <p:nvSpPr>
          <p:cNvPr id="24" name="Text 22"/>
          <p:cNvSpPr/>
          <p:nvPr/>
        </p:nvSpPr>
        <p:spPr>
          <a:xfrm>
            <a:off x="625004" y="3711253"/>
            <a:ext cx="1378074"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404</a:t>
            </a:r>
            <a:endParaRPr lang="en-US" sz="950" dirty="0"/>
          </a:p>
        </p:txBody>
      </p:sp>
      <p:sp>
        <p:nvSpPr>
          <p:cNvPr id="25" name="Text 23"/>
          <p:cNvSpPr/>
          <p:nvPr/>
        </p:nvSpPr>
        <p:spPr>
          <a:xfrm>
            <a:off x="2255788" y="3711253"/>
            <a:ext cx="178281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Not Found</a:t>
            </a:r>
            <a:endParaRPr lang="en-US" sz="950" dirty="0"/>
          </a:p>
        </p:txBody>
      </p:sp>
      <p:sp>
        <p:nvSpPr>
          <p:cNvPr id="26" name="Text 24"/>
          <p:cNvSpPr/>
          <p:nvPr/>
        </p:nvSpPr>
        <p:spPr>
          <a:xfrm>
            <a:off x="4291310" y="3711253"/>
            <a:ext cx="4227835"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requested resource does not exist</a:t>
            </a:r>
            <a:endParaRPr lang="en-US" sz="950" dirty="0"/>
          </a:p>
        </p:txBody>
      </p:sp>
      <p:sp>
        <p:nvSpPr>
          <p:cNvPr id="27" name="Shape 25"/>
          <p:cNvSpPr/>
          <p:nvPr/>
        </p:nvSpPr>
        <p:spPr>
          <a:xfrm>
            <a:off x="500881" y="3993654"/>
            <a:ext cx="8142238" cy="361578"/>
          </a:xfrm>
          <a:prstGeom prst="rect">
            <a:avLst/>
          </a:prstGeom>
          <a:solidFill>
            <a:srgbClr val="000000">
              <a:alpha val="4000"/>
            </a:srgbClr>
          </a:solidFill>
          <a:ln/>
        </p:spPr>
      </p:sp>
      <p:sp>
        <p:nvSpPr>
          <p:cNvPr id="28" name="Text 26"/>
          <p:cNvSpPr/>
          <p:nvPr/>
        </p:nvSpPr>
        <p:spPr>
          <a:xfrm>
            <a:off x="625004" y="4072830"/>
            <a:ext cx="1378074"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500</a:t>
            </a:r>
            <a:endParaRPr lang="en-US" sz="950" dirty="0"/>
          </a:p>
        </p:txBody>
      </p:sp>
      <p:sp>
        <p:nvSpPr>
          <p:cNvPr id="29" name="Text 27"/>
          <p:cNvSpPr/>
          <p:nvPr/>
        </p:nvSpPr>
        <p:spPr>
          <a:xfrm>
            <a:off x="2255788" y="4072830"/>
            <a:ext cx="178281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Server Error</a:t>
            </a:r>
            <a:endParaRPr lang="en-US" sz="950" dirty="0"/>
          </a:p>
        </p:txBody>
      </p:sp>
      <p:sp>
        <p:nvSpPr>
          <p:cNvPr id="30" name="Text 28"/>
          <p:cNvSpPr/>
          <p:nvPr/>
        </p:nvSpPr>
        <p:spPr>
          <a:xfrm>
            <a:off x="4291310" y="4072830"/>
            <a:ext cx="4227835"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Something went wrong on the backend</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96119" y="482278"/>
            <a:ext cx="1392064" cy="197644"/>
          </a:xfrm>
          <a:prstGeom prst="roundRect">
            <a:avLst>
              <a:gd name="adj" fmla="val 17925"/>
            </a:avLst>
          </a:prstGeom>
          <a:noFill/>
          <a:ln w="4763">
            <a:solidFill>
              <a:srgbClr val="1B1B27"/>
            </a:solidFill>
            <a:prstDash val="solid"/>
          </a:ln>
        </p:spPr>
      </p:sp>
      <p:sp>
        <p:nvSpPr>
          <p:cNvPr id="3" name="Text 1"/>
          <p:cNvSpPr/>
          <p:nvPr/>
        </p:nvSpPr>
        <p:spPr>
          <a:xfrm>
            <a:off x="564133" y="518666"/>
            <a:ext cx="1256035" cy="124867"/>
          </a:xfrm>
          <a:prstGeom prst="rect">
            <a:avLst/>
          </a:prstGeom>
          <a:noFill/>
          <a:ln/>
        </p:spPr>
        <p:txBody>
          <a:bodyPr wrap="none" lIns="0" tIns="0" rIns="0" bIns="0" rtlCol="0" anchor="t"/>
          <a:lstStyle/>
          <a:p>
            <a:pPr algn="l" indent="0" marL="0">
              <a:lnSpc>
                <a:spcPts val="950"/>
              </a:lnSpc>
              <a:buNone/>
            </a:pPr>
            <a:r>
              <a:rPr lang="en-US" sz="650" dirty="0">
                <a:solidFill>
                  <a:srgbClr val="1B1B27"/>
                </a:solidFill>
                <a:latin typeface="Roboto" pitchFamily="34" charset="0"/>
                <a:ea typeface="Roboto" pitchFamily="34" charset="-122"/>
                <a:cs typeface="Roboto" pitchFamily="34" charset="-120"/>
              </a:rPr>
              <a:t>PART 1 — UNDERSTANDING APIS</a:t>
            </a:r>
            <a:endParaRPr lang="en-US" sz="650" dirty="0"/>
          </a:p>
        </p:txBody>
      </p:sp>
      <p:sp>
        <p:nvSpPr>
          <p:cNvPr id="4" name="Text 2"/>
          <p:cNvSpPr/>
          <p:nvPr/>
        </p:nvSpPr>
        <p:spPr>
          <a:xfrm>
            <a:off x="496119" y="715714"/>
            <a:ext cx="2635969" cy="329431"/>
          </a:xfrm>
          <a:prstGeom prst="rect">
            <a:avLst/>
          </a:prstGeom>
          <a:noFill/>
          <a:ln/>
        </p:spPr>
        <p:txBody>
          <a:bodyPr wrap="none" lIns="0" tIns="0" rIns="0" bIns="0" rtlCol="0" anchor="t"/>
          <a:lstStyle/>
          <a:p>
            <a:pPr algn="l" indent="0" marL="0">
              <a:lnSpc>
                <a:spcPts val="2550"/>
              </a:lnSpc>
              <a:buNone/>
            </a:pPr>
            <a:r>
              <a:rPr lang="en-US" sz="2050" dirty="0">
                <a:solidFill>
                  <a:srgbClr val="1B1B27"/>
                </a:solidFill>
                <a:latin typeface="Raleway" pitchFamily="34" charset="0"/>
                <a:ea typeface="Raleway" pitchFamily="34" charset="-122"/>
                <a:cs typeface="Raleway" pitchFamily="34" charset="-120"/>
              </a:rPr>
              <a:t>Why JSON?</a:t>
            </a:r>
            <a:endParaRPr lang="en-US" sz="2050" dirty="0"/>
          </a:p>
        </p:txBody>
      </p:sp>
      <p:sp>
        <p:nvSpPr>
          <p:cNvPr id="5" name="Text 3"/>
          <p:cNvSpPr/>
          <p:nvPr/>
        </p:nvSpPr>
        <p:spPr>
          <a:xfrm>
            <a:off x="496119" y="1179537"/>
            <a:ext cx="8151763" cy="312093"/>
          </a:xfrm>
          <a:prstGeom prst="rect">
            <a:avLst/>
          </a:prstGeom>
          <a:noFill/>
          <a:ln/>
        </p:spPr>
        <p:txBody>
          <a:bodyPr wrap="square" lIns="0" tIns="0" rIns="0" bIns="0" rtlCol="0" anchor="t"/>
          <a:lstStyle/>
          <a:p>
            <a:pPr algn="l" indent="0" marL="0">
              <a:lnSpc>
                <a:spcPts val="1200"/>
              </a:lnSpc>
              <a:buNone/>
            </a:pPr>
            <a:r>
              <a:rPr lang="en-US" sz="800" dirty="0">
                <a:solidFill>
                  <a:srgbClr val="3C3939"/>
                </a:solidFill>
                <a:latin typeface="Roboto" pitchFamily="34" charset="0"/>
                <a:ea typeface="Roboto" pitchFamily="34" charset="-122"/>
                <a:cs typeface="Roboto" pitchFamily="34" charset="-120"/>
              </a:rPr>
              <a:t>JSON (JavaScript Object Notation) is the standard data format for APIs. It is lightweight, human-readable, and supported natively by virtually every programming language — making it the universal language of web APIs.</a:t>
            </a:r>
            <a:endParaRPr lang="en-US" sz="800" dirty="0"/>
          </a:p>
        </p:txBody>
      </p:sp>
      <p:sp>
        <p:nvSpPr>
          <p:cNvPr id="6" name="Shape 4"/>
          <p:cNvSpPr/>
          <p:nvPr/>
        </p:nvSpPr>
        <p:spPr>
          <a:xfrm>
            <a:off x="496119" y="1693143"/>
            <a:ext cx="3947294" cy="649635"/>
          </a:xfrm>
          <a:prstGeom prst="roundRect">
            <a:avLst>
              <a:gd name="adj" fmla="val 10557"/>
            </a:avLst>
          </a:prstGeom>
          <a:solidFill>
            <a:srgbClr val="FFFFFF">
              <a:alpha val="95000"/>
            </a:srgbClr>
          </a:solidFill>
          <a:ln w="14288">
            <a:solidFill>
              <a:srgbClr val="C7C7D0"/>
            </a:solidFill>
            <a:prstDash val="solid"/>
          </a:ln>
        </p:spPr>
      </p:sp>
      <p:sp>
        <p:nvSpPr>
          <p:cNvPr id="7" name="Shape 5"/>
          <p:cNvSpPr/>
          <p:nvPr/>
        </p:nvSpPr>
        <p:spPr>
          <a:xfrm>
            <a:off x="481831" y="1693143"/>
            <a:ext cx="57150" cy="649635"/>
          </a:xfrm>
          <a:prstGeom prst="roundRect">
            <a:avLst>
              <a:gd name="adj" fmla="val 77488"/>
            </a:avLst>
          </a:prstGeom>
          <a:solidFill>
            <a:srgbClr val="1B1B27"/>
          </a:solidFill>
          <a:ln/>
        </p:spPr>
      </p:sp>
      <p:sp>
        <p:nvSpPr>
          <p:cNvPr id="8" name="Text 6"/>
          <p:cNvSpPr/>
          <p:nvPr/>
        </p:nvSpPr>
        <p:spPr>
          <a:xfrm>
            <a:off x="658639" y="1812801"/>
            <a:ext cx="1317947" cy="164678"/>
          </a:xfrm>
          <a:prstGeom prst="rect">
            <a:avLst/>
          </a:prstGeom>
          <a:noFill/>
          <a:ln/>
        </p:spPr>
        <p:txBody>
          <a:bodyPr wrap="none" lIns="0" tIns="0" rIns="0" bIns="0" rtlCol="0" anchor="t"/>
          <a:lstStyle/>
          <a:p>
            <a:pPr algn="l" indent="0" marL="0">
              <a:lnSpc>
                <a:spcPts val="1250"/>
              </a:lnSpc>
              <a:buNone/>
            </a:pPr>
            <a:r>
              <a:rPr lang="en-US" sz="1000" dirty="0">
                <a:solidFill>
                  <a:srgbClr val="3C3939"/>
                </a:solidFill>
                <a:latin typeface="Raleway" pitchFamily="34" charset="0"/>
                <a:ea typeface="Raleway" pitchFamily="34" charset="-122"/>
                <a:cs typeface="Raleway" pitchFamily="34" charset="-120"/>
              </a:rPr>
              <a:t>Lightweight</a:t>
            </a:r>
            <a:endParaRPr lang="en-US" sz="1000" dirty="0"/>
          </a:p>
        </p:txBody>
      </p:sp>
      <p:sp>
        <p:nvSpPr>
          <p:cNvPr id="9" name="Text 7"/>
          <p:cNvSpPr/>
          <p:nvPr/>
        </p:nvSpPr>
        <p:spPr>
          <a:xfrm>
            <a:off x="658639" y="2067074"/>
            <a:ext cx="3665116" cy="156046"/>
          </a:xfrm>
          <a:prstGeom prst="rect">
            <a:avLst/>
          </a:prstGeom>
          <a:noFill/>
          <a:ln/>
        </p:spPr>
        <p:txBody>
          <a:bodyPr wrap="none" lIns="0" tIns="0" rIns="0" bIns="0" rtlCol="0" anchor="t"/>
          <a:lstStyle/>
          <a:p>
            <a:pPr algn="l" indent="0" marL="0">
              <a:lnSpc>
                <a:spcPts val="1200"/>
              </a:lnSpc>
              <a:buNone/>
            </a:pPr>
            <a:r>
              <a:rPr lang="en-US" sz="800" dirty="0">
                <a:solidFill>
                  <a:srgbClr val="3C3939"/>
                </a:solidFill>
                <a:latin typeface="Roboto" pitchFamily="34" charset="0"/>
                <a:ea typeface="Roboto" pitchFamily="34" charset="-122"/>
                <a:cs typeface="Roboto" pitchFamily="34" charset="-120"/>
              </a:rPr>
              <a:t>Minimal overhead — fast to send and parse over the network</a:t>
            </a:r>
            <a:endParaRPr lang="en-US" sz="800" dirty="0"/>
          </a:p>
        </p:txBody>
      </p:sp>
      <p:sp>
        <p:nvSpPr>
          <p:cNvPr id="10" name="Shape 8"/>
          <p:cNvSpPr/>
          <p:nvPr/>
        </p:nvSpPr>
        <p:spPr>
          <a:xfrm>
            <a:off x="496119" y="2432372"/>
            <a:ext cx="3947294" cy="649635"/>
          </a:xfrm>
          <a:prstGeom prst="roundRect">
            <a:avLst>
              <a:gd name="adj" fmla="val 10557"/>
            </a:avLst>
          </a:prstGeom>
          <a:solidFill>
            <a:srgbClr val="FFFFFF">
              <a:alpha val="95000"/>
            </a:srgbClr>
          </a:solidFill>
          <a:ln w="14288">
            <a:solidFill>
              <a:srgbClr val="C7C7D0"/>
            </a:solidFill>
            <a:prstDash val="solid"/>
          </a:ln>
        </p:spPr>
      </p:sp>
      <p:sp>
        <p:nvSpPr>
          <p:cNvPr id="11" name="Shape 9"/>
          <p:cNvSpPr/>
          <p:nvPr/>
        </p:nvSpPr>
        <p:spPr>
          <a:xfrm>
            <a:off x="481831" y="2432372"/>
            <a:ext cx="57150" cy="649635"/>
          </a:xfrm>
          <a:prstGeom prst="roundRect">
            <a:avLst>
              <a:gd name="adj" fmla="val 77488"/>
            </a:avLst>
          </a:prstGeom>
          <a:solidFill>
            <a:srgbClr val="1B1B27"/>
          </a:solidFill>
          <a:ln/>
        </p:spPr>
      </p:sp>
      <p:sp>
        <p:nvSpPr>
          <p:cNvPr id="12" name="Text 10"/>
          <p:cNvSpPr/>
          <p:nvPr/>
        </p:nvSpPr>
        <p:spPr>
          <a:xfrm>
            <a:off x="658639" y="2552030"/>
            <a:ext cx="1317947" cy="164678"/>
          </a:xfrm>
          <a:prstGeom prst="rect">
            <a:avLst/>
          </a:prstGeom>
          <a:noFill/>
          <a:ln/>
        </p:spPr>
        <p:txBody>
          <a:bodyPr wrap="none" lIns="0" tIns="0" rIns="0" bIns="0" rtlCol="0" anchor="t"/>
          <a:lstStyle/>
          <a:p>
            <a:pPr algn="l" indent="0" marL="0">
              <a:lnSpc>
                <a:spcPts val="1250"/>
              </a:lnSpc>
              <a:buNone/>
            </a:pPr>
            <a:r>
              <a:rPr lang="en-US" sz="1000" dirty="0">
                <a:solidFill>
                  <a:srgbClr val="3C3939"/>
                </a:solidFill>
                <a:latin typeface="Raleway" pitchFamily="34" charset="0"/>
                <a:ea typeface="Raleway" pitchFamily="34" charset="-122"/>
                <a:cs typeface="Raleway" pitchFamily="34" charset="-120"/>
              </a:rPr>
              <a:t>Structured</a:t>
            </a:r>
            <a:endParaRPr lang="en-US" sz="1000" dirty="0"/>
          </a:p>
        </p:txBody>
      </p:sp>
      <p:sp>
        <p:nvSpPr>
          <p:cNvPr id="13" name="Text 11"/>
          <p:cNvSpPr/>
          <p:nvPr/>
        </p:nvSpPr>
        <p:spPr>
          <a:xfrm>
            <a:off x="658639" y="2806303"/>
            <a:ext cx="3665116" cy="156046"/>
          </a:xfrm>
          <a:prstGeom prst="rect">
            <a:avLst/>
          </a:prstGeom>
          <a:noFill/>
          <a:ln/>
        </p:spPr>
        <p:txBody>
          <a:bodyPr wrap="none" lIns="0" tIns="0" rIns="0" bIns="0" rtlCol="0" anchor="t"/>
          <a:lstStyle/>
          <a:p>
            <a:pPr algn="l" indent="0" marL="0">
              <a:lnSpc>
                <a:spcPts val="1200"/>
              </a:lnSpc>
              <a:buNone/>
            </a:pPr>
            <a:r>
              <a:rPr lang="en-US" sz="800" dirty="0">
                <a:solidFill>
                  <a:srgbClr val="3C3939"/>
                </a:solidFill>
                <a:latin typeface="Roboto" pitchFamily="34" charset="0"/>
                <a:ea typeface="Roboto" pitchFamily="34" charset="-122"/>
                <a:cs typeface="Roboto" pitchFamily="34" charset="-120"/>
              </a:rPr>
              <a:t>Key-value pairs make data predictable and easy to work with</a:t>
            </a:r>
            <a:endParaRPr lang="en-US" sz="800" dirty="0"/>
          </a:p>
        </p:txBody>
      </p:sp>
      <p:sp>
        <p:nvSpPr>
          <p:cNvPr id="14" name="Shape 12"/>
          <p:cNvSpPr/>
          <p:nvPr/>
        </p:nvSpPr>
        <p:spPr>
          <a:xfrm>
            <a:off x="496119" y="3171602"/>
            <a:ext cx="3947294" cy="649635"/>
          </a:xfrm>
          <a:prstGeom prst="roundRect">
            <a:avLst>
              <a:gd name="adj" fmla="val 10557"/>
            </a:avLst>
          </a:prstGeom>
          <a:solidFill>
            <a:srgbClr val="FFFFFF">
              <a:alpha val="95000"/>
            </a:srgbClr>
          </a:solidFill>
          <a:ln w="14288">
            <a:solidFill>
              <a:srgbClr val="C7C7D0"/>
            </a:solidFill>
            <a:prstDash val="solid"/>
          </a:ln>
        </p:spPr>
      </p:sp>
      <p:sp>
        <p:nvSpPr>
          <p:cNvPr id="15" name="Shape 13"/>
          <p:cNvSpPr/>
          <p:nvPr/>
        </p:nvSpPr>
        <p:spPr>
          <a:xfrm>
            <a:off x="481831" y="3171602"/>
            <a:ext cx="57150" cy="649635"/>
          </a:xfrm>
          <a:prstGeom prst="roundRect">
            <a:avLst>
              <a:gd name="adj" fmla="val 77488"/>
            </a:avLst>
          </a:prstGeom>
          <a:solidFill>
            <a:srgbClr val="1B1B27"/>
          </a:solidFill>
          <a:ln/>
        </p:spPr>
      </p:sp>
      <p:sp>
        <p:nvSpPr>
          <p:cNvPr id="16" name="Text 14"/>
          <p:cNvSpPr/>
          <p:nvPr/>
        </p:nvSpPr>
        <p:spPr>
          <a:xfrm>
            <a:off x="658639" y="3291260"/>
            <a:ext cx="1317947" cy="164678"/>
          </a:xfrm>
          <a:prstGeom prst="rect">
            <a:avLst/>
          </a:prstGeom>
          <a:noFill/>
          <a:ln/>
        </p:spPr>
        <p:txBody>
          <a:bodyPr wrap="none" lIns="0" tIns="0" rIns="0" bIns="0" rtlCol="0" anchor="t"/>
          <a:lstStyle/>
          <a:p>
            <a:pPr algn="l" indent="0" marL="0">
              <a:lnSpc>
                <a:spcPts val="1250"/>
              </a:lnSpc>
              <a:buNone/>
            </a:pPr>
            <a:r>
              <a:rPr lang="en-US" sz="1000" dirty="0">
                <a:solidFill>
                  <a:srgbClr val="3C3939"/>
                </a:solidFill>
                <a:latin typeface="Raleway" pitchFamily="34" charset="0"/>
                <a:ea typeface="Raleway" pitchFamily="34" charset="-122"/>
                <a:cs typeface="Raleway" pitchFamily="34" charset="-120"/>
              </a:rPr>
              <a:t>Human Readable</a:t>
            </a:r>
            <a:endParaRPr lang="en-US" sz="1000" dirty="0"/>
          </a:p>
        </p:txBody>
      </p:sp>
      <p:sp>
        <p:nvSpPr>
          <p:cNvPr id="17" name="Text 15"/>
          <p:cNvSpPr/>
          <p:nvPr/>
        </p:nvSpPr>
        <p:spPr>
          <a:xfrm>
            <a:off x="658639" y="3545532"/>
            <a:ext cx="3665116" cy="156046"/>
          </a:xfrm>
          <a:prstGeom prst="rect">
            <a:avLst/>
          </a:prstGeom>
          <a:noFill/>
          <a:ln/>
        </p:spPr>
        <p:txBody>
          <a:bodyPr wrap="none" lIns="0" tIns="0" rIns="0" bIns="0" rtlCol="0" anchor="t"/>
          <a:lstStyle/>
          <a:p>
            <a:pPr algn="l" indent="0" marL="0">
              <a:lnSpc>
                <a:spcPts val="1200"/>
              </a:lnSpc>
              <a:buNone/>
            </a:pPr>
            <a:r>
              <a:rPr lang="en-US" sz="800" dirty="0">
                <a:solidFill>
                  <a:srgbClr val="3C3939"/>
                </a:solidFill>
                <a:latin typeface="Roboto" pitchFamily="34" charset="0"/>
                <a:ea typeface="Roboto" pitchFamily="34" charset="-122"/>
                <a:cs typeface="Roboto" pitchFamily="34" charset="-120"/>
              </a:rPr>
              <a:t>Developers can inspect JSON directly without special tools</a:t>
            </a:r>
            <a:endParaRPr lang="en-US" sz="800" dirty="0"/>
          </a:p>
        </p:txBody>
      </p:sp>
      <p:sp>
        <p:nvSpPr>
          <p:cNvPr id="18" name="Shape 16"/>
          <p:cNvSpPr/>
          <p:nvPr/>
        </p:nvSpPr>
        <p:spPr>
          <a:xfrm>
            <a:off x="496119" y="3910831"/>
            <a:ext cx="3947294" cy="649635"/>
          </a:xfrm>
          <a:prstGeom prst="roundRect">
            <a:avLst>
              <a:gd name="adj" fmla="val 10557"/>
            </a:avLst>
          </a:prstGeom>
          <a:solidFill>
            <a:srgbClr val="FFFFFF">
              <a:alpha val="95000"/>
            </a:srgbClr>
          </a:solidFill>
          <a:ln w="14288">
            <a:solidFill>
              <a:srgbClr val="C7C7D0"/>
            </a:solidFill>
            <a:prstDash val="solid"/>
          </a:ln>
        </p:spPr>
      </p:sp>
      <p:sp>
        <p:nvSpPr>
          <p:cNvPr id="19" name="Shape 17"/>
          <p:cNvSpPr/>
          <p:nvPr/>
        </p:nvSpPr>
        <p:spPr>
          <a:xfrm>
            <a:off x="481831" y="3910831"/>
            <a:ext cx="57150" cy="649635"/>
          </a:xfrm>
          <a:prstGeom prst="roundRect">
            <a:avLst>
              <a:gd name="adj" fmla="val 77488"/>
            </a:avLst>
          </a:prstGeom>
          <a:solidFill>
            <a:srgbClr val="1B1B27"/>
          </a:solidFill>
          <a:ln/>
        </p:spPr>
      </p:sp>
      <p:sp>
        <p:nvSpPr>
          <p:cNvPr id="20" name="Text 18"/>
          <p:cNvSpPr/>
          <p:nvPr/>
        </p:nvSpPr>
        <p:spPr>
          <a:xfrm>
            <a:off x="658639" y="4030489"/>
            <a:ext cx="1317947" cy="164678"/>
          </a:xfrm>
          <a:prstGeom prst="rect">
            <a:avLst/>
          </a:prstGeom>
          <a:noFill/>
          <a:ln/>
        </p:spPr>
        <p:txBody>
          <a:bodyPr wrap="none" lIns="0" tIns="0" rIns="0" bIns="0" rtlCol="0" anchor="t"/>
          <a:lstStyle/>
          <a:p>
            <a:pPr algn="l" indent="0" marL="0">
              <a:lnSpc>
                <a:spcPts val="1250"/>
              </a:lnSpc>
              <a:buNone/>
            </a:pPr>
            <a:r>
              <a:rPr lang="en-US" sz="1000" dirty="0">
                <a:solidFill>
                  <a:srgbClr val="3C3939"/>
                </a:solidFill>
                <a:latin typeface="Raleway" pitchFamily="34" charset="0"/>
                <a:ea typeface="Raleway" pitchFamily="34" charset="-122"/>
                <a:cs typeface="Raleway" pitchFamily="34" charset="-120"/>
              </a:rPr>
              <a:t>Cross-Language</a:t>
            </a:r>
            <a:endParaRPr lang="en-US" sz="1000" dirty="0"/>
          </a:p>
        </p:txBody>
      </p:sp>
      <p:sp>
        <p:nvSpPr>
          <p:cNvPr id="21" name="Text 19"/>
          <p:cNvSpPr/>
          <p:nvPr/>
        </p:nvSpPr>
        <p:spPr>
          <a:xfrm>
            <a:off x="658639" y="4284762"/>
            <a:ext cx="3665116" cy="156046"/>
          </a:xfrm>
          <a:prstGeom prst="rect">
            <a:avLst/>
          </a:prstGeom>
          <a:noFill/>
          <a:ln/>
        </p:spPr>
        <p:txBody>
          <a:bodyPr wrap="none" lIns="0" tIns="0" rIns="0" bIns="0" rtlCol="0" anchor="t"/>
          <a:lstStyle/>
          <a:p>
            <a:pPr algn="l" indent="0" marL="0">
              <a:lnSpc>
                <a:spcPts val="1200"/>
              </a:lnSpc>
              <a:buNone/>
            </a:pPr>
            <a:r>
              <a:rPr lang="en-US" sz="800" dirty="0">
                <a:solidFill>
                  <a:srgbClr val="3C3939"/>
                </a:solidFill>
                <a:latin typeface="Roboto" pitchFamily="34" charset="0"/>
                <a:ea typeface="Roboto" pitchFamily="34" charset="-122"/>
                <a:cs typeface="Roboto" pitchFamily="34" charset="-120"/>
              </a:rPr>
              <a:t>Supported by Python, JavaScript, Java, Go, and virtually all others</a:t>
            </a:r>
            <a:endParaRPr lang="en-US" sz="800" dirty="0"/>
          </a:p>
        </p:txBody>
      </p:sp>
      <p:sp>
        <p:nvSpPr>
          <p:cNvPr id="22" name="Text 20"/>
          <p:cNvSpPr/>
          <p:nvPr/>
        </p:nvSpPr>
        <p:spPr>
          <a:xfrm>
            <a:off x="4705350" y="1681981"/>
            <a:ext cx="1542901" cy="164678"/>
          </a:xfrm>
          <a:prstGeom prst="rect">
            <a:avLst/>
          </a:prstGeom>
          <a:noFill/>
          <a:ln/>
        </p:spPr>
        <p:txBody>
          <a:bodyPr wrap="none" lIns="0" tIns="0" rIns="0" bIns="0" rtlCol="0" anchor="t"/>
          <a:lstStyle/>
          <a:p>
            <a:pPr algn="l" indent="0" marL="0">
              <a:lnSpc>
                <a:spcPts val="1250"/>
              </a:lnSpc>
              <a:buNone/>
            </a:pPr>
            <a:r>
              <a:rPr lang="en-US" sz="1000" dirty="0">
                <a:solidFill>
                  <a:srgbClr val="1B1B27"/>
                </a:solidFill>
                <a:latin typeface="Raleway" pitchFamily="34" charset="0"/>
                <a:ea typeface="Raleway" pitchFamily="34" charset="-122"/>
                <a:cs typeface="Raleway" pitchFamily="34" charset="-120"/>
              </a:rPr>
              <a:t>Example JSON Response</a:t>
            </a:r>
            <a:endParaRPr lang="en-US" sz="1000" dirty="0"/>
          </a:p>
        </p:txBody>
      </p:sp>
      <p:sp>
        <p:nvSpPr>
          <p:cNvPr id="23" name="Shape 21"/>
          <p:cNvSpPr/>
          <p:nvPr/>
        </p:nvSpPr>
        <p:spPr>
          <a:xfrm>
            <a:off x="4705350" y="1947416"/>
            <a:ext cx="3947294" cy="834926"/>
          </a:xfrm>
          <a:prstGeom prst="roundRect">
            <a:avLst>
              <a:gd name="adj" fmla="val 5304"/>
            </a:avLst>
          </a:prstGeom>
          <a:solidFill>
            <a:srgbClr val="F2F2F2"/>
          </a:solidFill>
          <a:ln/>
        </p:spPr>
      </p:sp>
      <p:sp>
        <p:nvSpPr>
          <p:cNvPr id="24" name="Shape 22"/>
          <p:cNvSpPr/>
          <p:nvPr/>
        </p:nvSpPr>
        <p:spPr>
          <a:xfrm>
            <a:off x="4700141" y="1947416"/>
            <a:ext cx="3957712" cy="834926"/>
          </a:xfrm>
          <a:prstGeom prst="roundRect">
            <a:avLst>
              <a:gd name="adj" fmla="val 1894"/>
            </a:avLst>
          </a:prstGeom>
          <a:solidFill>
            <a:srgbClr val="F2F2F2"/>
          </a:solidFill>
          <a:ln/>
        </p:spPr>
      </p:sp>
      <p:sp>
        <p:nvSpPr>
          <p:cNvPr id="25" name="Text 23"/>
          <p:cNvSpPr/>
          <p:nvPr/>
        </p:nvSpPr>
        <p:spPr>
          <a:xfrm>
            <a:off x="4831928" y="2052786"/>
            <a:ext cx="3694137" cy="624185"/>
          </a:xfrm>
          <a:prstGeom prst="rect">
            <a:avLst/>
          </a:prstGeom>
          <a:noFill/>
          <a:ln/>
        </p:spPr>
        <p:txBody>
          <a:bodyPr wrap="square" lIns="0" tIns="0" rIns="0" bIns="0" rtlCol="0" anchor="t"/>
          <a:lstStyle/>
          <a:p>
            <a:pPr algn="l" indent="0" marL="0">
              <a:lnSpc>
                <a:spcPts val="1200"/>
              </a:lnSpc>
              <a:buNone/>
            </a:pPr>
            <a:r>
              <a:rPr lang="en-US" sz="800" dirty="0">
                <a:solidFill>
                  <a:srgbClr val="3C3939"/>
                </a:solidFill>
                <a:highlight>
                  <a:srgbClr val="F2F2F2"/>
                </a:highlight>
                <a:latin typeface="Consolas" pitchFamily="34" charset="0"/>
                <a:ea typeface="Consolas" pitchFamily="34" charset="-122"/>
                <a:cs typeface="Consolas" pitchFamily="34" charset="-120"/>
              </a:rPr>
              <a:t>{</a:t>
            </a:r>
            <a:endParaRPr lang="en-US" sz="800" dirty="0"/>
          </a:p>
          <a:p>
            <a:pPr algn="l" indent="0" marL="0">
              <a:lnSpc>
                <a:spcPts val="1200"/>
              </a:lnSpc>
              <a:buNone/>
            </a:pPr>
            <a:r>
              <a:rPr lang="en-US" sz="800" dirty="0">
                <a:solidFill>
                  <a:srgbClr val="3C3939"/>
                </a:solidFill>
                <a:highlight>
                  <a:srgbClr val="F2F2F2"/>
                </a:highlight>
                <a:latin typeface="Consolas" pitchFamily="34" charset="0"/>
                <a:ea typeface="Consolas" pitchFamily="34" charset="-122"/>
                <a:cs typeface="Consolas" pitchFamily="34" charset="-120"/>
              </a:rPr>
              <a:t>  "name": "Alex",</a:t>
            </a:r>
            <a:endParaRPr lang="en-US" sz="800" dirty="0"/>
          </a:p>
          <a:p>
            <a:pPr algn="l" indent="0" marL="0">
              <a:lnSpc>
                <a:spcPts val="1200"/>
              </a:lnSpc>
              <a:buNone/>
            </a:pPr>
            <a:r>
              <a:rPr lang="en-US" sz="800" dirty="0">
                <a:solidFill>
                  <a:srgbClr val="3C3939"/>
                </a:solidFill>
                <a:highlight>
                  <a:srgbClr val="F2F2F2"/>
                </a:highlight>
                <a:latin typeface="Consolas" pitchFamily="34" charset="0"/>
                <a:ea typeface="Consolas" pitchFamily="34" charset="-122"/>
                <a:cs typeface="Consolas" pitchFamily="34" charset="-120"/>
              </a:rPr>
              <a:t>  "age": 28</a:t>
            </a:r>
            <a:endParaRPr lang="en-US" sz="800" dirty="0"/>
          </a:p>
          <a:p>
            <a:pPr algn="l" indent="0" marL="0">
              <a:lnSpc>
                <a:spcPts val="1200"/>
              </a:lnSpc>
              <a:buNone/>
            </a:pPr>
            <a:r>
              <a:rPr lang="en-US" sz="800" dirty="0">
                <a:solidFill>
                  <a:srgbClr val="3C3939"/>
                </a:solidFill>
                <a:highlight>
                  <a:srgbClr val="F2F2F2"/>
                </a:highlight>
                <a:latin typeface="Consolas" pitchFamily="34" charset="0"/>
                <a:ea typeface="Consolas" pitchFamily="34" charset="-122"/>
                <a:cs typeface="Consolas" pitchFamily="34" charset="-120"/>
              </a:rPr>
              <a:t>}</a:t>
            </a:r>
            <a:endParaRPr lang="en-US" sz="800" dirty="0"/>
          </a:p>
        </p:txBody>
      </p:sp>
      <p:sp>
        <p:nvSpPr>
          <p:cNvPr id="26" name="Text 24"/>
          <p:cNvSpPr/>
          <p:nvPr/>
        </p:nvSpPr>
        <p:spPr>
          <a:xfrm>
            <a:off x="4705350" y="2883098"/>
            <a:ext cx="3947294" cy="156046"/>
          </a:xfrm>
          <a:prstGeom prst="rect">
            <a:avLst/>
          </a:prstGeom>
          <a:noFill/>
          <a:ln/>
        </p:spPr>
        <p:txBody>
          <a:bodyPr wrap="none" lIns="0" tIns="0" rIns="0" bIns="0" rtlCol="0" anchor="t"/>
          <a:lstStyle/>
          <a:p>
            <a:pPr algn="l" indent="0" marL="0">
              <a:lnSpc>
                <a:spcPts val="1200"/>
              </a:lnSpc>
              <a:buNone/>
            </a:pPr>
            <a:r>
              <a:rPr lang="en-US" sz="800" dirty="0">
                <a:solidFill>
                  <a:srgbClr val="3C3939"/>
                </a:solidFill>
                <a:latin typeface="Roboto" pitchFamily="34" charset="0"/>
                <a:ea typeface="Roboto" pitchFamily="34" charset="-122"/>
                <a:cs typeface="Roboto" pitchFamily="34" charset="-120"/>
              </a:rPr>
              <a:t>Simple, clean, and immediately understandable — no parsing ambiguity.</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26393" y="305246"/>
            <a:ext cx="1406649" cy="200174"/>
          </a:xfrm>
          <a:prstGeom prst="roundRect">
            <a:avLst>
              <a:gd name="adj" fmla="val 17894"/>
            </a:avLst>
          </a:prstGeom>
          <a:noFill/>
          <a:ln w="4763">
            <a:solidFill>
              <a:srgbClr val="1B1B27"/>
            </a:solidFill>
            <a:prstDash val="solid"/>
          </a:ln>
        </p:spPr>
      </p:sp>
      <p:sp>
        <p:nvSpPr>
          <p:cNvPr id="3" name="Text 1"/>
          <p:cNvSpPr/>
          <p:nvPr/>
        </p:nvSpPr>
        <p:spPr>
          <a:xfrm>
            <a:off x="495077" y="341933"/>
            <a:ext cx="1269281" cy="126802"/>
          </a:xfrm>
          <a:prstGeom prst="rect">
            <a:avLst/>
          </a:prstGeom>
          <a:noFill/>
          <a:ln/>
        </p:spPr>
        <p:txBody>
          <a:bodyPr wrap="none" lIns="0" tIns="0" rIns="0" bIns="0" rtlCol="0" anchor="t"/>
          <a:lstStyle/>
          <a:p>
            <a:pPr algn="l" indent="0" marL="0">
              <a:lnSpc>
                <a:spcPts val="950"/>
              </a:lnSpc>
              <a:buNone/>
            </a:pPr>
            <a:r>
              <a:rPr lang="en-US" sz="650" dirty="0">
                <a:solidFill>
                  <a:srgbClr val="1B1B27"/>
                </a:solidFill>
                <a:latin typeface="Roboto" pitchFamily="34" charset="0"/>
                <a:ea typeface="Roboto" pitchFamily="34" charset="-122"/>
                <a:cs typeface="Roboto" pitchFamily="34" charset="-120"/>
              </a:rPr>
              <a:t>PART 1 — UNDERSTANDING APIS</a:t>
            </a:r>
            <a:endParaRPr lang="en-US" sz="650" dirty="0"/>
          </a:p>
        </p:txBody>
      </p:sp>
      <p:sp>
        <p:nvSpPr>
          <p:cNvPr id="4" name="Text 2"/>
          <p:cNvSpPr/>
          <p:nvPr/>
        </p:nvSpPr>
        <p:spPr>
          <a:xfrm>
            <a:off x="426393" y="542032"/>
            <a:ext cx="2664991" cy="333077"/>
          </a:xfrm>
          <a:prstGeom prst="rect">
            <a:avLst/>
          </a:prstGeom>
          <a:noFill/>
          <a:ln/>
        </p:spPr>
        <p:txBody>
          <a:bodyPr wrap="none" lIns="0" tIns="0" rIns="0" bIns="0" rtlCol="0" anchor="t"/>
          <a:lstStyle/>
          <a:p>
            <a:pPr algn="l" indent="0" marL="0">
              <a:lnSpc>
                <a:spcPts val="2600"/>
              </a:lnSpc>
              <a:buNone/>
            </a:pPr>
            <a:r>
              <a:rPr lang="en-US" sz="2050" dirty="0">
                <a:solidFill>
                  <a:srgbClr val="1B1B27"/>
                </a:solidFill>
                <a:latin typeface="Raleway" pitchFamily="34" charset="0"/>
                <a:ea typeface="Raleway" pitchFamily="34" charset="-122"/>
                <a:cs typeface="Raleway" pitchFamily="34" charset="-120"/>
              </a:rPr>
              <a:t>Core Mental Model</a:t>
            </a:r>
            <a:endParaRPr lang="en-US" sz="2050" dirty="0"/>
          </a:p>
        </p:txBody>
      </p:sp>
      <p:sp>
        <p:nvSpPr>
          <p:cNvPr id="5" name="Text 3"/>
          <p:cNvSpPr/>
          <p:nvPr/>
        </p:nvSpPr>
        <p:spPr>
          <a:xfrm>
            <a:off x="426393" y="1012478"/>
            <a:ext cx="8291215" cy="317153"/>
          </a:xfrm>
          <a:prstGeom prst="rect">
            <a:avLst/>
          </a:prstGeom>
          <a:noFill/>
          <a:ln/>
        </p:spPr>
        <p:txBody>
          <a:bodyPr wrap="square" lIns="0" tIns="0" rIns="0" bIns="0" rtlCol="0" anchor="t"/>
          <a:lstStyle/>
          <a:p>
            <a:pPr algn="l" indent="0" marL="0">
              <a:lnSpc>
                <a:spcPts val="1200"/>
              </a:lnSpc>
              <a:buNone/>
            </a:pPr>
            <a:r>
              <a:rPr lang="en-US" sz="800" dirty="0">
                <a:solidFill>
                  <a:srgbClr val="3C3939"/>
                </a:solidFill>
                <a:latin typeface="Roboto" pitchFamily="34" charset="0"/>
                <a:ea typeface="Roboto" pitchFamily="34" charset="-122"/>
                <a:cs typeface="Roboto" pitchFamily="34" charset="-120"/>
              </a:rPr>
              <a:t>Before writing a single line of backend code, internalize this fundamental model. Every backend API you will ever build follows this exact pattern — from the simplest endpoint to the most complex system.</a:t>
            </a:r>
            <a:endParaRPr lang="en-US" sz="800" dirty="0"/>
          </a:p>
        </p:txBody>
      </p:sp>
      <p:pic>
        <p:nvPicPr>
          <p:cNvPr id="6" name="Image 0" descr="preencoded.png">    </p:cNvPr>
          <p:cNvPicPr>
            <a:picLocks noChangeAspect="1"/>
          </p:cNvPicPr>
          <p:nvPr/>
        </p:nvPicPr>
        <p:blipFill>
          <a:blip r:embed="rId1"/>
          <a:stretch>
            <a:fillRect/>
          </a:stretch>
        </p:blipFill>
        <p:spPr>
          <a:xfrm>
            <a:off x="2137172" y="1432620"/>
            <a:ext cx="4869656" cy="2890168"/>
          </a:xfrm>
          <a:prstGeom prst="rect">
            <a:avLst/>
          </a:prstGeom>
        </p:spPr>
      </p:pic>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95869" y="2139025"/>
            <a:ext cx="414551" cy="414551"/>
          </a:xfrm>
          <a:prstGeom prst="rect">
            <a:avLst/>
          </a:prstGeom>
        </p:spPr>
      </p:pic>
      <p:sp>
        <p:nvSpPr>
          <p:cNvPr id="8" name="Text 4"/>
          <p:cNvSpPr/>
          <p:nvPr/>
        </p:nvSpPr>
        <p:spPr>
          <a:xfrm>
            <a:off x="5526530" y="3652397"/>
            <a:ext cx="1210491" cy="233185"/>
          </a:xfrm>
          <a:prstGeom prst="rect">
            <a:avLst/>
          </a:prstGeom>
          <a:noFill/>
          <a:ln/>
        </p:spPr>
        <p:txBody>
          <a:bodyPr wrap="none" lIns="0" tIns="0" rIns="0" bIns="0" rtlCol="0" anchor="t"/>
          <a:lstStyle/>
          <a:p>
            <a:pPr algn="ctr" indent="0" marL="0">
              <a:lnSpc>
                <a:spcPts val="1800"/>
              </a:lnSpc>
              <a:buNone/>
            </a:pPr>
            <a:r>
              <a:rPr lang="en-US" sz="1450" dirty="0">
                <a:solidFill>
                  <a:srgbClr val="3C3939"/>
                </a:solidFill>
                <a:latin typeface="Raleway" pitchFamily="34" charset="0"/>
                <a:ea typeface="Raleway" pitchFamily="34" charset="-122"/>
                <a:cs typeface="Raleway" pitchFamily="34" charset="-120"/>
              </a:rPr>
              <a:t>Return JSON</a:t>
            </a:r>
            <a:endParaRPr lang="en-US" sz="1450" dirty="0"/>
          </a:p>
        </p:txBody>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78222" y="2139802"/>
            <a:ext cx="414551" cy="414551"/>
          </a:xfrm>
          <a:prstGeom prst="rect">
            <a:avLst/>
          </a:prstGeom>
        </p:spPr>
      </p:pic>
      <p:sp>
        <p:nvSpPr>
          <p:cNvPr id="10" name="Text 5"/>
          <p:cNvSpPr/>
          <p:nvPr/>
        </p:nvSpPr>
        <p:spPr>
          <a:xfrm>
            <a:off x="4000980" y="3652397"/>
            <a:ext cx="1210490" cy="233185"/>
          </a:xfrm>
          <a:prstGeom prst="rect">
            <a:avLst/>
          </a:prstGeom>
          <a:noFill/>
          <a:ln/>
        </p:spPr>
        <p:txBody>
          <a:bodyPr wrap="none" lIns="0" tIns="0" rIns="0" bIns="0" rtlCol="0" anchor="t"/>
          <a:lstStyle/>
          <a:p>
            <a:pPr algn="ctr" indent="0" marL="0">
              <a:lnSpc>
                <a:spcPts val="1800"/>
              </a:lnSpc>
              <a:buNone/>
            </a:pPr>
            <a:r>
              <a:rPr lang="en-US" sz="1450" dirty="0">
                <a:solidFill>
                  <a:srgbClr val="3C3939"/>
                </a:solidFill>
                <a:latin typeface="Raleway" pitchFamily="34" charset="0"/>
                <a:ea typeface="Raleway" pitchFamily="34" charset="-122"/>
                <a:cs typeface="Raleway" pitchFamily="34" charset="-120"/>
              </a:rPr>
              <a:t>Apply Logic</a:t>
            </a:r>
            <a:endParaRPr lang="en-US" sz="145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52673" y="2139802"/>
            <a:ext cx="414551" cy="414551"/>
          </a:xfrm>
          <a:prstGeom prst="rect">
            <a:avLst/>
          </a:prstGeom>
        </p:spPr>
      </p:pic>
      <p:sp>
        <p:nvSpPr>
          <p:cNvPr id="12" name="Text 6"/>
          <p:cNvSpPr/>
          <p:nvPr/>
        </p:nvSpPr>
        <p:spPr>
          <a:xfrm>
            <a:off x="2450558" y="3535804"/>
            <a:ext cx="1210490" cy="466370"/>
          </a:xfrm>
          <a:prstGeom prst="rect">
            <a:avLst/>
          </a:prstGeom>
          <a:noFill/>
          <a:ln/>
        </p:spPr>
        <p:txBody>
          <a:bodyPr wrap="square" lIns="0" tIns="0" rIns="0" bIns="0" rtlCol="0" anchor="t"/>
          <a:lstStyle/>
          <a:p>
            <a:pPr algn="ctr" indent="0" marL="0">
              <a:lnSpc>
                <a:spcPts val="1800"/>
              </a:lnSpc>
              <a:buNone/>
            </a:pPr>
            <a:r>
              <a:rPr lang="en-US" sz="1450" dirty="0">
                <a:solidFill>
                  <a:srgbClr val="3C3939"/>
                </a:solidFill>
                <a:latin typeface="Raleway" pitchFamily="34" charset="0"/>
                <a:ea typeface="Raleway" pitchFamily="34" charset="-122"/>
                <a:cs typeface="Raleway" pitchFamily="34" charset="-120"/>
              </a:rPr>
              <a:t>Client Request</a:t>
            </a:r>
            <a:endParaRPr lang="en-US" sz="1450" dirty="0"/>
          </a:p>
        </p:txBody>
      </p:sp>
      <p:sp>
        <p:nvSpPr>
          <p:cNvPr id="13" name="Shape 7"/>
          <p:cNvSpPr/>
          <p:nvPr/>
        </p:nvSpPr>
        <p:spPr>
          <a:xfrm>
            <a:off x="426393" y="4425776"/>
            <a:ext cx="8291215" cy="412477"/>
          </a:xfrm>
          <a:prstGeom prst="roundRect">
            <a:avLst>
              <a:gd name="adj" fmla="val 10855"/>
            </a:avLst>
          </a:prstGeom>
          <a:solidFill>
            <a:srgbClr val="B6D6FC"/>
          </a:solidFill>
          <a:ln/>
        </p:spPr>
      </p:sp>
      <p:pic>
        <p:nvPicPr>
          <p:cNvPr id="14" name="Image 4" descr="preencoded.png">    </p:cNvPr>
          <p:cNvPicPr>
            <a:picLocks noChangeAspect="1"/>
          </p:cNvPicPr>
          <p:nvPr/>
        </p:nvPicPr>
        <p:blipFill>
          <a:blip r:embed="rId8"/>
          <a:stretch>
            <a:fillRect/>
          </a:stretch>
        </p:blipFill>
        <p:spPr>
          <a:xfrm>
            <a:off x="532954" y="4580037"/>
            <a:ext cx="133201" cy="106561"/>
          </a:xfrm>
          <a:prstGeom prst="rect">
            <a:avLst/>
          </a:prstGeom>
        </p:spPr>
      </p:pic>
      <p:sp>
        <p:nvSpPr>
          <p:cNvPr id="15" name="Text 8"/>
          <p:cNvSpPr/>
          <p:nvPr/>
        </p:nvSpPr>
        <p:spPr>
          <a:xfrm>
            <a:off x="772716" y="4544020"/>
            <a:ext cx="7838331" cy="158576"/>
          </a:xfrm>
          <a:prstGeom prst="rect">
            <a:avLst/>
          </a:prstGeom>
          <a:noFill/>
          <a:ln/>
        </p:spPr>
        <p:txBody>
          <a:bodyPr wrap="none" lIns="0" tIns="0" rIns="0" bIns="0" rtlCol="0" anchor="t"/>
          <a:lstStyle/>
          <a:p>
            <a:pPr algn="l" indent="0" marL="0">
              <a:lnSpc>
                <a:spcPts val="1200"/>
              </a:lnSpc>
              <a:buNone/>
            </a:pPr>
            <a:r>
              <a:rPr lang="en-US" sz="800" dirty="0">
                <a:solidFill>
                  <a:srgbClr val="000000"/>
                </a:solidFill>
                <a:latin typeface="Roboto" pitchFamily="34" charset="0"/>
                <a:ea typeface="Roboto" pitchFamily="34" charset="-122"/>
                <a:cs typeface="Roboto" pitchFamily="34" charset="-120"/>
              </a:rPr>
              <a:t>Master this loop and you understand the essence of backend development. Everything else is just detail on top of this foundation.</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61987" y="368424"/>
            <a:ext cx="3304952" cy="4406652"/>
          </a:xfrm>
          <a:prstGeom prst="rect">
            <a:avLst/>
          </a:prstGeom>
        </p:spPr>
      </p:pic>
      <p:sp>
        <p:nvSpPr>
          <p:cNvPr id="4" name="Text 1"/>
          <p:cNvSpPr/>
          <p:nvPr/>
        </p:nvSpPr>
        <p:spPr>
          <a:xfrm>
            <a:off x="3925119" y="1371451"/>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Part 2</a:t>
            </a:r>
            <a:endParaRPr lang="en-US" sz="2400" dirty="0"/>
          </a:p>
        </p:txBody>
      </p:sp>
      <p:sp>
        <p:nvSpPr>
          <p:cNvPr id="5" name="Text 2"/>
          <p:cNvSpPr/>
          <p:nvPr/>
        </p:nvSpPr>
        <p:spPr>
          <a:xfrm>
            <a:off x="3925119" y="1945035"/>
            <a:ext cx="4722763" cy="1069777"/>
          </a:xfrm>
          <a:prstGeom prst="rect">
            <a:avLst/>
          </a:prstGeom>
          <a:noFill/>
          <a:ln/>
        </p:spPr>
        <p:txBody>
          <a:bodyPr wrap="square" lIns="0" tIns="0" rIns="0" bIns="0" rtlCol="0" anchor="t"/>
          <a:lstStyle/>
          <a:p>
            <a:pPr algn="l" indent="0" marL="0">
              <a:lnSpc>
                <a:spcPts val="4200"/>
              </a:lnSpc>
              <a:buNone/>
            </a:pPr>
            <a:r>
              <a:rPr lang="en-US" sz="3350" dirty="0">
                <a:solidFill>
                  <a:srgbClr val="1B1B27"/>
                </a:solidFill>
                <a:latin typeface="Raleway" pitchFamily="34" charset="0"/>
                <a:ea typeface="Raleway" pitchFamily="34" charset="-122"/>
                <a:cs typeface="Raleway" pitchFamily="34" charset="-120"/>
              </a:rPr>
              <a:t>Building APIs Using FastAPI</a:t>
            </a:r>
            <a:endParaRPr lang="en-US" sz="3350" dirty="0"/>
          </a:p>
        </p:txBody>
      </p:sp>
      <p:sp>
        <p:nvSpPr>
          <p:cNvPr id="6" name="Text 3"/>
          <p:cNvSpPr/>
          <p:nvPr/>
        </p:nvSpPr>
        <p:spPr>
          <a:xfrm>
            <a:off x="3925119" y="3200846"/>
            <a:ext cx="4722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From theory to code — setting up your first real backend server.</a:t>
            </a:r>
            <a:endParaRPr lang="en-US" sz="950" dirty="0"/>
          </a:p>
        </p:txBody>
      </p:sp>
      <p:sp>
        <p:nvSpPr>
          <p:cNvPr id="7" name="Shape 4"/>
          <p:cNvSpPr/>
          <p:nvPr/>
        </p:nvSpPr>
        <p:spPr>
          <a:xfrm>
            <a:off x="3925119" y="3538835"/>
            <a:ext cx="692348" cy="233214"/>
          </a:xfrm>
          <a:prstGeom prst="roundRect">
            <a:avLst>
              <a:gd name="adj" fmla="val 17872"/>
            </a:avLst>
          </a:prstGeom>
          <a:solidFill>
            <a:srgbClr val="E1E1EA"/>
          </a:solidFill>
          <a:ln/>
        </p:spPr>
      </p:sp>
      <p:sp>
        <p:nvSpPr>
          <p:cNvPr id="8" name="Text 5"/>
          <p:cNvSpPr/>
          <p:nvPr/>
        </p:nvSpPr>
        <p:spPr>
          <a:xfrm>
            <a:off x="3999533" y="3576042"/>
            <a:ext cx="543520"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PART 2 OF 6</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96119" y="1305446"/>
            <a:ext cx="1275159" cy="242739"/>
          </a:xfrm>
          <a:prstGeom prst="roundRect">
            <a:avLst>
              <a:gd name="adj" fmla="val 17171"/>
            </a:avLst>
          </a:prstGeom>
          <a:noFill/>
          <a:ln w="4763">
            <a:solidFill>
              <a:srgbClr val="1B1B27"/>
            </a:solidFill>
            <a:prstDash val="solid"/>
          </a:ln>
        </p:spPr>
      </p:sp>
      <p:sp>
        <p:nvSpPr>
          <p:cNvPr id="3" name="Text 1"/>
          <p:cNvSpPr/>
          <p:nvPr/>
        </p:nvSpPr>
        <p:spPr>
          <a:xfrm>
            <a:off x="575295" y="1347415"/>
            <a:ext cx="1116806"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2 — BUILDING APIS</a:t>
            </a:r>
            <a:endParaRPr lang="en-US" sz="750" dirty="0"/>
          </a:p>
        </p:txBody>
      </p:sp>
      <p:sp>
        <p:nvSpPr>
          <p:cNvPr id="4" name="Text 2"/>
          <p:cNvSpPr/>
          <p:nvPr/>
        </p:nvSpPr>
        <p:spPr>
          <a:xfrm>
            <a:off x="496119" y="1597744"/>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Introducing FastAPI</a:t>
            </a:r>
            <a:endParaRPr lang="en-US" sz="2400" dirty="0"/>
          </a:p>
        </p:txBody>
      </p:sp>
      <p:sp>
        <p:nvSpPr>
          <p:cNvPr id="5" name="Text 3"/>
          <p:cNvSpPr/>
          <p:nvPr/>
        </p:nvSpPr>
        <p:spPr>
          <a:xfrm>
            <a:off x="496119" y="2171328"/>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FastAPI is a modern Python web framework designed specifically for building backend APIs quickly and correctly. It is one of the fastest Python frameworks available and is rapidly becoming the industry standard for new backend projects.</a:t>
            </a:r>
            <a:endParaRPr lang="en-US" sz="9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2707779"/>
            <a:ext cx="310083" cy="310083"/>
          </a:xfrm>
          <a:prstGeom prst="rect">
            <a:avLst/>
          </a:prstGeom>
        </p:spPr>
      </p:pic>
      <p:sp>
        <p:nvSpPr>
          <p:cNvPr id="7" name="Text 4"/>
          <p:cNvSpPr/>
          <p:nvPr/>
        </p:nvSpPr>
        <p:spPr>
          <a:xfrm>
            <a:off x="496119" y="3172867"/>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Fast to Build</a:t>
            </a:r>
            <a:endParaRPr lang="en-US" sz="1200" dirty="0"/>
          </a:p>
        </p:txBody>
      </p:sp>
      <p:sp>
        <p:nvSpPr>
          <p:cNvPr id="8" name="Text 5"/>
          <p:cNvSpPr/>
          <p:nvPr/>
        </p:nvSpPr>
        <p:spPr>
          <a:xfrm>
            <a:off x="496119" y="3441129"/>
            <a:ext cx="2613868"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Minimal boilerplate — go from zero to a working API in minutes</a:t>
            </a:r>
            <a:endParaRPr lang="en-US" sz="9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64991" y="2707779"/>
            <a:ext cx="310083" cy="310083"/>
          </a:xfrm>
          <a:prstGeom prst="rect">
            <a:avLst/>
          </a:prstGeom>
        </p:spPr>
      </p:pic>
      <p:sp>
        <p:nvSpPr>
          <p:cNvPr id="10" name="Text 6"/>
          <p:cNvSpPr/>
          <p:nvPr/>
        </p:nvSpPr>
        <p:spPr>
          <a:xfrm>
            <a:off x="3264991" y="3172867"/>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Built-in Validation</a:t>
            </a:r>
            <a:endParaRPr lang="en-US" sz="1200" dirty="0"/>
          </a:p>
        </p:txBody>
      </p:sp>
      <p:sp>
        <p:nvSpPr>
          <p:cNvPr id="11" name="Text 7"/>
          <p:cNvSpPr/>
          <p:nvPr/>
        </p:nvSpPr>
        <p:spPr>
          <a:xfrm>
            <a:off x="3264991" y="3441129"/>
            <a:ext cx="261394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Automatic type checking and data validation powered by Pydantic</a:t>
            </a:r>
            <a:endParaRPr lang="en-US" sz="9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33939" y="2707779"/>
            <a:ext cx="310083" cy="310083"/>
          </a:xfrm>
          <a:prstGeom prst="rect">
            <a:avLst/>
          </a:prstGeom>
        </p:spPr>
      </p:pic>
      <p:sp>
        <p:nvSpPr>
          <p:cNvPr id="13" name="Text 8"/>
          <p:cNvSpPr/>
          <p:nvPr/>
        </p:nvSpPr>
        <p:spPr>
          <a:xfrm>
            <a:off x="6033939" y="3172867"/>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Auto Documentation</a:t>
            </a:r>
            <a:endParaRPr lang="en-US" sz="1200" dirty="0"/>
          </a:p>
        </p:txBody>
      </p:sp>
      <p:sp>
        <p:nvSpPr>
          <p:cNvPr id="14" name="Text 9"/>
          <p:cNvSpPr/>
          <p:nvPr/>
        </p:nvSpPr>
        <p:spPr>
          <a:xfrm>
            <a:off x="6033939" y="3441129"/>
            <a:ext cx="261394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Swagger UI generated automatically — no extra work required</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96119" y="389855"/>
            <a:ext cx="1275159" cy="242739"/>
          </a:xfrm>
          <a:prstGeom prst="roundRect">
            <a:avLst>
              <a:gd name="adj" fmla="val 17171"/>
            </a:avLst>
          </a:prstGeom>
          <a:noFill/>
          <a:ln w="4763">
            <a:solidFill>
              <a:srgbClr val="1B1B27"/>
            </a:solidFill>
            <a:prstDash val="solid"/>
          </a:ln>
        </p:spPr>
      </p:sp>
      <p:sp>
        <p:nvSpPr>
          <p:cNvPr id="3" name="Text 1"/>
          <p:cNvSpPr/>
          <p:nvPr/>
        </p:nvSpPr>
        <p:spPr>
          <a:xfrm>
            <a:off x="575295" y="431825"/>
            <a:ext cx="1116806"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2 — BUILDING APIS</a:t>
            </a:r>
            <a:endParaRPr lang="en-US" sz="750" dirty="0"/>
          </a:p>
        </p:txBody>
      </p:sp>
      <p:sp>
        <p:nvSpPr>
          <p:cNvPr id="4" name="Text 2"/>
          <p:cNvSpPr/>
          <p:nvPr/>
        </p:nvSpPr>
        <p:spPr>
          <a:xfrm>
            <a:off x="496119" y="682154"/>
            <a:ext cx="3185517"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What FastAPI Handles</a:t>
            </a:r>
            <a:endParaRPr lang="en-US" sz="2400" dirty="0"/>
          </a:p>
        </p:txBody>
      </p:sp>
      <p:sp>
        <p:nvSpPr>
          <p:cNvPr id="5" name="Text 3"/>
          <p:cNvSpPr/>
          <p:nvPr/>
        </p:nvSpPr>
        <p:spPr>
          <a:xfrm>
            <a:off x="496119" y="1255737"/>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FastAPI is not just a router. It takes care of the entire request-to-response lifecycle, so you can focus on writing business logic instead of plumbing code.</a:t>
            </a:r>
            <a:endParaRPr lang="en-US" sz="950" dirty="0"/>
          </a:p>
        </p:txBody>
      </p:sp>
      <p:sp>
        <p:nvSpPr>
          <p:cNvPr id="6" name="Shape 4"/>
          <p:cNvSpPr/>
          <p:nvPr/>
        </p:nvSpPr>
        <p:spPr>
          <a:xfrm>
            <a:off x="496119" y="1792188"/>
            <a:ext cx="4013895" cy="1418704"/>
          </a:xfrm>
          <a:prstGeom prst="roundRect">
            <a:avLst>
              <a:gd name="adj" fmla="val 3672"/>
            </a:avLst>
          </a:prstGeom>
          <a:solidFill>
            <a:srgbClr val="E1E1EA"/>
          </a:solidFill>
          <a:ln w="4763">
            <a:solidFill>
              <a:srgbClr val="C7C7D0"/>
            </a:solidFill>
            <a:prstDash val="solid"/>
          </a:ln>
        </p:spPr>
      </p:sp>
      <p:sp>
        <p:nvSpPr>
          <p:cNvPr id="7" name="Shape 5"/>
          <p:cNvSpPr/>
          <p:nvPr/>
        </p:nvSpPr>
        <p:spPr>
          <a:xfrm>
            <a:off x="624855" y="1920925"/>
            <a:ext cx="372070" cy="372070"/>
          </a:xfrm>
          <a:prstGeom prst="roundRect">
            <a:avLst>
              <a:gd name="adj" fmla="val 15358477"/>
            </a:avLst>
          </a:prstGeom>
          <a:solidFill>
            <a:srgbClr val="1B1B27"/>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7174" y="2023170"/>
            <a:ext cx="167432" cy="167432"/>
          </a:xfrm>
          <a:prstGeom prst="rect">
            <a:avLst/>
          </a:prstGeom>
        </p:spPr>
      </p:pic>
      <p:sp>
        <p:nvSpPr>
          <p:cNvPr id="9" name="Text 6"/>
          <p:cNvSpPr/>
          <p:nvPr/>
        </p:nvSpPr>
        <p:spPr>
          <a:xfrm>
            <a:off x="624855" y="2416969"/>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Routing</a:t>
            </a:r>
            <a:endParaRPr lang="en-US" sz="1200" dirty="0"/>
          </a:p>
        </p:txBody>
      </p:sp>
      <p:sp>
        <p:nvSpPr>
          <p:cNvPr id="10" name="Text 7"/>
          <p:cNvSpPr/>
          <p:nvPr/>
        </p:nvSpPr>
        <p:spPr>
          <a:xfrm>
            <a:off x="624855" y="2685231"/>
            <a:ext cx="375642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Maps incoming URLs and methods to the correct handler function</a:t>
            </a:r>
            <a:endParaRPr lang="en-US" sz="950" dirty="0"/>
          </a:p>
        </p:txBody>
      </p:sp>
      <p:sp>
        <p:nvSpPr>
          <p:cNvPr id="11" name="Shape 8"/>
          <p:cNvSpPr/>
          <p:nvPr/>
        </p:nvSpPr>
        <p:spPr>
          <a:xfrm>
            <a:off x="4633987" y="1792188"/>
            <a:ext cx="4013895" cy="1418704"/>
          </a:xfrm>
          <a:prstGeom prst="roundRect">
            <a:avLst>
              <a:gd name="adj" fmla="val 3672"/>
            </a:avLst>
          </a:prstGeom>
          <a:solidFill>
            <a:srgbClr val="E1E1EA"/>
          </a:solidFill>
          <a:ln w="4763">
            <a:solidFill>
              <a:srgbClr val="C7C7D0"/>
            </a:solidFill>
            <a:prstDash val="solid"/>
          </a:ln>
        </p:spPr>
      </p:sp>
      <p:sp>
        <p:nvSpPr>
          <p:cNvPr id="12" name="Shape 9"/>
          <p:cNvSpPr/>
          <p:nvPr/>
        </p:nvSpPr>
        <p:spPr>
          <a:xfrm>
            <a:off x="4762723" y="1920925"/>
            <a:ext cx="372070" cy="372070"/>
          </a:xfrm>
          <a:prstGeom prst="roundRect">
            <a:avLst>
              <a:gd name="adj" fmla="val 15358477"/>
            </a:avLst>
          </a:prstGeom>
          <a:solidFill>
            <a:srgbClr val="1B1B27"/>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65043" y="2023170"/>
            <a:ext cx="167432" cy="167432"/>
          </a:xfrm>
          <a:prstGeom prst="rect">
            <a:avLst/>
          </a:prstGeom>
        </p:spPr>
      </p:pic>
      <p:sp>
        <p:nvSpPr>
          <p:cNvPr id="14" name="Text 10"/>
          <p:cNvSpPr/>
          <p:nvPr/>
        </p:nvSpPr>
        <p:spPr>
          <a:xfrm>
            <a:off x="4762723" y="2416969"/>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Validation</a:t>
            </a:r>
            <a:endParaRPr lang="en-US" sz="1200" dirty="0"/>
          </a:p>
        </p:txBody>
      </p:sp>
      <p:sp>
        <p:nvSpPr>
          <p:cNvPr id="15" name="Text 11"/>
          <p:cNvSpPr/>
          <p:nvPr/>
        </p:nvSpPr>
        <p:spPr>
          <a:xfrm>
            <a:off x="4762723" y="2685231"/>
            <a:ext cx="3756422"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Automatically rejects requests that don't match your defined schema</a:t>
            </a:r>
            <a:endParaRPr lang="en-US" sz="950" dirty="0"/>
          </a:p>
        </p:txBody>
      </p:sp>
      <p:sp>
        <p:nvSpPr>
          <p:cNvPr id="16" name="Shape 12"/>
          <p:cNvSpPr/>
          <p:nvPr/>
        </p:nvSpPr>
        <p:spPr>
          <a:xfrm>
            <a:off x="496119" y="3334866"/>
            <a:ext cx="4013895" cy="1418704"/>
          </a:xfrm>
          <a:prstGeom prst="roundRect">
            <a:avLst>
              <a:gd name="adj" fmla="val 3672"/>
            </a:avLst>
          </a:prstGeom>
          <a:solidFill>
            <a:srgbClr val="E1E1EA"/>
          </a:solidFill>
          <a:ln w="4763">
            <a:solidFill>
              <a:srgbClr val="C7C7D0"/>
            </a:solidFill>
            <a:prstDash val="solid"/>
          </a:ln>
        </p:spPr>
      </p:sp>
      <p:sp>
        <p:nvSpPr>
          <p:cNvPr id="17" name="Shape 13"/>
          <p:cNvSpPr/>
          <p:nvPr/>
        </p:nvSpPr>
        <p:spPr>
          <a:xfrm>
            <a:off x="624855" y="3463603"/>
            <a:ext cx="372070" cy="372070"/>
          </a:xfrm>
          <a:prstGeom prst="roundRect">
            <a:avLst>
              <a:gd name="adj" fmla="val 15358477"/>
            </a:avLst>
          </a:prstGeom>
          <a:solidFill>
            <a:srgbClr val="1B1B27"/>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7174" y="3565847"/>
            <a:ext cx="167432" cy="167432"/>
          </a:xfrm>
          <a:prstGeom prst="rect">
            <a:avLst/>
          </a:prstGeom>
        </p:spPr>
      </p:pic>
      <p:sp>
        <p:nvSpPr>
          <p:cNvPr id="19" name="Text 14"/>
          <p:cNvSpPr/>
          <p:nvPr/>
        </p:nvSpPr>
        <p:spPr>
          <a:xfrm>
            <a:off x="624855" y="3959647"/>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JSON Conversion</a:t>
            </a:r>
            <a:endParaRPr lang="en-US" sz="1200" dirty="0"/>
          </a:p>
        </p:txBody>
      </p:sp>
      <p:sp>
        <p:nvSpPr>
          <p:cNvPr id="20" name="Text 15"/>
          <p:cNvSpPr/>
          <p:nvPr/>
        </p:nvSpPr>
        <p:spPr>
          <a:xfrm>
            <a:off x="624855" y="4227909"/>
            <a:ext cx="375642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Automatically serializes Python objects into JSON responses</a:t>
            </a:r>
            <a:endParaRPr lang="en-US" sz="950" dirty="0"/>
          </a:p>
        </p:txBody>
      </p:sp>
      <p:sp>
        <p:nvSpPr>
          <p:cNvPr id="21" name="Shape 16"/>
          <p:cNvSpPr/>
          <p:nvPr/>
        </p:nvSpPr>
        <p:spPr>
          <a:xfrm>
            <a:off x="4633987" y="3334866"/>
            <a:ext cx="4013895" cy="1418704"/>
          </a:xfrm>
          <a:prstGeom prst="roundRect">
            <a:avLst>
              <a:gd name="adj" fmla="val 3672"/>
            </a:avLst>
          </a:prstGeom>
          <a:solidFill>
            <a:srgbClr val="E1E1EA"/>
          </a:solidFill>
          <a:ln w="4763">
            <a:solidFill>
              <a:srgbClr val="C7C7D0"/>
            </a:solidFill>
            <a:prstDash val="solid"/>
          </a:ln>
        </p:spPr>
      </p:sp>
      <p:sp>
        <p:nvSpPr>
          <p:cNvPr id="22" name="Shape 17"/>
          <p:cNvSpPr/>
          <p:nvPr/>
        </p:nvSpPr>
        <p:spPr>
          <a:xfrm>
            <a:off x="4762723" y="3463603"/>
            <a:ext cx="372070" cy="372070"/>
          </a:xfrm>
          <a:prstGeom prst="roundRect">
            <a:avLst>
              <a:gd name="adj" fmla="val 15358477"/>
            </a:avLst>
          </a:prstGeom>
          <a:solidFill>
            <a:srgbClr val="1B1B27"/>
          </a:solidFill>
          <a:ln/>
        </p:spPr>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65043" y="3565847"/>
            <a:ext cx="167432" cy="167432"/>
          </a:xfrm>
          <a:prstGeom prst="rect">
            <a:avLst/>
          </a:prstGeom>
        </p:spPr>
      </p:pic>
      <p:sp>
        <p:nvSpPr>
          <p:cNvPr id="24" name="Text 18"/>
          <p:cNvSpPr/>
          <p:nvPr/>
        </p:nvSpPr>
        <p:spPr>
          <a:xfrm>
            <a:off x="4762723" y="3959647"/>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API Documentation</a:t>
            </a:r>
            <a:endParaRPr lang="en-US" sz="1200" dirty="0"/>
          </a:p>
        </p:txBody>
      </p:sp>
      <p:sp>
        <p:nvSpPr>
          <p:cNvPr id="25" name="Text 19"/>
          <p:cNvSpPr/>
          <p:nvPr/>
        </p:nvSpPr>
        <p:spPr>
          <a:xfrm>
            <a:off x="4762723" y="4227909"/>
            <a:ext cx="3756422"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Generates interactive Swagger UI docs from your code automatically</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96119" y="1163538"/>
            <a:ext cx="1275159" cy="242739"/>
          </a:xfrm>
          <a:prstGeom prst="roundRect">
            <a:avLst>
              <a:gd name="adj" fmla="val 17171"/>
            </a:avLst>
          </a:prstGeom>
          <a:noFill/>
          <a:ln w="4763">
            <a:solidFill>
              <a:srgbClr val="1B1B27"/>
            </a:solidFill>
            <a:prstDash val="solid"/>
          </a:ln>
        </p:spPr>
      </p:sp>
      <p:sp>
        <p:nvSpPr>
          <p:cNvPr id="3" name="Text 1"/>
          <p:cNvSpPr/>
          <p:nvPr/>
        </p:nvSpPr>
        <p:spPr>
          <a:xfrm>
            <a:off x="575295" y="1205508"/>
            <a:ext cx="1116806"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2 — BUILDING APIS</a:t>
            </a:r>
            <a:endParaRPr lang="en-US" sz="750" dirty="0"/>
          </a:p>
        </p:txBody>
      </p:sp>
      <p:sp>
        <p:nvSpPr>
          <p:cNvPr id="4" name="Text 2"/>
          <p:cNvSpPr/>
          <p:nvPr/>
        </p:nvSpPr>
        <p:spPr>
          <a:xfrm>
            <a:off x="496119" y="1455837"/>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What is Uvicorn?</a:t>
            </a:r>
            <a:endParaRPr lang="en-US" sz="2400" dirty="0"/>
          </a:p>
        </p:txBody>
      </p:sp>
      <p:sp>
        <p:nvSpPr>
          <p:cNvPr id="5" name="Text 3"/>
          <p:cNvSpPr/>
          <p:nvPr/>
        </p:nvSpPr>
        <p:spPr>
          <a:xfrm>
            <a:off x="496119" y="2029420"/>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Uvicorn is the web server that actually runs your FastAPI application. Think of FastAPI as your application code — Uvicorn is the engine that starts it up, listens for incoming connections, and passes requests to your app.</a:t>
            </a:r>
            <a:endParaRPr lang="en-US" sz="950" dirty="0"/>
          </a:p>
        </p:txBody>
      </p:sp>
      <p:pic>
        <p:nvPicPr>
          <p:cNvPr id="6" name="Image 0" descr="preencoded.png">    </p:cNvPr>
          <p:cNvPicPr>
            <a:picLocks noChangeAspect="1"/>
          </p:cNvPicPr>
          <p:nvPr/>
        </p:nvPicPr>
        <p:blipFill>
          <a:blip r:embed="rId1"/>
          <a:stretch>
            <a:fillRect/>
          </a:stretch>
        </p:blipFill>
        <p:spPr>
          <a:xfrm>
            <a:off x="496119" y="2565871"/>
            <a:ext cx="2717229" cy="496119"/>
          </a:xfrm>
          <a:prstGeom prst="rect">
            <a:avLst/>
          </a:prstGeom>
        </p:spPr>
      </p:pic>
      <p:sp>
        <p:nvSpPr>
          <p:cNvPr id="7" name="Text 4"/>
          <p:cNvSpPr/>
          <p:nvPr/>
        </p:nvSpPr>
        <p:spPr>
          <a:xfrm>
            <a:off x="620092" y="3185964"/>
            <a:ext cx="1675135"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Listens for Connections</a:t>
            </a:r>
            <a:endParaRPr lang="en-US" sz="1200" dirty="0"/>
          </a:p>
        </p:txBody>
      </p:sp>
      <p:sp>
        <p:nvSpPr>
          <p:cNvPr id="8" name="Text 5"/>
          <p:cNvSpPr/>
          <p:nvPr/>
        </p:nvSpPr>
        <p:spPr>
          <a:xfrm>
            <a:off x="620092" y="3454226"/>
            <a:ext cx="2469282" cy="4016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Binds to a port (default: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8000</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and waits for incoming HTTP requests</a:t>
            </a:r>
            <a:endParaRPr lang="en-US" sz="950" dirty="0"/>
          </a:p>
        </p:txBody>
      </p:sp>
      <p:pic>
        <p:nvPicPr>
          <p:cNvPr id="9" name="Image 1" descr="preencoded.png">    </p:cNvPr>
          <p:cNvPicPr>
            <a:picLocks noChangeAspect="1"/>
          </p:cNvPicPr>
          <p:nvPr/>
        </p:nvPicPr>
        <p:blipFill>
          <a:blip r:embed="rId2"/>
          <a:stretch>
            <a:fillRect/>
          </a:stretch>
        </p:blipFill>
        <p:spPr>
          <a:xfrm>
            <a:off x="3213348" y="2565871"/>
            <a:ext cx="2717229" cy="496119"/>
          </a:xfrm>
          <a:prstGeom prst="rect">
            <a:avLst/>
          </a:prstGeom>
        </p:spPr>
      </p:pic>
      <p:sp>
        <p:nvSpPr>
          <p:cNvPr id="10" name="Text 6"/>
          <p:cNvSpPr/>
          <p:nvPr/>
        </p:nvSpPr>
        <p:spPr>
          <a:xfrm>
            <a:off x="3337322" y="3185964"/>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Forwards to FastAPI</a:t>
            </a:r>
            <a:endParaRPr lang="en-US" sz="1200" dirty="0"/>
          </a:p>
        </p:txBody>
      </p:sp>
      <p:sp>
        <p:nvSpPr>
          <p:cNvPr id="11" name="Text 7"/>
          <p:cNvSpPr/>
          <p:nvPr/>
        </p:nvSpPr>
        <p:spPr>
          <a:xfrm>
            <a:off x="3337322" y="3454226"/>
            <a:ext cx="2469282"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Passes each request to your FastAPI application for processing</a:t>
            </a:r>
            <a:endParaRPr lang="en-US" sz="950" dirty="0"/>
          </a:p>
        </p:txBody>
      </p:sp>
      <p:pic>
        <p:nvPicPr>
          <p:cNvPr id="12" name="Image 2" descr="preencoded.png">    </p:cNvPr>
          <p:cNvPicPr>
            <a:picLocks noChangeAspect="1"/>
          </p:cNvPicPr>
          <p:nvPr/>
        </p:nvPicPr>
        <p:blipFill>
          <a:blip r:embed="rId3"/>
          <a:stretch>
            <a:fillRect/>
          </a:stretch>
        </p:blipFill>
        <p:spPr>
          <a:xfrm>
            <a:off x="5930578" y="2565871"/>
            <a:ext cx="2717229" cy="496119"/>
          </a:xfrm>
          <a:prstGeom prst="rect">
            <a:avLst/>
          </a:prstGeom>
        </p:spPr>
      </p:pic>
      <p:sp>
        <p:nvSpPr>
          <p:cNvPr id="13" name="Text 8"/>
          <p:cNvSpPr/>
          <p:nvPr/>
        </p:nvSpPr>
        <p:spPr>
          <a:xfrm>
            <a:off x="6054551" y="3185964"/>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Returns Response</a:t>
            </a:r>
            <a:endParaRPr lang="en-US" sz="1200" dirty="0"/>
          </a:p>
        </p:txBody>
      </p:sp>
      <p:sp>
        <p:nvSpPr>
          <p:cNvPr id="14" name="Text 9"/>
          <p:cNvSpPr/>
          <p:nvPr/>
        </p:nvSpPr>
        <p:spPr>
          <a:xfrm>
            <a:off x="6054551" y="3454226"/>
            <a:ext cx="2469282"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Sends the HTTP response back to the client after your code executes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96119" y="1239589"/>
            <a:ext cx="1275159" cy="242739"/>
          </a:xfrm>
          <a:prstGeom prst="roundRect">
            <a:avLst>
              <a:gd name="adj" fmla="val 17171"/>
            </a:avLst>
          </a:prstGeom>
          <a:noFill/>
          <a:ln w="4763">
            <a:solidFill>
              <a:srgbClr val="1B1B27"/>
            </a:solidFill>
            <a:prstDash val="solid"/>
          </a:ln>
        </p:spPr>
      </p:sp>
      <p:sp>
        <p:nvSpPr>
          <p:cNvPr id="3" name="Text 1"/>
          <p:cNvSpPr/>
          <p:nvPr/>
        </p:nvSpPr>
        <p:spPr>
          <a:xfrm>
            <a:off x="575295" y="1281559"/>
            <a:ext cx="1116806"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2 — BUILDING APIS</a:t>
            </a:r>
            <a:endParaRPr lang="en-US" sz="750" dirty="0"/>
          </a:p>
        </p:txBody>
      </p:sp>
      <p:sp>
        <p:nvSpPr>
          <p:cNvPr id="4" name="Text 2"/>
          <p:cNvSpPr/>
          <p:nvPr/>
        </p:nvSpPr>
        <p:spPr>
          <a:xfrm>
            <a:off x="496119" y="1531888"/>
            <a:ext cx="437934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Understanding This Command</a:t>
            </a:r>
            <a:endParaRPr lang="en-US" sz="2400" dirty="0"/>
          </a:p>
        </p:txBody>
      </p:sp>
      <p:sp>
        <p:nvSpPr>
          <p:cNvPr id="5" name="Text 3"/>
          <p:cNvSpPr/>
          <p:nvPr/>
        </p:nvSpPr>
        <p:spPr>
          <a:xfrm>
            <a:off x="496119" y="2105471"/>
            <a:ext cx="8151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This is the command you will use every time you start your FastAPI backend. Understanding each part of it is essential before moving forward.</a:t>
            </a:r>
            <a:endParaRPr lang="en-US" sz="950" dirty="0"/>
          </a:p>
        </p:txBody>
      </p:sp>
      <p:sp>
        <p:nvSpPr>
          <p:cNvPr id="6" name="Shape 4"/>
          <p:cNvSpPr/>
          <p:nvPr/>
        </p:nvSpPr>
        <p:spPr>
          <a:xfrm>
            <a:off x="496119" y="2443460"/>
            <a:ext cx="8151763" cy="446410"/>
          </a:xfrm>
          <a:prstGeom prst="roundRect">
            <a:avLst>
              <a:gd name="adj" fmla="val 11671"/>
            </a:avLst>
          </a:prstGeom>
          <a:solidFill>
            <a:srgbClr val="F2F2F2"/>
          </a:solidFill>
          <a:ln/>
        </p:spPr>
      </p:sp>
      <p:sp>
        <p:nvSpPr>
          <p:cNvPr id="7" name="Shape 5"/>
          <p:cNvSpPr/>
          <p:nvPr/>
        </p:nvSpPr>
        <p:spPr>
          <a:xfrm>
            <a:off x="489942" y="2443460"/>
            <a:ext cx="8164116" cy="446410"/>
          </a:xfrm>
          <a:prstGeom prst="roundRect">
            <a:avLst>
              <a:gd name="adj" fmla="val 4168"/>
            </a:avLst>
          </a:prstGeom>
          <a:solidFill>
            <a:srgbClr val="F2F2F2"/>
          </a:solidFill>
          <a:ln/>
        </p:spPr>
      </p:sp>
      <p:sp>
        <p:nvSpPr>
          <p:cNvPr id="8" name="Text 6"/>
          <p:cNvSpPr/>
          <p:nvPr/>
        </p:nvSpPr>
        <p:spPr>
          <a:xfrm>
            <a:off x="644947" y="2567434"/>
            <a:ext cx="7854107"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uvicorn main:app --reload</a:t>
            </a:r>
            <a:endParaRPr lang="en-US" sz="950" dirty="0"/>
          </a:p>
        </p:txBody>
      </p:sp>
      <p:sp>
        <p:nvSpPr>
          <p:cNvPr id="9" name="Text 7"/>
          <p:cNvSpPr/>
          <p:nvPr/>
        </p:nvSpPr>
        <p:spPr>
          <a:xfrm>
            <a:off x="496119" y="3029396"/>
            <a:ext cx="8151763"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Run this from your terminal, inside the directory where your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main.py</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file lives. Once running, your backend will be live and accepting requests.</a:t>
            </a:r>
            <a:endParaRPr lang="en-US" sz="950" dirty="0"/>
          </a:p>
        </p:txBody>
      </p:sp>
      <p:sp>
        <p:nvSpPr>
          <p:cNvPr id="10" name="Shape 8"/>
          <p:cNvSpPr/>
          <p:nvPr/>
        </p:nvSpPr>
        <p:spPr>
          <a:xfrm>
            <a:off x="496119" y="3372148"/>
            <a:ext cx="8151763" cy="531763"/>
          </a:xfrm>
          <a:prstGeom prst="roundRect">
            <a:avLst>
              <a:gd name="adj" fmla="val 9798"/>
            </a:avLst>
          </a:prstGeom>
          <a:solidFill>
            <a:srgbClr val="B6D6FC"/>
          </a:solidFill>
          <a:ln/>
        </p:spPr>
      </p:sp>
      <p:pic>
        <p:nvPicPr>
          <p:cNvPr id="11" name="Image 0" descr="preencoded.png">    </p:cNvPr>
          <p:cNvPicPr>
            <a:picLocks noChangeAspect="1"/>
          </p:cNvPicPr>
          <p:nvPr/>
        </p:nvPicPr>
        <p:blipFill>
          <a:blip r:embed="rId1"/>
          <a:stretch>
            <a:fillRect/>
          </a:stretch>
        </p:blipFill>
        <p:spPr>
          <a:xfrm>
            <a:off x="620092" y="3556695"/>
            <a:ext cx="155004" cy="123974"/>
          </a:xfrm>
          <a:prstGeom prst="rect">
            <a:avLst/>
          </a:prstGeom>
        </p:spPr>
      </p:pic>
      <p:sp>
        <p:nvSpPr>
          <p:cNvPr id="12" name="Text 9"/>
          <p:cNvSpPr/>
          <p:nvPr/>
        </p:nvSpPr>
        <p:spPr>
          <a:xfrm>
            <a:off x="899071" y="3527078"/>
            <a:ext cx="7624837" cy="203225"/>
          </a:xfrm>
          <a:prstGeom prst="rect">
            <a:avLst/>
          </a:prstGeom>
          <a:noFill/>
          <a:ln/>
        </p:spPr>
        <p:txBody>
          <a:bodyPr wrap="non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The </a:t>
            </a:r>
            <a:pPr algn="l" indent="0" marL="0">
              <a:lnSpc>
                <a:spcPts val="155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--reload</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flag means the server automatically restarts whenever you save a file — essential for development speed.</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96119" y="780604"/>
            <a:ext cx="1275159" cy="242739"/>
          </a:xfrm>
          <a:prstGeom prst="roundRect">
            <a:avLst>
              <a:gd name="adj" fmla="val 17171"/>
            </a:avLst>
          </a:prstGeom>
          <a:noFill/>
          <a:ln w="4763">
            <a:solidFill>
              <a:srgbClr val="1B1B27"/>
            </a:solidFill>
            <a:prstDash val="solid"/>
          </a:ln>
        </p:spPr>
      </p:sp>
      <p:sp>
        <p:nvSpPr>
          <p:cNvPr id="3" name="Text 1"/>
          <p:cNvSpPr/>
          <p:nvPr/>
        </p:nvSpPr>
        <p:spPr>
          <a:xfrm>
            <a:off x="575295" y="822573"/>
            <a:ext cx="1116806"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2 — BUILDING APIS</a:t>
            </a:r>
            <a:endParaRPr lang="en-US" sz="750" dirty="0"/>
          </a:p>
        </p:txBody>
      </p:sp>
      <p:sp>
        <p:nvSpPr>
          <p:cNvPr id="4" name="Text 2"/>
          <p:cNvSpPr/>
          <p:nvPr/>
        </p:nvSpPr>
        <p:spPr>
          <a:xfrm>
            <a:off x="496119" y="1072902"/>
            <a:ext cx="4312965"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Breaking Down the Command</a:t>
            </a:r>
            <a:endParaRPr lang="en-US" sz="2400" dirty="0"/>
          </a:p>
        </p:txBody>
      </p:sp>
      <p:sp>
        <p:nvSpPr>
          <p:cNvPr id="5" name="Text 3"/>
          <p:cNvSpPr/>
          <p:nvPr/>
        </p:nvSpPr>
        <p:spPr>
          <a:xfrm>
            <a:off x="496119" y="1646486"/>
            <a:ext cx="8151763"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Every part of the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uvicorn main:app --reload</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command has a specific meaning. Let's break it down so you know exactly what you're running.</a:t>
            </a:r>
            <a:endParaRPr lang="en-US" sz="950" dirty="0"/>
          </a:p>
        </p:txBody>
      </p:sp>
      <p:sp>
        <p:nvSpPr>
          <p:cNvPr id="6" name="Shape 4"/>
          <p:cNvSpPr/>
          <p:nvPr/>
        </p:nvSpPr>
        <p:spPr>
          <a:xfrm>
            <a:off x="496119" y="1989237"/>
            <a:ext cx="4013895" cy="1124843"/>
          </a:xfrm>
          <a:prstGeom prst="roundRect">
            <a:avLst>
              <a:gd name="adj" fmla="val 4632"/>
            </a:avLst>
          </a:prstGeom>
          <a:solidFill>
            <a:srgbClr val="FFFFFF">
              <a:alpha val="95000"/>
            </a:srgbClr>
          </a:solidFill>
          <a:ln w="14288">
            <a:solidFill>
              <a:srgbClr val="C7C7D0"/>
            </a:solidFill>
            <a:prstDash val="solid"/>
          </a:ln>
        </p:spPr>
      </p:sp>
      <p:sp>
        <p:nvSpPr>
          <p:cNvPr id="7" name="Shape 5"/>
          <p:cNvSpPr/>
          <p:nvPr/>
        </p:nvSpPr>
        <p:spPr>
          <a:xfrm>
            <a:off x="510406" y="2003524"/>
            <a:ext cx="3985320" cy="372070"/>
          </a:xfrm>
          <a:prstGeom prst="roundRect">
            <a:avLst>
              <a:gd name="adj" fmla="val 9395"/>
            </a:avLst>
          </a:prstGeom>
          <a:solidFill>
            <a:srgbClr val="E1E1EA"/>
          </a:solidFill>
          <a:ln/>
        </p:spPr>
      </p:sp>
      <p:sp>
        <p:nvSpPr>
          <p:cNvPr id="8" name="Text 6"/>
          <p:cNvSpPr/>
          <p:nvPr/>
        </p:nvSpPr>
        <p:spPr>
          <a:xfrm>
            <a:off x="2410048" y="2070869"/>
            <a:ext cx="186035" cy="232544"/>
          </a:xfrm>
          <a:prstGeom prst="rect">
            <a:avLst/>
          </a:prstGeom>
          <a:noFill/>
          <a:ln/>
        </p:spPr>
        <p:txBody>
          <a:bodyPr wrap="none" lIns="0" tIns="0" rIns="0" bIns="0" rtlCol="0" anchor="ctr"/>
          <a:lstStyle/>
          <a:p>
            <a:pPr algn="ctr" indent="0" marL="0">
              <a:lnSpc>
                <a:spcPts val="1450"/>
              </a:lnSpc>
              <a:buNone/>
            </a:pPr>
            <a:r>
              <a:rPr lang="en-US" sz="1450" dirty="0">
                <a:solidFill>
                  <a:srgbClr val="3C3939"/>
                </a:solidFill>
                <a:latin typeface="Raleway" pitchFamily="34" charset="0"/>
                <a:ea typeface="Raleway" pitchFamily="34" charset="-122"/>
                <a:cs typeface="Raleway" pitchFamily="34" charset="-120"/>
              </a:rPr>
              <a:t>1</a:t>
            </a:r>
            <a:endParaRPr lang="en-US" sz="1450" dirty="0"/>
          </a:p>
        </p:txBody>
      </p:sp>
      <p:sp>
        <p:nvSpPr>
          <p:cNvPr id="9" name="Text 7"/>
          <p:cNvSpPr/>
          <p:nvPr/>
        </p:nvSpPr>
        <p:spPr>
          <a:xfrm>
            <a:off x="634380" y="2499568"/>
            <a:ext cx="1550566" cy="198611"/>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highlight>
                  <a:srgbClr val="F2F2F2"/>
                </a:highlight>
                <a:latin typeface="Consolas" pitchFamily="34" charset="0"/>
                <a:ea typeface="Consolas" pitchFamily="34" charset="-122"/>
                <a:cs typeface="Consolas" pitchFamily="34" charset="-120"/>
              </a:rPr>
              <a:t>uvicorn</a:t>
            </a:r>
            <a:endParaRPr lang="en-US" sz="1200" dirty="0"/>
          </a:p>
        </p:txBody>
      </p:sp>
      <p:sp>
        <p:nvSpPr>
          <p:cNvPr id="10" name="Text 8"/>
          <p:cNvSpPr/>
          <p:nvPr/>
        </p:nvSpPr>
        <p:spPr>
          <a:xfrm>
            <a:off x="634380" y="2772594"/>
            <a:ext cx="373737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ASGI web server — runs your Python backend application</a:t>
            </a:r>
            <a:endParaRPr lang="en-US" sz="950" dirty="0"/>
          </a:p>
        </p:txBody>
      </p:sp>
      <p:sp>
        <p:nvSpPr>
          <p:cNvPr id="11" name="Shape 9"/>
          <p:cNvSpPr/>
          <p:nvPr/>
        </p:nvSpPr>
        <p:spPr>
          <a:xfrm>
            <a:off x="4633987" y="1989237"/>
            <a:ext cx="4013895" cy="1124843"/>
          </a:xfrm>
          <a:prstGeom prst="roundRect">
            <a:avLst>
              <a:gd name="adj" fmla="val 4632"/>
            </a:avLst>
          </a:prstGeom>
          <a:solidFill>
            <a:srgbClr val="FFFFFF">
              <a:alpha val="95000"/>
            </a:srgbClr>
          </a:solidFill>
          <a:ln w="14288">
            <a:solidFill>
              <a:srgbClr val="C7C7D0"/>
            </a:solidFill>
            <a:prstDash val="solid"/>
          </a:ln>
        </p:spPr>
      </p:sp>
      <p:sp>
        <p:nvSpPr>
          <p:cNvPr id="12" name="Shape 10"/>
          <p:cNvSpPr/>
          <p:nvPr/>
        </p:nvSpPr>
        <p:spPr>
          <a:xfrm>
            <a:off x="4648274" y="2003524"/>
            <a:ext cx="3985320" cy="372070"/>
          </a:xfrm>
          <a:prstGeom prst="roundRect">
            <a:avLst>
              <a:gd name="adj" fmla="val 9395"/>
            </a:avLst>
          </a:prstGeom>
          <a:solidFill>
            <a:srgbClr val="E1E1EA"/>
          </a:solidFill>
          <a:ln/>
        </p:spPr>
      </p:sp>
      <p:sp>
        <p:nvSpPr>
          <p:cNvPr id="13" name="Text 11"/>
          <p:cNvSpPr/>
          <p:nvPr/>
        </p:nvSpPr>
        <p:spPr>
          <a:xfrm>
            <a:off x="6547917" y="2070869"/>
            <a:ext cx="186035" cy="232544"/>
          </a:xfrm>
          <a:prstGeom prst="rect">
            <a:avLst/>
          </a:prstGeom>
          <a:noFill/>
          <a:ln/>
        </p:spPr>
        <p:txBody>
          <a:bodyPr wrap="none" lIns="0" tIns="0" rIns="0" bIns="0" rtlCol="0" anchor="ctr"/>
          <a:lstStyle/>
          <a:p>
            <a:pPr algn="ctr" indent="0" marL="0">
              <a:lnSpc>
                <a:spcPts val="1450"/>
              </a:lnSpc>
              <a:buNone/>
            </a:pPr>
            <a:r>
              <a:rPr lang="en-US" sz="1450" dirty="0">
                <a:solidFill>
                  <a:srgbClr val="3C3939"/>
                </a:solidFill>
                <a:latin typeface="Raleway" pitchFamily="34" charset="0"/>
                <a:ea typeface="Raleway" pitchFamily="34" charset="-122"/>
                <a:cs typeface="Raleway" pitchFamily="34" charset="-120"/>
              </a:rPr>
              <a:t>2</a:t>
            </a:r>
            <a:endParaRPr lang="en-US" sz="1450" dirty="0"/>
          </a:p>
        </p:txBody>
      </p:sp>
      <p:sp>
        <p:nvSpPr>
          <p:cNvPr id="14" name="Text 12"/>
          <p:cNvSpPr/>
          <p:nvPr/>
        </p:nvSpPr>
        <p:spPr>
          <a:xfrm>
            <a:off x="4772248" y="2499568"/>
            <a:ext cx="1550566" cy="198611"/>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highlight>
                  <a:srgbClr val="F2F2F2"/>
                </a:highlight>
                <a:latin typeface="Consolas" pitchFamily="34" charset="0"/>
                <a:ea typeface="Consolas" pitchFamily="34" charset="-122"/>
                <a:cs typeface="Consolas" pitchFamily="34" charset="-120"/>
              </a:rPr>
              <a:t>main</a:t>
            </a:r>
            <a:endParaRPr lang="en-US" sz="1200" dirty="0"/>
          </a:p>
        </p:txBody>
      </p:sp>
      <p:sp>
        <p:nvSpPr>
          <p:cNvPr id="15" name="Text 13"/>
          <p:cNvSpPr/>
          <p:nvPr/>
        </p:nvSpPr>
        <p:spPr>
          <a:xfrm>
            <a:off x="4772248" y="2772594"/>
            <a:ext cx="3737372"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filename — tells Uvicorn to look inside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main.py</a:t>
            </a:r>
            <a:endParaRPr lang="en-US" sz="950" dirty="0"/>
          </a:p>
        </p:txBody>
      </p:sp>
      <p:sp>
        <p:nvSpPr>
          <p:cNvPr id="16" name="Shape 14"/>
          <p:cNvSpPr/>
          <p:nvPr/>
        </p:nvSpPr>
        <p:spPr>
          <a:xfrm>
            <a:off x="496119" y="3238054"/>
            <a:ext cx="4013895" cy="1124843"/>
          </a:xfrm>
          <a:prstGeom prst="roundRect">
            <a:avLst>
              <a:gd name="adj" fmla="val 4632"/>
            </a:avLst>
          </a:prstGeom>
          <a:solidFill>
            <a:srgbClr val="FFFFFF">
              <a:alpha val="95000"/>
            </a:srgbClr>
          </a:solidFill>
          <a:ln w="14288">
            <a:solidFill>
              <a:srgbClr val="C7C7D0"/>
            </a:solidFill>
            <a:prstDash val="solid"/>
          </a:ln>
        </p:spPr>
      </p:sp>
      <p:sp>
        <p:nvSpPr>
          <p:cNvPr id="17" name="Shape 15"/>
          <p:cNvSpPr/>
          <p:nvPr/>
        </p:nvSpPr>
        <p:spPr>
          <a:xfrm>
            <a:off x="510406" y="3252341"/>
            <a:ext cx="3985320" cy="372070"/>
          </a:xfrm>
          <a:prstGeom prst="roundRect">
            <a:avLst>
              <a:gd name="adj" fmla="val 9395"/>
            </a:avLst>
          </a:prstGeom>
          <a:solidFill>
            <a:srgbClr val="E1E1EA"/>
          </a:solidFill>
          <a:ln/>
        </p:spPr>
      </p:sp>
      <p:sp>
        <p:nvSpPr>
          <p:cNvPr id="18" name="Text 16"/>
          <p:cNvSpPr/>
          <p:nvPr/>
        </p:nvSpPr>
        <p:spPr>
          <a:xfrm>
            <a:off x="2410048" y="3319686"/>
            <a:ext cx="186035" cy="232544"/>
          </a:xfrm>
          <a:prstGeom prst="rect">
            <a:avLst/>
          </a:prstGeom>
          <a:noFill/>
          <a:ln/>
        </p:spPr>
        <p:txBody>
          <a:bodyPr wrap="none" lIns="0" tIns="0" rIns="0" bIns="0" rtlCol="0" anchor="ctr"/>
          <a:lstStyle/>
          <a:p>
            <a:pPr algn="ctr" indent="0" marL="0">
              <a:lnSpc>
                <a:spcPts val="1450"/>
              </a:lnSpc>
              <a:buNone/>
            </a:pPr>
            <a:r>
              <a:rPr lang="en-US" sz="1450" dirty="0">
                <a:solidFill>
                  <a:srgbClr val="3C3939"/>
                </a:solidFill>
                <a:latin typeface="Raleway" pitchFamily="34" charset="0"/>
                <a:ea typeface="Raleway" pitchFamily="34" charset="-122"/>
                <a:cs typeface="Raleway" pitchFamily="34" charset="-120"/>
              </a:rPr>
              <a:t>3</a:t>
            </a:r>
            <a:endParaRPr lang="en-US" sz="1450" dirty="0"/>
          </a:p>
        </p:txBody>
      </p:sp>
      <p:sp>
        <p:nvSpPr>
          <p:cNvPr id="19" name="Text 17"/>
          <p:cNvSpPr/>
          <p:nvPr/>
        </p:nvSpPr>
        <p:spPr>
          <a:xfrm>
            <a:off x="634380" y="3748385"/>
            <a:ext cx="1550566" cy="198611"/>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highlight>
                  <a:srgbClr val="F2F2F2"/>
                </a:highlight>
                <a:latin typeface="Consolas" pitchFamily="34" charset="0"/>
                <a:ea typeface="Consolas" pitchFamily="34" charset="-122"/>
                <a:cs typeface="Consolas" pitchFamily="34" charset="-120"/>
              </a:rPr>
              <a:t>app</a:t>
            </a:r>
            <a:endParaRPr lang="en-US" sz="1200" dirty="0"/>
          </a:p>
        </p:txBody>
      </p:sp>
      <p:sp>
        <p:nvSpPr>
          <p:cNvPr id="20" name="Text 18"/>
          <p:cNvSpPr/>
          <p:nvPr/>
        </p:nvSpPr>
        <p:spPr>
          <a:xfrm>
            <a:off x="634380" y="4021410"/>
            <a:ext cx="3737372"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FastAPI instance — the variable name inside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main.py</a:t>
            </a:r>
            <a:endParaRPr lang="en-US" sz="950" dirty="0"/>
          </a:p>
        </p:txBody>
      </p:sp>
      <p:sp>
        <p:nvSpPr>
          <p:cNvPr id="21" name="Shape 19"/>
          <p:cNvSpPr/>
          <p:nvPr/>
        </p:nvSpPr>
        <p:spPr>
          <a:xfrm>
            <a:off x="4633987" y="3238054"/>
            <a:ext cx="4013895" cy="1124843"/>
          </a:xfrm>
          <a:prstGeom prst="roundRect">
            <a:avLst>
              <a:gd name="adj" fmla="val 4632"/>
            </a:avLst>
          </a:prstGeom>
          <a:solidFill>
            <a:srgbClr val="FFFFFF">
              <a:alpha val="95000"/>
            </a:srgbClr>
          </a:solidFill>
          <a:ln w="14288">
            <a:solidFill>
              <a:srgbClr val="C7C7D0"/>
            </a:solidFill>
            <a:prstDash val="solid"/>
          </a:ln>
        </p:spPr>
      </p:sp>
      <p:sp>
        <p:nvSpPr>
          <p:cNvPr id="22" name="Shape 20"/>
          <p:cNvSpPr/>
          <p:nvPr/>
        </p:nvSpPr>
        <p:spPr>
          <a:xfrm>
            <a:off x="4648274" y="3252341"/>
            <a:ext cx="3985320" cy="372070"/>
          </a:xfrm>
          <a:prstGeom prst="roundRect">
            <a:avLst>
              <a:gd name="adj" fmla="val 9395"/>
            </a:avLst>
          </a:prstGeom>
          <a:solidFill>
            <a:srgbClr val="E1E1EA"/>
          </a:solidFill>
          <a:ln/>
        </p:spPr>
      </p:sp>
      <p:sp>
        <p:nvSpPr>
          <p:cNvPr id="23" name="Text 21"/>
          <p:cNvSpPr/>
          <p:nvPr/>
        </p:nvSpPr>
        <p:spPr>
          <a:xfrm>
            <a:off x="6547917" y="3319686"/>
            <a:ext cx="186035" cy="232544"/>
          </a:xfrm>
          <a:prstGeom prst="rect">
            <a:avLst/>
          </a:prstGeom>
          <a:noFill/>
          <a:ln/>
        </p:spPr>
        <p:txBody>
          <a:bodyPr wrap="none" lIns="0" tIns="0" rIns="0" bIns="0" rtlCol="0" anchor="ctr"/>
          <a:lstStyle/>
          <a:p>
            <a:pPr algn="ctr" indent="0" marL="0">
              <a:lnSpc>
                <a:spcPts val="1450"/>
              </a:lnSpc>
              <a:buNone/>
            </a:pPr>
            <a:r>
              <a:rPr lang="en-US" sz="1450" dirty="0">
                <a:solidFill>
                  <a:srgbClr val="3C3939"/>
                </a:solidFill>
                <a:latin typeface="Raleway" pitchFamily="34" charset="0"/>
                <a:ea typeface="Raleway" pitchFamily="34" charset="-122"/>
                <a:cs typeface="Raleway" pitchFamily="34" charset="-120"/>
              </a:rPr>
              <a:t>4</a:t>
            </a:r>
            <a:endParaRPr lang="en-US" sz="1450" dirty="0"/>
          </a:p>
        </p:txBody>
      </p:sp>
      <p:sp>
        <p:nvSpPr>
          <p:cNvPr id="24" name="Text 22"/>
          <p:cNvSpPr/>
          <p:nvPr/>
        </p:nvSpPr>
        <p:spPr>
          <a:xfrm>
            <a:off x="4772248" y="3748385"/>
            <a:ext cx="1550566" cy="198611"/>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highlight>
                  <a:srgbClr val="F2F2F2"/>
                </a:highlight>
                <a:latin typeface="Consolas" pitchFamily="34" charset="0"/>
                <a:ea typeface="Consolas" pitchFamily="34" charset="-122"/>
                <a:cs typeface="Consolas" pitchFamily="34" charset="-120"/>
              </a:rPr>
              <a:t>--reload</a:t>
            </a:r>
            <a:endParaRPr lang="en-US" sz="1200" dirty="0"/>
          </a:p>
        </p:txBody>
      </p:sp>
      <p:sp>
        <p:nvSpPr>
          <p:cNvPr id="25" name="Text 23"/>
          <p:cNvSpPr/>
          <p:nvPr/>
        </p:nvSpPr>
        <p:spPr>
          <a:xfrm>
            <a:off x="4772248" y="4021410"/>
            <a:ext cx="373737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Auto-restarts the server on every file save — for development only</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96119" y="647254"/>
            <a:ext cx="1275159" cy="242739"/>
          </a:xfrm>
          <a:prstGeom prst="roundRect">
            <a:avLst>
              <a:gd name="adj" fmla="val 17171"/>
            </a:avLst>
          </a:prstGeom>
          <a:noFill/>
          <a:ln w="4763">
            <a:solidFill>
              <a:srgbClr val="1B1B27"/>
            </a:solidFill>
            <a:prstDash val="solid"/>
          </a:ln>
        </p:spPr>
      </p:sp>
      <p:sp>
        <p:nvSpPr>
          <p:cNvPr id="3" name="Text 1"/>
          <p:cNvSpPr/>
          <p:nvPr/>
        </p:nvSpPr>
        <p:spPr>
          <a:xfrm>
            <a:off x="575295" y="689223"/>
            <a:ext cx="1116806"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2 — BUILDING APIS</a:t>
            </a:r>
            <a:endParaRPr lang="en-US" sz="750" dirty="0"/>
          </a:p>
        </p:txBody>
      </p:sp>
      <p:sp>
        <p:nvSpPr>
          <p:cNvPr id="4" name="Text 2"/>
          <p:cNvSpPr/>
          <p:nvPr/>
        </p:nvSpPr>
        <p:spPr>
          <a:xfrm>
            <a:off x="496119" y="939552"/>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Our First FastAPI App</a:t>
            </a:r>
            <a:endParaRPr lang="en-US" sz="2400" dirty="0"/>
          </a:p>
        </p:txBody>
      </p:sp>
      <p:sp>
        <p:nvSpPr>
          <p:cNvPr id="5" name="Text 3"/>
          <p:cNvSpPr/>
          <p:nvPr/>
        </p:nvSpPr>
        <p:spPr>
          <a:xfrm>
            <a:off x="496119" y="1513136"/>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This is the minimal structure of a working FastAPI backend. Every component here is intentional — nothing is wasted. This pattern is the starting point for every API you will build.</a:t>
            </a:r>
            <a:endParaRPr lang="en-US" sz="950" dirty="0"/>
          </a:p>
        </p:txBody>
      </p:sp>
      <p:sp>
        <p:nvSpPr>
          <p:cNvPr id="6" name="Shape 4"/>
          <p:cNvSpPr/>
          <p:nvPr/>
        </p:nvSpPr>
        <p:spPr>
          <a:xfrm>
            <a:off x="496119" y="2049587"/>
            <a:ext cx="8151763" cy="1637184"/>
          </a:xfrm>
          <a:prstGeom prst="roundRect">
            <a:avLst>
              <a:gd name="adj" fmla="val 3182"/>
            </a:avLst>
          </a:prstGeom>
          <a:solidFill>
            <a:srgbClr val="F2F2F2"/>
          </a:solidFill>
          <a:ln/>
        </p:spPr>
      </p:sp>
      <p:sp>
        <p:nvSpPr>
          <p:cNvPr id="7" name="Shape 5"/>
          <p:cNvSpPr/>
          <p:nvPr/>
        </p:nvSpPr>
        <p:spPr>
          <a:xfrm>
            <a:off x="489942" y="2049587"/>
            <a:ext cx="8164116" cy="1637184"/>
          </a:xfrm>
          <a:prstGeom prst="roundRect">
            <a:avLst>
              <a:gd name="adj" fmla="val 1137"/>
            </a:avLst>
          </a:prstGeom>
          <a:solidFill>
            <a:srgbClr val="F2F2F2"/>
          </a:solidFill>
          <a:ln/>
        </p:spPr>
      </p:sp>
      <p:sp>
        <p:nvSpPr>
          <p:cNvPr id="8" name="Text 6"/>
          <p:cNvSpPr/>
          <p:nvPr/>
        </p:nvSpPr>
        <p:spPr>
          <a:xfrm>
            <a:off x="644947" y="2173560"/>
            <a:ext cx="7854107" cy="1389236"/>
          </a:xfrm>
          <a:prstGeom prst="rect">
            <a:avLst/>
          </a:prstGeom>
          <a:noFill/>
          <a:ln/>
        </p:spPr>
        <p:txBody>
          <a:bodyPr wrap="square" lIns="0" tIns="0" rIns="0" bIns="0" rtlCol="0" anchor="t"/>
          <a:lstStyle/>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from fastapi import FastAPI</a:t>
            </a:r>
            <a:endParaRPr lang="en-US" sz="950" dirty="0"/>
          </a:p>
          <a:p>
            <a:pPr algn="l" indent="0" marL="0">
              <a:lnSpc>
                <a:spcPts val="1550"/>
              </a:lnSpc>
              <a:buNone/>
            </a:pPr>
            <a:endParaRPr lang="en-US" sz="950" dirty="0"/>
          </a:p>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app = FastAPI()</a:t>
            </a:r>
            <a:endParaRPr lang="en-US" sz="950" dirty="0"/>
          </a:p>
          <a:p>
            <a:pPr algn="l" indent="0" marL="0">
              <a:lnSpc>
                <a:spcPts val="1550"/>
              </a:lnSpc>
              <a:buNone/>
            </a:pPr>
            <a:endParaRPr lang="en-US" sz="950" dirty="0"/>
          </a:p>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@app.get("/")</a:t>
            </a:r>
            <a:endParaRPr lang="en-US" sz="950" dirty="0"/>
          </a:p>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def root():</a:t>
            </a:r>
            <a:endParaRPr lang="en-US" sz="950" dirty="0"/>
          </a:p>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return {"message": "Backend is running"}</a:t>
            </a:r>
            <a:endParaRPr lang="en-US" sz="950" dirty="0"/>
          </a:p>
        </p:txBody>
      </p:sp>
      <p:sp>
        <p:nvSpPr>
          <p:cNvPr id="9" name="Shape 7"/>
          <p:cNvSpPr/>
          <p:nvPr/>
        </p:nvSpPr>
        <p:spPr>
          <a:xfrm>
            <a:off x="481831" y="3812009"/>
            <a:ext cx="28575" cy="698525"/>
          </a:xfrm>
          <a:prstGeom prst="rect">
            <a:avLst/>
          </a:prstGeom>
          <a:solidFill>
            <a:srgbClr val="1B1B27"/>
          </a:solidFill>
          <a:ln/>
        </p:spPr>
      </p:sp>
      <p:sp>
        <p:nvSpPr>
          <p:cNvPr id="10" name="Text 8"/>
          <p:cNvSpPr/>
          <p:nvPr/>
        </p:nvSpPr>
        <p:spPr>
          <a:xfrm>
            <a:off x="648667" y="3826297"/>
            <a:ext cx="1550566" cy="198611"/>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highlight>
                  <a:srgbClr val="F2F2F2"/>
                </a:highlight>
                <a:latin typeface="Consolas" pitchFamily="34" charset="0"/>
                <a:ea typeface="Consolas" pitchFamily="34" charset="-122"/>
                <a:cs typeface="Consolas" pitchFamily="34" charset="-120"/>
              </a:rPr>
              <a:t>app = FastAPI()</a:t>
            </a:r>
            <a:endParaRPr lang="en-US" sz="1200" dirty="0"/>
          </a:p>
        </p:txBody>
      </p:sp>
      <p:sp>
        <p:nvSpPr>
          <p:cNvPr id="11" name="Text 9"/>
          <p:cNvSpPr/>
          <p:nvPr/>
        </p:nvSpPr>
        <p:spPr>
          <a:xfrm>
            <a:off x="648667" y="4099322"/>
            <a:ext cx="2461320"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Creates the application instance — this is your backend object</a:t>
            </a:r>
            <a:endParaRPr lang="en-US" sz="950" dirty="0"/>
          </a:p>
        </p:txBody>
      </p:sp>
      <p:sp>
        <p:nvSpPr>
          <p:cNvPr id="12" name="Shape 10"/>
          <p:cNvSpPr/>
          <p:nvPr/>
        </p:nvSpPr>
        <p:spPr>
          <a:xfrm>
            <a:off x="3250704" y="3812009"/>
            <a:ext cx="28575" cy="698525"/>
          </a:xfrm>
          <a:prstGeom prst="rect">
            <a:avLst/>
          </a:prstGeom>
          <a:solidFill>
            <a:srgbClr val="1B1B27"/>
          </a:solidFill>
          <a:ln/>
        </p:spPr>
      </p:sp>
      <p:sp>
        <p:nvSpPr>
          <p:cNvPr id="13" name="Text 11"/>
          <p:cNvSpPr/>
          <p:nvPr/>
        </p:nvSpPr>
        <p:spPr>
          <a:xfrm>
            <a:off x="3417540" y="3826297"/>
            <a:ext cx="1550566" cy="198611"/>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highlight>
                  <a:srgbClr val="F2F2F2"/>
                </a:highlight>
                <a:latin typeface="Consolas" pitchFamily="34" charset="0"/>
                <a:ea typeface="Consolas" pitchFamily="34" charset="-122"/>
                <a:cs typeface="Consolas" pitchFamily="34" charset="-120"/>
              </a:rPr>
              <a:t>@app.get("/")</a:t>
            </a:r>
            <a:endParaRPr lang="en-US" sz="1200" dirty="0"/>
          </a:p>
        </p:txBody>
      </p:sp>
      <p:sp>
        <p:nvSpPr>
          <p:cNvPr id="14" name="Text 12"/>
          <p:cNvSpPr/>
          <p:nvPr/>
        </p:nvSpPr>
        <p:spPr>
          <a:xfrm>
            <a:off x="3417540" y="4099322"/>
            <a:ext cx="2461394"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Registers a GET route at the root URL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a:t>
            </a:r>
            <a:endParaRPr lang="en-US" sz="950" dirty="0"/>
          </a:p>
        </p:txBody>
      </p:sp>
      <p:sp>
        <p:nvSpPr>
          <p:cNvPr id="15" name="Shape 13"/>
          <p:cNvSpPr/>
          <p:nvPr/>
        </p:nvSpPr>
        <p:spPr>
          <a:xfrm>
            <a:off x="6019651" y="3812009"/>
            <a:ext cx="28575" cy="698525"/>
          </a:xfrm>
          <a:prstGeom prst="rect">
            <a:avLst/>
          </a:prstGeom>
          <a:solidFill>
            <a:srgbClr val="1B1B27"/>
          </a:solidFill>
          <a:ln/>
        </p:spPr>
      </p:sp>
      <p:sp>
        <p:nvSpPr>
          <p:cNvPr id="16" name="Text 14"/>
          <p:cNvSpPr/>
          <p:nvPr/>
        </p:nvSpPr>
        <p:spPr>
          <a:xfrm>
            <a:off x="6186488" y="3826297"/>
            <a:ext cx="1577950" cy="198611"/>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highlight>
                  <a:srgbClr val="F2F2F2"/>
                </a:highlight>
                <a:latin typeface="Consolas" pitchFamily="34" charset="0"/>
                <a:ea typeface="Consolas" pitchFamily="34" charset="-122"/>
                <a:cs typeface="Consolas" pitchFamily="34" charset="-120"/>
              </a:rPr>
              <a:t>return {"message": ...}</a:t>
            </a:r>
            <a:endParaRPr lang="en-US" sz="1200" dirty="0"/>
          </a:p>
        </p:txBody>
      </p:sp>
      <p:sp>
        <p:nvSpPr>
          <p:cNvPr id="17" name="Text 15"/>
          <p:cNvSpPr/>
          <p:nvPr/>
        </p:nvSpPr>
        <p:spPr>
          <a:xfrm>
            <a:off x="6186488" y="4099322"/>
            <a:ext cx="2461394"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FastAPI automatically converts this dict into a JSON response</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96119" y="1337444"/>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Over to VS Code</a:t>
            </a:r>
            <a:endParaRPr lang="en-US" sz="2400" dirty="0"/>
          </a:p>
        </p:txBody>
      </p:sp>
      <p:sp>
        <p:nvSpPr>
          <p:cNvPr id="3" name="Text 1"/>
          <p:cNvSpPr/>
          <p:nvPr/>
        </p:nvSpPr>
        <p:spPr>
          <a:xfrm>
            <a:off x="496119" y="1911028"/>
            <a:ext cx="6202263" cy="784771"/>
          </a:xfrm>
          <a:prstGeom prst="rect">
            <a:avLst/>
          </a:prstGeom>
          <a:noFill/>
          <a:ln/>
        </p:spPr>
        <p:txBody>
          <a:bodyPr wrap="none" lIns="0" tIns="0" rIns="0" bIns="0" rtlCol="0" anchor="t"/>
          <a:lstStyle/>
          <a:p>
            <a:pPr algn="l" indent="0" marL="0">
              <a:lnSpc>
                <a:spcPts val="6100"/>
              </a:lnSpc>
              <a:buNone/>
            </a:pPr>
            <a:r>
              <a:rPr lang="en-US" sz="4850" dirty="0">
                <a:solidFill>
                  <a:srgbClr val="000000"/>
                </a:solidFill>
                <a:latin typeface="Raleway" pitchFamily="34" charset="0"/>
                <a:ea typeface="Raleway" pitchFamily="34" charset="-122"/>
                <a:cs typeface="Raleway" pitchFamily="34" charset="-120"/>
              </a:rPr>
              <a:t>👨‍💻</a:t>
            </a:r>
            <a:endParaRPr lang="en-US" sz="4850" dirty="0"/>
          </a:p>
        </p:txBody>
      </p:sp>
      <p:sp>
        <p:nvSpPr>
          <p:cNvPr id="4" name="Text 2"/>
          <p:cNvSpPr/>
          <p:nvPr/>
        </p:nvSpPr>
        <p:spPr>
          <a:xfrm>
            <a:off x="496119" y="2881833"/>
            <a:ext cx="4279553" cy="534888"/>
          </a:xfrm>
          <a:prstGeom prst="rect">
            <a:avLst/>
          </a:prstGeom>
          <a:noFill/>
          <a:ln/>
        </p:spPr>
        <p:txBody>
          <a:bodyPr wrap="none" lIns="0" tIns="0" rIns="0" bIns="0" rtlCol="0" anchor="t"/>
          <a:lstStyle/>
          <a:p>
            <a:pPr algn="l" indent="0" marL="0">
              <a:lnSpc>
                <a:spcPts val="4200"/>
              </a:lnSpc>
              <a:buNone/>
            </a:pPr>
            <a:r>
              <a:rPr lang="en-US" sz="3350" dirty="0">
                <a:solidFill>
                  <a:srgbClr val="1B1B27"/>
                </a:solidFill>
                <a:latin typeface="Raleway" pitchFamily="34" charset="0"/>
                <a:ea typeface="Raleway" pitchFamily="34" charset="-122"/>
                <a:cs typeface="Raleway" pitchFamily="34" charset="-120"/>
              </a:rPr>
              <a:t>Over to VS Code</a:t>
            </a:r>
            <a:endParaRPr lang="en-US" sz="3350" dirty="0"/>
          </a:p>
        </p:txBody>
      </p:sp>
      <p:sp>
        <p:nvSpPr>
          <p:cNvPr id="5" name="Text 3"/>
          <p:cNvSpPr/>
          <p:nvPr/>
        </p:nvSpPr>
        <p:spPr>
          <a:xfrm>
            <a:off x="496119" y="3602757"/>
            <a:ext cx="8151763"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Run your first backend server and confirm it responds at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http://127.0.0.1:8000</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96119" y="520229"/>
            <a:ext cx="1275159" cy="242739"/>
          </a:xfrm>
          <a:prstGeom prst="roundRect">
            <a:avLst>
              <a:gd name="adj" fmla="val 17171"/>
            </a:avLst>
          </a:prstGeom>
          <a:noFill/>
          <a:ln w="4763">
            <a:solidFill>
              <a:srgbClr val="1B1B27"/>
            </a:solidFill>
            <a:prstDash val="solid"/>
          </a:ln>
        </p:spPr>
      </p:sp>
      <p:sp>
        <p:nvSpPr>
          <p:cNvPr id="3" name="Text 1"/>
          <p:cNvSpPr/>
          <p:nvPr/>
        </p:nvSpPr>
        <p:spPr>
          <a:xfrm>
            <a:off x="575295" y="562198"/>
            <a:ext cx="1116806"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2 — BUILDING APIS</a:t>
            </a:r>
            <a:endParaRPr lang="en-US" sz="750" dirty="0"/>
          </a:p>
        </p:txBody>
      </p:sp>
      <p:sp>
        <p:nvSpPr>
          <p:cNvPr id="4" name="Text 2"/>
          <p:cNvSpPr/>
          <p:nvPr/>
        </p:nvSpPr>
        <p:spPr>
          <a:xfrm>
            <a:off x="496119" y="812527"/>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Running the Server</a:t>
            </a:r>
            <a:endParaRPr lang="en-US" sz="2400" dirty="0"/>
          </a:p>
        </p:txBody>
      </p:sp>
      <p:sp>
        <p:nvSpPr>
          <p:cNvPr id="5" name="Text 3"/>
          <p:cNvSpPr/>
          <p:nvPr/>
        </p:nvSpPr>
        <p:spPr>
          <a:xfrm>
            <a:off x="496119" y="1386111"/>
            <a:ext cx="8151763"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Once your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main.py</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is ready, start the server from your terminal. Then open your browser to confirm the backend is live and responding.</a:t>
            </a:r>
            <a:endParaRPr lang="en-US" sz="950" dirty="0"/>
          </a:p>
        </p:txBody>
      </p:sp>
      <p:sp>
        <p:nvSpPr>
          <p:cNvPr id="6" name="Text 4"/>
          <p:cNvSpPr/>
          <p:nvPr/>
        </p:nvSpPr>
        <p:spPr>
          <a:xfrm>
            <a:off x="496119" y="1775371"/>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1B1B27"/>
                </a:solidFill>
                <a:latin typeface="Raleway" pitchFamily="34" charset="0"/>
                <a:ea typeface="Raleway" pitchFamily="34" charset="-122"/>
                <a:cs typeface="Raleway" pitchFamily="34" charset="-120"/>
              </a:rPr>
              <a:t>Start the server</a:t>
            </a:r>
            <a:endParaRPr lang="en-US" sz="1200" dirty="0"/>
          </a:p>
        </p:txBody>
      </p:sp>
      <p:sp>
        <p:nvSpPr>
          <p:cNvPr id="7" name="Shape 5"/>
          <p:cNvSpPr/>
          <p:nvPr/>
        </p:nvSpPr>
        <p:spPr>
          <a:xfrm>
            <a:off x="496119" y="2155254"/>
            <a:ext cx="8151763" cy="446410"/>
          </a:xfrm>
          <a:prstGeom prst="roundRect">
            <a:avLst>
              <a:gd name="adj" fmla="val 11671"/>
            </a:avLst>
          </a:prstGeom>
          <a:solidFill>
            <a:srgbClr val="F2F2F2"/>
          </a:solidFill>
          <a:ln/>
        </p:spPr>
      </p:sp>
      <p:sp>
        <p:nvSpPr>
          <p:cNvPr id="8" name="Shape 6"/>
          <p:cNvSpPr/>
          <p:nvPr/>
        </p:nvSpPr>
        <p:spPr>
          <a:xfrm>
            <a:off x="489942" y="2155254"/>
            <a:ext cx="8164116" cy="446410"/>
          </a:xfrm>
          <a:prstGeom prst="roundRect">
            <a:avLst>
              <a:gd name="adj" fmla="val 4168"/>
            </a:avLst>
          </a:prstGeom>
          <a:solidFill>
            <a:srgbClr val="F2F2F2"/>
          </a:solidFill>
          <a:ln/>
        </p:spPr>
      </p:sp>
      <p:sp>
        <p:nvSpPr>
          <p:cNvPr id="9" name="Text 7"/>
          <p:cNvSpPr/>
          <p:nvPr/>
        </p:nvSpPr>
        <p:spPr>
          <a:xfrm>
            <a:off x="644947" y="2279228"/>
            <a:ext cx="7854107"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uvicorn main:app --reload</a:t>
            </a:r>
            <a:endParaRPr lang="en-US" sz="950" dirty="0"/>
          </a:p>
        </p:txBody>
      </p:sp>
      <p:sp>
        <p:nvSpPr>
          <p:cNvPr id="10" name="Text 8"/>
          <p:cNvSpPr/>
          <p:nvPr/>
        </p:nvSpPr>
        <p:spPr>
          <a:xfrm>
            <a:off x="496119" y="2787700"/>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1B1B27"/>
                </a:solidFill>
                <a:latin typeface="Raleway" pitchFamily="34" charset="0"/>
                <a:ea typeface="Raleway" pitchFamily="34" charset="-122"/>
                <a:cs typeface="Raleway" pitchFamily="34" charset="-120"/>
              </a:rPr>
              <a:t>Open in your browser</a:t>
            </a:r>
            <a:endParaRPr lang="en-US" sz="1200" dirty="0"/>
          </a:p>
        </p:txBody>
      </p:sp>
      <p:sp>
        <p:nvSpPr>
          <p:cNvPr id="11" name="Shape 9"/>
          <p:cNvSpPr/>
          <p:nvPr/>
        </p:nvSpPr>
        <p:spPr>
          <a:xfrm>
            <a:off x="496119" y="3167583"/>
            <a:ext cx="8151763" cy="446410"/>
          </a:xfrm>
          <a:prstGeom prst="roundRect">
            <a:avLst>
              <a:gd name="adj" fmla="val 11671"/>
            </a:avLst>
          </a:prstGeom>
          <a:solidFill>
            <a:srgbClr val="F2F2F2"/>
          </a:solidFill>
          <a:ln/>
        </p:spPr>
      </p:sp>
      <p:sp>
        <p:nvSpPr>
          <p:cNvPr id="12" name="Shape 10"/>
          <p:cNvSpPr/>
          <p:nvPr/>
        </p:nvSpPr>
        <p:spPr>
          <a:xfrm>
            <a:off x="489942" y="3167583"/>
            <a:ext cx="8164116" cy="446410"/>
          </a:xfrm>
          <a:prstGeom prst="roundRect">
            <a:avLst>
              <a:gd name="adj" fmla="val 4168"/>
            </a:avLst>
          </a:prstGeom>
          <a:solidFill>
            <a:srgbClr val="F2F2F2"/>
          </a:solidFill>
          <a:ln/>
        </p:spPr>
      </p:sp>
      <p:sp>
        <p:nvSpPr>
          <p:cNvPr id="13" name="Text 11"/>
          <p:cNvSpPr/>
          <p:nvPr/>
        </p:nvSpPr>
        <p:spPr>
          <a:xfrm>
            <a:off x="644947" y="3291557"/>
            <a:ext cx="7854107"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http://127.0.0.1:8000</a:t>
            </a:r>
            <a:endParaRPr lang="en-US" sz="950" dirty="0"/>
          </a:p>
        </p:txBody>
      </p:sp>
      <p:sp>
        <p:nvSpPr>
          <p:cNvPr id="14" name="Text 12"/>
          <p:cNvSpPr/>
          <p:nvPr/>
        </p:nvSpPr>
        <p:spPr>
          <a:xfrm>
            <a:off x="496119" y="3753520"/>
            <a:ext cx="8151763"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You should see the JSON response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{"message": "Backend is running"}</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returned directly in your browser — your first live backend endpoint.</a:t>
            </a:r>
            <a:endParaRPr lang="en-US" sz="950" dirty="0"/>
          </a:p>
        </p:txBody>
      </p:sp>
      <p:sp>
        <p:nvSpPr>
          <p:cNvPr id="15" name="Shape 13"/>
          <p:cNvSpPr/>
          <p:nvPr/>
        </p:nvSpPr>
        <p:spPr>
          <a:xfrm>
            <a:off x="496119" y="4096271"/>
            <a:ext cx="8151763" cy="527000"/>
          </a:xfrm>
          <a:prstGeom prst="roundRect">
            <a:avLst>
              <a:gd name="adj" fmla="val 9886"/>
            </a:avLst>
          </a:prstGeom>
          <a:solidFill>
            <a:srgbClr val="B6FCB8"/>
          </a:solidFill>
          <a:ln/>
        </p:spPr>
      </p:sp>
      <p:pic>
        <p:nvPicPr>
          <p:cNvPr id="16" name="Image 0" descr="preencoded.png">    </p:cNvPr>
          <p:cNvPicPr>
            <a:picLocks noChangeAspect="1"/>
          </p:cNvPicPr>
          <p:nvPr/>
        </p:nvPicPr>
        <p:blipFill>
          <a:blip r:embed="rId1"/>
          <a:stretch>
            <a:fillRect/>
          </a:stretch>
        </p:blipFill>
        <p:spPr>
          <a:xfrm>
            <a:off x="620092" y="4280818"/>
            <a:ext cx="155004" cy="123974"/>
          </a:xfrm>
          <a:prstGeom prst="rect">
            <a:avLst/>
          </a:prstGeom>
        </p:spPr>
      </p:pic>
      <p:sp>
        <p:nvSpPr>
          <p:cNvPr id="17" name="Text 14"/>
          <p:cNvSpPr/>
          <p:nvPr/>
        </p:nvSpPr>
        <p:spPr>
          <a:xfrm>
            <a:off x="899071" y="4251201"/>
            <a:ext cx="7624837" cy="198462"/>
          </a:xfrm>
          <a:prstGeom prst="rect">
            <a:avLst/>
          </a:prstGeom>
          <a:noFill/>
          <a:ln/>
        </p:spPr>
        <p:txBody>
          <a:bodyPr wrap="non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If you see a JSON response in the browser, your backend is running successfully. </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96119" y="903089"/>
            <a:ext cx="1275159" cy="242739"/>
          </a:xfrm>
          <a:prstGeom prst="roundRect">
            <a:avLst>
              <a:gd name="adj" fmla="val 17171"/>
            </a:avLst>
          </a:prstGeom>
          <a:noFill/>
          <a:ln w="4763">
            <a:solidFill>
              <a:srgbClr val="1B1B27"/>
            </a:solidFill>
            <a:prstDash val="solid"/>
          </a:ln>
        </p:spPr>
      </p:sp>
      <p:sp>
        <p:nvSpPr>
          <p:cNvPr id="3" name="Text 1"/>
          <p:cNvSpPr/>
          <p:nvPr/>
        </p:nvSpPr>
        <p:spPr>
          <a:xfrm>
            <a:off x="575295" y="945059"/>
            <a:ext cx="1116806"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2 — BUILDING APIS</a:t>
            </a:r>
            <a:endParaRPr lang="en-US" sz="750" dirty="0"/>
          </a:p>
        </p:txBody>
      </p:sp>
      <p:sp>
        <p:nvSpPr>
          <p:cNvPr id="4" name="Text 2"/>
          <p:cNvSpPr/>
          <p:nvPr/>
        </p:nvSpPr>
        <p:spPr>
          <a:xfrm>
            <a:off x="496119" y="1195388"/>
            <a:ext cx="4313634"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Automatic API Documentation</a:t>
            </a:r>
            <a:endParaRPr lang="en-US" sz="2400" dirty="0"/>
          </a:p>
        </p:txBody>
      </p:sp>
      <p:sp>
        <p:nvSpPr>
          <p:cNvPr id="5" name="Text 3"/>
          <p:cNvSpPr/>
          <p:nvPr/>
        </p:nvSpPr>
        <p:spPr>
          <a:xfrm>
            <a:off x="496119" y="1768971"/>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One of FastAPI's most powerful features is that it automatically generates an interactive Swagger UI from your code — no extra setup required. This gives you a complete, live interface to explore and test every endpoint.</a:t>
            </a:r>
            <a:endParaRPr lang="en-US" sz="950" dirty="0"/>
          </a:p>
        </p:txBody>
      </p:sp>
      <p:sp>
        <p:nvSpPr>
          <p:cNvPr id="6" name="Text 4"/>
          <p:cNvSpPr/>
          <p:nvPr/>
        </p:nvSpPr>
        <p:spPr>
          <a:xfrm>
            <a:off x="496119" y="2351931"/>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1B1B27"/>
                </a:solidFill>
                <a:latin typeface="Raleway" pitchFamily="34" charset="0"/>
                <a:ea typeface="Raleway" pitchFamily="34" charset="-122"/>
                <a:cs typeface="Raleway" pitchFamily="34" charset="-120"/>
              </a:rPr>
              <a:t>Open Swagger UI</a:t>
            </a:r>
            <a:endParaRPr lang="en-US" sz="1200" dirty="0"/>
          </a:p>
        </p:txBody>
      </p:sp>
      <p:sp>
        <p:nvSpPr>
          <p:cNvPr id="7" name="Shape 5"/>
          <p:cNvSpPr/>
          <p:nvPr/>
        </p:nvSpPr>
        <p:spPr>
          <a:xfrm>
            <a:off x="496119" y="2731815"/>
            <a:ext cx="8151763" cy="446410"/>
          </a:xfrm>
          <a:prstGeom prst="roundRect">
            <a:avLst>
              <a:gd name="adj" fmla="val 11671"/>
            </a:avLst>
          </a:prstGeom>
          <a:solidFill>
            <a:srgbClr val="F2F2F2"/>
          </a:solidFill>
          <a:ln/>
        </p:spPr>
      </p:sp>
      <p:sp>
        <p:nvSpPr>
          <p:cNvPr id="8" name="Shape 6"/>
          <p:cNvSpPr/>
          <p:nvPr/>
        </p:nvSpPr>
        <p:spPr>
          <a:xfrm>
            <a:off x="489942" y="2731815"/>
            <a:ext cx="8164116" cy="446410"/>
          </a:xfrm>
          <a:prstGeom prst="roundRect">
            <a:avLst>
              <a:gd name="adj" fmla="val 4168"/>
            </a:avLst>
          </a:prstGeom>
          <a:solidFill>
            <a:srgbClr val="F2F2F2"/>
          </a:solidFill>
          <a:ln/>
        </p:spPr>
      </p:sp>
      <p:sp>
        <p:nvSpPr>
          <p:cNvPr id="9" name="Text 7"/>
          <p:cNvSpPr/>
          <p:nvPr/>
        </p:nvSpPr>
        <p:spPr>
          <a:xfrm>
            <a:off x="644947" y="2855788"/>
            <a:ext cx="7854107"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http://127.0.0.1:8000/docs</a:t>
            </a:r>
            <a:endParaRPr lang="en-US" sz="950" dirty="0"/>
          </a:p>
        </p:txBody>
      </p:sp>
      <p:sp>
        <p:nvSpPr>
          <p:cNvPr id="10" name="Shape 8"/>
          <p:cNvSpPr/>
          <p:nvPr/>
        </p:nvSpPr>
        <p:spPr>
          <a:xfrm>
            <a:off x="496119" y="3317751"/>
            <a:ext cx="2634555" cy="922660"/>
          </a:xfrm>
          <a:prstGeom prst="roundRect">
            <a:avLst>
              <a:gd name="adj" fmla="val 5647"/>
            </a:avLst>
          </a:prstGeom>
          <a:solidFill>
            <a:srgbClr val="E1E1EA"/>
          </a:solidFill>
          <a:ln w="4763">
            <a:solidFill>
              <a:srgbClr val="C7C7D0"/>
            </a:solidFill>
            <a:prstDash val="solid"/>
          </a:ln>
        </p:spPr>
      </p:sp>
      <p:sp>
        <p:nvSpPr>
          <p:cNvPr id="11" name="Text 9"/>
          <p:cNvSpPr/>
          <p:nvPr/>
        </p:nvSpPr>
        <p:spPr>
          <a:xfrm>
            <a:off x="624855" y="3446487"/>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Try It Out</a:t>
            </a:r>
            <a:endParaRPr lang="en-US" sz="1200" dirty="0"/>
          </a:p>
        </p:txBody>
      </p:sp>
      <p:sp>
        <p:nvSpPr>
          <p:cNvPr id="12" name="Text 10"/>
          <p:cNvSpPr/>
          <p:nvPr/>
        </p:nvSpPr>
        <p:spPr>
          <a:xfrm>
            <a:off x="624855" y="3714750"/>
            <a:ext cx="237708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Click any endpoint and send a real request directly from the browser</a:t>
            </a:r>
            <a:endParaRPr lang="en-US" sz="950" dirty="0"/>
          </a:p>
        </p:txBody>
      </p:sp>
      <p:sp>
        <p:nvSpPr>
          <p:cNvPr id="13" name="Shape 11"/>
          <p:cNvSpPr/>
          <p:nvPr/>
        </p:nvSpPr>
        <p:spPr>
          <a:xfrm>
            <a:off x="3254648" y="3317751"/>
            <a:ext cx="2634630" cy="922660"/>
          </a:xfrm>
          <a:prstGeom prst="roundRect">
            <a:avLst>
              <a:gd name="adj" fmla="val 5647"/>
            </a:avLst>
          </a:prstGeom>
          <a:solidFill>
            <a:srgbClr val="E1E1EA"/>
          </a:solidFill>
          <a:ln w="4763">
            <a:solidFill>
              <a:srgbClr val="C7C7D0"/>
            </a:solidFill>
            <a:prstDash val="solid"/>
          </a:ln>
        </p:spPr>
      </p:sp>
      <p:sp>
        <p:nvSpPr>
          <p:cNvPr id="14" name="Text 12"/>
          <p:cNvSpPr/>
          <p:nvPr/>
        </p:nvSpPr>
        <p:spPr>
          <a:xfrm>
            <a:off x="3383384" y="3446487"/>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Always Up to Date</a:t>
            </a:r>
            <a:endParaRPr lang="en-US" sz="1200" dirty="0"/>
          </a:p>
        </p:txBody>
      </p:sp>
      <p:sp>
        <p:nvSpPr>
          <p:cNvPr id="15" name="Text 13"/>
          <p:cNvSpPr/>
          <p:nvPr/>
        </p:nvSpPr>
        <p:spPr>
          <a:xfrm>
            <a:off x="3383384" y="3714750"/>
            <a:ext cx="2377157"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Docs update automatically every time you add or modify an endpoint</a:t>
            </a:r>
            <a:endParaRPr lang="en-US" sz="950" dirty="0"/>
          </a:p>
        </p:txBody>
      </p:sp>
      <p:sp>
        <p:nvSpPr>
          <p:cNvPr id="16" name="Shape 14"/>
          <p:cNvSpPr/>
          <p:nvPr/>
        </p:nvSpPr>
        <p:spPr>
          <a:xfrm>
            <a:off x="6013252" y="3317751"/>
            <a:ext cx="2634555" cy="922660"/>
          </a:xfrm>
          <a:prstGeom prst="roundRect">
            <a:avLst>
              <a:gd name="adj" fmla="val 5647"/>
            </a:avLst>
          </a:prstGeom>
          <a:solidFill>
            <a:srgbClr val="E1E1EA"/>
          </a:solidFill>
          <a:ln w="4763">
            <a:solidFill>
              <a:srgbClr val="C7C7D0"/>
            </a:solidFill>
            <a:prstDash val="solid"/>
          </a:ln>
        </p:spPr>
      </p:sp>
      <p:sp>
        <p:nvSpPr>
          <p:cNvPr id="17" name="Text 15"/>
          <p:cNvSpPr/>
          <p:nvPr/>
        </p:nvSpPr>
        <p:spPr>
          <a:xfrm>
            <a:off x="6141988" y="3446487"/>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No Extra Work</a:t>
            </a:r>
            <a:endParaRPr lang="en-US" sz="1200" dirty="0"/>
          </a:p>
        </p:txBody>
      </p:sp>
      <p:sp>
        <p:nvSpPr>
          <p:cNvPr id="18" name="Text 16"/>
          <p:cNvSpPr/>
          <p:nvPr/>
        </p:nvSpPr>
        <p:spPr>
          <a:xfrm>
            <a:off x="6141988" y="3714750"/>
            <a:ext cx="237708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Generated entirely from your code — zero manual documentation effort</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65162" y="320204"/>
            <a:ext cx="1195462" cy="223317"/>
          </a:xfrm>
          <a:prstGeom prst="roundRect">
            <a:avLst>
              <a:gd name="adj" fmla="val 17497"/>
            </a:avLst>
          </a:prstGeom>
          <a:noFill/>
          <a:ln w="4763">
            <a:solidFill>
              <a:srgbClr val="1B1B27"/>
            </a:solidFill>
            <a:prstDash val="solid"/>
          </a:ln>
        </p:spPr>
      </p:sp>
      <p:sp>
        <p:nvSpPr>
          <p:cNvPr id="3" name="Text 1"/>
          <p:cNvSpPr/>
          <p:nvPr/>
        </p:nvSpPr>
        <p:spPr>
          <a:xfrm>
            <a:off x="539651" y="359792"/>
            <a:ext cx="1046485" cy="144140"/>
          </a:xfrm>
          <a:prstGeom prst="rect">
            <a:avLst/>
          </a:prstGeom>
          <a:noFill/>
          <a:ln/>
        </p:spPr>
        <p:txBody>
          <a:bodyPr wrap="none" lIns="0" tIns="0" rIns="0" bIns="0" rtlCol="0" anchor="t"/>
          <a:lstStyle/>
          <a:p>
            <a:pPr algn="l" indent="0" marL="0">
              <a:lnSpc>
                <a:spcPts val="1100"/>
              </a:lnSpc>
              <a:buNone/>
            </a:pPr>
            <a:r>
              <a:rPr lang="en-US" sz="700" dirty="0">
                <a:solidFill>
                  <a:srgbClr val="1B1B27"/>
                </a:solidFill>
                <a:latin typeface="Roboto" pitchFamily="34" charset="0"/>
                <a:ea typeface="Roboto" pitchFamily="34" charset="-122"/>
                <a:cs typeface="Roboto" pitchFamily="34" charset="-120"/>
              </a:rPr>
              <a:t>PART 2 — BUILDING APIS</a:t>
            </a:r>
            <a:endParaRPr lang="en-US" sz="700" dirty="0"/>
          </a:p>
        </p:txBody>
      </p:sp>
      <p:sp>
        <p:nvSpPr>
          <p:cNvPr id="4" name="Text 2"/>
          <p:cNvSpPr/>
          <p:nvPr/>
        </p:nvSpPr>
        <p:spPr>
          <a:xfrm>
            <a:off x="465162" y="587127"/>
            <a:ext cx="3471416" cy="363364"/>
          </a:xfrm>
          <a:prstGeom prst="rect">
            <a:avLst/>
          </a:prstGeom>
          <a:noFill/>
          <a:ln/>
        </p:spPr>
        <p:txBody>
          <a:bodyPr wrap="none" lIns="0" tIns="0" rIns="0" bIns="0" rtlCol="0" anchor="t"/>
          <a:lstStyle/>
          <a:p>
            <a:pPr algn="l" indent="0" marL="0">
              <a:lnSpc>
                <a:spcPts val="2850"/>
              </a:lnSpc>
              <a:buNone/>
            </a:pPr>
            <a:r>
              <a:rPr lang="en-US" sz="2250" dirty="0">
                <a:solidFill>
                  <a:srgbClr val="1B1B27"/>
                </a:solidFill>
                <a:latin typeface="Raleway" pitchFamily="34" charset="0"/>
                <a:ea typeface="Raleway" pitchFamily="34" charset="-122"/>
                <a:cs typeface="Raleway" pitchFamily="34" charset="-120"/>
              </a:rPr>
              <a:t>What Happens Internally?</a:t>
            </a:r>
            <a:endParaRPr lang="en-US" sz="2250" dirty="0"/>
          </a:p>
        </p:txBody>
      </p:sp>
      <p:sp>
        <p:nvSpPr>
          <p:cNvPr id="5" name="Text 3"/>
          <p:cNvSpPr/>
          <p:nvPr/>
        </p:nvSpPr>
        <p:spPr>
          <a:xfrm>
            <a:off x="465162" y="1113979"/>
            <a:ext cx="8213675" cy="360462"/>
          </a:xfrm>
          <a:prstGeom prst="rect">
            <a:avLst/>
          </a:prstGeom>
          <a:noFill/>
          <a:ln/>
        </p:spPr>
        <p:txBody>
          <a:bodyPr wrap="square" lIns="0" tIns="0" rIns="0" bIns="0" rtlCol="0" anchor="t"/>
          <a:lstStyle/>
          <a:p>
            <a:pPr algn="l" indent="0" marL="0">
              <a:lnSpc>
                <a:spcPts val="1400"/>
              </a:lnSpc>
              <a:buNone/>
            </a:pPr>
            <a:r>
              <a:rPr lang="en-US" sz="900" dirty="0">
                <a:solidFill>
                  <a:srgbClr val="3C3939"/>
                </a:solidFill>
                <a:latin typeface="Roboto" pitchFamily="34" charset="0"/>
                <a:ea typeface="Roboto" pitchFamily="34" charset="-122"/>
                <a:cs typeface="Roboto" pitchFamily="34" charset="-120"/>
              </a:rPr>
              <a:t>When a browser hits your FastAPI server, a precise sequence of events takes place internally. Understanding this flow helps you debug issues and design better endpoints.</a:t>
            </a:r>
            <a:endParaRPr lang="en-US" sz="900" dirty="0"/>
          </a:p>
        </p:txBody>
      </p:sp>
      <p:pic>
        <p:nvPicPr>
          <p:cNvPr id="6" name="Image 0" descr="preencoded.png">    </p:cNvPr>
          <p:cNvPicPr>
            <a:picLocks noChangeAspect="1"/>
          </p:cNvPicPr>
          <p:nvPr/>
        </p:nvPicPr>
        <p:blipFill>
          <a:blip r:embed="rId1"/>
          <a:stretch>
            <a:fillRect/>
          </a:stretch>
        </p:blipFill>
        <p:spPr>
          <a:xfrm>
            <a:off x="1378297" y="1597075"/>
            <a:ext cx="6387331" cy="2923282"/>
          </a:xfrm>
          <a:prstGeom prst="rect">
            <a:avLst/>
          </a:prstGeom>
        </p:spPr>
      </p:pic>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35000" y="2326940"/>
            <a:ext cx="410678" cy="410677"/>
          </a:xfrm>
          <a:prstGeom prst="rect">
            <a:avLst/>
          </a:prstGeom>
        </p:spPr>
      </p:pic>
      <p:sp>
        <p:nvSpPr>
          <p:cNvPr id="8" name="Text 4"/>
          <p:cNvSpPr/>
          <p:nvPr/>
        </p:nvSpPr>
        <p:spPr>
          <a:xfrm>
            <a:off x="6269112" y="3826169"/>
            <a:ext cx="1199178" cy="231006"/>
          </a:xfrm>
          <a:prstGeom prst="rect">
            <a:avLst/>
          </a:prstGeom>
          <a:noFill/>
          <a:ln/>
        </p:spPr>
        <p:txBody>
          <a:bodyPr wrap="none" lIns="0" tIns="0" rIns="0" bIns="0" rtlCol="0" anchor="t"/>
          <a:lstStyle/>
          <a:p>
            <a:pPr algn="ctr" indent="0" marL="0">
              <a:lnSpc>
                <a:spcPts val="1800"/>
              </a:lnSpc>
              <a:buNone/>
            </a:pPr>
            <a:r>
              <a:rPr lang="en-US" sz="1450" dirty="0">
                <a:solidFill>
                  <a:srgbClr val="3C3939"/>
                </a:solidFill>
                <a:latin typeface="Raleway" pitchFamily="34" charset="0"/>
                <a:ea typeface="Raleway" pitchFamily="34" charset="-122"/>
                <a:cs typeface="Raleway" pitchFamily="34" charset="-120"/>
              </a:rPr>
              <a:t>Return JSON</a:t>
            </a:r>
            <a:endParaRPr lang="en-US" sz="1450" dirty="0"/>
          </a:p>
        </p:txBody>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31536" y="2327710"/>
            <a:ext cx="410677" cy="410677"/>
          </a:xfrm>
          <a:prstGeom prst="rect">
            <a:avLst/>
          </a:prstGeom>
        </p:spPr>
      </p:pic>
      <p:sp>
        <p:nvSpPr>
          <p:cNvPr id="10" name="Text 5"/>
          <p:cNvSpPr/>
          <p:nvPr/>
        </p:nvSpPr>
        <p:spPr>
          <a:xfrm>
            <a:off x="4757819" y="3826169"/>
            <a:ext cx="1199178" cy="231006"/>
          </a:xfrm>
          <a:prstGeom prst="rect">
            <a:avLst/>
          </a:prstGeom>
          <a:noFill/>
          <a:ln/>
        </p:spPr>
        <p:txBody>
          <a:bodyPr wrap="none" lIns="0" tIns="0" rIns="0" bIns="0" rtlCol="0" anchor="t"/>
          <a:lstStyle/>
          <a:p>
            <a:pPr algn="ctr" indent="0" marL="0">
              <a:lnSpc>
                <a:spcPts val="1800"/>
              </a:lnSpc>
              <a:buNone/>
            </a:pPr>
            <a:r>
              <a:rPr lang="en-US" sz="1450" dirty="0">
                <a:solidFill>
                  <a:srgbClr val="3C3939"/>
                </a:solidFill>
                <a:latin typeface="Raleway" pitchFamily="34" charset="0"/>
                <a:ea typeface="Raleway" pitchFamily="34" charset="-122"/>
                <a:cs typeface="Raleway" pitchFamily="34" charset="-120"/>
              </a:rPr>
              <a:t>Handler Runs</a:t>
            </a:r>
            <a:endParaRPr lang="en-US" sz="145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628456" y="2327710"/>
            <a:ext cx="410677" cy="410677"/>
          </a:xfrm>
          <a:prstGeom prst="rect">
            <a:avLst/>
          </a:prstGeom>
        </p:spPr>
      </p:pic>
      <p:sp>
        <p:nvSpPr>
          <p:cNvPr id="12" name="Text 6"/>
          <p:cNvSpPr/>
          <p:nvPr/>
        </p:nvSpPr>
        <p:spPr>
          <a:xfrm>
            <a:off x="3254740" y="3826169"/>
            <a:ext cx="1199178" cy="231006"/>
          </a:xfrm>
          <a:prstGeom prst="rect">
            <a:avLst/>
          </a:prstGeom>
          <a:noFill/>
          <a:ln/>
        </p:spPr>
        <p:txBody>
          <a:bodyPr wrap="none" lIns="0" tIns="0" rIns="0" bIns="0" rtlCol="0" anchor="t"/>
          <a:lstStyle/>
          <a:p>
            <a:pPr algn="ctr" indent="0" marL="0">
              <a:lnSpc>
                <a:spcPts val="1800"/>
              </a:lnSpc>
              <a:buNone/>
            </a:pPr>
            <a:r>
              <a:rPr lang="en-US" sz="1450" dirty="0">
                <a:solidFill>
                  <a:srgbClr val="3C3939"/>
                </a:solidFill>
                <a:latin typeface="Raleway" pitchFamily="34" charset="0"/>
                <a:ea typeface="Raleway" pitchFamily="34" charset="-122"/>
                <a:cs typeface="Raleway" pitchFamily="34" charset="-120"/>
              </a:rPr>
              <a:t>Route Match</a:t>
            </a:r>
            <a:endParaRPr lang="en-US" sz="145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117163" y="2327710"/>
            <a:ext cx="410677" cy="410677"/>
          </a:xfrm>
          <a:prstGeom prst="rect">
            <a:avLst/>
          </a:prstGeom>
        </p:spPr>
      </p:pic>
      <p:sp>
        <p:nvSpPr>
          <p:cNvPr id="14" name="Text 7"/>
          <p:cNvSpPr/>
          <p:nvPr/>
        </p:nvSpPr>
        <p:spPr>
          <a:xfrm>
            <a:off x="1718806" y="3710666"/>
            <a:ext cx="1199178" cy="462012"/>
          </a:xfrm>
          <a:prstGeom prst="rect">
            <a:avLst/>
          </a:prstGeom>
          <a:noFill/>
          <a:ln/>
        </p:spPr>
        <p:txBody>
          <a:bodyPr wrap="square" lIns="0" tIns="0" rIns="0" bIns="0" rtlCol="0" anchor="t"/>
          <a:lstStyle/>
          <a:p>
            <a:pPr algn="ctr" indent="0" marL="0">
              <a:lnSpc>
                <a:spcPts val="1800"/>
              </a:lnSpc>
              <a:buNone/>
            </a:pPr>
            <a:r>
              <a:rPr lang="en-US" sz="1450" dirty="0">
                <a:solidFill>
                  <a:srgbClr val="3C3939"/>
                </a:solidFill>
                <a:latin typeface="Raleway" pitchFamily="34" charset="0"/>
                <a:ea typeface="Raleway" pitchFamily="34" charset="-122"/>
                <a:cs typeface="Raleway" pitchFamily="34" charset="-120"/>
              </a:rPr>
              <a:t>Browser Request</a:t>
            </a:r>
            <a:endParaRPr lang="en-US" sz="1450" dirty="0"/>
          </a:p>
        </p:txBody>
      </p:sp>
      <p:sp>
        <p:nvSpPr>
          <p:cNvPr id="15" name="Text 8"/>
          <p:cNvSpPr/>
          <p:nvPr/>
        </p:nvSpPr>
        <p:spPr>
          <a:xfrm>
            <a:off x="465162" y="4642991"/>
            <a:ext cx="8213675" cy="180231"/>
          </a:xfrm>
          <a:prstGeom prst="rect">
            <a:avLst/>
          </a:prstGeom>
          <a:noFill/>
          <a:ln/>
        </p:spPr>
        <p:txBody>
          <a:bodyPr wrap="none" lIns="0" tIns="0" rIns="0" bIns="0" rtlCol="0" anchor="t"/>
          <a:lstStyle/>
          <a:p>
            <a:pPr algn="l" indent="0" marL="0">
              <a:lnSpc>
                <a:spcPts val="1400"/>
              </a:lnSpc>
              <a:buNone/>
            </a:pPr>
            <a:r>
              <a:rPr lang="en-US" sz="900" dirty="0">
                <a:solidFill>
                  <a:srgbClr val="3C3939"/>
                </a:solidFill>
                <a:latin typeface="Roboto" pitchFamily="34" charset="0"/>
                <a:ea typeface="Roboto" pitchFamily="34" charset="-122"/>
                <a:cs typeface="Roboto" pitchFamily="34" charset="-120"/>
              </a:rPr>
              <a:t>FastAPI acts as the coordinator — it finds the right function for the right URL, runs it, and packages the return value into a proper HTTP response automatically.</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96119" y="944910"/>
            <a:ext cx="1275159" cy="242739"/>
          </a:xfrm>
          <a:prstGeom prst="roundRect">
            <a:avLst>
              <a:gd name="adj" fmla="val 17171"/>
            </a:avLst>
          </a:prstGeom>
          <a:noFill/>
          <a:ln w="4763">
            <a:solidFill>
              <a:srgbClr val="1B1B27"/>
            </a:solidFill>
            <a:prstDash val="solid"/>
          </a:ln>
        </p:spPr>
      </p:sp>
      <p:sp>
        <p:nvSpPr>
          <p:cNvPr id="3" name="Text 1"/>
          <p:cNvSpPr/>
          <p:nvPr/>
        </p:nvSpPr>
        <p:spPr>
          <a:xfrm>
            <a:off x="575295" y="986879"/>
            <a:ext cx="1116806"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2 — BUILDING APIS</a:t>
            </a:r>
            <a:endParaRPr lang="en-US" sz="750" dirty="0"/>
          </a:p>
        </p:txBody>
      </p:sp>
      <p:sp>
        <p:nvSpPr>
          <p:cNvPr id="4" name="Text 2"/>
          <p:cNvSpPr/>
          <p:nvPr/>
        </p:nvSpPr>
        <p:spPr>
          <a:xfrm>
            <a:off x="496119" y="1237208"/>
            <a:ext cx="3789238"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Understanding Decorators</a:t>
            </a:r>
            <a:endParaRPr lang="en-US" sz="2400" dirty="0"/>
          </a:p>
        </p:txBody>
      </p:sp>
      <p:sp>
        <p:nvSpPr>
          <p:cNvPr id="5" name="Text 3"/>
          <p:cNvSpPr/>
          <p:nvPr/>
        </p:nvSpPr>
        <p:spPr>
          <a:xfrm>
            <a:off x="496119" y="1810792"/>
            <a:ext cx="8151763" cy="4016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@app.get("/")</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line is a Python decorator. It tells FastAPI: "When a GET request arrives at this URL, call this function." Decorators are how FastAPI connects URLs to code.</a:t>
            </a:r>
            <a:endParaRPr lang="en-US" sz="950" dirty="0"/>
          </a:p>
        </p:txBody>
      </p:sp>
      <p:sp>
        <p:nvSpPr>
          <p:cNvPr id="6" name="Shape 4"/>
          <p:cNvSpPr/>
          <p:nvPr/>
        </p:nvSpPr>
        <p:spPr>
          <a:xfrm>
            <a:off x="496119" y="2352005"/>
            <a:ext cx="8151763" cy="843335"/>
          </a:xfrm>
          <a:prstGeom prst="roundRect">
            <a:avLst>
              <a:gd name="adj" fmla="val 6178"/>
            </a:avLst>
          </a:prstGeom>
          <a:solidFill>
            <a:srgbClr val="F2F2F2"/>
          </a:solidFill>
          <a:ln/>
        </p:spPr>
      </p:sp>
      <p:sp>
        <p:nvSpPr>
          <p:cNvPr id="7" name="Shape 5"/>
          <p:cNvSpPr/>
          <p:nvPr/>
        </p:nvSpPr>
        <p:spPr>
          <a:xfrm>
            <a:off x="489942" y="2352005"/>
            <a:ext cx="8164116" cy="843335"/>
          </a:xfrm>
          <a:prstGeom prst="roundRect">
            <a:avLst>
              <a:gd name="adj" fmla="val 2206"/>
            </a:avLst>
          </a:prstGeom>
          <a:solidFill>
            <a:srgbClr val="F2F2F2"/>
          </a:solidFill>
          <a:ln/>
        </p:spPr>
      </p:sp>
      <p:sp>
        <p:nvSpPr>
          <p:cNvPr id="8" name="Text 6"/>
          <p:cNvSpPr/>
          <p:nvPr/>
        </p:nvSpPr>
        <p:spPr>
          <a:xfrm>
            <a:off x="644947" y="2475979"/>
            <a:ext cx="7854107" cy="5953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@app.get("/")</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def root():</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    return {"message": "Backend is running"}</a:t>
            </a:r>
            <a:endParaRPr lang="en-US" sz="950" dirty="0"/>
          </a:p>
        </p:txBody>
      </p:sp>
      <p:sp>
        <p:nvSpPr>
          <p:cNvPr id="9" name="Shape 7"/>
          <p:cNvSpPr/>
          <p:nvPr/>
        </p:nvSpPr>
        <p:spPr>
          <a:xfrm>
            <a:off x="481831" y="3320579"/>
            <a:ext cx="28575" cy="892225"/>
          </a:xfrm>
          <a:prstGeom prst="rect">
            <a:avLst/>
          </a:prstGeom>
          <a:solidFill>
            <a:srgbClr val="1B1B27"/>
          </a:solidFill>
          <a:ln/>
        </p:spPr>
      </p:sp>
      <p:sp>
        <p:nvSpPr>
          <p:cNvPr id="10" name="Text 8"/>
          <p:cNvSpPr/>
          <p:nvPr/>
        </p:nvSpPr>
        <p:spPr>
          <a:xfrm>
            <a:off x="648667" y="3334866"/>
            <a:ext cx="1550566" cy="198611"/>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highlight>
                  <a:srgbClr val="F2F2F2"/>
                </a:highlight>
                <a:latin typeface="Consolas" pitchFamily="34" charset="0"/>
                <a:ea typeface="Consolas" pitchFamily="34" charset="-122"/>
                <a:cs typeface="Consolas" pitchFamily="34" charset="-120"/>
              </a:rPr>
              <a:t>@app.get</a:t>
            </a:r>
            <a:endParaRPr lang="en-US" sz="1200" dirty="0"/>
          </a:p>
        </p:txBody>
      </p:sp>
      <p:sp>
        <p:nvSpPr>
          <p:cNvPr id="11" name="Text 9"/>
          <p:cNvSpPr/>
          <p:nvPr/>
        </p:nvSpPr>
        <p:spPr>
          <a:xfrm>
            <a:off x="648667" y="3607891"/>
            <a:ext cx="2461320"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Registers this function as a handler for GET requests</a:t>
            </a:r>
            <a:endParaRPr lang="en-US" sz="950" dirty="0"/>
          </a:p>
        </p:txBody>
      </p:sp>
      <p:sp>
        <p:nvSpPr>
          <p:cNvPr id="12" name="Shape 10"/>
          <p:cNvSpPr/>
          <p:nvPr/>
        </p:nvSpPr>
        <p:spPr>
          <a:xfrm>
            <a:off x="3250704" y="3320579"/>
            <a:ext cx="28575" cy="892225"/>
          </a:xfrm>
          <a:prstGeom prst="rect">
            <a:avLst/>
          </a:prstGeom>
          <a:solidFill>
            <a:srgbClr val="1B1B27"/>
          </a:solidFill>
          <a:ln/>
        </p:spPr>
      </p:sp>
      <p:sp>
        <p:nvSpPr>
          <p:cNvPr id="13" name="Text 11"/>
          <p:cNvSpPr/>
          <p:nvPr/>
        </p:nvSpPr>
        <p:spPr>
          <a:xfrm>
            <a:off x="3417540" y="3334866"/>
            <a:ext cx="1550566" cy="198611"/>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highlight>
                  <a:srgbClr val="F2F2F2"/>
                </a:highlight>
                <a:latin typeface="Consolas" pitchFamily="34" charset="0"/>
                <a:ea typeface="Consolas" pitchFamily="34" charset="-122"/>
                <a:cs typeface="Consolas" pitchFamily="34" charset="-120"/>
              </a:rPr>
              <a:t>"/"</a:t>
            </a:r>
            <a:endParaRPr lang="en-US" sz="1200" dirty="0"/>
          </a:p>
        </p:txBody>
      </p:sp>
      <p:sp>
        <p:nvSpPr>
          <p:cNvPr id="14" name="Text 12"/>
          <p:cNvSpPr/>
          <p:nvPr/>
        </p:nvSpPr>
        <p:spPr>
          <a:xfrm>
            <a:off x="3417540" y="3607891"/>
            <a:ext cx="2461394"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URL path this handler is bound to — the root of your API</a:t>
            </a:r>
            <a:endParaRPr lang="en-US" sz="950" dirty="0"/>
          </a:p>
        </p:txBody>
      </p:sp>
      <p:sp>
        <p:nvSpPr>
          <p:cNvPr id="15" name="Shape 13"/>
          <p:cNvSpPr/>
          <p:nvPr/>
        </p:nvSpPr>
        <p:spPr>
          <a:xfrm>
            <a:off x="6019651" y="3320579"/>
            <a:ext cx="28575" cy="892225"/>
          </a:xfrm>
          <a:prstGeom prst="rect">
            <a:avLst/>
          </a:prstGeom>
          <a:solidFill>
            <a:srgbClr val="1B1B27"/>
          </a:solidFill>
          <a:ln/>
        </p:spPr>
      </p:sp>
      <p:sp>
        <p:nvSpPr>
          <p:cNvPr id="16" name="Text 14"/>
          <p:cNvSpPr/>
          <p:nvPr/>
        </p:nvSpPr>
        <p:spPr>
          <a:xfrm>
            <a:off x="6186488" y="3334866"/>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The function below</a:t>
            </a:r>
            <a:endParaRPr lang="en-US" sz="1200" dirty="0"/>
          </a:p>
        </p:txBody>
      </p:sp>
      <p:sp>
        <p:nvSpPr>
          <p:cNvPr id="17" name="Text 15"/>
          <p:cNvSpPr/>
          <p:nvPr/>
        </p:nvSpPr>
        <p:spPr>
          <a:xfrm>
            <a:off x="6186488" y="3603129"/>
            <a:ext cx="2461394" cy="5953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Executes whenever a matching request arrives — its return value becomes the response</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96119" y="1149697"/>
            <a:ext cx="1275159" cy="242739"/>
          </a:xfrm>
          <a:prstGeom prst="roundRect">
            <a:avLst>
              <a:gd name="adj" fmla="val 17171"/>
            </a:avLst>
          </a:prstGeom>
          <a:noFill/>
          <a:ln w="4763">
            <a:solidFill>
              <a:srgbClr val="1B1B27"/>
            </a:solidFill>
            <a:prstDash val="solid"/>
          </a:ln>
        </p:spPr>
      </p:sp>
      <p:sp>
        <p:nvSpPr>
          <p:cNvPr id="3" name="Text 1"/>
          <p:cNvSpPr/>
          <p:nvPr/>
        </p:nvSpPr>
        <p:spPr>
          <a:xfrm>
            <a:off x="575295" y="1191667"/>
            <a:ext cx="1116806"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2 — BUILDING APIS</a:t>
            </a:r>
            <a:endParaRPr lang="en-US" sz="750" dirty="0"/>
          </a:p>
        </p:txBody>
      </p:sp>
      <p:sp>
        <p:nvSpPr>
          <p:cNvPr id="4" name="Text 2"/>
          <p:cNvSpPr/>
          <p:nvPr/>
        </p:nvSpPr>
        <p:spPr>
          <a:xfrm>
            <a:off x="496119" y="1441996"/>
            <a:ext cx="3895279"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The Routing Table Concept</a:t>
            </a:r>
            <a:endParaRPr lang="en-US" sz="2400" dirty="0"/>
          </a:p>
        </p:txBody>
      </p:sp>
      <p:sp>
        <p:nvSpPr>
          <p:cNvPr id="5" name="Text 3"/>
          <p:cNvSpPr/>
          <p:nvPr/>
        </p:nvSpPr>
        <p:spPr>
          <a:xfrm>
            <a:off x="496119" y="2015579"/>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FastAPI maintains an internal routing table — a map of every registered URL pattern and the function that handles it. When a request arrives, FastAPI looks up the URL in this table and calls the matching function.</a:t>
            </a:r>
            <a:endParaRPr lang="en-US" sz="950" dirty="0"/>
          </a:p>
        </p:txBody>
      </p:sp>
      <p:sp>
        <p:nvSpPr>
          <p:cNvPr id="6" name="Shape 4"/>
          <p:cNvSpPr/>
          <p:nvPr/>
        </p:nvSpPr>
        <p:spPr>
          <a:xfrm>
            <a:off x="496119" y="2552030"/>
            <a:ext cx="8151763" cy="1099021"/>
          </a:xfrm>
          <a:prstGeom prst="roundRect">
            <a:avLst>
              <a:gd name="adj" fmla="val 4741"/>
            </a:avLst>
          </a:prstGeom>
          <a:noFill/>
          <a:ln w="4763">
            <a:solidFill>
              <a:srgbClr val="000000">
                <a:alpha val="8000"/>
              </a:srgbClr>
            </a:solidFill>
            <a:prstDash val="solid"/>
          </a:ln>
        </p:spPr>
      </p:sp>
      <p:sp>
        <p:nvSpPr>
          <p:cNvPr id="7" name="Text 5"/>
          <p:cNvSpPr/>
          <p:nvPr/>
        </p:nvSpPr>
        <p:spPr>
          <a:xfrm>
            <a:off x="624929" y="2635969"/>
            <a:ext cx="1785193" cy="198462"/>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Method</a:t>
            </a:r>
            <a:endParaRPr lang="en-US" sz="950" dirty="0"/>
          </a:p>
        </p:txBody>
      </p:sp>
      <p:sp>
        <p:nvSpPr>
          <p:cNvPr id="8" name="Text 6"/>
          <p:cNvSpPr/>
          <p:nvPr/>
        </p:nvSpPr>
        <p:spPr>
          <a:xfrm>
            <a:off x="2662833" y="2635969"/>
            <a:ext cx="1782812" cy="198462"/>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Path</a:t>
            </a:r>
            <a:endParaRPr lang="en-US" sz="950" dirty="0"/>
          </a:p>
        </p:txBody>
      </p:sp>
      <p:sp>
        <p:nvSpPr>
          <p:cNvPr id="9" name="Text 7"/>
          <p:cNvSpPr/>
          <p:nvPr/>
        </p:nvSpPr>
        <p:spPr>
          <a:xfrm>
            <a:off x="4698355" y="2635969"/>
            <a:ext cx="3820790" cy="198462"/>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Handler Function</a:t>
            </a:r>
            <a:endParaRPr lang="en-US" sz="950" dirty="0"/>
          </a:p>
        </p:txBody>
      </p:sp>
      <p:sp>
        <p:nvSpPr>
          <p:cNvPr id="10" name="Text 8"/>
          <p:cNvSpPr/>
          <p:nvPr/>
        </p:nvSpPr>
        <p:spPr>
          <a:xfrm>
            <a:off x="624929" y="2997547"/>
            <a:ext cx="1785193"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GET</a:t>
            </a:r>
            <a:endParaRPr lang="en-US" sz="950" dirty="0"/>
          </a:p>
        </p:txBody>
      </p:sp>
      <p:sp>
        <p:nvSpPr>
          <p:cNvPr id="11" name="Text 9"/>
          <p:cNvSpPr/>
          <p:nvPr/>
        </p:nvSpPr>
        <p:spPr>
          <a:xfrm>
            <a:off x="2662833" y="2997547"/>
            <a:ext cx="1782812"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a:t>
            </a:r>
            <a:endParaRPr lang="en-US" sz="950" dirty="0"/>
          </a:p>
        </p:txBody>
      </p:sp>
      <p:sp>
        <p:nvSpPr>
          <p:cNvPr id="12" name="Text 10"/>
          <p:cNvSpPr/>
          <p:nvPr/>
        </p:nvSpPr>
        <p:spPr>
          <a:xfrm>
            <a:off x="4698355" y="2997547"/>
            <a:ext cx="3820790"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root()</a:t>
            </a:r>
            <a:endParaRPr lang="en-US" sz="950" dirty="0"/>
          </a:p>
        </p:txBody>
      </p:sp>
      <p:sp>
        <p:nvSpPr>
          <p:cNvPr id="13" name="Text 11"/>
          <p:cNvSpPr/>
          <p:nvPr/>
        </p:nvSpPr>
        <p:spPr>
          <a:xfrm>
            <a:off x="624929" y="3363888"/>
            <a:ext cx="1785193"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GET</a:t>
            </a:r>
            <a:endParaRPr lang="en-US" sz="950" dirty="0"/>
          </a:p>
        </p:txBody>
      </p:sp>
      <p:sp>
        <p:nvSpPr>
          <p:cNvPr id="14" name="Text 12"/>
          <p:cNvSpPr/>
          <p:nvPr/>
        </p:nvSpPr>
        <p:spPr>
          <a:xfrm>
            <a:off x="2662833" y="3363888"/>
            <a:ext cx="1782812"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/hello</a:t>
            </a:r>
            <a:endParaRPr lang="en-US" sz="950" dirty="0"/>
          </a:p>
        </p:txBody>
      </p:sp>
      <p:sp>
        <p:nvSpPr>
          <p:cNvPr id="15" name="Text 13"/>
          <p:cNvSpPr/>
          <p:nvPr/>
        </p:nvSpPr>
        <p:spPr>
          <a:xfrm>
            <a:off x="4698355" y="3363888"/>
            <a:ext cx="3820790"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say_hello()</a:t>
            </a:r>
            <a:endParaRPr lang="en-US" sz="950" dirty="0"/>
          </a:p>
        </p:txBody>
      </p:sp>
      <p:sp>
        <p:nvSpPr>
          <p:cNvPr id="16" name="Text 14"/>
          <p:cNvSpPr/>
          <p:nvPr/>
        </p:nvSpPr>
        <p:spPr>
          <a:xfrm>
            <a:off x="496119" y="3790578"/>
            <a:ext cx="8151763"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Each row in the routing table corresponds to one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@app.get()</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or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@app.post()</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decorator in your code. As you add more endpoints, the table grows.</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96119" y="840284"/>
            <a:ext cx="1275159" cy="242739"/>
          </a:xfrm>
          <a:prstGeom prst="roundRect">
            <a:avLst>
              <a:gd name="adj" fmla="val 17171"/>
            </a:avLst>
          </a:prstGeom>
          <a:noFill/>
          <a:ln w="4763">
            <a:solidFill>
              <a:srgbClr val="1B1B27"/>
            </a:solidFill>
            <a:prstDash val="solid"/>
          </a:ln>
        </p:spPr>
      </p:sp>
      <p:sp>
        <p:nvSpPr>
          <p:cNvPr id="3" name="Text 1"/>
          <p:cNvSpPr/>
          <p:nvPr/>
        </p:nvSpPr>
        <p:spPr>
          <a:xfrm>
            <a:off x="575295" y="882253"/>
            <a:ext cx="1116806"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2 — BUILDING APIS</a:t>
            </a:r>
            <a:endParaRPr lang="en-US" sz="750" dirty="0"/>
          </a:p>
        </p:txBody>
      </p:sp>
      <p:sp>
        <p:nvSpPr>
          <p:cNvPr id="4" name="Text 2"/>
          <p:cNvSpPr/>
          <p:nvPr/>
        </p:nvSpPr>
        <p:spPr>
          <a:xfrm>
            <a:off x="496119" y="1132582"/>
            <a:ext cx="3607519"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Adding Another Endpoint</a:t>
            </a:r>
            <a:endParaRPr lang="en-US" sz="2400" dirty="0"/>
          </a:p>
        </p:txBody>
      </p:sp>
      <p:sp>
        <p:nvSpPr>
          <p:cNvPr id="5" name="Text 3"/>
          <p:cNvSpPr/>
          <p:nvPr/>
        </p:nvSpPr>
        <p:spPr>
          <a:xfrm>
            <a:off x="496119" y="1706166"/>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Extending your API is as simple as writing a new function and decorating it. Each endpoint is independent — its own URL, its own logic, its own response.</a:t>
            </a:r>
            <a:endParaRPr lang="en-US" sz="950" dirty="0"/>
          </a:p>
        </p:txBody>
      </p:sp>
      <p:sp>
        <p:nvSpPr>
          <p:cNvPr id="6" name="Shape 4"/>
          <p:cNvSpPr/>
          <p:nvPr/>
        </p:nvSpPr>
        <p:spPr>
          <a:xfrm>
            <a:off x="496119" y="2242617"/>
            <a:ext cx="8151763" cy="843335"/>
          </a:xfrm>
          <a:prstGeom prst="roundRect">
            <a:avLst>
              <a:gd name="adj" fmla="val 6178"/>
            </a:avLst>
          </a:prstGeom>
          <a:solidFill>
            <a:srgbClr val="F2F2F2"/>
          </a:solidFill>
          <a:ln/>
        </p:spPr>
      </p:sp>
      <p:sp>
        <p:nvSpPr>
          <p:cNvPr id="7" name="Shape 5"/>
          <p:cNvSpPr/>
          <p:nvPr/>
        </p:nvSpPr>
        <p:spPr>
          <a:xfrm>
            <a:off x="489942" y="2242617"/>
            <a:ext cx="8164116" cy="843335"/>
          </a:xfrm>
          <a:prstGeom prst="roundRect">
            <a:avLst>
              <a:gd name="adj" fmla="val 2206"/>
            </a:avLst>
          </a:prstGeom>
          <a:solidFill>
            <a:srgbClr val="F2F2F2"/>
          </a:solidFill>
          <a:ln/>
        </p:spPr>
      </p:sp>
      <p:sp>
        <p:nvSpPr>
          <p:cNvPr id="8" name="Text 6"/>
          <p:cNvSpPr/>
          <p:nvPr/>
        </p:nvSpPr>
        <p:spPr>
          <a:xfrm>
            <a:off x="644947" y="2366590"/>
            <a:ext cx="7854107" cy="5953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@app.get("/hello")</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def say_hello():</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    return {"message": "Hello"}</a:t>
            </a:r>
            <a:endParaRPr lang="en-US" sz="950" dirty="0"/>
          </a:p>
        </p:txBody>
      </p:sp>
      <p:sp>
        <p:nvSpPr>
          <p:cNvPr id="9" name="Text 7"/>
          <p:cNvSpPr/>
          <p:nvPr/>
        </p:nvSpPr>
        <p:spPr>
          <a:xfrm>
            <a:off x="496119" y="3225478"/>
            <a:ext cx="8151763" cy="406450"/>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Add this below your existing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root()</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function in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main.py</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With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--reload</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running, the server will pick up the change instantly. Visit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http://127.0.0.1:8000/hello</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to see the new response.</a:t>
            </a:r>
            <a:endParaRPr lang="en-US" sz="950" dirty="0"/>
          </a:p>
        </p:txBody>
      </p:sp>
      <p:sp>
        <p:nvSpPr>
          <p:cNvPr id="10" name="Shape 8"/>
          <p:cNvSpPr/>
          <p:nvPr/>
        </p:nvSpPr>
        <p:spPr>
          <a:xfrm>
            <a:off x="496119" y="3771454"/>
            <a:ext cx="8151763" cy="531763"/>
          </a:xfrm>
          <a:prstGeom prst="roundRect">
            <a:avLst>
              <a:gd name="adj" fmla="val 9798"/>
            </a:avLst>
          </a:prstGeom>
          <a:solidFill>
            <a:srgbClr val="B6D6FC"/>
          </a:solidFill>
          <a:ln/>
        </p:spPr>
      </p:sp>
      <p:pic>
        <p:nvPicPr>
          <p:cNvPr id="11" name="Image 0" descr="preencoded.png">    </p:cNvPr>
          <p:cNvPicPr>
            <a:picLocks noChangeAspect="1"/>
          </p:cNvPicPr>
          <p:nvPr/>
        </p:nvPicPr>
        <p:blipFill>
          <a:blip r:embed="rId1"/>
          <a:stretch>
            <a:fillRect/>
          </a:stretch>
        </p:blipFill>
        <p:spPr>
          <a:xfrm>
            <a:off x="620092" y="3956000"/>
            <a:ext cx="155004" cy="123974"/>
          </a:xfrm>
          <a:prstGeom prst="rect">
            <a:avLst/>
          </a:prstGeom>
        </p:spPr>
      </p:pic>
      <p:sp>
        <p:nvSpPr>
          <p:cNvPr id="12" name="Text 9"/>
          <p:cNvSpPr/>
          <p:nvPr/>
        </p:nvSpPr>
        <p:spPr>
          <a:xfrm>
            <a:off x="899071" y="3926384"/>
            <a:ext cx="7624837" cy="203225"/>
          </a:xfrm>
          <a:prstGeom prst="rect">
            <a:avLst/>
          </a:prstGeom>
          <a:noFill/>
          <a:ln/>
        </p:spPr>
        <p:txBody>
          <a:bodyPr wrap="non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Every new </a:t>
            </a:r>
            <a:pPr algn="l" indent="0" marL="0">
              <a:lnSpc>
                <a:spcPts val="155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@app.get()</a:t>
            </a:r>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 decorator adds a new row to FastAPI's routing table automatically.</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96119" y="1339825"/>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Over to VS Code</a:t>
            </a:r>
            <a:endParaRPr lang="en-US" sz="2400" dirty="0"/>
          </a:p>
        </p:txBody>
      </p:sp>
      <p:sp>
        <p:nvSpPr>
          <p:cNvPr id="3" name="Text 1"/>
          <p:cNvSpPr/>
          <p:nvPr/>
        </p:nvSpPr>
        <p:spPr>
          <a:xfrm>
            <a:off x="496119" y="1913409"/>
            <a:ext cx="6202263" cy="784771"/>
          </a:xfrm>
          <a:prstGeom prst="rect">
            <a:avLst/>
          </a:prstGeom>
          <a:noFill/>
          <a:ln/>
        </p:spPr>
        <p:txBody>
          <a:bodyPr wrap="none" lIns="0" tIns="0" rIns="0" bIns="0" rtlCol="0" anchor="t"/>
          <a:lstStyle/>
          <a:p>
            <a:pPr algn="l" indent="0" marL="0">
              <a:lnSpc>
                <a:spcPts val="6100"/>
              </a:lnSpc>
              <a:buNone/>
            </a:pPr>
            <a:r>
              <a:rPr lang="en-US" sz="4850" dirty="0">
                <a:solidFill>
                  <a:srgbClr val="000000"/>
                </a:solidFill>
                <a:latin typeface="Raleway" pitchFamily="34" charset="0"/>
                <a:ea typeface="Raleway" pitchFamily="34" charset="-122"/>
                <a:cs typeface="Raleway" pitchFamily="34" charset="-120"/>
              </a:rPr>
              <a:t>👨‍💻</a:t>
            </a:r>
            <a:endParaRPr lang="en-US" sz="4850" dirty="0"/>
          </a:p>
        </p:txBody>
      </p:sp>
      <p:sp>
        <p:nvSpPr>
          <p:cNvPr id="4" name="Text 2"/>
          <p:cNvSpPr/>
          <p:nvPr/>
        </p:nvSpPr>
        <p:spPr>
          <a:xfrm>
            <a:off x="496119" y="2884215"/>
            <a:ext cx="4279553" cy="534888"/>
          </a:xfrm>
          <a:prstGeom prst="rect">
            <a:avLst/>
          </a:prstGeom>
          <a:noFill/>
          <a:ln/>
        </p:spPr>
        <p:txBody>
          <a:bodyPr wrap="none" lIns="0" tIns="0" rIns="0" bIns="0" rtlCol="0" anchor="t"/>
          <a:lstStyle/>
          <a:p>
            <a:pPr algn="l" indent="0" marL="0">
              <a:lnSpc>
                <a:spcPts val="4200"/>
              </a:lnSpc>
              <a:buNone/>
            </a:pPr>
            <a:r>
              <a:rPr lang="en-US" sz="3350" dirty="0">
                <a:solidFill>
                  <a:srgbClr val="1B1B27"/>
                </a:solidFill>
                <a:latin typeface="Raleway" pitchFamily="34" charset="0"/>
                <a:ea typeface="Raleway" pitchFamily="34" charset="-122"/>
                <a:cs typeface="Raleway" pitchFamily="34" charset="-120"/>
              </a:rPr>
              <a:t>Over to VS Code</a:t>
            </a:r>
            <a:endParaRPr lang="en-US" sz="3350" dirty="0"/>
          </a:p>
        </p:txBody>
      </p:sp>
      <p:sp>
        <p:nvSpPr>
          <p:cNvPr id="5" name="Text 3"/>
          <p:cNvSpPr/>
          <p:nvPr/>
        </p:nvSpPr>
        <p:spPr>
          <a:xfrm>
            <a:off x="496119" y="3605138"/>
            <a:ext cx="8151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Create multiple endpoints and verify each one at its own URL in the browser.</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71500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5776987" y="368424"/>
            <a:ext cx="3304952" cy="4406652"/>
          </a:xfrm>
          <a:prstGeom prst="rect">
            <a:avLst/>
          </a:prstGeom>
        </p:spPr>
      </p:pic>
      <p:sp>
        <p:nvSpPr>
          <p:cNvPr id="4" name="Text 1"/>
          <p:cNvSpPr/>
          <p:nvPr/>
        </p:nvSpPr>
        <p:spPr>
          <a:xfrm>
            <a:off x="496119" y="1539627"/>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Part 3</a:t>
            </a:r>
            <a:endParaRPr lang="en-US" sz="2400" dirty="0"/>
          </a:p>
        </p:txBody>
      </p:sp>
      <p:sp>
        <p:nvSpPr>
          <p:cNvPr id="5" name="Text 2"/>
          <p:cNvSpPr/>
          <p:nvPr/>
        </p:nvSpPr>
        <p:spPr>
          <a:xfrm>
            <a:off x="496119" y="2113211"/>
            <a:ext cx="4279553" cy="534888"/>
          </a:xfrm>
          <a:prstGeom prst="rect">
            <a:avLst/>
          </a:prstGeom>
          <a:noFill/>
          <a:ln/>
        </p:spPr>
        <p:txBody>
          <a:bodyPr wrap="none" lIns="0" tIns="0" rIns="0" bIns="0" rtlCol="0" anchor="t"/>
          <a:lstStyle/>
          <a:p>
            <a:pPr algn="l" indent="0" marL="0">
              <a:lnSpc>
                <a:spcPts val="4200"/>
              </a:lnSpc>
              <a:buNone/>
            </a:pPr>
            <a:r>
              <a:rPr lang="en-US" sz="3350" dirty="0">
                <a:solidFill>
                  <a:srgbClr val="1B1B27"/>
                </a:solidFill>
                <a:latin typeface="Raleway" pitchFamily="34" charset="0"/>
                <a:ea typeface="Raleway" pitchFamily="34" charset="-122"/>
                <a:cs typeface="Raleway" pitchFamily="34" charset="-120"/>
              </a:rPr>
              <a:t>Designing Endpoints</a:t>
            </a:r>
            <a:endParaRPr lang="en-US" sz="3350" dirty="0"/>
          </a:p>
        </p:txBody>
      </p:sp>
      <p:sp>
        <p:nvSpPr>
          <p:cNvPr id="6" name="Text 3"/>
          <p:cNvSpPr/>
          <p:nvPr/>
        </p:nvSpPr>
        <p:spPr>
          <a:xfrm>
            <a:off x="496119" y="2834134"/>
            <a:ext cx="4722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Path parameters, query parameters, POST requests, and request bodies — the building blocks of real API design.</a:t>
            </a:r>
            <a:endParaRPr lang="en-US" sz="950" dirty="0"/>
          </a:p>
        </p:txBody>
      </p:sp>
      <p:sp>
        <p:nvSpPr>
          <p:cNvPr id="7" name="Shape 4"/>
          <p:cNvSpPr/>
          <p:nvPr/>
        </p:nvSpPr>
        <p:spPr>
          <a:xfrm>
            <a:off x="496119" y="3370585"/>
            <a:ext cx="692348" cy="233214"/>
          </a:xfrm>
          <a:prstGeom prst="roundRect">
            <a:avLst>
              <a:gd name="adj" fmla="val 17872"/>
            </a:avLst>
          </a:prstGeom>
          <a:solidFill>
            <a:srgbClr val="E1E1EA"/>
          </a:solidFill>
          <a:ln/>
        </p:spPr>
      </p:sp>
      <p:sp>
        <p:nvSpPr>
          <p:cNvPr id="8" name="Text 5"/>
          <p:cNvSpPr/>
          <p:nvPr/>
        </p:nvSpPr>
        <p:spPr>
          <a:xfrm>
            <a:off x="570533" y="3407792"/>
            <a:ext cx="543520"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PART 3 OF 6</a:t>
            </a:r>
            <a:endParaRPr lang="en-US" sz="7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96119" y="959421"/>
            <a:ext cx="1672828" cy="242739"/>
          </a:xfrm>
          <a:prstGeom prst="roundRect">
            <a:avLst>
              <a:gd name="adj" fmla="val 17171"/>
            </a:avLst>
          </a:prstGeom>
          <a:noFill/>
          <a:ln w="4763">
            <a:solidFill>
              <a:srgbClr val="1B1B27"/>
            </a:solidFill>
            <a:prstDash val="solid"/>
          </a:ln>
        </p:spPr>
      </p:sp>
      <p:sp>
        <p:nvSpPr>
          <p:cNvPr id="3" name="Text 1"/>
          <p:cNvSpPr/>
          <p:nvPr/>
        </p:nvSpPr>
        <p:spPr>
          <a:xfrm>
            <a:off x="575295" y="1001390"/>
            <a:ext cx="1514475"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3 — DESIGNING ENDPOINTS</a:t>
            </a:r>
            <a:endParaRPr lang="en-US" sz="750" dirty="0"/>
          </a:p>
        </p:txBody>
      </p:sp>
      <p:sp>
        <p:nvSpPr>
          <p:cNvPr id="4" name="Text 2"/>
          <p:cNvSpPr/>
          <p:nvPr/>
        </p:nvSpPr>
        <p:spPr>
          <a:xfrm>
            <a:off x="496119" y="1251719"/>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Designing Real APIs</a:t>
            </a:r>
            <a:endParaRPr lang="en-US" sz="2400" dirty="0"/>
          </a:p>
        </p:txBody>
      </p:sp>
      <p:sp>
        <p:nvSpPr>
          <p:cNvPr id="5" name="Text 3"/>
          <p:cNvSpPr/>
          <p:nvPr/>
        </p:nvSpPr>
        <p:spPr>
          <a:xfrm>
            <a:off x="496119" y="1825303"/>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Real-world APIs need more than just static routes. They need to accept dynamic values in URLs, support filtering via query parameters, and receive structured data from clients through POST requests.</a:t>
            </a:r>
            <a:endParaRPr lang="en-US" sz="950" dirty="0"/>
          </a:p>
        </p:txBody>
      </p:sp>
      <p:sp>
        <p:nvSpPr>
          <p:cNvPr id="6" name="Text 4"/>
          <p:cNvSpPr/>
          <p:nvPr/>
        </p:nvSpPr>
        <p:spPr>
          <a:xfrm>
            <a:off x="496119" y="2361754"/>
            <a:ext cx="248022" cy="155004"/>
          </a:xfrm>
          <a:prstGeom prst="rect">
            <a:avLst/>
          </a:prstGeom>
          <a:noFill/>
          <a:ln/>
        </p:spPr>
        <p:txBody>
          <a:bodyPr wrap="none" lIns="0" tIns="0" rIns="0" bIns="0" rtlCol="0" anchor="ctr"/>
          <a:lstStyle/>
          <a:p>
            <a:pPr algn="l" indent="0" marL="0">
              <a:lnSpc>
                <a:spcPts val="1550"/>
              </a:lnSpc>
              <a:buNone/>
            </a:pPr>
            <a:r>
              <a:rPr lang="en-US" sz="950" dirty="0">
                <a:solidFill>
                  <a:srgbClr val="3C3939"/>
                </a:solidFill>
                <a:latin typeface="Raleway Light" pitchFamily="34" charset="0"/>
                <a:ea typeface="Raleway Light" pitchFamily="34" charset="-122"/>
                <a:cs typeface="Raleway Light" pitchFamily="34" charset="-120"/>
              </a:rPr>
              <a:t>01</a:t>
            </a:r>
            <a:endParaRPr lang="en-US" sz="950" dirty="0"/>
          </a:p>
        </p:txBody>
      </p:sp>
      <p:sp>
        <p:nvSpPr>
          <p:cNvPr id="7" name="Shape 5"/>
          <p:cNvSpPr/>
          <p:nvPr/>
        </p:nvSpPr>
        <p:spPr>
          <a:xfrm>
            <a:off x="496119" y="2558207"/>
            <a:ext cx="4013895" cy="14288"/>
          </a:xfrm>
          <a:prstGeom prst="rect">
            <a:avLst/>
          </a:prstGeom>
          <a:solidFill>
            <a:srgbClr val="1B1B27"/>
          </a:solidFill>
          <a:ln/>
        </p:spPr>
      </p:sp>
      <p:sp>
        <p:nvSpPr>
          <p:cNvPr id="8" name="Text 6"/>
          <p:cNvSpPr/>
          <p:nvPr/>
        </p:nvSpPr>
        <p:spPr>
          <a:xfrm>
            <a:off x="496119" y="2648769"/>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Path Parameters</a:t>
            </a:r>
            <a:endParaRPr lang="en-US" sz="1200" dirty="0"/>
          </a:p>
        </p:txBody>
      </p:sp>
      <p:sp>
        <p:nvSpPr>
          <p:cNvPr id="9" name="Text 7"/>
          <p:cNvSpPr/>
          <p:nvPr/>
        </p:nvSpPr>
        <p:spPr>
          <a:xfrm>
            <a:off x="496119" y="2917031"/>
            <a:ext cx="4013895"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Capture dynamic values directly in the URL — e.g., an item ID</a:t>
            </a:r>
            <a:endParaRPr lang="en-US" sz="950" dirty="0"/>
          </a:p>
        </p:txBody>
      </p:sp>
      <p:sp>
        <p:nvSpPr>
          <p:cNvPr id="10" name="Text 8"/>
          <p:cNvSpPr/>
          <p:nvPr/>
        </p:nvSpPr>
        <p:spPr>
          <a:xfrm>
            <a:off x="4633987" y="2361754"/>
            <a:ext cx="248022" cy="155004"/>
          </a:xfrm>
          <a:prstGeom prst="rect">
            <a:avLst/>
          </a:prstGeom>
          <a:noFill/>
          <a:ln/>
        </p:spPr>
        <p:txBody>
          <a:bodyPr wrap="none" lIns="0" tIns="0" rIns="0" bIns="0" rtlCol="0" anchor="ctr"/>
          <a:lstStyle/>
          <a:p>
            <a:pPr algn="l" indent="0" marL="0">
              <a:lnSpc>
                <a:spcPts val="1550"/>
              </a:lnSpc>
              <a:buNone/>
            </a:pPr>
            <a:r>
              <a:rPr lang="en-US" sz="950" dirty="0">
                <a:solidFill>
                  <a:srgbClr val="3C3939"/>
                </a:solidFill>
                <a:latin typeface="Raleway Light" pitchFamily="34" charset="0"/>
                <a:ea typeface="Raleway Light" pitchFamily="34" charset="-122"/>
                <a:cs typeface="Raleway Light" pitchFamily="34" charset="-120"/>
              </a:rPr>
              <a:t>02</a:t>
            </a:r>
            <a:endParaRPr lang="en-US" sz="950" dirty="0"/>
          </a:p>
        </p:txBody>
      </p:sp>
      <p:sp>
        <p:nvSpPr>
          <p:cNvPr id="11" name="Shape 9"/>
          <p:cNvSpPr/>
          <p:nvPr/>
        </p:nvSpPr>
        <p:spPr>
          <a:xfrm>
            <a:off x="4633987" y="2558207"/>
            <a:ext cx="4013895" cy="14288"/>
          </a:xfrm>
          <a:prstGeom prst="rect">
            <a:avLst/>
          </a:prstGeom>
          <a:solidFill>
            <a:srgbClr val="1B1B27"/>
          </a:solidFill>
          <a:ln/>
        </p:spPr>
      </p:sp>
      <p:sp>
        <p:nvSpPr>
          <p:cNvPr id="12" name="Text 10"/>
          <p:cNvSpPr/>
          <p:nvPr/>
        </p:nvSpPr>
        <p:spPr>
          <a:xfrm>
            <a:off x="4633987" y="2648769"/>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Query Parameters</a:t>
            </a:r>
            <a:endParaRPr lang="en-US" sz="1200" dirty="0"/>
          </a:p>
        </p:txBody>
      </p:sp>
      <p:sp>
        <p:nvSpPr>
          <p:cNvPr id="13" name="Text 11"/>
          <p:cNvSpPr/>
          <p:nvPr/>
        </p:nvSpPr>
        <p:spPr>
          <a:xfrm>
            <a:off x="4633987" y="2917031"/>
            <a:ext cx="4013895"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Accept optional values for filtering and searching — e.g.,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?name=alex</a:t>
            </a:r>
            <a:endParaRPr lang="en-US" sz="950" dirty="0"/>
          </a:p>
        </p:txBody>
      </p:sp>
      <p:sp>
        <p:nvSpPr>
          <p:cNvPr id="14" name="Text 12"/>
          <p:cNvSpPr/>
          <p:nvPr/>
        </p:nvSpPr>
        <p:spPr>
          <a:xfrm>
            <a:off x="496119" y="3337247"/>
            <a:ext cx="248022" cy="155004"/>
          </a:xfrm>
          <a:prstGeom prst="rect">
            <a:avLst/>
          </a:prstGeom>
          <a:noFill/>
          <a:ln/>
        </p:spPr>
        <p:txBody>
          <a:bodyPr wrap="none" lIns="0" tIns="0" rIns="0" bIns="0" rtlCol="0" anchor="ctr"/>
          <a:lstStyle/>
          <a:p>
            <a:pPr algn="l" indent="0" marL="0">
              <a:lnSpc>
                <a:spcPts val="1550"/>
              </a:lnSpc>
              <a:buNone/>
            </a:pPr>
            <a:r>
              <a:rPr lang="en-US" sz="950" dirty="0">
                <a:solidFill>
                  <a:srgbClr val="3C3939"/>
                </a:solidFill>
                <a:latin typeface="Raleway Light" pitchFamily="34" charset="0"/>
                <a:ea typeface="Raleway Light" pitchFamily="34" charset="-122"/>
                <a:cs typeface="Raleway Light" pitchFamily="34" charset="-120"/>
              </a:rPr>
              <a:t>03</a:t>
            </a:r>
            <a:endParaRPr lang="en-US" sz="950" dirty="0"/>
          </a:p>
        </p:txBody>
      </p:sp>
      <p:sp>
        <p:nvSpPr>
          <p:cNvPr id="15" name="Shape 13"/>
          <p:cNvSpPr/>
          <p:nvPr/>
        </p:nvSpPr>
        <p:spPr>
          <a:xfrm>
            <a:off x="496119" y="3533701"/>
            <a:ext cx="4013895" cy="14288"/>
          </a:xfrm>
          <a:prstGeom prst="rect">
            <a:avLst/>
          </a:prstGeom>
          <a:solidFill>
            <a:srgbClr val="1B1B27"/>
          </a:solidFill>
          <a:ln/>
        </p:spPr>
      </p:sp>
      <p:sp>
        <p:nvSpPr>
          <p:cNvPr id="16" name="Text 14"/>
          <p:cNvSpPr/>
          <p:nvPr/>
        </p:nvSpPr>
        <p:spPr>
          <a:xfrm>
            <a:off x="496119" y="3624263"/>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POST Requests</a:t>
            </a:r>
            <a:endParaRPr lang="en-US" sz="1200" dirty="0"/>
          </a:p>
        </p:txBody>
      </p:sp>
      <p:sp>
        <p:nvSpPr>
          <p:cNvPr id="17" name="Text 15"/>
          <p:cNvSpPr/>
          <p:nvPr/>
        </p:nvSpPr>
        <p:spPr>
          <a:xfrm>
            <a:off x="496119" y="3892525"/>
            <a:ext cx="4013895"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Receive structured JSON data sent in the request body</a:t>
            </a:r>
            <a:endParaRPr lang="en-US" sz="950" dirty="0"/>
          </a:p>
        </p:txBody>
      </p:sp>
      <p:sp>
        <p:nvSpPr>
          <p:cNvPr id="18" name="Text 16"/>
          <p:cNvSpPr/>
          <p:nvPr/>
        </p:nvSpPr>
        <p:spPr>
          <a:xfrm>
            <a:off x="4633987" y="3337247"/>
            <a:ext cx="248022" cy="155004"/>
          </a:xfrm>
          <a:prstGeom prst="rect">
            <a:avLst/>
          </a:prstGeom>
          <a:noFill/>
          <a:ln/>
        </p:spPr>
        <p:txBody>
          <a:bodyPr wrap="none" lIns="0" tIns="0" rIns="0" bIns="0" rtlCol="0" anchor="ctr"/>
          <a:lstStyle/>
          <a:p>
            <a:pPr algn="l" indent="0" marL="0">
              <a:lnSpc>
                <a:spcPts val="1550"/>
              </a:lnSpc>
              <a:buNone/>
            </a:pPr>
            <a:r>
              <a:rPr lang="en-US" sz="950" dirty="0">
                <a:solidFill>
                  <a:srgbClr val="3C3939"/>
                </a:solidFill>
                <a:latin typeface="Raleway Light" pitchFamily="34" charset="0"/>
                <a:ea typeface="Raleway Light" pitchFamily="34" charset="-122"/>
                <a:cs typeface="Raleway Light" pitchFamily="34" charset="-120"/>
              </a:rPr>
              <a:t>04</a:t>
            </a:r>
            <a:endParaRPr lang="en-US" sz="950" dirty="0"/>
          </a:p>
        </p:txBody>
      </p:sp>
      <p:sp>
        <p:nvSpPr>
          <p:cNvPr id="19" name="Shape 17"/>
          <p:cNvSpPr/>
          <p:nvPr/>
        </p:nvSpPr>
        <p:spPr>
          <a:xfrm>
            <a:off x="4633987" y="3533701"/>
            <a:ext cx="4013895" cy="14288"/>
          </a:xfrm>
          <a:prstGeom prst="rect">
            <a:avLst/>
          </a:prstGeom>
          <a:solidFill>
            <a:srgbClr val="1B1B27"/>
          </a:solidFill>
          <a:ln/>
        </p:spPr>
      </p:sp>
      <p:sp>
        <p:nvSpPr>
          <p:cNvPr id="20" name="Text 18"/>
          <p:cNvSpPr/>
          <p:nvPr/>
        </p:nvSpPr>
        <p:spPr>
          <a:xfrm>
            <a:off x="4633987" y="3624263"/>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Request Bodies</a:t>
            </a:r>
            <a:endParaRPr lang="en-US" sz="1200" dirty="0"/>
          </a:p>
        </p:txBody>
      </p:sp>
      <p:sp>
        <p:nvSpPr>
          <p:cNvPr id="21" name="Text 19"/>
          <p:cNvSpPr/>
          <p:nvPr/>
        </p:nvSpPr>
        <p:spPr>
          <a:xfrm>
            <a:off x="4633987" y="3892525"/>
            <a:ext cx="4013895"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Define and validate the shape of incoming data using Pydantic models</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96119" y="847427"/>
            <a:ext cx="1672828" cy="242739"/>
          </a:xfrm>
          <a:prstGeom prst="roundRect">
            <a:avLst>
              <a:gd name="adj" fmla="val 17171"/>
            </a:avLst>
          </a:prstGeom>
          <a:noFill/>
          <a:ln w="4763">
            <a:solidFill>
              <a:srgbClr val="1B1B27"/>
            </a:solidFill>
            <a:prstDash val="solid"/>
          </a:ln>
        </p:spPr>
      </p:sp>
      <p:sp>
        <p:nvSpPr>
          <p:cNvPr id="3" name="Text 1"/>
          <p:cNvSpPr/>
          <p:nvPr/>
        </p:nvSpPr>
        <p:spPr>
          <a:xfrm>
            <a:off x="575295" y="889397"/>
            <a:ext cx="1514475"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3 — DESIGNING ENDPOINTS</a:t>
            </a:r>
            <a:endParaRPr lang="en-US" sz="750" dirty="0"/>
          </a:p>
        </p:txBody>
      </p:sp>
      <p:sp>
        <p:nvSpPr>
          <p:cNvPr id="4" name="Text 2"/>
          <p:cNvSpPr/>
          <p:nvPr/>
        </p:nvSpPr>
        <p:spPr>
          <a:xfrm>
            <a:off x="496119" y="1139726"/>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Path Parameters</a:t>
            </a:r>
            <a:endParaRPr lang="en-US" sz="2400" dirty="0"/>
          </a:p>
        </p:txBody>
      </p:sp>
      <p:sp>
        <p:nvSpPr>
          <p:cNvPr id="5" name="Text 3"/>
          <p:cNvSpPr/>
          <p:nvPr/>
        </p:nvSpPr>
        <p:spPr>
          <a:xfrm>
            <a:off x="496119" y="1713309"/>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Path parameters allow you to capture dynamic values directly from the URL. Instead of creating a separate endpoint for every item, you define one endpoint with a variable placeholder — FastAPI extracts the value and passes it to your function.</a:t>
            </a:r>
            <a:endParaRPr lang="en-US" sz="950" dirty="0"/>
          </a:p>
        </p:txBody>
      </p:sp>
      <p:sp>
        <p:nvSpPr>
          <p:cNvPr id="6" name="Shape 4"/>
          <p:cNvSpPr/>
          <p:nvPr/>
        </p:nvSpPr>
        <p:spPr>
          <a:xfrm>
            <a:off x="496119" y="2249760"/>
            <a:ext cx="8151763" cy="843335"/>
          </a:xfrm>
          <a:prstGeom prst="roundRect">
            <a:avLst>
              <a:gd name="adj" fmla="val 6178"/>
            </a:avLst>
          </a:prstGeom>
          <a:solidFill>
            <a:srgbClr val="F2F2F2"/>
          </a:solidFill>
          <a:ln/>
        </p:spPr>
      </p:sp>
      <p:sp>
        <p:nvSpPr>
          <p:cNvPr id="7" name="Shape 5"/>
          <p:cNvSpPr/>
          <p:nvPr/>
        </p:nvSpPr>
        <p:spPr>
          <a:xfrm>
            <a:off x="489942" y="2249760"/>
            <a:ext cx="8164116" cy="843335"/>
          </a:xfrm>
          <a:prstGeom prst="roundRect">
            <a:avLst>
              <a:gd name="adj" fmla="val 2206"/>
            </a:avLst>
          </a:prstGeom>
          <a:solidFill>
            <a:srgbClr val="F2F2F2"/>
          </a:solidFill>
          <a:ln/>
        </p:spPr>
      </p:sp>
      <p:sp>
        <p:nvSpPr>
          <p:cNvPr id="8" name="Text 6"/>
          <p:cNvSpPr/>
          <p:nvPr/>
        </p:nvSpPr>
        <p:spPr>
          <a:xfrm>
            <a:off x="644947" y="2373734"/>
            <a:ext cx="7854107" cy="5953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/items/10</a:t>
            </a:r>
            <a:endParaRPr lang="en-US" sz="950" dirty="0"/>
          </a:p>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/items/42</a:t>
            </a:r>
            <a:endParaRPr lang="en-US" sz="950" dirty="0"/>
          </a:p>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/items/999</a:t>
            </a:r>
            <a:endParaRPr lang="en-US" sz="950" dirty="0"/>
          </a:p>
        </p:txBody>
      </p:sp>
      <p:sp>
        <p:nvSpPr>
          <p:cNvPr id="9" name="Text 7"/>
          <p:cNvSpPr/>
          <p:nvPr/>
        </p:nvSpPr>
        <p:spPr>
          <a:xfrm>
            <a:off x="496119" y="3232621"/>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All three URLs above are handled by a single endpoint. The number in the URL is the path parameter — it changes with every request, and your backend uses it to determine which item to work with.</a:t>
            </a:r>
            <a:endParaRPr lang="en-US" sz="950" dirty="0"/>
          </a:p>
        </p:txBody>
      </p:sp>
      <p:sp>
        <p:nvSpPr>
          <p:cNvPr id="10" name="Shape 8"/>
          <p:cNvSpPr/>
          <p:nvPr/>
        </p:nvSpPr>
        <p:spPr>
          <a:xfrm>
            <a:off x="496119" y="3769072"/>
            <a:ext cx="8151763" cy="527000"/>
          </a:xfrm>
          <a:prstGeom prst="roundRect">
            <a:avLst>
              <a:gd name="adj" fmla="val 9886"/>
            </a:avLst>
          </a:prstGeom>
          <a:solidFill>
            <a:srgbClr val="B6D6FC"/>
          </a:solidFill>
          <a:ln/>
        </p:spPr>
      </p:sp>
      <p:pic>
        <p:nvPicPr>
          <p:cNvPr id="11" name="Image 0" descr="preencoded.png">    </p:cNvPr>
          <p:cNvPicPr>
            <a:picLocks noChangeAspect="1"/>
          </p:cNvPicPr>
          <p:nvPr/>
        </p:nvPicPr>
        <p:blipFill>
          <a:blip r:embed="rId1"/>
          <a:stretch>
            <a:fillRect/>
          </a:stretch>
        </p:blipFill>
        <p:spPr>
          <a:xfrm>
            <a:off x="620092" y="3953619"/>
            <a:ext cx="155004" cy="123974"/>
          </a:xfrm>
          <a:prstGeom prst="rect">
            <a:avLst/>
          </a:prstGeom>
        </p:spPr>
      </p:pic>
      <p:sp>
        <p:nvSpPr>
          <p:cNvPr id="12" name="Text 9"/>
          <p:cNvSpPr/>
          <p:nvPr/>
        </p:nvSpPr>
        <p:spPr>
          <a:xfrm>
            <a:off x="899071" y="3924002"/>
            <a:ext cx="7624837" cy="198462"/>
          </a:xfrm>
          <a:prstGeom prst="rect">
            <a:avLst/>
          </a:prstGeom>
          <a:noFill/>
          <a:ln/>
        </p:spPr>
        <p:txBody>
          <a:bodyPr wrap="non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Path parameters are ideal for identifying a specific resource — a user, an order, a product.</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96119" y="1041797"/>
            <a:ext cx="1672828" cy="242739"/>
          </a:xfrm>
          <a:prstGeom prst="roundRect">
            <a:avLst>
              <a:gd name="adj" fmla="val 17171"/>
            </a:avLst>
          </a:prstGeom>
          <a:noFill/>
          <a:ln w="4763">
            <a:solidFill>
              <a:srgbClr val="1B1B27"/>
            </a:solidFill>
            <a:prstDash val="solid"/>
          </a:ln>
        </p:spPr>
      </p:sp>
      <p:sp>
        <p:nvSpPr>
          <p:cNvPr id="3" name="Text 1"/>
          <p:cNvSpPr/>
          <p:nvPr/>
        </p:nvSpPr>
        <p:spPr>
          <a:xfrm>
            <a:off x="575295" y="1083766"/>
            <a:ext cx="1514475"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3 — DESIGNING ENDPOINTS</a:t>
            </a:r>
            <a:endParaRPr lang="en-US" sz="750" dirty="0"/>
          </a:p>
        </p:txBody>
      </p:sp>
      <p:sp>
        <p:nvSpPr>
          <p:cNvPr id="4" name="Text 2"/>
          <p:cNvSpPr/>
          <p:nvPr/>
        </p:nvSpPr>
        <p:spPr>
          <a:xfrm>
            <a:off x="496119" y="1334095"/>
            <a:ext cx="3544267"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Path Parameter Example</a:t>
            </a:r>
            <a:endParaRPr lang="en-US" sz="2400" dirty="0"/>
          </a:p>
        </p:txBody>
      </p:sp>
      <p:sp>
        <p:nvSpPr>
          <p:cNvPr id="5" name="Text 3"/>
          <p:cNvSpPr/>
          <p:nvPr/>
        </p:nvSpPr>
        <p:spPr>
          <a:xfrm>
            <a:off x="496119" y="1907679"/>
            <a:ext cx="8151763" cy="4016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curly brace syntax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{item_id}</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in the route tells FastAPI this is a dynamic segment. The matching parameter in the function signature receives the value, and FastAPI handles the type conversion automatically.</a:t>
            </a:r>
            <a:endParaRPr lang="en-US" sz="950" dirty="0"/>
          </a:p>
        </p:txBody>
      </p:sp>
      <p:sp>
        <p:nvSpPr>
          <p:cNvPr id="6" name="Shape 4"/>
          <p:cNvSpPr/>
          <p:nvPr/>
        </p:nvSpPr>
        <p:spPr>
          <a:xfrm>
            <a:off x="496119" y="2448892"/>
            <a:ext cx="8151763" cy="843335"/>
          </a:xfrm>
          <a:prstGeom prst="roundRect">
            <a:avLst>
              <a:gd name="adj" fmla="val 6178"/>
            </a:avLst>
          </a:prstGeom>
          <a:solidFill>
            <a:srgbClr val="F2F2F2"/>
          </a:solidFill>
          <a:ln/>
        </p:spPr>
      </p:sp>
      <p:sp>
        <p:nvSpPr>
          <p:cNvPr id="7" name="Shape 5"/>
          <p:cNvSpPr/>
          <p:nvPr/>
        </p:nvSpPr>
        <p:spPr>
          <a:xfrm>
            <a:off x="489942" y="2448892"/>
            <a:ext cx="8164116" cy="843335"/>
          </a:xfrm>
          <a:prstGeom prst="roundRect">
            <a:avLst>
              <a:gd name="adj" fmla="val 2206"/>
            </a:avLst>
          </a:prstGeom>
          <a:solidFill>
            <a:srgbClr val="F2F2F2"/>
          </a:solidFill>
          <a:ln/>
        </p:spPr>
      </p:sp>
      <p:sp>
        <p:nvSpPr>
          <p:cNvPr id="8" name="Text 6"/>
          <p:cNvSpPr/>
          <p:nvPr/>
        </p:nvSpPr>
        <p:spPr>
          <a:xfrm>
            <a:off x="644947" y="2572866"/>
            <a:ext cx="7854107" cy="595387"/>
          </a:xfrm>
          <a:prstGeom prst="rect">
            <a:avLst/>
          </a:prstGeom>
          <a:noFill/>
          <a:ln/>
        </p:spPr>
        <p:txBody>
          <a:bodyPr wrap="square" lIns="0" tIns="0" rIns="0" bIns="0" rtlCol="0" anchor="t"/>
          <a:lstStyle/>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@app.get("/items/{item_id}")</a:t>
            </a:r>
            <a:endParaRPr lang="en-US" sz="950" dirty="0"/>
          </a:p>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def get_item(item_id: int):</a:t>
            </a:r>
            <a:endParaRPr lang="en-US" sz="950" dirty="0"/>
          </a:p>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    return {"item_id": item_id}</a:t>
            </a:r>
            <a:endParaRPr lang="en-US" sz="950" dirty="0"/>
          </a:p>
        </p:txBody>
      </p:sp>
      <p:sp>
        <p:nvSpPr>
          <p:cNvPr id="9" name="Shape 7"/>
          <p:cNvSpPr/>
          <p:nvPr/>
        </p:nvSpPr>
        <p:spPr>
          <a:xfrm>
            <a:off x="481831" y="3417466"/>
            <a:ext cx="28575" cy="698525"/>
          </a:xfrm>
          <a:prstGeom prst="rect">
            <a:avLst/>
          </a:prstGeom>
          <a:solidFill>
            <a:srgbClr val="1B1B27"/>
          </a:solidFill>
          <a:ln/>
        </p:spPr>
      </p:sp>
      <p:sp>
        <p:nvSpPr>
          <p:cNvPr id="10" name="Text 8"/>
          <p:cNvSpPr/>
          <p:nvPr/>
        </p:nvSpPr>
        <p:spPr>
          <a:xfrm>
            <a:off x="648667" y="3431753"/>
            <a:ext cx="1550566" cy="198611"/>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highlight>
                  <a:srgbClr val="F2F2F2"/>
                </a:highlight>
                <a:latin typeface="Consolas" pitchFamily="34" charset="0"/>
                <a:ea typeface="Consolas" pitchFamily="34" charset="-122"/>
                <a:cs typeface="Consolas" pitchFamily="34" charset="-120"/>
              </a:rPr>
              <a:t>{item_id}</a:t>
            </a:r>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 in the URL</a:t>
            </a:r>
            <a:endParaRPr lang="en-US" sz="1200" dirty="0"/>
          </a:p>
        </p:txBody>
      </p:sp>
      <p:sp>
        <p:nvSpPr>
          <p:cNvPr id="11" name="Text 9"/>
          <p:cNvSpPr/>
          <p:nvPr/>
        </p:nvSpPr>
        <p:spPr>
          <a:xfrm>
            <a:off x="648667" y="3704779"/>
            <a:ext cx="384579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Declares a variable segment — any value at this position is captured</a:t>
            </a:r>
            <a:endParaRPr lang="en-US" sz="950" dirty="0"/>
          </a:p>
        </p:txBody>
      </p:sp>
      <p:sp>
        <p:nvSpPr>
          <p:cNvPr id="12" name="Shape 10"/>
          <p:cNvSpPr/>
          <p:nvPr/>
        </p:nvSpPr>
        <p:spPr>
          <a:xfrm>
            <a:off x="4635178" y="3417466"/>
            <a:ext cx="28575" cy="698525"/>
          </a:xfrm>
          <a:prstGeom prst="rect">
            <a:avLst/>
          </a:prstGeom>
          <a:solidFill>
            <a:srgbClr val="1B1B27"/>
          </a:solidFill>
          <a:ln/>
        </p:spPr>
      </p:sp>
      <p:sp>
        <p:nvSpPr>
          <p:cNvPr id="13" name="Text 11"/>
          <p:cNvSpPr/>
          <p:nvPr/>
        </p:nvSpPr>
        <p:spPr>
          <a:xfrm>
            <a:off x="4802014" y="3431753"/>
            <a:ext cx="1860352" cy="198611"/>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highlight>
                  <a:srgbClr val="F2F2F2"/>
                </a:highlight>
                <a:latin typeface="Consolas" pitchFamily="34" charset="0"/>
                <a:ea typeface="Consolas" pitchFamily="34" charset="-122"/>
                <a:cs typeface="Consolas" pitchFamily="34" charset="-120"/>
              </a:rPr>
              <a:t>item_id: int</a:t>
            </a:r>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 in the function</a:t>
            </a:r>
            <a:endParaRPr lang="en-US" sz="1200" dirty="0"/>
          </a:p>
        </p:txBody>
      </p:sp>
      <p:sp>
        <p:nvSpPr>
          <p:cNvPr id="14" name="Text 12"/>
          <p:cNvSpPr/>
          <p:nvPr/>
        </p:nvSpPr>
        <p:spPr>
          <a:xfrm>
            <a:off x="4802014" y="3704779"/>
            <a:ext cx="3845868"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FastAPI extracts and converts the value — if it's not an integer, a 422 error is returned automatically</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96119" y="892299"/>
            <a:ext cx="1672828" cy="242739"/>
          </a:xfrm>
          <a:prstGeom prst="roundRect">
            <a:avLst>
              <a:gd name="adj" fmla="val 17171"/>
            </a:avLst>
          </a:prstGeom>
          <a:noFill/>
          <a:ln w="4763">
            <a:solidFill>
              <a:srgbClr val="1B1B27"/>
            </a:solidFill>
            <a:prstDash val="solid"/>
          </a:ln>
        </p:spPr>
      </p:sp>
      <p:sp>
        <p:nvSpPr>
          <p:cNvPr id="3" name="Text 1"/>
          <p:cNvSpPr/>
          <p:nvPr/>
        </p:nvSpPr>
        <p:spPr>
          <a:xfrm>
            <a:off x="575295" y="934269"/>
            <a:ext cx="1514475"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3 — DESIGNING ENDPOINTS</a:t>
            </a:r>
            <a:endParaRPr lang="en-US" sz="750" dirty="0"/>
          </a:p>
        </p:txBody>
      </p:sp>
      <p:sp>
        <p:nvSpPr>
          <p:cNvPr id="4" name="Text 2"/>
          <p:cNvSpPr/>
          <p:nvPr/>
        </p:nvSpPr>
        <p:spPr>
          <a:xfrm>
            <a:off x="496119" y="1184597"/>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Query Parameters</a:t>
            </a:r>
            <a:endParaRPr lang="en-US" sz="2400" dirty="0"/>
          </a:p>
        </p:txBody>
      </p:sp>
      <p:sp>
        <p:nvSpPr>
          <p:cNvPr id="5" name="Text 3"/>
          <p:cNvSpPr/>
          <p:nvPr/>
        </p:nvSpPr>
        <p:spPr>
          <a:xfrm>
            <a:off x="496119" y="1758181"/>
            <a:ext cx="8151763" cy="4016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Query parameters appear after the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in a URL. They are optional values used for filtering, sorting, or searching — without changing the route itself. They are ideal when the client needs to narrow down results.</a:t>
            </a:r>
            <a:endParaRPr lang="en-US" sz="950" dirty="0"/>
          </a:p>
        </p:txBody>
      </p:sp>
      <p:sp>
        <p:nvSpPr>
          <p:cNvPr id="6" name="Shape 4"/>
          <p:cNvSpPr/>
          <p:nvPr/>
        </p:nvSpPr>
        <p:spPr>
          <a:xfrm>
            <a:off x="496119" y="2299395"/>
            <a:ext cx="8151763" cy="644872"/>
          </a:xfrm>
          <a:prstGeom prst="roundRect">
            <a:avLst>
              <a:gd name="adj" fmla="val 8079"/>
            </a:avLst>
          </a:prstGeom>
          <a:solidFill>
            <a:srgbClr val="F2F2F2"/>
          </a:solidFill>
          <a:ln/>
        </p:spPr>
      </p:sp>
      <p:sp>
        <p:nvSpPr>
          <p:cNvPr id="7" name="Shape 5"/>
          <p:cNvSpPr/>
          <p:nvPr/>
        </p:nvSpPr>
        <p:spPr>
          <a:xfrm>
            <a:off x="489942" y="2299395"/>
            <a:ext cx="8164116" cy="644872"/>
          </a:xfrm>
          <a:prstGeom prst="roundRect">
            <a:avLst>
              <a:gd name="adj" fmla="val 2885"/>
            </a:avLst>
          </a:prstGeom>
          <a:solidFill>
            <a:srgbClr val="F2F2F2"/>
          </a:solidFill>
          <a:ln/>
        </p:spPr>
      </p:sp>
      <p:sp>
        <p:nvSpPr>
          <p:cNvPr id="8" name="Text 6"/>
          <p:cNvSpPr/>
          <p:nvPr/>
        </p:nvSpPr>
        <p:spPr>
          <a:xfrm>
            <a:off x="644947" y="2423368"/>
            <a:ext cx="7854107"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/search?name=alex</a:t>
            </a:r>
            <a:endParaRPr lang="en-US" sz="950" dirty="0"/>
          </a:p>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/products?category=electronics&amp;min_price=100</a:t>
            </a:r>
            <a:endParaRPr lang="en-US" sz="950" dirty="0"/>
          </a:p>
        </p:txBody>
      </p:sp>
      <p:sp>
        <p:nvSpPr>
          <p:cNvPr id="9" name="Shape 7"/>
          <p:cNvSpPr/>
          <p:nvPr/>
        </p:nvSpPr>
        <p:spPr>
          <a:xfrm>
            <a:off x="406822" y="3083793"/>
            <a:ext cx="4103191" cy="1167333"/>
          </a:xfrm>
          <a:prstGeom prst="roundRect">
            <a:avLst>
              <a:gd name="adj" fmla="val 7651"/>
            </a:avLst>
          </a:prstGeom>
          <a:solidFill>
            <a:srgbClr val="1B1B27">
              <a:alpha val="95000"/>
            </a:srgbClr>
          </a:solidFill>
          <a:ln/>
        </p:spPr>
      </p:sp>
      <p:sp>
        <p:nvSpPr>
          <p:cNvPr id="10" name="Text 8"/>
          <p:cNvSpPr/>
          <p:nvPr/>
        </p:nvSpPr>
        <p:spPr>
          <a:xfrm>
            <a:off x="530796" y="3207767"/>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FFFFFF"/>
                </a:solidFill>
                <a:latin typeface="Raleway" pitchFamily="34" charset="0"/>
                <a:ea typeface="Raleway" pitchFamily="34" charset="-122"/>
                <a:cs typeface="Raleway" pitchFamily="34" charset="-120"/>
              </a:rPr>
              <a:t>When to Use</a:t>
            </a:r>
            <a:endParaRPr lang="en-US" sz="1200" dirty="0"/>
          </a:p>
        </p:txBody>
      </p:sp>
      <p:sp>
        <p:nvSpPr>
          <p:cNvPr id="11" name="Text 9"/>
          <p:cNvSpPr/>
          <p:nvPr/>
        </p:nvSpPr>
        <p:spPr>
          <a:xfrm>
            <a:off x="530796" y="3525589"/>
            <a:ext cx="3855244" cy="682154"/>
          </a:xfrm>
          <a:prstGeom prst="rect">
            <a:avLst/>
          </a:prstGeom>
          <a:noFill/>
          <a:ln/>
        </p:spPr>
        <p:txBody>
          <a:bodyPr wrap="square" lIns="0" tIns="0" rIns="0" bIns="0" rtlCol="0" anchor="t"/>
          <a:lstStyle/>
          <a:p>
            <a:pPr algn="l" marL="342900" indent="-342900">
              <a:lnSpc>
                <a:spcPts val="1550"/>
              </a:lnSpc>
              <a:buSzPct val="100000"/>
              <a:buChar char="•"/>
            </a:pPr>
            <a:r>
              <a:rPr lang="en-US" sz="950" dirty="0">
                <a:solidFill>
                  <a:srgbClr val="FFFFFF"/>
                </a:solidFill>
                <a:latin typeface="Roboto" pitchFamily="34" charset="0"/>
                <a:ea typeface="Roboto" pitchFamily="34" charset="-122"/>
                <a:cs typeface="Roboto" pitchFamily="34" charset="-120"/>
              </a:rPr>
              <a:t>Filtering a list of results</a:t>
            </a:r>
            <a:endParaRPr lang="en-US" sz="950" dirty="0"/>
          </a:p>
          <a:p>
            <a:pPr algn="l" marL="342900" indent="-342900">
              <a:lnSpc>
                <a:spcPts val="1550"/>
              </a:lnSpc>
              <a:buSzPct val="100000"/>
              <a:buChar char="•"/>
            </a:pPr>
            <a:r>
              <a:rPr lang="en-US" sz="950" dirty="0">
                <a:solidFill>
                  <a:srgbClr val="FFFFFF"/>
                </a:solidFill>
                <a:latin typeface="Roboto" pitchFamily="34" charset="0"/>
                <a:ea typeface="Roboto" pitchFamily="34" charset="-122"/>
                <a:cs typeface="Roboto" pitchFamily="34" charset="-120"/>
              </a:rPr>
              <a:t>Searching by keyword</a:t>
            </a:r>
            <a:endParaRPr lang="en-US" sz="950" dirty="0"/>
          </a:p>
          <a:p>
            <a:pPr algn="l" marL="342900" indent="-342900">
              <a:lnSpc>
                <a:spcPts val="1550"/>
              </a:lnSpc>
              <a:buSzPct val="100000"/>
              <a:buChar char="•"/>
            </a:pPr>
            <a:r>
              <a:rPr lang="en-US" sz="950" dirty="0">
                <a:solidFill>
                  <a:srgbClr val="FFFFFF"/>
                </a:solidFill>
                <a:latin typeface="Roboto" pitchFamily="34" charset="0"/>
                <a:ea typeface="Roboto" pitchFamily="34" charset="-122"/>
                <a:cs typeface="Roboto" pitchFamily="34" charset="-120"/>
              </a:rPr>
              <a:t>Sorting or paginating data</a:t>
            </a:r>
            <a:endParaRPr lang="en-US" sz="950" dirty="0"/>
          </a:p>
        </p:txBody>
      </p:sp>
      <p:sp>
        <p:nvSpPr>
          <p:cNvPr id="12" name="Text 10"/>
          <p:cNvSpPr/>
          <p:nvPr/>
        </p:nvSpPr>
        <p:spPr>
          <a:xfrm>
            <a:off x="4728046" y="3207767"/>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1B1B27"/>
                </a:solidFill>
                <a:latin typeface="Raleway" pitchFamily="34" charset="0"/>
                <a:ea typeface="Raleway" pitchFamily="34" charset="-122"/>
                <a:cs typeface="Raleway" pitchFamily="34" charset="-120"/>
              </a:rPr>
              <a:t>How It Works</a:t>
            </a:r>
            <a:endParaRPr lang="en-US" sz="1200" dirty="0"/>
          </a:p>
        </p:txBody>
      </p:sp>
      <p:sp>
        <p:nvSpPr>
          <p:cNvPr id="13" name="Text 11"/>
          <p:cNvSpPr/>
          <p:nvPr/>
        </p:nvSpPr>
        <p:spPr>
          <a:xfrm>
            <a:off x="4728046" y="3525589"/>
            <a:ext cx="3924598" cy="5953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FastAPI automatically reads query parameters from the URL and maps them to function parameters by matching their names. No extra parsing code required.</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96119" y="842665"/>
            <a:ext cx="1672828" cy="242739"/>
          </a:xfrm>
          <a:prstGeom prst="roundRect">
            <a:avLst>
              <a:gd name="adj" fmla="val 17171"/>
            </a:avLst>
          </a:prstGeom>
          <a:noFill/>
          <a:ln w="4763">
            <a:solidFill>
              <a:srgbClr val="1B1B27"/>
            </a:solidFill>
            <a:prstDash val="solid"/>
          </a:ln>
        </p:spPr>
      </p:sp>
      <p:sp>
        <p:nvSpPr>
          <p:cNvPr id="3" name="Text 1"/>
          <p:cNvSpPr/>
          <p:nvPr/>
        </p:nvSpPr>
        <p:spPr>
          <a:xfrm>
            <a:off x="575295" y="884634"/>
            <a:ext cx="1514475"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3 — DESIGNING ENDPOINTS</a:t>
            </a:r>
            <a:endParaRPr lang="en-US" sz="750" dirty="0"/>
          </a:p>
        </p:txBody>
      </p:sp>
      <p:sp>
        <p:nvSpPr>
          <p:cNvPr id="4" name="Text 2"/>
          <p:cNvSpPr/>
          <p:nvPr/>
        </p:nvSpPr>
        <p:spPr>
          <a:xfrm>
            <a:off x="496119" y="1134963"/>
            <a:ext cx="376788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Query Parameter Example</a:t>
            </a:r>
            <a:endParaRPr lang="en-US" sz="2400" dirty="0"/>
          </a:p>
        </p:txBody>
      </p:sp>
      <p:sp>
        <p:nvSpPr>
          <p:cNvPr id="5" name="Text 3"/>
          <p:cNvSpPr/>
          <p:nvPr/>
        </p:nvSpPr>
        <p:spPr>
          <a:xfrm>
            <a:off x="496119" y="1708547"/>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When a function parameter is not defined as a path variable, FastAPI treats it as a query parameter automatically. The value is read directly from the URL's query string.</a:t>
            </a:r>
            <a:endParaRPr lang="en-US" sz="950" dirty="0"/>
          </a:p>
        </p:txBody>
      </p:sp>
      <p:sp>
        <p:nvSpPr>
          <p:cNvPr id="6" name="Shape 4"/>
          <p:cNvSpPr/>
          <p:nvPr/>
        </p:nvSpPr>
        <p:spPr>
          <a:xfrm>
            <a:off x="496119" y="2244998"/>
            <a:ext cx="8151763" cy="843335"/>
          </a:xfrm>
          <a:prstGeom prst="roundRect">
            <a:avLst>
              <a:gd name="adj" fmla="val 6178"/>
            </a:avLst>
          </a:prstGeom>
          <a:solidFill>
            <a:srgbClr val="F2F2F2"/>
          </a:solidFill>
          <a:ln/>
        </p:spPr>
      </p:sp>
      <p:sp>
        <p:nvSpPr>
          <p:cNvPr id="7" name="Shape 5"/>
          <p:cNvSpPr/>
          <p:nvPr/>
        </p:nvSpPr>
        <p:spPr>
          <a:xfrm>
            <a:off x="489942" y="2244998"/>
            <a:ext cx="8164116" cy="843335"/>
          </a:xfrm>
          <a:prstGeom prst="roundRect">
            <a:avLst>
              <a:gd name="adj" fmla="val 2206"/>
            </a:avLst>
          </a:prstGeom>
          <a:solidFill>
            <a:srgbClr val="F2F2F2"/>
          </a:solidFill>
          <a:ln/>
        </p:spPr>
      </p:sp>
      <p:sp>
        <p:nvSpPr>
          <p:cNvPr id="8" name="Text 6"/>
          <p:cNvSpPr/>
          <p:nvPr/>
        </p:nvSpPr>
        <p:spPr>
          <a:xfrm>
            <a:off x="644947" y="2368972"/>
            <a:ext cx="7854107" cy="595387"/>
          </a:xfrm>
          <a:prstGeom prst="rect">
            <a:avLst/>
          </a:prstGeom>
          <a:noFill/>
          <a:ln/>
        </p:spPr>
        <p:txBody>
          <a:bodyPr wrap="square" lIns="0" tIns="0" rIns="0" bIns="0" rtlCol="0" anchor="t"/>
          <a:lstStyle/>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@app.get("/search")</a:t>
            </a:r>
            <a:endParaRPr lang="en-US" sz="950" dirty="0"/>
          </a:p>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def search_item(name: str):</a:t>
            </a:r>
            <a:endParaRPr lang="en-US" sz="950" dirty="0"/>
          </a:p>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    return {"search": name}</a:t>
            </a:r>
            <a:endParaRPr lang="en-US" sz="950" dirty="0"/>
          </a:p>
        </p:txBody>
      </p:sp>
      <p:sp>
        <p:nvSpPr>
          <p:cNvPr id="9" name="Text 7"/>
          <p:cNvSpPr/>
          <p:nvPr/>
        </p:nvSpPr>
        <p:spPr>
          <a:xfrm>
            <a:off x="496119" y="3227859"/>
            <a:ext cx="8151763" cy="4016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 request to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/search?name=alex</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will call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search_item(name="alex")</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and return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{"search": "alex"}</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If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name</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is missing from the URL, FastAPI returns a 422 validation error automatically.</a:t>
            </a:r>
            <a:endParaRPr lang="en-US" sz="950" dirty="0"/>
          </a:p>
        </p:txBody>
      </p:sp>
      <p:sp>
        <p:nvSpPr>
          <p:cNvPr id="10" name="Shape 8"/>
          <p:cNvSpPr/>
          <p:nvPr/>
        </p:nvSpPr>
        <p:spPr>
          <a:xfrm>
            <a:off x="496119" y="3769072"/>
            <a:ext cx="8151763" cy="531763"/>
          </a:xfrm>
          <a:prstGeom prst="roundRect">
            <a:avLst>
              <a:gd name="adj" fmla="val 9798"/>
            </a:avLst>
          </a:prstGeom>
          <a:solidFill>
            <a:srgbClr val="B6D6FC"/>
          </a:solidFill>
          <a:ln/>
        </p:spPr>
      </p:sp>
      <p:pic>
        <p:nvPicPr>
          <p:cNvPr id="11" name="Image 0" descr="preencoded.png">    </p:cNvPr>
          <p:cNvPicPr>
            <a:picLocks noChangeAspect="1"/>
          </p:cNvPicPr>
          <p:nvPr/>
        </p:nvPicPr>
        <p:blipFill>
          <a:blip r:embed="rId1"/>
          <a:stretch>
            <a:fillRect/>
          </a:stretch>
        </p:blipFill>
        <p:spPr>
          <a:xfrm>
            <a:off x="620092" y="3953619"/>
            <a:ext cx="155004" cy="123974"/>
          </a:xfrm>
          <a:prstGeom prst="rect">
            <a:avLst/>
          </a:prstGeom>
        </p:spPr>
      </p:pic>
      <p:sp>
        <p:nvSpPr>
          <p:cNvPr id="12" name="Text 9"/>
          <p:cNvSpPr/>
          <p:nvPr/>
        </p:nvSpPr>
        <p:spPr>
          <a:xfrm>
            <a:off x="899071" y="3924002"/>
            <a:ext cx="7624837" cy="203225"/>
          </a:xfrm>
          <a:prstGeom prst="rect">
            <a:avLst/>
          </a:prstGeom>
          <a:noFill/>
          <a:ln/>
        </p:spPr>
        <p:txBody>
          <a:bodyPr wrap="non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To make a query parameter optional, give it a default value: </a:t>
            </a:r>
            <a:pPr algn="l" indent="0" marL="0">
              <a:lnSpc>
                <a:spcPts val="1550"/>
              </a:lnSpc>
              <a:buNone/>
            </a:pPr>
            <a:r>
              <a:rPr lang="en-US" sz="950" dirty="0">
                <a:solidFill>
                  <a:srgbClr val="000000"/>
                </a:solidFill>
                <a:highlight>
                  <a:srgbClr val="F2F2F2"/>
                </a:highlight>
                <a:latin typeface="Consolas" pitchFamily="34" charset="0"/>
                <a:ea typeface="Consolas" pitchFamily="34" charset="-122"/>
                <a:cs typeface="Consolas" pitchFamily="34" charset="-120"/>
              </a:rPr>
              <a:t>name: str = ""</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72901" y="337096"/>
            <a:ext cx="1595363" cy="228079"/>
          </a:xfrm>
          <a:prstGeom prst="roundRect">
            <a:avLst>
              <a:gd name="adj" fmla="val 17418"/>
            </a:avLst>
          </a:prstGeom>
          <a:noFill/>
          <a:ln w="4763">
            <a:solidFill>
              <a:srgbClr val="1B1B27"/>
            </a:solidFill>
            <a:prstDash val="solid"/>
          </a:ln>
        </p:spPr>
      </p:sp>
      <p:sp>
        <p:nvSpPr>
          <p:cNvPr id="3" name="Text 1"/>
          <p:cNvSpPr/>
          <p:nvPr/>
        </p:nvSpPr>
        <p:spPr>
          <a:xfrm>
            <a:off x="548580" y="377279"/>
            <a:ext cx="1444005" cy="147712"/>
          </a:xfrm>
          <a:prstGeom prst="rect">
            <a:avLst/>
          </a:prstGeom>
          <a:noFill/>
          <a:ln/>
        </p:spPr>
        <p:txBody>
          <a:bodyPr wrap="none" lIns="0" tIns="0" rIns="0" bIns="0" rtlCol="0" anchor="t"/>
          <a:lstStyle/>
          <a:p>
            <a:pPr algn="l" indent="0" marL="0">
              <a:lnSpc>
                <a:spcPts val="1150"/>
              </a:lnSpc>
              <a:buNone/>
            </a:pPr>
            <a:r>
              <a:rPr lang="en-US" sz="700" dirty="0">
                <a:solidFill>
                  <a:srgbClr val="1B1B27"/>
                </a:solidFill>
                <a:latin typeface="Roboto" pitchFamily="34" charset="0"/>
                <a:ea typeface="Roboto" pitchFamily="34" charset="-122"/>
                <a:cs typeface="Roboto" pitchFamily="34" charset="-120"/>
              </a:rPr>
              <a:t>PART 3 — DESIGNING ENDPOINTS</a:t>
            </a:r>
            <a:endParaRPr lang="en-US" sz="700" dirty="0"/>
          </a:p>
        </p:txBody>
      </p:sp>
      <p:sp>
        <p:nvSpPr>
          <p:cNvPr id="4" name="Text 2"/>
          <p:cNvSpPr/>
          <p:nvPr/>
        </p:nvSpPr>
        <p:spPr>
          <a:xfrm>
            <a:off x="472901" y="610195"/>
            <a:ext cx="2955727" cy="369466"/>
          </a:xfrm>
          <a:prstGeom prst="rect">
            <a:avLst/>
          </a:prstGeom>
          <a:noFill/>
          <a:ln/>
        </p:spPr>
        <p:txBody>
          <a:bodyPr wrap="none" lIns="0" tIns="0" rIns="0" bIns="0" rtlCol="0" anchor="t"/>
          <a:lstStyle/>
          <a:p>
            <a:pPr algn="l" indent="0" marL="0">
              <a:lnSpc>
                <a:spcPts val="2900"/>
              </a:lnSpc>
              <a:buNone/>
            </a:pPr>
            <a:r>
              <a:rPr lang="en-US" sz="2300" dirty="0">
                <a:solidFill>
                  <a:srgbClr val="1B1B27"/>
                </a:solidFill>
                <a:latin typeface="Raleway" pitchFamily="34" charset="0"/>
                <a:ea typeface="Raleway" pitchFamily="34" charset="-122"/>
                <a:cs typeface="Raleway" pitchFamily="34" charset="-120"/>
              </a:rPr>
              <a:t>POST Requests</a:t>
            </a:r>
            <a:endParaRPr lang="en-US" sz="2300" dirty="0"/>
          </a:p>
        </p:txBody>
      </p:sp>
      <p:sp>
        <p:nvSpPr>
          <p:cNvPr id="5" name="Text 3"/>
          <p:cNvSpPr/>
          <p:nvPr/>
        </p:nvSpPr>
        <p:spPr>
          <a:xfrm>
            <a:off x="472901" y="1148655"/>
            <a:ext cx="8198197" cy="369391"/>
          </a:xfrm>
          <a:prstGeom prst="rect">
            <a:avLst/>
          </a:prstGeom>
          <a:noFill/>
          <a:ln/>
        </p:spPr>
        <p:txBody>
          <a:bodyPr wrap="square" lIns="0" tIns="0" rIns="0" bIns="0" rtlCol="0" anchor="t"/>
          <a:lstStyle/>
          <a:p>
            <a:pPr algn="l" indent="0" marL="0">
              <a:lnSpc>
                <a:spcPts val="1450"/>
              </a:lnSpc>
              <a:buNone/>
            </a:pPr>
            <a:r>
              <a:rPr lang="en-US" sz="900" dirty="0">
                <a:solidFill>
                  <a:srgbClr val="3C3939"/>
                </a:solidFill>
                <a:latin typeface="Roboto" pitchFamily="34" charset="0"/>
                <a:ea typeface="Roboto" pitchFamily="34" charset="-122"/>
                <a:cs typeface="Roboto" pitchFamily="34" charset="-120"/>
              </a:rPr>
              <a:t>POST requests are used when the client needs to send data to the backend — to create a new resource, submit a form, or trigger an action. Unlike GET, POST requests include a request body containing structured JSON data.</a:t>
            </a:r>
            <a:endParaRPr lang="en-US" sz="900" dirty="0"/>
          </a:p>
        </p:txBody>
      </p:sp>
      <p:pic>
        <p:nvPicPr>
          <p:cNvPr id="6" name="Image 0" descr="preencoded.png">    </p:cNvPr>
          <p:cNvPicPr>
            <a:picLocks noChangeAspect="1"/>
          </p:cNvPicPr>
          <p:nvPr/>
        </p:nvPicPr>
        <p:blipFill>
          <a:blip r:embed="rId1"/>
          <a:stretch>
            <a:fillRect/>
          </a:stretch>
        </p:blipFill>
        <p:spPr>
          <a:xfrm>
            <a:off x="890364" y="1644774"/>
            <a:ext cx="7363271" cy="2665512"/>
          </a:xfrm>
          <a:prstGeom prst="rect">
            <a:avLst/>
          </a:prstGeom>
        </p:spPr>
      </p:pic>
      <p:sp>
        <p:nvSpPr>
          <p:cNvPr id="7" name="Text 4"/>
          <p:cNvSpPr/>
          <p:nvPr/>
        </p:nvSpPr>
        <p:spPr>
          <a:xfrm>
            <a:off x="1430892" y="3659634"/>
            <a:ext cx="1844567" cy="230571"/>
          </a:xfrm>
          <a:prstGeom prst="rect">
            <a:avLst/>
          </a:prstGeom>
          <a:noFill/>
          <a:ln/>
        </p:spPr>
        <p:txBody>
          <a:bodyPr wrap="none" lIns="0" tIns="0" rIns="0" bIns="0" rtlCol="0" anchor="t"/>
          <a:lstStyle/>
          <a:p>
            <a:pPr algn="l" indent="0" marL="0">
              <a:lnSpc>
                <a:spcPts val="1800"/>
              </a:lnSpc>
              <a:buNone/>
            </a:pPr>
            <a:r>
              <a:rPr lang="en-US" sz="1450" dirty="0">
                <a:solidFill>
                  <a:srgbClr val="FFFFFF"/>
                </a:solidFill>
                <a:latin typeface="Raleway" pitchFamily="34" charset="0"/>
                <a:ea typeface="Raleway" pitchFamily="34" charset="-122"/>
                <a:cs typeface="Raleway" pitchFamily="34" charset="-120"/>
              </a:rPr>
              <a:t>Create &amp; Respond</a:t>
            </a:r>
            <a:endParaRPr lang="en-US" sz="1450" dirty="0"/>
          </a:p>
        </p:txBody>
      </p:sp>
      <p:sp>
        <p:nvSpPr>
          <p:cNvPr id="8" name="Text 5"/>
          <p:cNvSpPr/>
          <p:nvPr/>
        </p:nvSpPr>
        <p:spPr>
          <a:xfrm>
            <a:off x="1430892" y="2856223"/>
            <a:ext cx="1844567" cy="230571"/>
          </a:xfrm>
          <a:prstGeom prst="rect">
            <a:avLst/>
          </a:prstGeom>
          <a:noFill/>
          <a:ln/>
        </p:spPr>
        <p:txBody>
          <a:bodyPr wrap="none" lIns="0" tIns="0" rIns="0" bIns="0" rtlCol="0" anchor="t"/>
          <a:lstStyle/>
          <a:p>
            <a:pPr algn="l" indent="0" marL="0">
              <a:lnSpc>
                <a:spcPts val="1800"/>
              </a:lnSpc>
              <a:buNone/>
            </a:pPr>
            <a:r>
              <a:rPr lang="en-US" sz="1450" dirty="0">
                <a:solidFill>
                  <a:srgbClr val="FFFFFF"/>
                </a:solidFill>
                <a:latin typeface="Raleway" pitchFamily="34" charset="0"/>
                <a:ea typeface="Raleway" pitchFamily="34" charset="-122"/>
                <a:cs typeface="Raleway" pitchFamily="34" charset="-120"/>
              </a:rPr>
              <a:t>Validate Data</a:t>
            </a:r>
            <a:endParaRPr lang="en-US" sz="1450" dirty="0"/>
          </a:p>
        </p:txBody>
      </p:sp>
      <p:sp>
        <p:nvSpPr>
          <p:cNvPr id="9" name="Text 6"/>
          <p:cNvSpPr/>
          <p:nvPr/>
        </p:nvSpPr>
        <p:spPr>
          <a:xfrm>
            <a:off x="1430892" y="2044613"/>
            <a:ext cx="1844567" cy="230571"/>
          </a:xfrm>
          <a:prstGeom prst="rect">
            <a:avLst/>
          </a:prstGeom>
          <a:noFill/>
          <a:ln/>
        </p:spPr>
        <p:txBody>
          <a:bodyPr wrap="none" lIns="0" tIns="0" rIns="0" bIns="0" rtlCol="0" anchor="t"/>
          <a:lstStyle/>
          <a:p>
            <a:pPr algn="l" indent="0" marL="0">
              <a:lnSpc>
                <a:spcPts val="1800"/>
              </a:lnSpc>
              <a:buNone/>
            </a:pPr>
            <a:r>
              <a:rPr lang="en-US" sz="1450" dirty="0">
                <a:solidFill>
                  <a:srgbClr val="FFFFFF"/>
                </a:solidFill>
                <a:latin typeface="Raleway" pitchFamily="34" charset="0"/>
                <a:ea typeface="Raleway" pitchFamily="34" charset="-122"/>
                <a:cs typeface="Raleway" pitchFamily="34" charset="-120"/>
              </a:rPr>
              <a:t>Send JSON</a:t>
            </a:r>
            <a:endParaRPr lang="en-US" sz="1450" dirty="0"/>
          </a:p>
        </p:txBody>
      </p:sp>
      <p:sp>
        <p:nvSpPr>
          <p:cNvPr id="10" name="Text 7"/>
          <p:cNvSpPr/>
          <p:nvPr/>
        </p:nvSpPr>
        <p:spPr>
          <a:xfrm>
            <a:off x="472901" y="4437013"/>
            <a:ext cx="8198197" cy="369391"/>
          </a:xfrm>
          <a:prstGeom prst="rect">
            <a:avLst/>
          </a:prstGeom>
          <a:noFill/>
          <a:ln/>
        </p:spPr>
        <p:txBody>
          <a:bodyPr wrap="square" lIns="0" tIns="0" rIns="0" bIns="0" rtlCol="0" anchor="t"/>
          <a:lstStyle/>
          <a:p>
            <a:pPr algn="l" indent="0" marL="0">
              <a:lnSpc>
                <a:spcPts val="1450"/>
              </a:lnSpc>
              <a:buNone/>
            </a:pPr>
            <a:r>
              <a:rPr lang="en-US" sz="900" dirty="0">
                <a:solidFill>
                  <a:srgbClr val="3C3939"/>
                </a:solidFill>
                <a:latin typeface="Roboto" pitchFamily="34" charset="0"/>
                <a:ea typeface="Roboto" pitchFamily="34" charset="-122"/>
                <a:cs typeface="Roboto" pitchFamily="34" charset="-120"/>
              </a:rPr>
              <a:t>The backend receives the JSON, validates its structure, applies business logic, and returns a confirmation response. POST is the foundation of all create operations in a REST API.</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96119" y="1303065"/>
            <a:ext cx="1672828" cy="242739"/>
          </a:xfrm>
          <a:prstGeom prst="roundRect">
            <a:avLst>
              <a:gd name="adj" fmla="val 17171"/>
            </a:avLst>
          </a:prstGeom>
          <a:noFill/>
          <a:ln w="4763">
            <a:solidFill>
              <a:srgbClr val="1B1B27"/>
            </a:solidFill>
            <a:prstDash val="solid"/>
          </a:ln>
        </p:spPr>
      </p:sp>
      <p:sp>
        <p:nvSpPr>
          <p:cNvPr id="3" name="Text 1"/>
          <p:cNvSpPr/>
          <p:nvPr/>
        </p:nvSpPr>
        <p:spPr>
          <a:xfrm>
            <a:off x="575295" y="1345034"/>
            <a:ext cx="1514475"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3 — DESIGNING ENDPOINTS</a:t>
            </a:r>
            <a:endParaRPr lang="en-US" sz="750" dirty="0"/>
          </a:p>
        </p:txBody>
      </p:sp>
      <p:sp>
        <p:nvSpPr>
          <p:cNvPr id="4" name="Text 2"/>
          <p:cNvSpPr/>
          <p:nvPr/>
        </p:nvSpPr>
        <p:spPr>
          <a:xfrm>
            <a:off x="496119" y="1595363"/>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Introducing Pydantic</a:t>
            </a:r>
            <a:endParaRPr lang="en-US" sz="2400" dirty="0"/>
          </a:p>
        </p:txBody>
      </p:sp>
      <p:sp>
        <p:nvSpPr>
          <p:cNvPr id="5" name="Text 3"/>
          <p:cNvSpPr/>
          <p:nvPr/>
        </p:nvSpPr>
        <p:spPr>
          <a:xfrm>
            <a:off x="496119" y="2168947"/>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Pydantic is the validation layer that FastAPI uses under the hood. You define the shape of your data as a Python class, and Pydantic automatically validates every incoming request against that schema — before your business logic ever runs.</a:t>
            </a:r>
            <a:endParaRPr lang="en-US" sz="9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2705398"/>
            <a:ext cx="310083" cy="310083"/>
          </a:xfrm>
          <a:prstGeom prst="rect">
            <a:avLst/>
          </a:prstGeom>
        </p:spPr>
      </p:pic>
      <p:sp>
        <p:nvSpPr>
          <p:cNvPr id="7" name="Text 4"/>
          <p:cNvSpPr/>
          <p:nvPr/>
        </p:nvSpPr>
        <p:spPr>
          <a:xfrm>
            <a:off x="496119" y="3170486"/>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Validation</a:t>
            </a:r>
            <a:endParaRPr lang="en-US" sz="1200" dirty="0"/>
          </a:p>
        </p:txBody>
      </p:sp>
      <p:sp>
        <p:nvSpPr>
          <p:cNvPr id="8" name="Text 5"/>
          <p:cNvSpPr/>
          <p:nvPr/>
        </p:nvSpPr>
        <p:spPr>
          <a:xfrm>
            <a:off x="496119" y="3438748"/>
            <a:ext cx="2613868"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Rejects requests with missing or invalid fields — returns a clear error message automatically</a:t>
            </a:r>
            <a:endParaRPr lang="en-US" sz="9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64991" y="2705398"/>
            <a:ext cx="310083" cy="310083"/>
          </a:xfrm>
          <a:prstGeom prst="rect">
            <a:avLst/>
          </a:prstGeom>
        </p:spPr>
      </p:pic>
      <p:sp>
        <p:nvSpPr>
          <p:cNvPr id="10" name="Text 6"/>
          <p:cNvSpPr/>
          <p:nvPr/>
        </p:nvSpPr>
        <p:spPr>
          <a:xfrm>
            <a:off x="3264991" y="3170486"/>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Type Checking</a:t>
            </a:r>
            <a:endParaRPr lang="en-US" sz="1200" dirty="0"/>
          </a:p>
        </p:txBody>
      </p:sp>
      <p:sp>
        <p:nvSpPr>
          <p:cNvPr id="11" name="Text 7"/>
          <p:cNvSpPr/>
          <p:nvPr/>
        </p:nvSpPr>
        <p:spPr>
          <a:xfrm>
            <a:off x="3264991" y="3438748"/>
            <a:ext cx="2613943" cy="4016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Ensures each field matches its declared Python type —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str</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int</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float</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etc.</a:t>
            </a:r>
            <a:endParaRPr lang="en-US" sz="9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33939" y="2705398"/>
            <a:ext cx="310083" cy="310083"/>
          </a:xfrm>
          <a:prstGeom prst="rect">
            <a:avLst/>
          </a:prstGeom>
        </p:spPr>
      </p:pic>
      <p:sp>
        <p:nvSpPr>
          <p:cNvPr id="13" name="Text 8"/>
          <p:cNvSpPr/>
          <p:nvPr/>
        </p:nvSpPr>
        <p:spPr>
          <a:xfrm>
            <a:off x="6033939" y="3170486"/>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Parsing</a:t>
            </a:r>
            <a:endParaRPr lang="en-US" sz="1200" dirty="0"/>
          </a:p>
        </p:txBody>
      </p:sp>
      <p:sp>
        <p:nvSpPr>
          <p:cNvPr id="14" name="Text 9"/>
          <p:cNvSpPr/>
          <p:nvPr/>
        </p:nvSpPr>
        <p:spPr>
          <a:xfrm>
            <a:off x="6033939" y="3438748"/>
            <a:ext cx="261394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Converts raw JSON into a clean, typed Python object ready for your code</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96119" y="843335"/>
            <a:ext cx="1672828" cy="242739"/>
          </a:xfrm>
          <a:prstGeom prst="roundRect">
            <a:avLst>
              <a:gd name="adj" fmla="val 17171"/>
            </a:avLst>
          </a:prstGeom>
          <a:noFill/>
          <a:ln w="4763">
            <a:solidFill>
              <a:srgbClr val="1B1B27"/>
            </a:solidFill>
            <a:prstDash val="solid"/>
          </a:ln>
        </p:spPr>
      </p:sp>
      <p:sp>
        <p:nvSpPr>
          <p:cNvPr id="3" name="Text 1"/>
          <p:cNvSpPr/>
          <p:nvPr/>
        </p:nvSpPr>
        <p:spPr>
          <a:xfrm>
            <a:off x="575295" y="885304"/>
            <a:ext cx="1514475"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3 — DESIGNING ENDPOINTS</a:t>
            </a:r>
            <a:endParaRPr lang="en-US" sz="750" dirty="0"/>
          </a:p>
        </p:txBody>
      </p:sp>
      <p:sp>
        <p:nvSpPr>
          <p:cNvPr id="4" name="Text 2"/>
          <p:cNvSpPr/>
          <p:nvPr/>
        </p:nvSpPr>
        <p:spPr>
          <a:xfrm>
            <a:off x="496119" y="1135633"/>
            <a:ext cx="3555429"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Pydantic Model Example</a:t>
            </a:r>
            <a:endParaRPr lang="en-US" sz="2400" dirty="0"/>
          </a:p>
        </p:txBody>
      </p:sp>
      <p:sp>
        <p:nvSpPr>
          <p:cNvPr id="5" name="Text 3"/>
          <p:cNvSpPr/>
          <p:nvPr/>
        </p:nvSpPr>
        <p:spPr>
          <a:xfrm>
            <a:off x="496119" y="1709217"/>
            <a:ext cx="8151763" cy="4016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 Pydantic model is a Python class that inherits from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BaseModel</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Each class attribute defines a field name and its expected type. FastAPI uses this model to validate every POST request body automatically.</a:t>
            </a:r>
            <a:endParaRPr lang="en-US" sz="950" dirty="0"/>
          </a:p>
        </p:txBody>
      </p:sp>
      <p:sp>
        <p:nvSpPr>
          <p:cNvPr id="6" name="Shape 4"/>
          <p:cNvSpPr/>
          <p:nvPr/>
        </p:nvSpPr>
        <p:spPr>
          <a:xfrm>
            <a:off x="496119" y="2250430"/>
            <a:ext cx="8151763" cy="1240259"/>
          </a:xfrm>
          <a:prstGeom prst="roundRect">
            <a:avLst>
              <a:gd name="adj" fmla="val 4201"/>
            </a:avLst>
          </a:prstGeom>
          <a:solidFill>
            <a:srgbClr val="F2F2F2"/>
          </a:solidFill>
          <a:ln/>
        </p:spPr>
      </p:sp>
      <p:sp>
        <p:nvSpPr>
          <p:cNvPr id="7" name="Shape 5"/>
          <p:cNvSpPr/>
          <p:nvPr/>
        </p:nvSpPr>
        <p:spPr>
          <a:xfrm>
            <a:off x="489942" y="2250430"/>
            <a:ext cx="8164116" cy="1240259"/>
          </a:xfrm>
          <a:prstGeom prst="roundRect">
            <a:avLst>
              <a:gd name="adj" fmla="val 1500"/>
            </a:avLst>
          </a:prstGeom>
          <a:solidFill>
            <a:srgbClr val="F2F2F2"/>
          </a:solidFill>
          <a:ln/>
        </p:spPr>
      </p:sp>
      <p:sp>
        <p:nvSpPr>
          <p:cNvPr id="8" name="Text 6"/>
          <p:cNvSpPr/>
          <p:nvPr/>
        </p:nvSpPr>
        <p:spPr>
          <a:xfrm>
            <a:off x="644947" y="2374404"/>
            <a:ext cx="7854107" cy="992312"/>
          </a:xfrm>
          <a:prstGeom prst="rect">
            <a:avLst/>
          </a:prstGeom>
          <a:noFill/>
          <a:ln/>
        </p:spPr>
        <p:txBody>
          <a:bodyPr wrap="square" lIns="0" tIns="0" rIns="0" bIns="0" rtlCol="0" anchor="t"/>
          <a:lstStyle/>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from pydantic import BaseModel</a:t>
            </a:r>
            <a:endParaRPr lang="en-US" sz="950" dirty="0"/>
          </a:p>
          <a:p>
            <a:pPr algn="l" indent="0" marL="0">
              <a:lnSpc>
                <a:spcPts val="1550"/>
              </a:lnSpc>
              <a:buNone/>
            </a:pPr>
            <a:endParaRPr lang="en-US" sz="950" dirty="0"/>
          </a:p>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class Item(BaseModel):</a:t>
            </a:r>
            <a:endParaRPr lang="en-US" sz="950" dirty="0"/>
          </a:p>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name: str</a:t>
            </a:r>
            <a:endParaRPr lang="en-US" sz="950" dirty="0"/>
          </a:p>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price: float</a:t>
            </a:r>
            <a:endParaRPr lang="en-US" sz="950" dirty="0"/>
          </a:p>
        </p:txBody>
      </p:sp>
      <p:sp>
        <p:nvSpPr>
          <p:cNvPr id="9" name="Shape 7"/>
          <p:cNvSpPr/>
          <p:nvPr/>
        </p:nvSpPr>
        <p:spPr>
          <a:xfrm>
            <a:off x="481831" y="3615928"/>
            <a:ext cx="28575" cy="698525"/>
          </a:xfrm>
          <a:prstGeom prst="rect">
            <a:avLst/>
          </a:prstGeom>
          <a:solidFill>
            <a:srgbClr val="1B1B27"/>
          </a:solidFill>
          <a:ln/>
        </p:spPr>
      </p:sp>
      <p:sp>
        <p:nvSpPr>
          <p:cNvPr id="10" name="Text 8"/>
          <p:cNvSpPr/>
          <p:nvPr/>
        </p:nvSpPr>
        <p:spPr>
          <a:xfrm>
            <a:off x="648667" y="3630216"/>
            <a:ext cx="1550566" cy="198611"/>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highlight>
                  <a:srgbClr val="F2F2F2"/>
                </a:highlight>
                <a:latin typeface="Consolas" pitchFamily="34" charset="0"/>
                <a:ea typeface="Consolas" pitchFamily="34" charset="-122"/>
                <a:cs typeface="Consolas" pitchFamily="34" charset="-120"/>
              </a:rPr>
              <a:t>name: str</a:t>
            </a:r>
            <a:endParaRPr lang="en-US" sz="1200" dirty="0"/>
          </a:p>
        </p:txBody>
      </p:sp>
      <p:sp>
        <p:nvSpPr>
          <p:cNvPr id="11" name="Text 9"/>
          <p:cNvSpPr/>
          <p:nvPr/>
        </p:nvSpPr>
        <p:spPr>
          <a:xfrm>
            <a:off x="648667" y="3903241"/>
            <a:ext cx="384579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This field is required and must be a string — missing or wrong type triggers a 422 error</a:t>
            </a:r>
            <a:endParaRPr lang="en-US" sz="950" dirty="0"/>
          </a:p>
        </p:txBody>
      </p:sp>
      <p:sp>
        <p:nvSpPr>
          <p:cNvPr id="12" name="Shape 10"/>
          <p:cNvSpPr/>
          <p:nvPr/>
        </p:nvSpPr>
        <p:spPr>
          <a:xfrm>
            <a:off x="4635178" y="3615928"/>
            <a:ext cx="28575" cy="698525"/>
          </a:xfrm>
          <a:prstGeom prst="rect">
            <a:avLst/>
          </a:prstGeom>
          <a:solidFill>
            <a:srgbClr val="1B1B27"/>
          </a:solidFill>
          <a:ln/>
        </p:spPr>
      </p:sp>
      <p:sp>
        <p:nvSpPr>
          <p:cNvPr id="13" name="Text 11"/>
          <p:cNvSpPr/>
          <p:nvPr/>
        </p:nvSpPr>
        <p:spPr>
          <a:xfrm>
            <a:off x="4802014" y="3630216"/>
            <a:ext cx="1550566" cy="198611"/>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highlight>
                  <a:srgbClr val="F2F2F2"/>
                </a:highlight>
                <a:latin typeface="Consolas" pitchFamily="34" charset="0"/>
                <a:ea typeface="Consolas" pitchFamily="34" charset="-122"/>
                <a:cs typeface="Consolas" pitchFamily="34" charset="-120"/>
              </a:rPr>
              <a:t>price: float</a:t>
            </a:r>
            <a:endParaRPr lang="en-US" sz="1200" dirty="0"/>
          </a:p>
        </p:txBody>
      </p:sp>
      <p:sp>
        <p:nvSpPr>
          <p:cNvPr id="14" name="Text 12"/>
          <p:cNvSpPr/>
          <p:nvPr/>
        </p:nvSpPr>
        <p:spPr>
          <a:xfrm>
            <a:off x="4802014" y="3903241"/>
            <a:ext cx="3845868"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Must be a valid floating-point number —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"expensive"</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will be rejected</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96119" y="1178272"/>
            <a:ext cx="1672828" cy="242739"/>
          </a:xfrm>
          <a:prstGeom prst="roundRect">
            <a:avLst>
              <a:gd name="adj" fmla="val 17171"/>
            </a:avLst>
          </a:prstGeom>
          <a:noFill/>
          <a:ln w="4763">
            <a:solidFill>
              <a:srgbClr val="1B1B27"/>
            </a:solidFill>
            <a:prstDash val="solid"/>
          </a:ln>
        </p:spPr>
      </p:sp>
      <p:sp>
        <p:nvSpPr>
          <p:cNvPr id="3" name="Text 1"/>
          <p:cNvSpPr/>
          <p:nvPr/>
        </p:nvSpPr>
        <p:spPr>
          <a:xfrm>
            <a:off x="575295" y="1220242"/>
            <a:ext cx="1514475"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3 — DESIGNING ENDPOINTS</a:t>
            </a:r>
            <a:endParaRPr lang="en-US" sz="750" dirty="0"/>
          </a:p>
        </p:txBody>
      </p:sp>
      <p:sp>
        <p:nvSpPr>
          <p:cNvPr id="4" name="Text 2"/>
          <p:cNvSpPr/>
          <p:nvPr/>
        </p:nvSpPr>
        <p:spPr>
          <a:xfrm>
            <a:off x="496119" y="1470571"/>
            <a:ext cx="3494708"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POST Endpoint Example</a:t>
            </a:r>
            <a:endParaRPr lang="en-US" sz="2400" dirty="0"/>
          </a:p>
        </p:txBody>
      </p:sp>
      <p:sp>
        <p:nvSpPr>
          <p:cNvPr id="5" name="Text 3"/>
          <p:cNvSpPr/>
          <p:nvPr/>
        </p:nvSpPr>
        <p:spPr>
          <a:xfrm>
            <a:off x="496119" y="2044154"/>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To use your Pydantic model, declare it as a parameter in your endpoint function. FastAPI reads the request body, validates it against the model, and passes a clean Python object to your function.</a:t>
            </a:r>
            <a:endParaRPr lang="en-US" sz="950" dirty="0"/>
          </a:p>
        </p:txBody>
      </p:sp>
      <p:sp>
        <p:nvSpPr>
          <p:cNvPr id="6" name="Shape 4"/>
          <p:cNvSpPr/>
          <p:nvPr/>
        </p:nvSpPr>
        <p:spPr>
          <a:xfrm>
            <a:off x="496119" y="2580605"/>
            <a:ext cx="8151763" cy="843335"/>
          </a:xfrm>
          <a:prstGeom prst="roundRect">
            <a:avLst>
              <a:gd name="adj" fmla="val 6178"/>
            </a:avLst>
          </a:prstGeom>
          <a:solidFill>
            <a:srgbClr val="F2F2F2"/>
          </a:solidFill>
          <a:ln/>
        </p:spPr>
      </p:sp>
      <p:sp>
        <p:nvSpPr>
          <p:cNvPr id="7" name="Shape 5"/>
          <p:cNvSpPr/>
          <p:nvPr/>
        </p:nvSpPr>
        <p:spPr>
          <a:xfrm>
            <a:off x="489942" y="2580605"/>
            <a:ext cx="8164116" cy="843335"/>
          </a:xfrm>
          <a:prstGeom prst="roundRect">
            <a:avLst>
              <a:gd name="adj" fmla="val 2206"/>
            </a:avLst>
          </a:prstGeom>
          <a:solidFill>
            <a:srgbClr val="F2F2F2"/>
          </a:solidFill>
          <a:ln/>
        </p:spPr>
      </p:sp>
      <p:sp>
        <p:nvSpPr>
          <p:cNvPr id="8" name="Text 6"/>
          <p:cNvSpPr/>
          <p:nvPr/>
        </p:nvSpPr>
        <p:spPr>
          <a:xfrm>
            <a:off x="644947" y="2704579"/>
            <a:ext cx="7854107" cy="595387"/>
          </a:xfrm>
          <a:prstGeom prst="rect">
            <a:avLst/>
          </a:prstGeom>
          <a:noFill/>
          <a:ln/>
        </p:spPr>
        <p:txBody>
          <a:bodyPr wrap="square" lIns="0" tIns="0" rIns="0" bIns="0" rtlCol="0" anchor="t"/>
          <a:lstStyle/>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@app.post("/items")</a:t>
            </a:r>
            <a:endParaRPr lang="en-US" sz="950" dirty="0"/>
          </a:p>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def create_item(item: Item):</a:t>
            </a:r>
            <a:endParaRPr lang="en-US" sz="950" dirty="0"/>
          </a:p>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    return {"received": item}</a:t>
            </a:r>
            <a:endParaRPr lang="en-US" sz="950" dirty="0"/>
          </a:p>
        </p:txBody>
      </p:sp>
      <p:sp>
        <p:nvSpPr>
          <p:cNvPr id="9" name="Text 7"/>
          <p:cNvSpPr/>
          <p:nvPr/>
        </p:nvSpPr>
        <p:spPr>
          <a:xfrm>
            <a:off x="496119" y="3563466"/>
            <a:ext cx="8151763" cy="4016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If the client sends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{"name": "Laptop", "price": 999.99}</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the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item</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parameter will be a fully validated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Item</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object. If the body is missing or malformed, FastAPI automatically rejects the request with a descriptive 422 error — no extra code needed.</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96119" y="857845"/>
            <a:ext cx="1672828" cy="242739"/>
          </a:xfrm>
          <a:prstGeom prst="roundRect">
            <a:avLst>
              <a:gd name="adj" fmla="val 17171"/>
            </a:avLst>
          </a:prstGeom>
          <a:noFill/>
          <a:ln w="4763">
            <a:solidFill>
              <a:srgbClr val="1B1B27"/>
            </a:solidFill>
            <a:prstDash val="solid"/>
          </a:ln>
        </p:spPr>
      </p:sp>
      <p:sp>
        <p:nvSpPr>
          <p:cNvPr id="3" name="Text 1"/>
          <p:cNvSpPr/>
          <p:nvPr/>
        </p:nvSpPr>
        <p:spPr>
          <a:xfrm>
            <a:off x="575295" y="899815"/>
            <a:ext cx="1514475"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3 — DESIGNING ENDPOINTS</a:t>
            </a:r>
            <a:endParaRPr lang="en-US" sz="750" dirty="0"/>
          </a:p>
        </p:txBody>
      </p:sp>
      <p:sp>
        <p:nvSpPr>
          <p:cNvPr id="4" name="Text 2"/>
          <p:cNvSpPr/>
          <p:nvPr/>
        </p:nvSpPr>
        <p:spPr>
          <a:xfrm>
            <a:off x="496119" y="1150144"/>
            <a:ext cx="3979664"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Testing APIs Using Swagger</a:t>
            </a:r>
            <a:endParaRPr lang="en-US" sz="2400" dirty="0"/>
          </a:p>
        </p:txBody>
      </p:sp>
      <p:sp>
        <p:nvSpPr>
          <p:cNvPr id="5" name="Text 3"/>
          <p:cNvSpPr/>
          <p:nvPr/>
        </p:nvSpPr>
        <p:spPr>
          <a:xfrm>
            <a:off x="496119" y="1723727"/>
            <a:ext cx="8151763" cy="4016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FastAPI's built-in Swagger UI at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/docs</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is the fastest way to test your endpoints during development. No external tools needed — you can send real requests directly from the browser.</a:t>
            </a:r>
            <a:endParaRPr lang="en-US" sz="950" dirty="0"/>
          </a:p>
        </p:txBody>
      </p:sp>
      <p:sp>
        <p:nvSpPr>
          <p:cNvPr id="6" name="Text 4"/>
          <p:cNvSpPr/>
          <p:nvPr/>
        </p:nvSpPr>
        <p:spPr>
          <a:xfrm>
            <a:off x="496119" y="2264941"/>
            <a:ext cx="248022" cy="155004"/>
          </a:xfrm>
          <a:prstGeom prst="rect">
            <a:avLst/>
          </a:prstGeom>
          <a:noFill/>
          <a:ln/>
        </p:spPr>
        <p:txBody>
          <a:bodyPr wrap="none" lIns="0" tIns="0" rIns="0" bIns="0" rtlCol="0" anchor="ctr"/>
          <a:lstStyle/>
          <a:p>
            <a:pPr algn="l" indent="0" marL="0">
              <a:lnSpc>
                <a:spcPts val="1550"/>
              </a:lnSpc>
              <a:buNone/>
            </a:pPr>
            <a:r>
              <a:rPr lang="en-US" sz="950" dirty="0">
                <a:solidFill>
                  <a:srgbClr val="3C3939"/>
                </a:solidFill>
                <a:latin typeface="Raleway Light" pitchFamily="34" charset="0"/>
                <a:ea typeface="Raleway Light" pitchFamily="34" charset="-122"/>
                <a:cs typeface="Raleway Light" pitchFamily="34" charset="-120"/>
              </a:rPr>
              <a:t>01</a:t>
            </a:r>
            <a:endParaRPr lang="en-US" sz="950" dirty="0"/>
          </a:p>
        </p:txBody>
      </p:sp>
      <p:sp>
        <p:nvSpPr>
          <p:cNvPr id="7" name="Shape 5"/>
          <p:cNvSpPr/>
          <p:nvPr/>
        </p:nvSpPr>
        <p:spPr>
          <a:xfrm>
            <a:off x="496119" y="2461394"/>
            <a:ext cx="4013895" cy="14288"/>
          </a:xfrm>
          <a:prstGeom prst="rect">
            <a:avLst/>
          </a:prstGeom>
          <a:solidFill>
            <a:srgbClr val="1B1B27"/>
          </a:solidFill>
          <a:ln/>
        </p:spPr>
      </p:sp>
      <p:sp>
        <p:nvSpPr>
          <p:cNvPr id="8" name="Text 6"/>
          <p:cNvSpPr/>
          <p:nvPr/>
        </p:nvSpPr>
        <p:spPr>
          <a:xfrm>
            <a:off x="496119" y="2551956"/>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Open Swagger UI</a:t>
            </a:r>
            <a:endParaRPr lang="en-US" sz="1200" dirty="0"/>
          </a:p>
        </p:txBody>
      </p:sp>
      <p:sp>
        <p:nvSpPr>
          <p:cNvPr id="9" name="Text 7"/>
          <p:cNvSpPr/>
          <p:nvPr/>
        </p:nvSpPr>
        <p:spPr>
          <a:xfrm>
            <a:off x="496119" y="2820219"/>
            <a:ext cx="4013895"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Navigate to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http://127.0.0.1:8000/docs</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in your browser</a:t>
            </a:r>
            <a:endParaRPr lang="en-US" sz="950" dirty="0"/>
          </a:p>
        </p:txBody>
      </p:sp>
      <p:sp>
        <p:nvSpPr>
          <p:cNvPr id="10" name="Text 8"/>
          <p:cNvSpPr/>
          <p:nvPr/>
        </p:nvSpPr>
        <p:spPr>
          <a:xfrm>
            <a:off x="4633987" y="2264941"/>
            <a:ext cx="248022" cy="155004"/>
          </a:xfrm>
          <a:prstGeom prst="rect">
            <a:avLst/>
          </a:prstGeom>
          <a:noFill/>
          <a:ln/>
        </p:spPr>
        <p:txBody>
          <a:bodyPr wrap="none" lIns="0" tIns="0" rIns="0" bIns="0" rtlCol="0" anchor="ctr"/>
          <a:lstStyle/>
          <a:p>
            <a:pPr algn="l" indent="0" marL="0">
              <a:lnSpc>
                <a:spcPts val="1550"/>
              </a:lnSpc>
              <a:buNone/>
            </a:pPr>
            <a:r>
              <a:rPr lang="en-US" sz="950" dirty="0">
                <a:solidFill>
                  <a:srgbClr val="3C3939"/>
                </a:solidFill>
                <a:latin typeface="Raleway Light" pitchFamily="34" charset="0"/>
                <a:ea typeface="Raleway Light" pitchFamily="34" charset="-122"/>
                <a:cs typeface="Raleway Light" pitchFamily="34" charset="-120"/>
              </a:rPr>
              <a:t>02</a:t>
            </a:r>
            <a:endParaRPr lang="en-US" sz="950" dirty="0"/>
          </a:p>
        </p:txBody>
      </p:sp>
      <p:sp>
        <p:nvSpPr>
          <p:cNvPr id="11" name="Shape 9"/>
          <p:cNvSpPr/>
          <p:nvPr/>
        </p:nvSpPr>
        <p:spPr>
          <a:xfrm>
            <a:off x="4633987" y="2461394"/>
            <a:ext cx="4013895" cy="14288"/>
          </a:xfrm>
          <a:prstGeom prst="rect">
            <a:avLst/>
          </a:prstGeom>
          <a:solidFill>
            <a:srgbClr val="1B1B27"/>
          </a:solidFill>
          <a:ln/>
        </p:spPr>
      </p:sp>
      <p:sp>
        <p:nvSpPr>
          <p:cNvPr id="12" name="Text 10"/>
          <p:cNvSpPr/>
          <p:nvPr/>
        </p:nvSpPr>
        <p:spPr>
          <a:xfrm>
            <a:off x="4633987" y="2551956"/>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Click "Try It Out"</a:t>
            </a:r>
            <a:endParaRPr lang="en-US" sz="1200" dirty="0"/>
          </a:p>
        </p:txBody>
      </p:sp>
      <p:sp>
        <p:nvSpPr>
          <p:cNvPr id="13" name="Text 11"/>
          <p:cNvSpPr/>
          <p:nvPr/>
        </p:nvSpPr>
        <p:spPr>
          <a:xfrm>
            <a:off x="4633987" y="2820219"/>
            <a:ext cx="4013895"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Select any endpoint and click the Try It Out button to enable input</a:t>
            </a:r>
            <a:endParaRPr lang="en-US" sz="950" dirty="0"/>
          </a:p>
        </p:txBody>
      </p:sp>
      <p:sp>
        <p:nvSpPr>
          <p:cNvPr id="14" name="Text 12"/>
          <p:cNvSpPr/>
          <p:nvPr/>
        </p:nvSpPr>
        <p:spPr>
          <a:xfrm>
            <a:off x="496119" y="3240435"/>
            <a:ext cx="248022" cy="155004"/>
          </a:xfrm>
          <a:prstGeom prst="rect">
            <a:avLst/>
          </a:prstGeom>
          <a:noFill/>
          <a:ln/>
        </p:spPr>
        <p:txBody>
          <a:bodyPr wrap="none" lIns="0" tIns="0" rIns="0" bIns="0" rtlCol="0" anchor="ctr"/>
          <a:lstStyle/>
          <a:p>
            <a:pPr algn="l" indent="0" marL="0">
              <a:lnSpc>
                <a:spcPts val="1550"/>
              </a:lnSpc>
              <a:buNone/>
            </a:pPr>
            <a:r>
              <a:rPr lang="en-US" sz="950" dirty="0">
                <a:solidFill>
                  <a:srgbClr val="3C3939"/>
                </a:solidFill>
                <a:latin typeface="Raleway Light" pitchFamily="34" charset="0"/>
                <a:ea typeface="Raleway Light" pitchFamily="34" charset="-122"/>
                <a:cs typeface="Raleway Light" pitchFamily="34" charset="-120"/>
              </a:rPr>
              <a:t>03</a:t>
            </a:r>
            <a:endParaRPr lang="en-US" sz="950" dirty="0"/>
          </a:p>
        </p:txBody>
      </p:sp>
      <p:sp>
        <p:nvSpPr>
          <p:cNvPr id="15" name="Shape 13"/>
          <p:cNvSpPr/>
          <p:nvPr/>
        </p:nvSpPr>
        <p:spPr>
          <a:xfrm>
            <a:off x="496119" y="3436888"/>
            <a:ext cx="4013895" cy="14288"/>
          </a:xfrm>
          <a:prstGeom prst="rect">
            <a:avLst/>
          </a:prstGeom>
          <a:solidFill>
            <a:srgbClr val="1B1B27"/>
          </a:solidFill>
          <a:ln/>
        </p:spPr>
      </p:sp>
      <p:sp>
        <p:nvSpPr>
          <p:cNvPr id="16" name="Text 14"/>
          <p:cNvSpPr/>
          <p:nvPr/>
        </p:nvSpPr>
        <p:spPr>
          <a:xfrm>
            <a:off x="496119" y="3527450"/>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Send a Request</a:t>
            </a:r>
            <a:endParaRPr lang="en-US" sz="1200" dirty="0"/>
          </a:p>
        </p:txBody>
      </p:sp>
      <p:sp>
        <p:nvSpPr>
          <p:cNvPr id="17" name="Text 15"/>
          <p:cNvSpPr/>
          <p:nvPr/>
        </p:nvSpPr>
        <p:spPr>
          <a:xfrm>
            <a:off x="496119" y="3795713"/>
            <a:ext cx="4013895"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Fill in parameters or a request body and click Execute</a:t>
            </a:r>
            <a:endParaRPr lang="en-US" sz="950" dirty="0"/>
          </a:p>
        </p:txBody>
      </p:sp>
      <p:sp>
        <p:nvSpPr>
          <p:cNvPr id="18" name="Text 16"/>
          <p:cNvSpPr/>
          <p:nvPr/>
        </p:nvSpPr>
        <p:spPr>
          <a:xfrm>
            <a:off x="4633987" y="3240435"/>
            <a:ext cx="248022" cy="155004"/>
          </a:xfrm>
          <a:prstGeom prst="rect">
            <a:avLst/>
          </a:prstGeom>
          <a:noFill/>
          <a:ln/>
        </p:spPr>
        <p:txBody>
          <a:bodyPr wrap="none" lIns="0" tIns="0" rIns="0" bIns="0" rtlCol="0" anchor="ctr"/>
          <a:lstStyle/>
          <a:p>
            <a:pPr algn="l" indent="0" marL="0">
              <a:lnSpc>
                <a:spcPts val="1550"/>
              </a:lnSpc>
              <a:buNone/>
            </a:pPr>
            <a:r>
              <a:rPr lang="en-US" sz="950" dirty="0">
                <a:solidFill>
                  <a:srgbClr val="3C3939"/>
                </a:solidFill>
                <a:latin typeface="Raleway Light" pitchFamily="34" charset="0"/>
                <a:ea typeface="Raleway Light" pitchFamily="34" charset="-122"/>
                <a:cs typeface="Raleway Light" pitchFamily="34" charset="-120"/>
              </a:rPr>
              <a:t>04</a:t>
            </a:r>
            <a:endParaRPr lang="en-US" sz="950" dirty="0"/>
          </a:p>
        </p:txBody>
      </p:sp>
      <p:sp>
        <p:nvSpPr>
          <p:cNvPr id="19" name="Shape 17"/>
          <p:cNvSpPr/>
          <p:nvPr/>
        </p:nvSpPr>
        <p:spPr>
          <a:xfrm>
            <a:off x="4633987" y="3436888"/>
            <a:ext cx="4013895" cy="14288"/>
          </a:xfrm>
          <a:prstGeom prst="rect">
            <a:avLst/>
          </a:prstGeom>
          <a:solidFill>
            <a:srgbClr val="1B1B27"/>
          </a:solidFill>
          <a:ln/>
        </p:spPr>
      </p:sp>
      <p:sp>
        <p:nvSpPr>
          <p:cNvPr id="20" name="Text 18"/>
          <p:cNvSpPr/>
          <p:nvPr/>
        </p:nvSpPr>
        <p:spPr>
          <a:xfrm>
            <a:off x="4633987" y="3527450"/>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Inspect the Response</a:t>
            </a:r>
            <a:endParaRPr lang="en-US" sz="1200" dirty="0"/>
          </a:p>
        </p:txBody>
      </p:sp>
      <p:sp>
        <p:nvSpPr>
          <p:cNvPr id="21" name="Text 19"/>
          <p:cNvSpPr/>
          <p:nvPr/>
        </p:nvSpPr>
        <p:spPr>
          <a:xfrm>
            <a:off x="4633987" y="3795713"/>
            <a:ext cx="4013895"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See the live status code, response body, and headers returned by your backend</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96119" y="1339825"/>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Over to VS Code</a:t>
            </a:r>
            <a:endParaRPr lang="en-US" sz="2400" dirty="0"/>
          </a:p>
        </p:txBody>
      </p:sp>
      <p:sp>
        <p:nvSpPr>
          <p:cNvPr id="3" name="Text 1"/>
          <p:cNvSpPr/>
          <p:nvPr/>
        </p:nvSpPr>
        <p:spPr>
          <a:xfrm>
            <a:off x="496119" y="1913409"/>
            <a:ext cx="6202263" cy="784771"/>
          </a:xfrm>
          <a:prstGeom prst="rect">
            <a:avLst/>
          </a:prstGeom>
          <a:noFill/>
          <a:ln/>
        </p:spPr>
        <p:txBody>
          <a:bodyPr wrap="none" lIns="0" tIns="0" rIns="0" bIns="0" rtlCol="0" anchor="t"/>
          <a:lstStyle/>
          <a:p>
            <a:pPr algn="l" indent="0" marL="0">
              <a:lnSpc>
                <a:spcPts val="6100"/>
              </a:lnSpc>
              <a:buNone/>
            </a:pPr>
            <a:r>
              <a:rPr lang="en-US" sz="4850" dirty="0">
                <a:solidFill>
                  <a:srgbClr val="000000"/>
                </a:solidFill>
                <a:latin typeface="Raleway" pitchFamily="34" charset="0"/>
                <a:ea typeface="Raleway" pitchFamily="34" charset="-122"/>
                <a:cs typeface="Raleway" pitchFamily="34" charset="-120"/>
              </a:rPr>
              <a:t>👨‍💻</a:t>
            </a:r>
            <a:endParaRPr lang="en-US" sz="4850" dirty="0"/>
          </a:p>
        </p:txBody>
      </p:sp>
      <p:sp>
        <p:nvSpPr>
          <p:cNvPr id="4" name="Text 2"/>
          <p:cNvSpPr/>
          <p:nvPr/>
        </p:nvSpPr>
        <p:spPr>
          <a:xfrm>
            <a:off x="496119" y="2884215"/>
            <a:ext cx="4279553" cy="534888"/>
          </a:xfrm>
          <a:prstGeom prst="rect">
            <a:avLst/>
          </a:prstGeom>
          <a:noFill/>
          <a:ln/>
        </p:spPr>
        <p:txBody>
          <a:bodyPr wrap="none" lIns="0" tIns="0" rIns="0" bIns="0" rtlCol="0" anchor="t"/>
          <a:lstStyle/>
          <a:p>
            <a:pPr algn="l" indent="0" marL="0">
              <a:lnSpc>
                <a:spcPts val="4200"/>
              </a:lnSpc>
              <a:buNone/>
            </a:pPr>
            <a:r>
              <a:rPr lang="en-US" sz="3350" dirty="0">
                <a:solidFill>
                  <a:srgbClr val="1B1B27"/>
                </a:solidFill>
                <a:latin typeface="Raleway" pitchFamily="34" charset="0"/>
                <a:ea typeface="Raleway" pitchFamily="34" charset="-122"/>
                <a:cs typeface="Raleway" pitchFamily="34" charset="-120"/>
              </a:rPr>
              <a:t>Over to VS Code</a:t>
            </a:r>
            <a:endParaRPr lang="en-US" sz="3350" dirty="0"/>
          </a:p>
        </p:txBody>
      </p:sp>
      <p:sp>
        <p:nvSpPr>
          <p:cNvPr id="5" name="Text 3"/>
          <p:cNvSpPr/>
          <p:nvPr/>
        </p:nvSpPr>
        <p:spPr>
          <a:xfrm>
            <a:off x="496119" y="3605138"/>
            <a:ext cx="8151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Build and test GET endpoints with path and query parameters, then create a POST endpoint with a Pydantic model.</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61987" y="368424"/>
            <a:ext cx="3304952" cy="4406652"/>
          </a:xfrm>
          <a:prstGeom prst="rect">
            <a:avLst/>
          </a:prstGeom>
        </p:spPr>
      </p:pic>
      <p:sp>
        <p:nvSpPr>
          <p:cNvPr id="4" name="Text 1"/>
          <p:cNvSpPr/>
          <p:nvPr/>
        </p:nvSpPr>
        <p:spPr>
          <a:xfrm>
            <a:off x="3925119" y="1638895"/>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Part 4</a:t>
            </a:r>
            <a:endParaRPr lang="en-US" sz="2400" dirty="0"/>
          </a:p>
        </p:txBody>
      </p:sp>
      <p:sp>
        <p:nvSpPr>
          <p:cNvPr id="5" name="Text 2"/>
          <p:cNvSpPr/>
          <p:nvPr/>
        </p:nvSpPr>
        <p:spPr>
          <a:xfrm>
            <a:off x="3925119" y="2212479"/>
            <a:ext cx="4279553" cy="534888"/>
          </a:xfrm>
          <a:prstGeom prst="rect">
            <a:avLst/>
          </a:prstGeom>
          <a:noFill/>
          <a:ln/>
        </p:spPr>
        <p:txBody>
          <a:bodyPr wrap="none" lIns="0" tIns="0" rIns="0" bIns="0" rtlCol="0" anchor="t"/>
          <a:lstStyle/>
          <a:p>
            <a:pPr algn="l" indent="0" marL="0">
              <a:lnSpc>
                <a:spcPts val="4200"/>
              </a:lnSpc>
              <a:buNone/>
            </a:pPr>
            <a:r>
              <a:rPr lang="en-US" sz="3350" dirty="0">
                <a:solidFill>
                  <a:srgbClr val="1B1B27"/>
                </a:solidFill>
                <a:latin typeface="Raleway" pitchFamily="34" charset="0"/>
                <a:ea typeface="Raleway" pitchFamily="34" charset="-122"/>
                <a:cs typeface="Raleway" pitchFamily="34" charset="-120"/>
              </a:rPr>
              <a:t>Business Logic</a:t>
            </a:r>
            <a:endParaRPr lang="en-US" sz="3350" dirty="0"/>
          </a:p>
        </p:txBody>
      </p:sp>
      <p:sp>
        <p:nvSpPr>
          <p:cNvPr id="6" name="Text 3"/>
          <p:cNvSpPr/>
          <p:nvPr/>
        </p:nvSpPr>
        <p:spPr>
          <a:xfrm>
            <a:off x="3925119" y="2933402"/>
            <a:ext cx="4722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Adding real decisions, calculations, and filtering to your backend endpoints.</a:t>
            </a:r>
            <a:endParaRPr lang="en-US" sz="950" dirty="0"/>
          </a:p>
        </p:txBody>
      </p:sp>
      <p:sp>
        <p:nvSpPr>
          <p:cNvPr id="7" name="Shape 4"/>
          <p:cNvSpPr/>
          <p:nvPr/>
        </p:nvSpPr>
        <p:spPr>
          <a:xfrm>
            <a:off x="3925119" y="3271391"/>
            <a:ext cx="692348" cy="233214"/>
          </a:xfrm>
          <a:prstGeom prst="roundRect">
            <a:avLst>
              <a:gd name="adj" fmla="val 17872"/>
            </a:avLst>
          </a:prstGeom>
          <a:solidFill>
            <a:srgbClr val="E1E1EA"/>
          </a:solidFill>
          <a:ln/>
        </p:spPr>
      </p:sp>
      <p:sp>
        <p:nvSpPr>
          <p:cNvPr id="8" name="Text 5"/>
          <p:cNvSpPr/>
          <p:nvPr/>
        </p:nvSpPr>
        <p:spPr>
          <a:xfrm>
            <a:off x="3999533" y="3308598"/>
            <a:ext cx="543520"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PART 4 OF 6</a:t>
            </a:r>
            <a:endParaRPr lang="en-US" sz="7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96119" y="1075953"/>
            <a:ext cx="1359694" cy="242739"/>
          </a:xfrm>
          <a:prstGeom prst="roundRect">
            <a:avLst>
              <a:gd name="adj" fmla="val 17171"/>
            </a:avLst>
          </a:prstGeom>
          <a:noFill/>
          <a:ln w="4763">
            <a:solidFill>
              <a:srgbClr val="1B1B27"/>
            </a:solidFill>
            <a:prstDash val="solid"/>
          </a:ln>
        </p:spPr>
      </p:sp>
      <p:sp>
        <p:nvSpPr>
          <p:cNvPr id="3" name="Text 1"/>
          <p:cNvSpPr/>
          <p:nvPr/>
        </p:nvSpPr>
        <p:spPr>
          <a:xfrm>
            <a:off x="575295" y="1117922"/>
            <a:ext cx="1201341"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4 — BUSINESS LOGIC</a:t>
            </a:r>
            <a:endParaRPr lang="en-US" sz="750" dirty="0"/>
          </a:p>
        </p:txBody>
      </p:sp>
      <p:sp>
        <p:nvSpPr>
          <p:cNvPr id="4" name="Text 2"/>
          <p:cNvSpPr/>
          <p:nvPr/>
        </p:nvSpPr>
        <p:spPr>
          <a:xfrm>
            <a:off x="496119" y="1368251"/>
            <a:ext cx="3439790"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What is Business Logic?</a:t>
            </a:r>
            <a:endParaRPr lang="en-US" sz="2400" dirty="0"/>
          </a:p>
        </p:txBody>
      </p:sp>
      <p:sp>
        <p:nvSpPr>
          <p:cNvPr id="5" name="Text 3"/>
          <p:cNvSpPr/>
          <p:nvPr/>
        </p:nvSpPr>
        <p:spPr>
          <a:xfrm>
            <a:off x="496119" y="1941835"/>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Business logic is what separates a real backend from a simple data pipe. It is the set of rules, decisions, and calculations that define how your system behaves — what is allowed, what gets computed, and what gets returned.</a:t>
            </a:r>
            <a:endParaRPr lang="en-US" sz="950" dirty="0"/>
          </a:p>
        </p:txBody>
      </p:sp>
      <p:sp>
        <p:nvSpPr>
          <p:cNvPr id="6" name="Shape 4"/>
          <p:cNvSpPr/>
          <p:nvPr/>
        </p:nvSpPr>
        <p:spPr>
          <a:xfrm>
            <a:off x="496119" y="2478286"/>
            <a:ext cx="2634555" cy="922660"/>
          </a:xfrm>
          <a:prstGeom prst="roundRect">
            <a:avLst>
              <a:gd name="adj" fmla="val 5647"/>
            </a:avLst>
          </a:prstGeom>
          <a:solidFill>
            <a:srgbClr val="E1E1EA"/>
          </a:solidFill>
          <a:ln w="4763">
            <a:solidFill>
              <a:srgbClr val="C7C7D0"/>
            </a:solidFill>
            <a:prstDash val="solid"/>
          </a:ln>
        </p:spPr>
      </p:sp>
      <p:sp>
        <p:nvSpPr>
          <p:cNvPr id="7" name="Text 5"/>
          <p:cNvSpPr/>
          <p:nvPr/>
        </p:nvSpPr>
        <p:spPr>
          <a:xfrm>
            <a:off x="624855" y="2607022"/>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Rules</a:t>
            </a:r>
            <a:endParaRPr lang="en-US" sz="1200" dirty="0"/>
          </a:p>
        </p:txBody>
      </p:sp>
      <p:sp>
        <p:nvSpPr>
          <p:cNvPr id="8" name="Text 6"/>
          <p:cNvSpPr/>
          <p:nvPr/>
        </p:nvSpPr>
        <p:spPr>
          <a:xfrm>
            <a:off x="624855" y="2875285"/>
            <a:ext cx="237708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What conditions must be met for an action to proceed</a:t>
            </a:r>
            <a:endParaRPr lang="en-US" sz="950" dirty="0"/>
          </a:p>
        </p:txBody>
      </p:sp>
      <p:sp>
        <p:nvSpPr>
          <p:cNvPr id="9" name="Shape 7"/>
          <p:cNvSpPr/>
          <p:nvPr/>
        </p:nvSpPr>
        <p:spPr>
          <a:xfrm>
            <a:off x="3254648" y="2478286"/>
            <a:ext cx="2634630" cy="922660"/>
          </a:xfrm>
          <a:prstGeom prst="roundRect">
            <a:avLst>
              <a:gd name="adj" fmla="val 5647"/>
            </a:avLst>
          </a:prstGeom>
          <a:solidFill>
            <a:srgbClr val="E1E1EA"/>
          </a:solidFill>
          <a:ln w="4763">
            <a:solidFill>
              <a:srgbClr val="C7C7D0"/>
            </a:solidFill>
            <a:prstDash val="solid"/>
          </a:ln>
        </p:spPr>
      </p:sp>
      <p:sp>
        <p:nvSpPr>
          <p:cNvPr id="10" name="Text 8"/>
          <p:cNvSpPr/>
          <p:nvPr/>
        </p:nvSpPr>
        <p:spPr>
          <a:xfrm>
            <a:off x="3383384" y="2607022"/>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Decisions</a:t>
            </a:r>
            <a:endParaRPr lang="en-US" sz="1200" dirty="0"/>
          </a:p>
        </p:txBody>
      </p:sp>
      <p:sp>
        <p:nvSpPr>
          <p:cNvPr id="11" name="Text 9"/>
          <p:cNvSpPr/>
          <p:nvPr/>
        </p:nvSpPr>
        <p:spPr>
          <a:xfrm>
            <a:off x="3383384" y="2875285"/>
            <a:ext cx="2377157"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Branching logic that determines different outcomes based on input</a:t>
            </a:r>
            <a:endParaRPr lang="en-US" sz="950" dirty="0"/>
          </a:p>
        </p:txBody>
      </p:sp>
      <p:sp>
        <p:nvSpPr>
          <p:cNvPr id="12" name="Shape 10"/>
          <p:cNvSpPr/>
          <p:nvPr/>
        </p:nvSpPr>
        <p:spPr>
          <a:xfrm>
            <a:off x="6013252" y="2478286"/>
            <a:ext cx="2634555" cy="922660"/>
          </a:xfrm>
          <a:prstGeom prst="roundRect">
            <a:avLst>
              <a:gd name="adj" fmla="val 5647"/>
            </a:avLst>
          </a:prstGeom>
          <a:solidFill>
            <a:srgbClr val="E1E1EA"/>
          </a:solidFill>
          <a:ln w="4763">
            <a:solidFill>
              <a:srgbClr val="C7C7D0"/>
            </a:solidFill>
            <a:prstDash val="solid"/>
          </a:ln>
        </p:spPr>
      </p:sp>
      <p:sp>
        <p:nvSpPr>
          <p:cNvPr id="13" name="Text 11"/>
          <p:cNvSpPr/>
          <p:nvPr/>
        </p:nvSpPr>
        <p:spPr>
          <a:xfrm>
            <a:off x="6141988" y="2607022"/>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Calculations</a:t>
            </a:r>
            <a:endParaRPr lang="en-US" sz="1200" dirty="0"/>
          </a:p>
        </p:txBody>
      </p:sp>
      <p:sp>
        <p:nvSpPr>
          <p:cNvPr id="14" name="Text 12"/>
          <p:cNvSpPr/>
          <p:nvPr/>
        </p:nvSpPr>
        <p:spPr>
          <a:xfrm>
            <a:off x="6141988" y="2875285"/>
            <a:ext cx="237708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Computing totals, discounts, taxes, scores, or any derived value</a:t>
            </a:r>
            <a:endParaRPr lang="en-US" sz="950" dirty="0"/>
          </a:p>
        </p:txBody>
      </p:sp>
      <p:sp>
        <p:nvSpPr>
          <p:cNvPr id="15" name="Shape 13"/>
          <p:cNvSpPr/>
          <p:nvPr/>
        </p:nvSpPr>
        <p:spPr>
          <a:xfrm>
            <a:off x="496119" y="3540472"/>
            <a:ext cx="8151763" cy="527000"/>
          </a:xfrm>
          <a:prstGeom prst="roundRect">
            <a:avLst>
              <a:gd name="adj" fmla="val 9886"/>
            </a:avLst>
          </a:prstGeom>
          <a:solidFill>
            <a:srgbClr val="B6D6FC"/>
          </a:solidFill>
          <a:ln/>
        </p:spPr>
      </p:sp>
      <p:pic>
        <p:nvPicPr>
          <p:cNvPr id="16" name="Image 0" descr="preencoded.png">    </p:cNvPr>
          <p:cNvPicPr>
            <a:picLocks noChangeAspect="1"/>
          </p:cNvPicPr>
          <p:nvPr/>
        </p:nvPicPr>
        <p:blipFill>
          <a:blip r:embed="rId1"/>
          <a:stretch>
            <a:fillRect/>
          </a:stretch>
        </p:blipFill>
        <p:spPr>
          <a:xfrm>
            <a:off x="620092" y="3725019"/>
            <a:ext cx="155004" cy="123974"/>
          </a:xfrm>
          <a:prstGeom prst="rect">
            <a:avLst/>
          </a:prstGeom>
        </p:spPr>
      </p:pic>
      <p:sp>
        <p:nvSpPr>
          <p:cNvPr id="17" name="Text 14"/>
          <p:cNvSpPr/>
          <p:nvPr/>
        </p:nvSpPr>
        <p:spPr>
          <a:xfrm>
            <a:off x="899071" y="3695402"/>
            <a:ext cx="7624837" cy="198462"/>
          </a:xfrm>
          <a:prstGeom prst="rect">
            <a:avLst/>
          </a:prstGeom>
          <a:noFill/>
          <a:ln/>
        </p:spPr>
        <p:txBody>
          <a:bodyPr wrap="non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Business logic lives exclusively in the backend — the client should never be trusted to compute or enforce rules.</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96119" y="1079078"/>
            <a:ext cx="1359694" cy="242739"/>
          </a:xfrm>
          <a:prstGeom prst="roundRect">
            <a:avLst>
              <a:gd name="adj" fmla="val 17171"/>
            </a:avLst>
          </a:prstGeom>
          <a:noFill/>
          <a:ln w="4763">
            <a:solidFill>
              <a:srgbClr val="1B1B27"/>
            </a:solidFill>
            <a:prstDash val="solid"/>
          </a:ln>
        </p:spPr>
      </p:sp>
      <p:sp>
        <p:nvSpPr>
          <p:cNvPr id="3" name="Text 1"/>
          <p:cNvSpPr/>
          <p:nvPr/>
        </p:nvSpPr>
        <p:spPr>
          <a:xfrm>
            <a:off x="575295" y="1121048"/>
            <a:ext cx="1201341"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4 — BUSINESS LOGIC</a:t>
            </a:r>
            <a:endParaRPr lang="en-US" sz="750" dirty="0"/>
          </a:p>
        </p:txBody>
      </p:sp>
      <p:sp>
        <p:nvSpPr>
          <p:cNvPr id="4" name="Text 2"/>
          <p:cNvSpPr/>
          <p:nvPr/>
        </p:nvSpPr>
        <p:spPr>
          <a:xfrm>
            <a:off x="496119" y="1371377"/>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Adding Calculations</a:t>
            </a:r>
            <a:endParaRPr lang="en-US" sz="2400" dirty="0"/>
          </a:p>
        </p:txBody>
      </p:sp>
      <p:sp>
        <p:nvSpPr>
          <p:cNvPr id="5" name="Text 3"/>
          <p:cNvSpPr/>
          <p:nvPr/>
        </p:nvSpPr>
        <p:spPr>
          <a:xfrm>
            <a:off x="496119" y="1944960"/>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simplest form of business logic is a calculation. Your endpoint receives data from the client, applies a formula, and returns the computed result. The client never sees the formula — only the answer.</a:t>
            </a:r>
            <a:endParaRPr lang="en-US" sz="950" dirty="0"/>
          </a:p>
        </p:txBody>
      </p:sp>
      <p:sp>
        <p:nvSpPr>
          <p:cNvPr id="6" name="Shape 4"/>
          <p:cNvSpPr/>
          <p:nvPr/>
        </p:nvSpPr>
        <p:spPr>
          <a:xfrm>
            <a:off x="496119" y="2481411"/>
            <a:ext cx="8151763" cy="1041797"/>
          </a:xfrm>
          <a:prstGeom prst="roundRect">
            <a:avLst>
              <a:gd name="adj" fmla="val 5001"/>
            </a:avLst>
          </a:prstGeom>
          <a:solidFill>
            <a:srgbClr val="F2F2F2"/>
          </a:solidFill>
          <a:ln/>
        </p:spPr>
      </p:sp>
      <p:sp>
        <p:nvSpPr>
          <p:cNvPr id="7" name="Shape 5"/>
          <p:cNvSpPr/>
          <p:nvPr/>
        </p:nvSpPr>
        <p:spPr>
          <a:xfrm>
            <a:off x="489942" y="2481411"/>
            <a:ext cx="8164116" cy="1041797"/>
          </a:xfrm>
          <a:prstGeom prst="roundRect">
            <a:avLst>
              <a:gd name="adj" fmla="val 1786"/>
            </a:avLst>
          </a:prstGeom>
          <a:solidFill>
            <a:srgbClr val="F2F2F2"/>
          </a:solidFill>
          <a:ln/>
        </p:spPr>
      </p:sp>
      <p:sp>
        <p:nvSpPr>
          <p:cNvPr id="8" name="Text 6"/>
          <p:cNvSpPr/>
          <p:nvPr/>
        </p:nvSpPr>
        <p:spPr>
          <a:xfrm>
            <a:off x="644947" y="2605385"/>
            <a:ext cx="7854107" cy="793849"/>
          </a:xfrm>
          <a:prstGeom prst="rect">
            <a:avLst/>
          </a:prstGeom>
          <a:noFill/>
          <a:ln/>
        </p:spPr>
        <p:txBody>
          <a:bodyPr wrap="square" lIns="0" tIns="0" rIns="0" bIns="0" rtlCol="0" anchor="t"/>
          <a:lstStyle/>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@app.post("/items")</a:t>
            </a:r>
            <a:endParaRPr lang="en-US" sz="950" dirty="0"/>
          </a:p>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def create_item(item: Item):</a:t>
            </a:r>
            <a:endParaRPr lang="en-US" sz="950" dirty="0"/>
          </a:p>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    total = item.price * item.quantity</a:t>
            </a:r>
            <a:endParaRPr lang="en-US" sz="950" dirty="0"/>
          </a:p>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    return {"item": item.name, "total": total}</a:t>
            </a:r>
            <a:endParaRPr lang="en-US" sz="950" dirty="0"/>
          </a:p>
        </p:txBody>
      </p:sp>
      <p:sp>
        <p:nvSpPr>
          <p:cNvPr id="9" name="Text 7"/>
          <p:cNvSpPr/>
          <p:nvPr/>
        </p:nvSpPr>
        <p:spPr>
          <a:xfrm>
            <a:off x="496119" y="3662735"/>
            <a:ext cx="8151763" cy="4016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Here the backend computes the total cost from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price</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and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quantity</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The client simply sends the raw values — the backend does the math and returns the result. This is the correct separation of concerns.</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96119" y="684535"/>
            <a:ext cx="1359694" cy="242739"/>
          </a:xfrm>
          <a:prstGeom prst="roundRect">
            <a:avLst>
              <a:gd name="adj" fmla="val 17171"/>
            </a:avLst>
          </a:prstGeom>
          <a:noFill/>
          <a:ln w="4763">
            <a:solidFill>
              <a:srgbClr val="1B1B27"/>
            </a:solidFill>
            <a:prstDash val="solid"/>
          </a:ln>
        </p:spPr>
      </p:sp>
      <p:sp>
        <p:nvSpPr>
          <p:cNvPr id="3" name="Text 1"/>
          <p:cNvSpPr/>
          <p:nvPr/>
        </p:nvSpPr>
        <p:spPr>
          <a:xfrm>
            <a:off x="575295" y="726504"/>
            <a:ext cx="1201341"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4 — BUSINESS LOGIC</a:t>
            </a:r>
            <a:endParaRPr lang="en-US" sz="750" dirty="0"/>
          </a:p>
        </p:txBody>
      </p:sp>
      <p:sp>
        <p:nvSpPr>
          <p:cNvPr id="4" name="Text 2"/>
          <p:cNvSpPr/>
          <p:nvPr/>
        </p:nvSpPr>
        <p:spPr>
          <a:xfrm>
            <a:off x="496119" y="976833"/>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Conditional Logic</a:t>
            </a:r>
            <a:endParaRPr lang="en-US" sz="2400" dirty="0"/>
          </a:p>
        </p:txBody>
      </p:sp>
      <p:sp>
        <p:nvSpPr>
          <p:cNvPr id="5" name="Text 3"/>
          <p:cNvSpPr/>
          <p:nvPr/>
        </p:nvSpPr>
        <p:spPr>
          <a:xfrm>
            <a:off x="496119" y="1550417"/>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Real systems rarely return the same result for every request. Conditional logic allows your backend to make decisions — applying different rules based on the values it receives.</a:t>
            </a:r>
            <a:endParaRPr lang="en-US" sz="950" dirty="0"/>
          </a:p>
        </p:txBody>
      </p:sp>
      <p:sp>
        <p:nvSpPr>
          <p:cNvPr id="6" name="Shape 4"/>
          <p:cNvSpPr/>
          <p:nvPr/>
        </p:nvSpPr>
        <p:spPr>
          <a:xfrm>
            <a:off x="496119" y="2086868"/>
            <a:ext cx="8151763" cy="1835646"/>
          </a:xfrm>
          <a:prstGeom prst="roundRect">
            <a:avLst>
              <a:gd name="adj" fmla="val 2838"/>
            </a:avLst>
          </a:prstGeom>
          <a:solidFill>
            <a:srgbClr val="F2F2F2"/>
          </a:solidFill>
          <a:ln/>
        </p:spPr>
      </p:sp>
      <p:sp>
        <p:nvSpPr>
          <p:cNvPr id="7" name="Shape 5"/>
          <p:cNvSpPr/>
          <p:nvPr/>
        </p:nvSpPr>
        <p:spPr>
          <a:xfrm>
            <a:off x="489942" y="2086868"/>
            <a:ext cx="8164116" cy="1835646"/>
          </a:xfrm>
          <a:prstGeom prst="roundRect">
            <a:avLst>
              <a:gd name="adj" fmla="val 1014"/>
            </a:avLst>
          </a:prstGeom>
          <a:solidFill>
            <a:srgbClr val="F2F2F2"/>
          </a:solidFill>
          <a:ln/>
        </p:spPr>
      </p:sp>
      <p:sp>
        <p:nvSpPr>
          <p:cNvPr id="8" name="Text 6"/>
          <p:cNvSpPr/>
          <p:nvPr/>
        </p:nvSpPr>
        <p:spPr>
          <a:xfrm>
            <a:off x="644947" y="2210842"/>
            <a:ext cx="7854107" cy="1587698"/>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total = item.price * item.quantity</a:t>
            </a:r>
            <a:endParaRPr lang="en-US" sz="950" dirty="0"/>
          </a:p>
          <a:p>
            <a:pPr algn="l" indent="0" marL="0">
              <a:lnSpc>
                <a:spcPts val="1550"/>
              </a:lnSpc>
              <a:buNone/>
            </a:pP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if total &gt; 10000:</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    discount = 0.1 * total</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    total = total - discount</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    return {"total": total, "discount_applied": True}</a:t>
            </a:r>
            <a:endParaRPr lang="en-US" sz="950" dirty="0"/>
          </a:p>
          <a:p>
            <a:pPr algn="l" indent="0" marL="0">
              <a:lnSpc>
                <a:spcPts val="1550"/>
              </a:lnSpc>
              <a:buNone/>
            </a:pP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return {"total": total, "discount_applied": False}</a:t>
            </a:r>
            <a:endParaRPr lang="en-US" sz="950" dirty="0"/>
          </a:p>
        </p:txBody>
      </p:sp>
      <p:sp>
        <p:nvSpPr>
          <p:cNvPr id="9" name="Text 7"/>
          <p:cNvSpPr/>
          <p:nvPr/>
        </p:nvSpPr>
        <p:spPr>
          <a:xfrm>
            <a:off x="496119" y="4062040"/>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Orders above $10,000 receive a 10% discount automatically. The client doesn't decide this — the backend enforces the rule every time, consistently and reliably.</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496119" y="1305446"/>
            <a:ext cx="1359694" cy="242739"/>
          </a:xfrm>
          <a:prstGeom prst="roundRect">
            <a:avLst>
              <a:gd name="adj" fmla="val 17171"/>
            </a:avLst>
          </a:prstGeom>
          <a:noFill/>
          <a:ln w="4763">
            <a:solidFill>
              <a:srgbClr val="1B1B27"/>
            </a:solidFill>
            <a:prstDash val="solid"/>
          </a:ln>
        </p:spPr>
      </p:sp>
      <p:sp>
        <p:nvSpPr>
          <p:cNvPr id="3" name="Text 1"/>
          <p:cNvSpPr/>
          <p:nvPr/>
        </p:nvSpPr>
        <p:spPr>
          <a:xfrm>
            <a:off x="575295" y="1347415"/>
            <a:ext cx="1201341"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4 — BUSINESS LOGIC</a:t>
            </a:r>
            <a:endParaRPr lang="en-US" sz="750" dirty="0"/>
          </a:p>
        </p:txBody>
      </p:sp>
      <p:sp>
        <p:nvSpPr>
          <p:cNvPr id="4" name="Text 2"/>
          <p:cNvSpPr/>
          <p:nvPr/>
        </p:nvSpPr>
        <p:spPr>
          <a:xfrm>
            <a:off x="496119" y="1597744"/>
            <a:ext cx="4043511"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Why Business Logic Matters</a:t>
            </a:r>
            <a:endParaRPr lang="en-US" sz="2400" dirty="0"/>
          </a:p>
        </p:txBody>
      </p:sp>
      <p:sp>
        <p:nvSpPr>
          <p:cNvPr id="5" name="Text 3"/>
          <p:cNvSpPr/>
          <p:nvPr/>
        </p:nvSpPr>
        <p:spPr>
          <a:xfrm>
            <a:off x="496119" y="2171328"/>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Without business logic, your API is just a data pass-through. With it, your backend becomes an intelligent system that enforces rules, calculates results, and delivers meaningful, dynamic responses tailored to each request.</a:t>
            </a:r>
            <a:endParaRPr lang="en-US" sz="9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2707779"/>
            <a:ext cx="310083" cy="310083"/>
          </a:xfrm>
          <a:prstGeom prst="rect">
            <a:avLst/>
          </a:prstGeom>
        </p:spPr>
      </p:pic>
      <p:sp>
        <p:nvSpPr>
          <p:cNvPr id="7" name="Text 4"/>
          <p:cNvSpPr/>
          <p:nvPr/>
        </p:nvSpPr>
        <p:spPr>
          <a:xfrm>
            <a:off x="496119" y="3172867"/>
            <a:ext cx="1648941"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Real Backend Behavior</a:t>
            </a:r>
            <a:endParaRPr lang="en-US" sz="1200" dirty="0"/>
          </a:p>
        </p:txBody>
      </p:sp>
      <p:sp>
        <p:nvSpPr>
          <p:cNvPr id="8" name="Text 5"/>
          <p:cNvSpPr/>
          <p:nvPr/>
        </p:nvSpPr>
        <p:spPr>
          <a:xfrm>
            <a:off x="496119" y="3441129"/>
            <a:ext cx="2613868"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Your API behaves like a real product — not just a database wrapper</a:t>
            </a:r>
            <a:endParaRPr lang="en-US" sz="9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64991" y="2707779"/>
            <a:ext cx="310083" cy="310083"/>
          </a:xfrm>
          <a:prstGeom prst="rect">
            <a:avLst/>
          </a:prstGeom>
        </p:spPr>
      </p:pic>
      <p:sp>
        <p:nvSpPr>
          <p:cNvPr id="10" name="Text 6"/>
          <p:cNvSpPr/>
          <p:nvPr/>
        </p:nvSpPr>
        <p:spPr>
          <a:xfrm>
            <a:off x="3264991" y="3172867"/>
            <a:ext cx="1968252"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Consistent Decision Making</a:t>
            </a:r>
            <a:endParaRPr lang="en-US" sz="1200" dirty="0"/>
          </a:p>
        </p:txBody>
      </p:sp>
      <p:sp>
        <p:nvSpPr>
          <p:cNvPr id="11" name="Text 7"/>
          <p:cNvSpPr/>
          <p:nvPr/>
        </p:nvSpPr>
        <p:spPr>
          <a:xfrm>
            <a:off x="3264991" y="3441129"/>
            <a:ext cx="261394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Rules are enforced the same way every time, for every user</a:t>
            </a:r>
            <a:endParaRPr lang="en-US" sz="9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33939" y="2707779"/>
            <a:ext cx="310083" cy="310083"/>
          </a:xfrm>
          <a:prstGeom prst="rect">
            <a:avLst/>
          </a:prstGeom>
        </p:spPr>
      </p:pic>
      <p:sp>
        <p:nvSpPr>
          <p:cNvPr id="13" name="Text 8"/>
          <p:cNvSpPr/>
          <p:nvPr/>
        </p:nvSpPr>
        <p:spPr>
          <a:xfrm>
            <a:off x="6033939" y="3172867"/>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Dynamic Responses</a:t>
            </a:r>
            <a:endParaRPr lang="en-US" sz="1200" dirty="0"/>
          </a:p>
        </p:txBody>
      </p:sp>
      <p:sp>
        <p:nvSpPr>
          <p:cNvPr id="14" name="Text 9"/>
          <p:cNvSpPr/>
          <p:nvPr/>
        </p:nvSpPr>
        <p:spPr>
          <a:xfrm>
            <a:off x="6033939" y="3441129"/>
            <a:ext cx="261394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Different inputs produce different outputs — the system reacts intelligently</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496119" y="356592"/>
            <a:ext cx="1359694" cy="242739"/>
          </a:xfrm>
          <a:prstGeom prst="roundRect">
            <a:avLst>
              <a:gd name="adj" fmla="val 17171"/>
            </a:avLst>
          </a:prstGeom>
          <a:noFill/>
          <a:ln w="4763">
            <a:solidFill>
              <a:srgbClr val="1B1B27"/>
            </a:solidFill>
            <a:prstDash val="solid"/>
          </a:ln>
        </p:spPr>
      </p:sp>
      <p:sp>
        <p:nvSpPr>
          <p:cNvPr id="3" name="Text 1"/>
          <p:cNvSpPr/>
          <p:nvPr/>
        </p:nvSpPr>
        <p:spPr>
          <a:xfrm>
            <a:off x="575295" y="398562"/>
            <a:ext cx="1201341"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4 — BUSINESS LOGIC</a:t>
            </a:r>
            <a:endParaRPr lang="en-US" sz="750" dirty="0"/>
          </a:p>
        </p:txBody>
      </p:sp>
      <p:sp>
        <p:nvSpPr>
          <p:cNvPr id="4" name="Text 2"/>
          <p:cNvSpPr/>
          <p:nvPr/>
        </p:nvSpPr>
        <p:spPr>
          <a:xfrm>
            <a:off x="496119" y="648891"/>
            <a:ext cx="4322266"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Separating Logic From Routes</a:t>
            </a:r>
            <a:endParaRPr lang="en-US" sz="2400" dirty="0"/>
          </a:p>
        </p:txBody>
      </p:sp>
      <p:sp>
        <p:nvSpPr>
          <p:cNvPr id="5" name="Text 3"/>
          <p:cNvSpPr/>
          <p:nvPr/>
        </p:nvSpPr>
        <p:spPr>
          <a:xfrm>
            <a:off x="496119" y="1222474"/>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As your API grows, putting all logic inside route functions creates messy, untestable, hard-to-maintain code. The best practice is to extract business logic into dedicated helper functions and call them from your routes.</a:t>
            </a:r>
            <a:endParaRPr lang="en-US" sz="950" dirty="0"/>
          </a:p>
        </p:txBody>
      </p:sp>
      <p:sp>
        <p:nvSpPr>
          <p:cNvPr id="6" name="Text 4"/>
          <p:cNvSpPr/>
          <p:nvPr/>
        </p:nvSpPr>
        <p:spPr>
          <a:xfrm>
            <a:off x="496119" y="1882899"/>
            <a:ext cx="2059484" cy="193849"/>
          </a:xfrm>
          <a:prstGeom prst="rect">
            <a:avLst/>
          </a:prstGeom>
          <a:noFill/>
          <a:ln/>
        </p:spPr>
        <p:txBody>
          <a:bodyPr wrap="none" lIns="0" tIns="0" rIns="0" bIns="0" rtlCol="0" anchor="t"/>
          <a:lstStyle/>
          <a:p>
            <a:pPr algn="l" indent="0" marL="0">
              <a:lnSpc>
                <a:spcPts val="1500"/>
              </a:lnSpc>
              <a:buNone/>
            </a:pPr>
            <a:r>
              <a:rPr lang="en-US" sz="1200" dirty="0">
                <a:solidFill>
                  <a:srgbClr val="000000"/>
                </a:solidFill>
                <a:latin typeface="Raleway" pitchFamily="34" charset="0"/>
                <a:ea typeface="Raleway" pitchFamily="34" charset="-122"/>
                <a:cs typeface="Raleway" pitchFamily="34" charset="-120"/>
              </a:rPr>
              <a:t>❌</a:t>
            </a:r>
            <a:pPr algn="l" indent="0" marL="0">
              <a:lnSpc>
                <a:spcPts val="1500"/>
              </a:lnSpc>
              <a:buNone/>
            </a:pPr>
            <a:r>
              <a:rPr lang="en-US" sz="1200" dirty="0">
                <a:solidFill>
                  <a:srgbClr val="1B1B27"/>
                </a:solidFill>
                <a:latin typeface="Raleway" pitchFamily="34" charset="0"/>
                <a:ea typeface="Raleway" pitchFamily="34" charset="-122"/>
                <a:cs typeface="Raleway" pitchFamily="34" charset="-120"/>
              </a:rPr>
              <a:t> Bad — Logic Inside Route</a:t>
            </a:r>
            <a:endParaRPr lang="en-US" sz="1200" dirty="0"/>
          </a:p>
        </p:txBody>
      </p:sp>
      <p:sp>
        <p:nvSpPr>
          <p:cNvPr id="7" name="Shape 5"/>
          <p:cNvSpPr/>
          <p:nvPr/>
        </p:nvSpPr>
        <p:spPr>
          <a:xfrm>
            <a:off x="496119" y="2216274"/>
            <a:ext cx="3924598" cy="1438721"/>
          </a:xfrm>
          <a:prstGeom prst="roundRect">
            <a:avLst>
              <a:gd name="adj" fmla="val 3621"/>
            </a:avLst>
          </a:prstGeom>
          <a:solidFill>
            <a:srgbClr val="F2F2F2"/>
          </a:solidFill>
          <a:ln/>
        </p:spPr>
      </p:sp>
      <p:sp>
        <p:nvSpPr>
          <p:cNvPr id="8" name="Shape 6"/>
          <p:cNvSpPr/>
          <p:nvPr/>
        </p:nvSpPr>
        <p:spPr>
          <a:xfrm>
            <a:off x="489942" y="2216274"/>
            <a:ext cx="3936950" cy="1438721"/>
          </a:xfrm>
          <a:prstGeom prst="roundRect">
            <a:avLst>
              <a:gd name="adj" fmla="val 1293"/>
            </a:avLst>
          </a:prstGeom>
          <a:solidFill>
            <a:srgbClr val="F2F2F2"/>
          </a:solidFill>
          <a:ln/>
        </p:spPr>
      </p:sp>
      <p:sp>
        <p:nvSpPr>
          <p:cNvPr id="9" name="Text 7"/>
          <p:cNvSpPr/>
          <p:nvPr/>
        </p:nvSpPr>
        <p:spPr>
          <a:xfrm>
            <a:off x="644947" y="2340248"/>
            <a:ext cx="3626941" cy="1190774"/>
          </a:xfrm>
          <a:prstGeom prst="rect">
            <a:avLst/>
          </a:prstGeom>
          <a:noFill/>
          <a:ln/>
        </p:spPr>
        <p:txBody>
          <a:bodyPr wrap="square" lIns="0" tIns="0" rIns="0" bIns="0" rtlCol="0" anchor="t"/>
          <a:lstStyle/>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@app.post("/items")</a:t>
            </a:r>
            <a:endParaRPr lang="en-US" sz="950" dirty="0"/>
          </a:p>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def create_item(item: Item):</a:t>
            </a:r>
            <a:endParaRPr lang="en-US" sz="950" dirty="0"/>
          </a:p>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    total = item.price * item.qty</a:t>
            </a:r>
            <a:endParaRPr lang="en-US" sz="950" dirty="0"/>
          </a:p>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    if total &gt; 10000:</a:t>
            </a:r>
            <a:endParaRPr lang="en-US" sz="950" dirty="0"/>
          </a:p>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        total -= 0.1 * total</a:t>
            </a:r>
            <a:endParaRPr lang="en-US" sz="950" dirty="0"/>
          </a:p>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    return {"total": total}</a:t>
            </a:r>
            <a:endParaRPr lang="en-US" sz="950" dirty="0"/>
          </a:p>
        </p:txBody>
      </p:sp>
      <p:sp>
        <p:nvSpPr>
          <p:cNvPr id="10" name="Shape 8"/>
          <p:cNvSpPr/>
          <p:nvPr/>
        </p:nvSpPr>
        <p:spPr>
          <a:xfrm>
            <a:off x="4638749" y="1758925"/>
            <a:ext cx="4103191" cy="3027908"/>
          </a:xfrm>
          <a:prstGeom prst="roundRect">
            <a:avLst>
              <a:gd name="adj" fmla="val 2950"/>
            </a:avLst>
          </a:prstGeom>
          <a:solidFill>
            <a:srgbClr val="1B1B27">
              <a:alpha val="95000"/>
            </a:srgbClr>
          </a:solidFill>
          <a:ln/>
        </p:spPr>
      </p:sp>
      <p:sp>
        <p:nvSpPr>
          <p:cNvPr id="11" name="Text 9"/>
          <p:cNvSpPr/>
          <p:nvPr/>
        </p:nvSpPr>
        <p:spPr>
          <a:xfrm>
            <a:off x="4762723" y="1882899"/>
            <a:ext cx="2174602" cy="193849"/>
          </a:xfrm>
          <a:prstGeom prst="rect">
            <a:avLst/>
          </a:prstGeom>
          <a:noFill/>
          <a:ln/>
        </p:spPr>
        <p:txBody>
          <a:bodyPr wrap="none" lIns="0" tIns="0" rIns="0" bIns="0" rtlCol="0" anchor="t"/>
          <a:lstStyle/>
          <a:p>
            <a:pPr algn="l" indent="0" marL="0">
              <a:lnSpc>
                <a:spcPts val="1500"/>
              </a:lnSpc>
              <a:buNone/>
            </a:pPr>
            <a:r>
              <a:rPr lang="en-US" sz="1200" dirty="0">
                <a:solidFill>
                  <a:srgbClr val="000000"/>
                </a:solidFill>
                <a:latin typeface="Raleway" pitchFamily="34" charset="0"/>
                <a:ea typeface="Raleway" pitchFamily="34" charset="-122"/>
                <a:cs typeface="Raleway" pitchFamily="34" charset="-120"/>
              </a:rPr>
              <a:t>✅</a:t>
            </a:r>
            <a:pPr algn="l" indent="0" marL="0">
              <a:lnSpc>
                <a:spcPts val="1500"/>
              </a:lnSpc>
              <a:buNone/>
            </a:pPr>
            <a:r>
              <a:rPr lang="en-US" sz="1200" dirty="0">
                <a:solidFill>
                  <a:srgbClr val="FFFFFF"/>
                </a:solidFill>
                <a:latin typeface="Raleway" pitchFamily="34" charset="0"/>
                <a:ea typeface="Raleway" pitchFamily="34" charset="-122"/>
                <a:cs typeface="Raleway" pitchFamily="34" charset="-120"/>
              </a:rPr>
              <a:t> Good — Reusable Function</a:t>
            </a:r>
            <a:endParaRPr lang="en-US" sz="1200" dirty="0"/>
          </a:p>
        </p:txBody>
      </p:sp>
      <p:sp>
        <p:nvSpPr>
          <p:cNvPr id="12" name="Shape 10"/>
          <p:cNvSpPr/>
          <p:nvPr/>
        </p:nvSpPr>
        <p:spPr>
          <a:xfrm>
            <a:off x="4762723" y="2216274"/>
            <a:ext cx="3855244" cy="2431033"/>
          </a:xfrm>
          <a:prstGeom prst="roundRect">
            <a:avLst>
              <a:gd name="adj" fmla="val 2143"/>
            </a:avLst>
          </a:prstGeom>
          <a:solidFill>
            <a:srgbClr val="282834"/>
          </a:solidFill>
          <a:ln/>
        </p:spPr>
      </p:sp>
      <p:sp>
        <p:nvSpPr>
          <p:cNvPr id="13" name="Shape 11"/>
          <p:cNvSpPr/>
          <p:nvPr/>
        </p:nvSpPr>
        <p:spPr>
          <a:xfrm>
            <a:off x="4756547" y="2216274"/>
            <a:ext cx="3867596" cy="2431033"/>
          </a:xfrm>
          <a:prstGeom prst="roundRect">
            <a:avLst>
              <a:gd name="adj" fmla="val 765"/>
            </a:avLst>
          </a:prstGeom>
          <a:solidFill>
            <a:srgbClr val="282834"/>
          </a:solidFill>
          <a:ln/>
        </p:spPr>
      </p:sp>
      <p:sp>
        <p:nvSpPr>
          <p:cNvPr id="14" name="Text 12"/>
          <p:cNvSpPr/>
          <p:nvPr/>
        </p:nvSpPr>
        <p:spPr>
          <a:xfrm>
            <a:off x="4911551" y="2340248"/>
            <a:ext cx="3557588" cy="2183085"/>
          </a:xfrm>
          <a:prstGeom prst="rect">
            <a:avLst/>
          </a:prstGeom>
          <a:noFill/>
          <a:ln/>
        </p:spPr>
        <p:txBody>
          <a:bodyPr wrap="square" lIns="0" tIns="0" rIns="0" bIns="0" rtlCol="0" anchor="t"/>
          <a:lstStyle/>
          <a:p>
            <a:pPr algn="l" indent="0" marL="0">
              <a:lnSpc>
                <a:spcPts val="1550"/>
              </a:lnSpc>
              <a:buNone/>
            </a:pPr>
            <a:r>
              <a:rPr lang="en-US" sz="950" dirty="0">
                <a:solidFill>
                  <a:srgbClr val="D73A49"/>
                </a:solidFill>
                <a:highlight>
                  <a:srgbClr val="282834"/>
                </a:highlight>
                <a:latin typeface="Consolas" pitchFamily="34" charset="0"/>
                <a:ea typeface="Consolas" pitchFamily="34" charset="-122"/>
                <a:cs typeface="Consolas" pitchFamily="34" charset="-120"/>
              </a:rPr>
              <a:t>def calculate_price(p, q):</a:t>
            </a:r>
            <a:endParaRPr lang="en-US" sz="950" dirty="0"/>
          </a:p>
          <a:p>
            <a:pPr algn="l" indent="0" marL="0">
              <a:lnSpc>
                <a:spcPts val="1550"/>
              </a:lnSpc>
              <a:buNone/>
            </a:pPr>
            <a:r>
              <a:rPr lang="en-US" sz="950" dirty="0">
                <a:solidFill>
                  <a:srgbClr val="D73A49"/>
                </a:solidFill>
                <a:highlight>
                  <a:srgbClr val="282834"/>
                </a:highlight>
                <a:latin typeface="Consolas" pitchFamily="34" charset="0"/>
                <a:ea typeface="Consolas" pitchFamily="34" charset="-122"/>
                <a:cs typeface="Consolas" pitchFamily="34" charset="-120"/>
              </a:rPr>
              <a:t> total = p * q</a:t>
            </a:r>
            <a:endParaRPr lang="en-US" sz="950" dirty="0"/>
          </a:p>
          <a:p>
            <a:pPr algn="l" indent="0" marL="0">
              <a:lnSpc>
                <a:spcPts val="1550"/>
              </a:lnSpc>
              <a:buNone/>
            </a:pPr>
            <a:r>
              <a:rPr lang="en-US" sz="950" dirty="0">
                <a:solidFill>
                  <a:srgbClr val="D73A49"/>
                </a:solidFill>
                <a:highlight>
                  <a:srgbClr val="282834"/>
                </a:highlight>
                <a:latin typeface="Consolas" pitchFamily="34" charset="0"/>
                <a:ea typeface="Consolas" pitchFamily="34" charset="-122"/>
                <a:cs typeface="Consolas" pitchFamily="34" charset="-120"/>
              </a:rPr>
              <a:t> if total &gt; 10000:</a:t>
            </a:r>
            <a:endParaRPr lang="en-US" sz="950" dirty="0"/>
          </a:p>
          <a:p>
            <a:pPr algn="l" indent="0" marL="0">
              <a:lnSpc>
                <a:spcPts val="1550"/>
              </a:lnSpc>
              <a:buNone/>
            </a:pPr>
            <a:r>
              <a:rPr lang="en-US" sz="950" dirty="0">
                <a:solidFill>
                  <a:srgbClr val="D73A49"/>
                </a:solidFill>
                <a:highlight>
                  <a:srgbClr val="282834"/>
                </a:highlight>
                <a:latin typeface="Consolas" pitchFamily="34" charset="0"/>
                <a:ea typeface="Consolas" pitchFamily="34" charset="-122"/>
                <a:cs typeface="Consolas" pitchFamily="34" charset="-120"/>
              </a:rPr>
              <a:t> total -= 0.1 * total</a:t>
            </a:r>
            <a:endParaRPr lang="en-US" sz="950" dirty="0"/>
          </a:p>
          <a:p>
            <a:pPr algn="l" indent="0" marL="0">
              <a:lnSpc>
                <a:spcPts val="1550"/>
              </a:lnSpc>
              <a:buNone/>
            </a:pPr>
            <a:r>
              <a:rPr lang="en-US" sz="950" dirty="0">
                <a:solidFill>
                  <a:srgbClr val="D73A49"/>
                </a:solidFill>
                <a:highlight>
                  <a:srgbClr val="282834"/>
                </a:highlight>
                <a:latin typeface="Consolas" pitchFamily="34" charset="0"/>
                <a:ea typeface="Consolas" pitchFamily="34" charset="-122"/>
                <a:cs typeface="Consolas" pitchFamily="34" charset="-120"/>
              </a:rPr>
              <a:t> return total</a:t>
            </a:r>
            <a:endParaRPr lang="en-US" sz="950" dirty="0"/>
          </a:p>
          <a:p>
            <a:pPr algn="l" indent="0" marL="0">
              <a:lnSpc>
                <a:spcPts val="1550"/>
              </a:lnSpc>
              <a:buNone/>
            </a:pPr>
            <a:endParaRPr lang="en-US" sz="950" dirty="0"/>
          </a:p>
          <a:p>
            <a:pPr algn="l" indent="0" marL="0">
              <a:lnSpc>
                <a:spcPts val="1550"/>
              </a:lnSpc>
              <a:buNone/>
            </a:pPr>
            <a:r>
              <a:rPr lang="en-US" sz="950" dirty="0">
                <a:solidFill>
                  <a:srgbClr val="D73A49"/>
                </a:solidFill>
                <a:highlight>
                  <a:srgbClr val="282834"/>
                </a:highlight>
                <a:latin typeface="Consolas" pitchFamily="34" charset="0"/>
                <a:ea typeface="Consolas" pitchFamily="34" charset="-122"/>
                <a:cs typeface="Consolas" pitchFamily="34" charset="-120"/>
              </a:rPr>
              <a:t>@app.post("/items")</a:t>
            </a:r>
            <a:endParaRPr lang="en-US" sz="950" dirty="0"/>
          </a:p>
          <a:p>
            <a:pPr algn="l" indent="0" marL="0">
              <a:lnSpc>
                <a:spcPts val="1550"/>
              </a:lnSpc>
              <a:buNone/>
            </a:pPr>
            <a:r>
              <a:rPr lang="en-US" sz="950" dirty="0">
                <a:solidFill>
                  <a:srgbClr val="D73A49"/>
                </a:solidFill>
                <a:highlight>
                  <a:srgbClr val="282834"/>
                </a:highlight>
                <a:latin typeface="Consolas" pitchFamily="34" charset="0"/>
                <a:ea typeface="Consolas" pitchFamily="34" charset="-122"/>
                <a:cs typeface="Consolas" pitchFamily="34" charset="-120"/>
              </a:rPr>
              <a:t>def create_item(item: Item):</a:t>
            </a:r>
            <a:endParaRPr lang="en-US" sz="950" dirty="0"/>
          </a:p>
          <a:p>
            <a:pPr algn="l" indent="0" marL="0">
              <a:lnSpc>
                <a:spcPts val="1550"/>
              </a:lnSpc>
              <a:buNone/>
            </a:pPr>
            <a:r>
              <a:rPr lang="en-US" sz="950" dirty="0">
                <a:solidFill>
                  <a:srgbClr val="D73A49"/>
                </a:solidFill>
                <a:highlight>
                  <a:srgbClr val="282834"/>
                </a:highlight>
                <a:latin typeface="Consolas" pitchFamily="34" charset="0"/>
                <a:ea typeface="Consolas" pitchFamily="34" charset="-122"/>
                <a:cs typeface="Consolas" pitchFamily="34" charset="-120"/>
              </a:rPr>
              <a:t> total = calculate_price(</a:t>
            </a:r>
            <a:endParaRPr lang="en-US" sz="950" dirty="0"/>
          </a:p>
          <a:p>
            <a:pPr algn="l" indent="0" marL="0">
              <a:lnSpc>
                <a:spcPts val="1550"/>
              </a:lnSpc>
              <a:buNone/>
            </a:pPr>
            <a:r>
              <a:rPr lang="en-US" sz="950" dirty="0">
                <a:solidFill>
                  <a:srgbClr val="D73A49"/>
                </a:solidFill>
                <a:highlight>
                  <a:srgbClr val="282834"/>
                </a:highlight>
                <a:latin typeface="Consolas" pitchFamily="34" charset="0"/>
                <a:ea typeface="Consolas" pitchFamily="34" charset="-122"/>
                <a:cs typeface="Consolas" pitchFamily="34" charset="-120"/>
              </a:rPr>
              <a:t> item.price, item.quantity)</a:t>
            </a:r>
            <a:endParaRPr lang="en-US" sz="950" dirty="0"/>
          </a:p>
          <a:p>
            <a:pPr algn="l" indent="0" marL="0">
              <a:lnSpc>
                <a:spcPts val="1550"/>
              </a:lnSpc>
              <a:buNone/>
            </a:pPr>
            <a:r>
              <a:rPr lang="en-US" sz="950" dirty="0">
                <a:solidFill>
                  <a:srgbClr val="D73A49"/>
                </a:solidFill>
                <a:highlight>
                  <a:srgbClr val="282834"/>
                </a:highlight>
                <a:latin typeface="Consolas" pitchFamily="34" charset="0"/>
                <a:ea typeface="Consolas" pitchFamily="34" charset="-122"/>
                <a:cs typeface="Consolas" pitchFamily="34" charset="-120"/>
              </a:rPr>
              <a:t> return {"total": total}</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496119" y="585267"/>
            <a:ext cx="1359694" cy="242739"/>
          </a:xfrm>
          <a:prstGeom prst="roundRect">
            <a:avLst>
              <a:gd name="adj" fmla="val 17171"/>
            </a:avLst>
          </a:prstGeom>
          <a:noFill/>
          <a:ln w="4763">
            <a:solidFill>
              <a:srgbClr val="1B1B27"/>
            </a:solidFill>
            <a:prstDash val="solid"/>
          </a:ln>
        </p:spPr>
      </p:sp>
      <p:sp>
        <p:nvSpPr>
          <p:cNvPr id="3" name="Text 1"/>
          <p:cNvSpPr/>
          <p:nvPr/>
        </p:nvSpPr>
        <p:spPr>
          <a:xfrm>
            <a:off x="575295" y="627236"/>
            <a:ext cx="1201341"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4 — BUSINESS LOGIC</a:t>
            </a:r>
            <a:endParaRPr lang="en-US" sz="750" dirty="0"/>
          </a:p>
        </p:txBody>
      </p:sp>
      <p:sp>
        <p:nvSpPr>
          <p:cNvPr id="4" name="Text 2"/>
          <p:cNvSpPr/>
          <p:nvPr/>
        </p:nvSpPr>
        <p:spPr>
          <a:xfrm>
            <a:off x="496119" y="877565"/>
            <a:ext cx="346427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Business Logic Function</a:t>
            </a:r>
            <a:endParaRPr lang="en-US" sz="2400" dirty="0"/>
          </a:p>
        </p:txBody>
      </p:sp>
      <p:sp>
        <p:nvSpPr>
          <p:cNvPr id="5" name="Text 3"/>
          <p:cNvSpPr/>
          <p:nvPr/>
        </p:nvSpPr>
        <p:spPr>
          <a:xfrm>
            <a:off x="496119" y="1451149"/>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Extracting logic into its own function makes your code reusable, testable, and easy to read. The route handler stays clean — it only deals with receiving the request and returning the response.</a:t>
            </a:r>
            <a:endParaRPr lang="en-US" sz="950" dirty="0"/>
          </a:p>
        </p:txBody>
      </p:sp>
      <p:sp>
        <p:nvSpPr>
          <p:cNvPr id="6" name="Shape 4"/>
          <p:cNvSpPr/>
          <p:nvPr/>
        </p:nvSpPr>
        <p:spPr>
          <a:xfrm>
            <a:off x="496119" y="1987600"/>
            <a:ext cx="8151763" cy="2034108"/>
          </a:xfrm>
          <a:prstGeom prst="roundRect">
            <a:avLst>
              <a:gd name="adj" fmla="val 2561"/>
            </a:avLst>
          </a:prstGeom>
          <a:solidFill>
            <a:srgbClr val="F2F2F2"/>
          </a:solidFill>
          <a:ln/>
        </p:spPr>
      </p:sp>
      <p:sp>
        <p:nvSpPr>
          <p:cNvPr id="7" name="Shape 5"/>
          <p:cNvSpPr/>
          <p:nvPr/>
        </p:nvSpPr>
        <p:spPr>
          <a:xfrm>
            <a:off x="489942" y="1987600"/>
            <a:ext cx="8164116" cy="2034108"/>
          </a:xfrm>
          <a:prstGeom prst="roundRect">
            <a:avLst>
              <a:gd name="adj" fmla="val 915"/>
            </a:avLst>
          </a:prstGeom>
          <a:solidFill>
            <a:srgbClr val="F2F2F2"/>
          </a:solidFill>
          <a:ln/>
        </p:spPr>
      </p:sp>
      <p:sp>
        <p:nvSpPr>
          <p:cNvPr id="8" name="Text 6"/>
          <p:cNvSpPr/>
          <p:nvPr/>
        </p:nvSpPr>
        <p:spPr>
          <a:xfrm>
            <a:off x="644947" y="2111573"/>
            <a:ext cx="7854107" cy="1786161"/>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def calculate_price(price: float, quantity: int) -&gt; dict:</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    total = price * quantity</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    discount = 0.0</a:t>
            </a:r>
            <a:endParaRPr lang="en-US" sz="950" dirty="0"/>
          </a:p>
          <a:p>
            <a:pPr algn="l" indent="0" marL="0">
              <a:lnSpc>
                <a:spcPts val="1550"/>
              </a:lnSpc>
              <a:buNone/>
            </a:pP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    if total &gt; 10000:</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        discount = 0.1 * total</a:t>
            </a: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        total = total - discount</a:t>
            </a:r>
            <a:endParaRPr lang="en-US" sz="950" dirty="0"/>
          </a:p>
          <a:p>
            <a:pPr algn="l" indent="0" marL="0">
              <a:lnSpc>
                <a:spcPts val="1550"/>
              </a:lnSpc>
              <a:buNone/>
            </a:pPr>
            <a:endParaRPr lang="en-US" sz="950" dirty="0"/>
          </a:p>
          <a:p>
            <a:pPr algn="l" indent="0" marL="0">
              <a:lnSpc>
                <a:spcPts val="1550"/>
              </a:lnSpc>
              <a:buNone/>
            </a:pPr>
            <a:r>
              <a:rPr lang="en-US" sz="950" dirty="0">
                <a:solidFill>
                  <a:srgbClr val="3C3939"/>
                </a:solidFill>
                <a:latin typeface="Consolas" pitchFamily="34" charset="0"/>
                <a:ea typeface="Consolas" pitchFamily="34" charset="-122"/>
                <a:cs typeface="Consolas" pitchFamily="34" charset="-120"/>
              </a:rPr>
              <a:t>    return {"total": total, "discount": discount}</a:t>
            </a:r>
            <a:endParaRPr lang="en-US" sz="950" dirty="0"/>
          </a:p>
        </p:txBody>
      </p:sp>
      <p:sp>
        <p:nvSpPr>
          <p:cNvPr id="9" name="Text 7"/>
          <p:cNvSpPr/>
          <p:nvPr/>
        </p:nvSpPr>
        <p:spPr>
          <a:xfrm>
            <a:off x="496119" y="4161234"/>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This function has a single responsibility: compute the price. It can be called from any endpoint, tested independently, and modified without touching your route definitions.</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496119" y="781348"/>
            <a:ext cx="1359694" cy="242739"/>
          </a:xfrm>
          <a:prstGeom prst="roundRect">
            <a:avLst>
              <a:gd name="adj" fmla="val 17171"/>
            </a:avLst>
          </a:prstGeom>
          <a:noFill/>
          <a:ln w="4763">
            <a:solidFill>
              <a:srgbClr val="1B1B27"/>
            </a:solidFill>
            <a:prstDash val="solid"/>
          </a:ln>
        </p:spPr>
      </p:sp>
      <p:sp>
        <p:nvSpPr>
          <p:cNvPr id="3" name="Text 1"/>
          <p:cNvSpPr/>
          <p:nvPr/>
        </p:nvSpPr>
        <p:spPr>
          <a:xfrm>
            <a:off x="575295" y="823317"/>
            <a:ext cx="1201341"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4 — BUSINESS LOGIC</a:t>
            </a:r>
            <a:endParaRPr lang="en-US" sz="750" dirty="0"/>
          </a:p>
        </p:txBody>
      </p:sp>
      <p:sp>
        <p:nvSpPr>
          <p:cNvPr id="4" name="Text 2"/>
          <p:cNvSpPr/>
          <p:nvPr/>
        </p:nvSpPr>
        <p:spPr>
          <a:xfrm>
            <a:off x="496119" y="1073646"/>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Filtering Logic</a:t>
            </a:r>
            <a:endParaRPr lang="en-US" sz="2400" dirty="0"/>
          </a:p>
        </p:txBody>
      </p:sp>
      <p:sp>
        <p:nvSpPr>
          <p:cNvPr id="5" name="Text 3"/>
          <p:cNvSpPr/>
          <p:nvPr/>
        </p:nvSpPr>
        <p:spPr>
          <a:xfrm>
            <a:off x="496119" y="1647230"/>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Query parameters aren't just for searching — they power filtering logic on the backend. Instead of returning all items, you filter the list based on what the client requests, keeping responses lean and relevant.</a:t>
            </a:r>
            <a:endParaRPr lang="en-US" sz="950" dirty="0"/>
          </a:p>
        </p:txBody>
      </p:sp>
      <p:sp>
        <p:nvSpPr>
          <p:cNvPr id="6" name="Shape 4"/>
          <p:cNvSpPr/>
          <p:nvPr/>
        </p:nvSpPr>
        <p:spPr>
          <a:xfrm>
            <a:off x="496119" y="2183681"/>
            <a:ext cx="8151763" cy="1637184"/>
          </a:xfrm>
          <a:prstGeom prst="roundRect">
            <a:avLst>
              <a:gd name="adj" fmla="val 3182"/>
            </a:avLst>
          </a:prstGeom>
          <a:solidFill>
            <a:srgbClr val="F2F2F2"/>
          </a:solidFill>
          <a:ln/>
        </p:spPr>
      </p:sp>
      <p:sp>
        <p:nvSpPr>
          <p:cNvPr id="7" name="Shape 5"/>
          <p:cNvSpPr/>
          <p:nvPr/>
        </p:nvSpPr>
        <p:spPr>
          <a:xfrm>
            <a:off x="489942" y="2183681"/>
            <a:ext cx="8164116" cy="1637184"/>
          </a:xfrm>
          <a:prstGeom prst="roundRect">
            <a:avLst>
              <a:gd name="adj" fmla="val 1137"/>
            </a:avLst>
          </a:prstGeom>
          <a:solidFill>
            <a:srgbClr val="F2F2F2"/>
          </a:solidFill>
          <a:ln/>
        </p:spPr>
      </p:sp>
      <p:sp>
        <p:nvSpPr>
          <p:cNvPr id="8" name="Text 6"/>
          <p:cNvSpPr/>
          <p:nvPr/>
        </p:nvSpPr>
        <p:spPr>
          <a:xfrm>
            <a:off x="644947" y="2307654"/>
            <a:ext cx="7854107" cy="1389236"/>
          </a:xfrm>
          <a:prstGeom prst="rect">
            <a:avLst/>
          </a:prstGeom>
          <a:noFill/>
          <a:ln/>
        </p:spPr>
        <p:txBody>
          <a:bodyPr wrap="square" lIns="0" tIns="0" rIns="0" bIns="0" rtlCol="0" anchor="t"/>
          <a:lstStyle/>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@app.get("/items")</a:t>
            </a:r>
            <a:endParaRPr lang="en-US" sz="950" dirty="0"/>
          </a:p>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def get_items(min_price: float = 0):</a:t>
            </a:r>
            <a:endParaRPr lang="en-US" sz="950" dirty="0"/>
          </a:p>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    results = [</a:t>
            </a:r>
            <a:endParaRPr lang="en-US" sz="950" dirty="0"/>
          </a:p>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        item for item in items</a:t>
            </a:r>
            <a:endParaRPr lang="en-US" sz="950" dirty="0"/>
          </a:p>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        if item["price"] &gt;= min_price</a:t>
            </a:r>
            <a:endParaRPr lang="en-US" sz="950" dirty="0"/>
          </a:p>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    ]</a:t>
            </a:r>
            <a:endParaRPr lang="en-US" sz="950" dirty="0"/>
          </a:p>
          <a:p>
            <a:pPr algn="l" indent="0" marL="0">
              <a:lnSpc>
                <a:spcPts val="1550"/>
              </a:lnSpc>
              <a:buNone/>
            </a:pPr>
            <a:r>
              <a:rPr lang="en-US" sz="950" dirty="0">
                <a:solidFill>
                  <a:srgbClr val="005CC5"/>
                </a:solidFill>
                <a:highlight>
                  <a:srgbClr val="F2F2F2"/>
                </a:highlight>
                <a:latin typeface="Consolas" pitchFamily="34" charset="0"/>
                <a:ea typeface="Consolas" pitchFamily="34" charset="-122"/>
                <a:cs typeface="Consolas" pitchFamily="34" charset="-120"/>
              </a:rPr>
              <a:t>    return {"items": results}</a:t>
            </a:r>
            <a:endParaRPr lang="en-US" sz="950" dirty="0"/>
          </a:p>
        </p:txBody>
      </p:sp>
      <p:sp>
        <p:nvSpPr>
          <p:cNvPr id="9" name="Text 7"/>
          <p:cNvSpPr/>
          <p:nvPr/>
        </p:nvSpPr>
        <p:spPr>
          <a:xfrm>
            <a:off x="496119" y="3960391"/>
            <a:ext cx="8151763" cy="4016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 request to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/items?min_price=1000</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returns only items priced at $1,000 or above. The filtering happens entirely in the backend — the client just passes a value and receives a filtered response.</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96119" y="1339825"/>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Over to VS Code</a:t>
            </a:r>
            <a:endParaRPr lang="en-US" sz="2400" dirty="0"/>
          </a:p>
        </p:txBody>
      </p:sp>
      <p:sp>
        <p:nvSpPr>
          <p:cNvPr id="3" name="Text 1"/>
          <p:cNvSpPr/>
          <p:nvPr/>
        </p:nvSpPr>
        <p:spPr>
          <a:xfrm>
            <a:off x="496119" y="1913409"/>
            <a:ext cx="6202263" cy="784771"/>
          </a:xfrm>
          <a:prstGeom prst="rect">
            <a:avLst/>
          </a:prstGeom>
          <a:noFill/>
          <a:ln/>
        </p:spPr>
        <p:txBody>
          <a:bodyPr wrap="none" lIns="0" tIns="0" rIns="0" bIns="0" rtlCol="0" anchor="t"/>
          <a:lstStyle/>
          <a:p>
            <a:pPr algn="l" indent="0" marL="0">
              <a:lnSpc>
                <a:spcPts val="6100"/>
              </a:lnSpc>
              <a:buNone/>
            </a:pPr>
            <a:r>
              <a:rPr lang="en-US" sz="4850" dirty="0">
                <a:solidFill>
                  <a:srgbClr val="000000"/>
                </a:solidFill>
                <a:latin typeface="Raleway" pitchFamily="34" charset="0"/>
                <a:ea typeface="Raleway" pitchFamily="34" charset="-122"/>
                <a:cs typeface="Raleway" pitchFamily="34" charset="-120"/>
              </a:rPr>
              <a:t>👨‍💻</a:t>
            </a:r>
            <a:endParaRPr lang="en-US" sz="4850" dirty="0"/>
          </a:p>
        </p:txBody>
      </p:sp>
      <p:sp>
        <p:nvSpPr>
          <p:cNvPr id="4" name="Text 2"/>
          <p:cNvSpPr/>
          <p:nvPr/>
        </p:nvSpPr>
        <p:spPr>
          <a:xfrm>
            <a:off x="496119" y="2884215"/>
            <a:ext cx="4279553" cy="534888"/>
          </a:xfrm>
          <a:prstGeom prst="rect">
            <a:avLst/>
          </a:prstGeom>
          <a:noFill/>
          <a:ln/>
        </p:spPr>
        <p:txBody>
          <a:bodyPr wrap="none" lIns="0" tIns="0" rIns="0" bIns="0" rtlCol="0" anchor="t"/>
          <a:lstStyle/>
          <a:p>
            <a:pPr algn="l" indent="0" marL="0">
              <a:lnSpc>
                <a:spcPts val="4200"/>
              </a:lnSpc>
              <a:buNone/>
            </a:pPr>
            <a:r>
              <a:rPr lang="en-US" sz="3350" dirty="0">
                <a:solidFill>
                  <a:srgbClr val="1B1B27"/>
                </a:solidFill>
                <a:latin typeface="Raleway" pitchFamily="34" charset="0"/>
                <a:ea typeface="Raleway" pitchFamily="34" charset="-122"/>
                <a:cs typeface="Raleway" pitchFamily="34" charset="-120"/>
              </a:rPr>
              <a:t>Over to VS Code</a:t>
            </a:r>
            <a:endParaRPr lang="en-US" sz="3350" dirty="0"/>
          </a:p>
        </p:txBody>
      </p:sp>
      <p:sp>
        <p:nvSpPr>
          <p:cNvPr id="5" name="Text 3"/>
          <p:cNvSpPr/>
          <p:nvPr/>
        </p:nvSpPr>
        <p:spPr>
          <a:xfrm>
            <a:off x="496119" y="3605138"/>
            <a:ext cx="8151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Add calculations, conditional discounts, and price filtering to your backend endpoints.</a:t>
            </a:r>
            <a:endParaRPr lang="en-US" sz="9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61987" y="368424"/>
            <a:ext cx="3304952" cy="4406652"/>
          </a:xfrm>
          <a:prstGeom prst="rect">
            <a:avLst/>
          </a:prstGeom>
        </p:spPr>
      </p:pic>
      <p:sp>
        <p:nvSpPr>
          <p:cNvPr id="4" name="Text 1"/>
          <p:cNvSpPr/>
          <p:nvPr/>
        </p:nvSpPr>
        <p:spPr>
          <a:xfrm>
            <a:off x="3925119" y="1638895"/>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Part 5</a:t>
            </a:r>
            <a:endParaRPr lang="en-US" sz="2400" dirty="0"/>
          </a:p>
        </p:txBody>
      </p:sp>
      <p:sp>
        <p:nvSpPr>
          <p:cNvPr id="5" name="Text 2"/>
          <p:cNvSpPr/>
          <p:nvPr/>
        </p:nvSpPr>
        <p:spPr>
          <a:xfrm>
            <a:off x="3925119" y="2212479"/>
            <a:ext cx="4647605" cy="534888"/>
          </a:xfrm>
          <a:prstGeom prst="rect">
            <a:avLst/>
          </a:prstGeom>
          <a:noFill/>
          <a:ln/>
        </p:spPr>
        <p:txBody>
          <a:bodyPr wrap="none" lIns="0" tIns="0" rIns="0" bIns="0" rtlCol="0" anchor="t"/>
          <a:lstStyle/>
          <a:p>
            <a:pPr algn="l" indent="0" marL="0">
              <a:lnSpc>
                <a:spcPts val="4200"/>
              </a:lnSpc>
              <a:buNone/>
            </a:pPr>
            <a:r>
              <a:rPr lang="en-US" sz="3350" dirty="0">
                <a:solidFill>
                  <a:srgbClr val="1B1B27"/>
                </a:solidFill>
                <a:latin typeface="Raleway" pitchFamily="34" charset="0"/>
                <a:ea typeface="Raleway" pitchFamily="34" charset="-122"/>
                <a:cs typeface="Raleway" pitchFamily="34" charset="-120"/>
              </a:rPr>
              <a:t>Error Handling + Testing</a:t>
            </a:r>
            <a:endParaRPr lang="en-US" sz="3350" dirty="0"/>
          </a:p>
        </p:txBody>
      </p:sp>
      <p:sp>
        <p:nvSpPr>
          <p:cNvPr id="6" name="Text 3"/>
          <p:cNvSpPr/>
          <p:nvPr/>
        </p:nvSpPr>
        <p:spPr>
          <a:xfrm>
            <a:off x="3925119" y="2933402"/>
            <a:ext cx="4722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Building backends that fail clearly, gracefully, and informatively.</a:t>
            </a:r>
            <a:endParaRPr lang="en-US" sz="950" dirty="0"/>
          </a:p>
        </p:txBody>
      </p:sp>
      <p:sp>
        <p:nvSpPr>
          <p:cNvPr id="7" name="Shape 4"/>
          <p:cNvSpPr/>
          <p:nvPr/>
        </p:nvSpPr>
        <p:spPr>
          <a:xfrm>
            <a:off x="3925119" y="3271391"/>
            <a:ext cx="692348" cy="233214"/>
          </a:xfrm>
          <a:prstGeom prst="roundRect">
            <a:avLst>
              <a:gd name="adj" fmla="val 17872"/>
            </a:avLst>
          </a:prstGeom>
          <a:solidFill>
            <a:srgbClr val="E1E1EA"/>
          </a:solidFill>
          <a:ln/>
        </p:spPr>
      </p:sp>
      <p:sp>
        <p:nvSpPr>
          <p:cNvPr id="8" name="Text 5"/>
          <p:cNvSpPr/>
          <p:nvPr/>
        </p:nvSpPr>
        <p:spPr>
          <a:xfrm>
            <a:off x="3999533" y="3308598"/>
            <a:ext cx="543520" cy="158800"/>
          </a:xfrm>
          <a:prstGeom prst="rect">
            <a:avLst/>
          </a:prstGeom>
          <a:noFill/>
          <a:ln/>
        </p:spPr>
        <p:txBody>
          <a:bodyPr wrap="none" lIns="0" tIns="0" rIns="0" bIns="0" rtlCol="0" anchor="t"/>
          <a:lstStyle/>
          <a:p>
            <a:pPr algn="l" indent="0" marL="0">
              <a:lnSpc>
                <a:spcPts val="1250"/>
              </a:lnSpc>
              <a:buNone/>
            </a:pPr>
            <a:r>
              <a:rPr lang="en-US" sz="750" dirty="0">
                <a:solidFill>
                  <a:srgbClr val="3C3939"/>
                </a:solidFill>
                <a:latin typeface="Roboto" pitchFamily="34" charset="0"/>
                <a:ea typeface="Roboto" pitchFamily="34" charset="-122"/>
                <a:cs typeface="Roboto" pitchFamily="34" charset="-120"/>
              </a:rPr>
              <a:t>PART 5 OF 6</a:t>
            </a:r>
            <a:endParaRPr lang="en-US" sz="7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496119" y="1075953"/>
            <a:ext cx="1424062" cy="242739"/>
          </a:xfrm>
          <a:prstGeom prst="roundRect">
            <a:avLst>
              <a:gd name="adj" fmla="val 17171"/>
            </a:avLst>
          </a:prstGeom>
          <a:noFill/>
          <a:ln w="4763">
            <a:solidFill>
              <a:srgbClr val="1B1B27"/>
            </a:solidFill>
            <a:prstDash val="solid"/>
          </a:ln>
        </p:spPr>
      </p:sp>
      <p:sp>
        <p:nvSpPr>
          <p:cNvPr id="3" name="Text 1"/>
          <p:cNvSpPr/>
          <p:nvPr/>
        </p:nvSpPr>
        <p:spPr>
          <a:xfrm>
            <a:off x="575295" y="1117922"/>
            <a:ext cx="1265709"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5 — ERROR HANDLING</a:t>
            </a:r>
            <a:endParaRPr lang="en-US" sz="750" dirty="0"/>
          </a:p>
        </p:txBody>
      </p:sp>
      <p:sp>
        <p:nvSpPr>
          <p:cNvPr id="4" name="Text 2"/>
          <p:cNvSpPr/>
          <p:nvPr/>
        </p:nvSpPr>
        <p:spPr>
          <a:xfrm>
            <a:off x="496119" y="1368251"/>
            <a:ext cx="5273948"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Production APIs Need Error Handling</a:t>
            </a:r>
            <a:endParaRPr lang="en-US" sz="2400" dirty="0"/>
          </a:p>
        </p:txBody>
      </p:sp>
      <p:sp>
        <p:nvSpPr>
          <p:cNvPr id="5" name="Text 3"/>
          <p:cNvSpPr/>
          <p:nvPr/>
        </p:nvSpPr>
        <p:spPr>
          <a:xfrm>
            <a:off x="496119" y="1941835"/>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In production, things go wrong constantly. Clients send invalid data, request resources that don't exist, or submit incomplete forms. A well-built backend doesn't crash silently — it fails clearly with a meaningful error message and the correct HTTP status code.</a:t>
            </a:r>
            <a:endParaRPr lang="en-US" sz="950" dirty="0"/>
          </a:p>
        </p:txBody>
      </p:sp>
      <p:sp>
        <p:nvSpPr>
          <p:cNvPr id="6" name="Shape 4"/>
          <p:cNvSpPr/>
          <p:nvPr/>
        </p:nvSpPr>
        <p:spPr>
          <a:xfrm>
            <a:off x="496119" y="2478286"/>
            <a:ext cx="2634555" cy="922660"/>
          </a:xfrm>
          <a:prstGeom prst="roundRect">
            <a:avLst>
              <a:gd name="adj" fmla="val 5647"/>
            </a:avLst>
          </a:prstGeom>
          <a:solidFill>
            <a:srgbClr val="E1E1EA"/>
          </a:solidFill>
          <a:ln w="4763">
            <a:solidFill>
              <a:srgbClr val="C7C7D0"/>
            </a:solidFill>
            <a:prstDash val="solid"/>
          </a:ln>
        </p:spPr>
      </p:sp>
      <p:sp>
        <p:nvSpPr>
          <p:cNvPr id="7" name="Text 5"/>
          <p:cNvSpPr/>
          <p:nvPr/>
        </p:nvSpPr>
        <p:spPr>
          <a:xfrm>
            <a:off x="624855" y="2607022"/>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Clear Failures</a:t>
            </a:r>
            <a:endParaRPr lang="en-US" sz="1200" dirty="0"/>
          </a:p>
        </p:txBody>
      </p:sp>
      <p:sp>
        <p:nvSpPr>
          <p:cNvPr id="8" name="Text 6"/>
          <p:cNvSpPr/>
          <p:nvPr/>
        </p:nvSpPr>
        <p:spPr>
          <a:xfrm>
            <a:off x="624855" y="2875285"/>
            <a:ext cx="237708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Return the right status code so the client knows exactly what went wrong</a:t>
            </a:r>
            <a:endParaRPr lang="en-US" sz="950" dirty="0"/>
          </a:p>
        </p:txBody>
      </p:sp>
      <p:sp>
        <p:nvSpPr>
          <p:cNvPr id="9" name="Shape 7"/>
          <p:cNvSpPr/>
          <p:nvPr/>
        </p:nvSpPr>
        <p:spPr>
          <a:xfrm>
            <a:off x="3254648" y="2478286"/>
            <a:ext cx="2634630" cy="922660"/>
          </a:xfrm>
          <a:prstGeom prst="roundRect">
            <a:avLst>
              <a:gd name="adj" fmla="val 5647"/>
            </a:avLst>
          </a:prstGeom>
          <a:solidFill>
            <a:srgbClr val="E1E1EA"/>
          </a:solidFill>
          <a:ln w="4763">
            <a:solidFill>
              <a:srgbClr val="C7C7D0"/>
            </a:solidFill>
            <a:prstDash val="solid"/>
          </a:ln>
        </p:spPr>
      </p:sp>
      <p:sp>
        <p:nvSpPr>
          <p:cNvPr id="10" name="Text 8"/>
          <p:cNvSpPr/>
          <p:nvPr/>
        </p:nvSpPr>
        <p:spPr>
          <a:xfrm>
            <a:off x="3383384" y="2607022"/>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Helpful Messages</a:t>
            </a:r>
            <a:endParaRPr lang="en-US" sz="1200" dirty="0"/>
          </a:p>
        </p:txBody>
      </p:sp>
      <p:sp>
        <p:nvSpPr>
          <p:cNvPr id="11" name="Text 9"/>
          <p:cNvSpPr/>
          <p:nvPr/>
        </p:nvSpPr>
        <p:spPr>
          <a:xfrm>
            <a:off x="3383384" y="2875285"/>
            <a:ext cx="2377157"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Include a human-readable detail message that explains the error</a:t>
            </a:r>
            <a:endParaRPr lang="en-US" sz="950" dirty="0"/>
          </a:p>
        </p:txBody>
      </p:sp>
      <p:sp>
        <p:nvSpPr>
          <p:cNvPr id="12" name="Shape 10"/>
          <p:cNvSpPr/>
          <p:nvPr/>
        </p:nvSpPr>
        <p:spPr>
          <a:xfrm>
            <a:off x="6013252" y="2478286"/>
            <a:ext cx="2634555" cy="922660"/>
          </a:xfrm>
          <a:prstGeom prst="roundRect">
            <a:avLst>
              <a:gd name="adj" fmla="val 5647"/>
            </a:avLst>
          </a:prstGeom>
          <a:solidFill>
            <a:srgbClr val="E1E1EA"/>
          </a:solidFill>
          <a:ln w="4763">
            <a:solidFill>
              <a:srgbClr val="C7C7D0"/>
            </a:solidFill>
            <a:prstDash val="solid"/>
          </a:ln>
        </p:spPr>
      </p:sp>
      <p:sp>
        <p:nvSpPr>
          <p:cNvPr id="13" name="Text 11"/>
          <p:cNvSpPr/>
          <p:nvPr/>
        </p:nvSpPr>
        <p:spPr>
          <a:xfrm>
            <a:off x="6141988" y="2607022"/>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Consistent Behavior</a:t>
            </a:r>
            <a:endParaRPr lang="en-US" sz="1200" dirty="0"/>
          </a:p>
        </p:txBody>
      </p:sp>
      <p:sp>
        <p:nvSpPr>
          <p:cNvPr id="14" name="Text 12"/>
          <p:cNvSpPr/>
          <p:nvPr/>
        </p:nvSpPr>
        <p:spPr>
          <a:xfrm>
            <a:off x="6141988" y="2875285"/>
            <a:ext cx="237708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Every error path follows the same response structure — no surprises</a:t>
            </a:r>
            <a:endParaRPr lang="en-US" sz="950" dirty="0"/>
          </a:p>
        </p:txBody>
      </p:sp>
      <p:sp>
        <p:nvSpPr>
          <p:cNvPr id="15" name="Shape 13"/>
          <p:cNvSpPr/>
          <p:nvPr/>
        </p:nvSpPr>
        <p:spPr>
          <a:xfrm>
            <a:off x="496119" y="3540472"/>
            <a:ext cx="8151763" cy="527000"/>
          </a:xfrm>
          <a:prstGeom prst="roundRect">
            <a:avLst>
              <a:gd name="adj" fmla="val 9886"/>
            </a:avLst>
          </a:prstGeom>
          <a:solidFill>
            <a:srgbClr val="FCF2B5"/>
          </a:solidFill>
          <a:ln/>
        </p:spPr>
      </p:sp>
      <p:pic>
        <p:nvPicPr>
          <p:cNvPr id="16" name="Image 0" descr="preencoded.png">    </p:cNvPr>
          <p:cNvPicPr>
            <a:picLocks noChangeAspect="1"/>
          </p:cNvPicPr>
          <p:nvPr/>
        </p:nvPicPr>
        <p:blipFill>
          <a:blip r:embed="rId1"/>
          <a:stretch>
            <a:fillRect/>
          </a:stretch>
        </p:blipFill>
        <p:spPr>
          <a:xfrm>
            <a:off x="620092" y="3725019"/>
            <a:ext cx="155004" cy="123974"/>
          </a:xfrm>
          <a:prstGeom prst="rect">
            <a:avLst/>
          </a:prstGeom>
        </p:spPr>
      </p:pic>
      <p:sp>
        <p:nvSpPr>
          <p:cNvPr id="17" name="Text 14"/>
          <p:cNvSpPr/>
          <p:nvPr/>
        </p:nvSpPr>
        <p:spPr>
          <a:xfrm>
            <a:off x="899071" y="3695402"/>
            <a:ext cx="7624837" cy="198462"/>
          </a:xfrm>
          <a:prstGeom prst="rect">
            <a:avLst/>
          </a:prstGeom>
          <a:noFill/>
          <a:ln/>
        </p:spPr>
        <p:txBody>
          <a:bodyPr wrap="non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Silent failures are more dangerous than loud ones — always communicate errors explicitly.</a:t>
            </a:r>
            <a:endParaRPr lang="en-US" sz="9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496119" y="580504"/>
            <a:ext cx="1424062" cy="242739"/>
          </a:xfrm>
          <a:prstGeom prst="roundRect">
            <a:avLst>
              <a:gd name="adj" fmla="val 17171"/>
            </a:avLst>
          </a:prstGeom>
          <a:noFill/>
          <a:ln w="4763">
            <a:solidFill>
              <a:srgbClr val="1B1B27"/>
            </a:solidFill>
            <a:prstDash val="solid"/>
          </a:ln>
        </p:spPr>
      </p:sp>
      <p:sp>
        <p:nvSpPr>
          <p:cNvPr id="3" name="Text 1"/>
          <p:cNvSpPr/>
          <p:nvPr/>
        </p:nvSpPr>
        <p:spPr>
          <a:xfrm>
            <a:off x="575295" y="622474"/>
            <a:ext cx="1265709"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5 — ERROR HANDLING</a:t>
            </a:r>
            <a:endParaRPr lang="en-US" sz="750" dirty="0"/>
          </a:p>
        </p:txBody>
      </p:sp>
      <p:sp>
        <p:nvSpPr>
          <p:cNvPr id="4" name="Text 2"/>
          <p:cNvSpPr/>
          <p:nvPr/>
        </p:nvSpPr>
        <p:spPr>
          <a:xfrm>
            <a:off x="496119" y="872803"/>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HTTPException</a:t>
            </a:r>
            <a:endParaRPr lang="en-US" sz="2400" dirty="0"/>
          </a:p>
        </p:txBody>
      </p:sp>
      <p:sp>
        <p:nvSpPr>
          <p:cNvPr id="5" name="Text 3"/>
          <p:cNvSpPr/>
          <p:nvPr/>
        </p:nvSpPr>
        <p:spPr>
          <a:xfrm>
            <a:off x="496119" y="1446386"/>
            <a:ext cx="8151763" cy="4016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FastAPI provides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HTTPException</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to raise structured HTTP errors from anywhere in your code. It immediately stops execution and returns an error response with the status code and detail message you specify.</a:t>
            </a:r>
            <a:endParaRPr lang="en-US" sz="950" dirty="0"/>
          </a:p>
        </p:txBody>
      </p:sp>
      <p:sp>
        <p:nvSpPr>
          <p:cNvPr id="6" name="Shape 4"/>
          <p:cNvSpPr/>
          <p:nvPr/>
        </p:nvSpPr>
        <p:spPr>
          <a:xfrm>
            <a:off x="496119" y="1987600"/>
            <a:ext cx="8151763" cy="2232571"/>
          </a:xfrm>
          <a:prstGeom prst="roundRect">
            <a:avLst>
              <a:gd name="adj" fmla="val 2334"/>
            </a:avLst>
          </a:prstGeom>
          <a:solidFill>
            <a:srgbClr val="F2F2F2"/>
          </a:solidFill>
          <a:ln/>
        </p:spPr>
      </p:sp>
      <p:sp>
        <p:nvSpPr>
          <p:cNvPr id="7" name="Shape 5"/>
          <p:cNvSpPr/>
          <p:nvPr/>
        </p:nvSpPr>
        <p:spPr>
          <a:xfrm>
            <a:off x="489942" y="1987600"/>
            <a:ext cx="8164116" cy="2232571"/>
          </a:xfrm>
          <a:prstGeom prst="roundRect">
            <a:avLst>
              <a:gd name="adj" fmla="val 833"/>
            </a:avLst>
          </a:prstGeom>
          <a:solidFill>
            <a:srgbClr val="F2F2F2"/>
          </a:solidFill>
          <a:ln/>
        </p:spPr>
      </p:sp>
      <p:sp>
        <p:nvSpPr>
          <p:cNvPr id="8" name="Text 6"/>
          <p:cNvSpPr/>
          <p:nvPr/>
        </p:nvSpPr>
        <p:spPr>
          <a:xfrm>
            <a:off x="644947" y="2111573"/>
            <a:ext cx="7854107" cy="1984623"/>
          </a:xfrm>
          <a:prstGeom prst="rect">
            <a:avLst/>
          </a:prstGeom>
          <a:noFill/>
          <a:ln/>
        </p:spPr>
        <p:txBody>
          <a:bodyPr wrap="square" lIns="0" tIns="0" rIns="0" bIns="0" rtlCol="0" anchor="t"/>
          <a:lstStyle/>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from fastapi import HTTPException</a:t>
            </a:r>
            <a:endParaRPr lang="en-US" sz="950" dirty="0"/>
          </a:p>
          <a:p>
            <a:pPr algn="l" indent="0" marL="0">
              <a:lnSpc>
                <a:spcPts val="1550"/>
              </a:lnSpc>
              <a:buNone/>
            </a:pPr>
            <a:endParaRPr lang="en-US" sz="950" dirty="0"/>
          </a:p>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@app.get("/items/{item_id}")</a:t>
            </a:r>
            <a:endParaRPr lang="en-US" sz="950" dirty="0"/>
          </a:p>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def get_item(item_id: int):</a:t>
            </a:r>
            <a:endParaRPr lang="en-US" sz="950" dirty="0"/>
          </a:p>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if item_id not in items:</a:t>
            </a:r>
            <a:endParaRPr lang="en-US" sz="950" dirty="0"/>
          </a:p>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raise HTTPException(</a:t>
            </a:r>
            <a:endParaRPr lang="en-US" sz="950" dirty="0"/>
          </a:p>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status_code=404,</a:t>
            </a:r>
            <a:endParaRPr lang="en-US" sz="950" dirty="0"/>
          </a:p>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detail="Item not found"</a:t>
            </a:r>
            <a:endParaRPr lang="en-US" sz="950" dirty="0"/>
          </a:p>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a:t>
            </a:r>
            <a:endParaRPr lang="en-US" sz="950" dirty="0"/>
          </a:p>
          <a:p>
            <a:pPr algn="l" indent="0" marL="0">
              <a:lnSpc>
                <a:spcPts val="1550"/>
              </a:lnSpc>
              <a:buNone/>
            </a:pPr>
            <a:r>
              <a:rPr lang="en-US" sz="950" dirty="0">
                <a:solidFill>
                  <a:srgbClr val="D73A49"/>
                </a:solidFill>
                <a:highlight>
                  <a:srgbClr val="F2F2F2"/>
                </a:highlight>
                <a:latin typeface="Consolas" pitchFamily="34" charset="0"/>
                <a:ea typeface="Consolas" pitchFamily="34" charset="-122"/>
                <a:cs typeface="Consolas" pitchFamily="34" charset="-120"/>
              </a:rPr>
              <a:t>    return items[item_id]</a:t>
            </a:r>
            <a:endParaRPr lang="en-US" sz="950" dirty="0"/>
          </a:p>
        </p:txBody>
      </p:sp>
      <p:sp>
        <p:nvSpPr>
          <p:cNvPr id="9" name="Text 7"/>
          <p:cNvSpPr/>
          <p:nvPr/>
        </p:nvSpPr>
        <p:spPr>
          <a:xfrm>
            <a:off x="496119" y="4359697"/>
            <a:ext cx="8151763"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When raised, FastAPI returns a clean JSON error response: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{"detail": "Item not found"}</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with a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404</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status code. No extra code required.</a:t>
            </a:r>
            <a:endParaRPr lang="en-US" sz="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496119" y="888578"/>
            <a:ext cx="1424062" cy="242739"/>
          </a:xfrm>
          <a:prstGeom prst="roundRect">
            <a:avLst>
              <a:gd name="adj" fmla="val 17171"/>
            </a:avLst>
          </a:prstGeom>
          <a:noFill/>
          <a:ln w="4763">
            <a:solidFill>
              <a:srgbClr val="1B1B27"/>
            </a:solidFill>
            <a:prstDash val="solid"/>
          </a:ln>
        </p:spPr>
      </p:sp>
      <p:sp>
        <p:nvSpPr>
          <p:cNvPr id="3" name="Text 1"/>
          <p:cNvSpPr/>
          <p:nvPr/>
        </p:nvSpPr>
        <p:spPr>
          <a:xfrm>
            <a:off x="575295" y="930548"/>
            <a:ext cx="1265709"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5 — ERROR HANDLING</a:t>
            </a:r>
            <a:endParaRPr lang="en-US" sz="750" dirty="0"/>
          </a:p>
        </p:txBody>
      </p:sp>
      <p:sp>
        <p:nvSpPr>
          <p:cNvPr id="4" name="Text 2"/>
          <p:cNvSpPr/>
          <p:nvPr/>
        </p:nvSpPr>
        <p:spPr>
          <a:xfrm>
            <a:off x="496119" y="1180877"/>
            <a:ext cx="5605760"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400 vs. 404 — Choosing the Right Code</a:t>
            </a:r>
            <a:endParaRPr lang="en-US" sz="2400" dirty="0"/>
          </a:p>
        </p:txBody>
      </p:sp>
      <p:sp>
        <p:nvSpPr>
          <p:cNvPr id="5" name="Text 3"/>
          <p:cNvSpPr/>
          <p:nvPr/>
        </p:nvSpPr>
        <p:spPr>
          <a:xfrm>
            <a:off x="496119" y="1754460"/>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Using the correct status code communicates the nature of the problem clearly. The two most common error codes you'll use are 400 and 404 — and they mean very different things.</a:t>
            </a:r>
            <a:endParaRPr lang="en-US" sz="950" dirty="0"/>
          </a:p>
        </p:txBody>
      </p:sp>
      <p:sp>
        <p:nvSpPr>
          <p:cNvPr id="6" name="Shape 4"/>
          <p:cNvSpPr/>
          <p:nvPr/>
        </p:nvSpPr>
        <p:spPr>
          <a:xfrm>
            <a:off x="496119" y="2290911"/>
            <a:ext cx="8151763" cy="1099021"/>
          </a:xfrm>
          <a:prstGeom prst="roundRect">
            <a:avLst>
              <a:gd name="adj" fmla="val 4741"/>
            </a:avLst>
          </a:prstGeom>
          <a:noFill/>
          <a:ln w="4763">
            <a:solidFill>
              <a:srgbClr val="000000">
                <a:alpha val="8000"/>
              </a:srgbClr>
            </a:solidFill>
            <a:prstDash val="solid"/>
          </a:ln>
        </p:spPr>
      </p:sp>
      <p:sp>
        <p:nvSpPr>
          <p:cNvPr id="7" name="Text 5"/>
          <p:cNvSpPr/>
          <p:nvPr/>
        </p:nvSpPr>
        <p:spPr>
          <a:xfrm>
            <a:off x="625004" y="2374850"/>
            <a:ext cx="970955" cy="198462"/>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Code</a:t>
            </a:r>
            <a:endParaRPr lang="en-US" sz="950" dirty="0"/>
          </a:p>
        </p:txBody>
      </p:sp>
      <p:sp>
        <p:nvSpPr>
          <p:cNvPr id="8" name="Text 6"/>
          <p:cNvSpPr/>
          <p:nvPr/>
        </p:nvSpPr>
        <p:spPr>
          <a:xfrm>
            <a:off x="1848669" y="2374850"/>
            <a:ext cx="1782812" cy="198462"/>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Name</a:t>
            </a:r>
            <a:endParaRPr lang="en-US" sz="950" dirty="0"/>
          </a:p>
        </p:txBody>
      </p:sp>
      <p:sp>
        <p:nvSpPr>
          <p:cNvPr id="9" name="Text 7"/>
          <p:cNvSpPr/>
          <p:nvPr/>
        </p:nvSpPr>
        <p:spPr>
          <a:xfrm>
            <a:off x="3884191" y="2374850"/>
            <a:ext cx="4634954" cy="198462"/>
          </a:xfrm>
          <a:prstGeom prst="rect">
            <a:avLst/>
          </a:prstGeom>
          <a:noFill/>
          <a:ln/>
        </p:spPr>
        <p:txBody>
          <a:bodyPr wrap="none" lIns="0" tIns="0" rIns="0" bIns="0" rtlCol="0" anchor="t"/>
          <a:lstStyle/>
          <a:p>
            <a:pPr algn="l" indent="0" marL="0">
              <a:lnSpc>
                <a:spcPts val="1550"/>
              </a:lnSpc>
              <a:buNone/>
            </a:pPr>
            <a:r>
              <a:rPr lang="en-US" sz="950" b="1" dirty="0">
                <a:solidFill>
                  <a:srgbClr val="3C3939"/>
                </a:solidFill>
                <a:latin typeface="Roboto" pitchFamily="34" charset="0"/>
                <a:ea typeface="Roboto" pitchFamily="34" charset="-122"/>
                <a:cs typeface="Roboto" pitchFamily="34" charset="-120"/>
              </a:rPr>
              <a:t>When to Use</a:t>
            </a:r>
            <a:endParaRPr lang="en-US" sz="950" dirty="0"/>
          </a:p>
        </p:txBody>
      </p:sp>
      <p:sp>
        <p:nvSpPr>
          <p:cNvPr id="10" name="Text 8"/>
          <p:cNvSpPr/>
          <p:nvPr/>
        </p:nvSpPr>
        <p:spPr>
          <a:xfrm>
            <a:off x="625004" y="2736428"/>
            <a:ext cx="970955"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400</a:t>
            </a:r>
            <a:endParaRPr lang="en-US" sz="950" dirty="0"/>
          </a:p>
        </p:txBody>
      </p:sp>
      <p:sp>
        <p:nvSpPr>
          <p:cNvPr id="11" name="Text 9"/>
          <p:cNvSpPr/>
          <p:nvPr/>
        </p:nvSpPr>
        <p:spPr>
          <a:xfrm>
            <a:off x="1848669" y="2736428"/>
            <a:ext cx="178281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Bad Request</a:t>
            </a:r>
            <a:endParaRPr lang="en-US" sz="950" dirty="0"/>
          </a:p>
        </p:txBody>
      </p:sp>
      <p:sp>
        <p:nvSpPr>
          <p:cNvPr id="12" name="Text 10"/>
          <p:cNvSpPr/>
          <p:nvPr/>
        </p:nvSpPr>
        <p:spPr>
          <a:xfrm>
            <a:off x="3884191" y="2736428"/>
            <a:ext cx="4634954"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client sent invalid input — wrong format, negative price, out-of-range value</a:t>
            </a:r>
            <a:endParaRPr lang="en-US" sz="950" dirty="0"/>
          </a:p>
        </p:txBody>
      </p:sp>
      <p:sp>
        <p:nvSpPr>
          <p:cNvPr id="13" name="Text 11"/>
          <p:cNvSpPr/>
          <p:nvPr/>
        </p:nvSpPr>
        <p:spPr>
          <a:xfrm>
            <a:off x="625004" y="3102769"/>
            <a:ext cx="970955"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404</a:t>
            </a:r>
            <a:endParaRPr lang="en-US" sz="950" dirty="0"/>
          </a:p>
        </p:txBody>
      </p:sp>
      <p:sp>
        <p:nvSpPr>
          <p:cNvPr id="14" name="Text 12"/>
          <p:cNvSpPr/>
          <p:nvPr/>
        </p:nvSpPr>
        <p:spPr>
          <a:xfrm>
            <a:off x="1848669" y="3102769"/>
            <a:ext cx="1782812"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Not Found</a:t>
            </a:r>
            <a:endParaRPr lang="en-US" sz="950" dirty="0"/>
          </a:p>
        </p:txBody>
      </p:sp>
      <p:sp>
        <p:nvSpPr>
          <p:cNvPr id="15" name="Text 13"/>
          <p:cNvSpPr/>
          <p:nvPr/>
        </p:nvSpPr>
        <p:spPr>
          <a:xfrm>
            <a:off x="3884191" y="3102769"/>
            <a:ext cx="4634954"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resource the client requested does not exist — wrong ID, deleted record</a:t>
            </a:r>
            <a:endParaRPr lang="en-US" sz="950" dirty="0"/>
          </a:p>
        </p:txBody>
      </p:sp>
      <p:sp>
        <p:nvSpPr>
          <p:cNvPr id="16" name="Shape 14"/>
          <p:cNvSpPr/>
          <p:nvPr/>
        </p:nvSpPr>
        <p:spPr>
          <a:xfrm>
            <a:off x="496119" y="3529459"/>
            <a:ext cx="8151763" cy="725463"/>
          </a:xfrm>
          <a:prstGeom prst="roundRect">
            <a:avLst>
              <a:gd name="adj" fmla="val 7182"/>
            </a:avLst>
          </a:prstGeom>
          <a:solidFill>
            <a:srgbClr val="B6D6FC"/>
          </a:solidFill>
          <a:ln/>
        </p:spPr>
      </p:sp>
      <p:pic>
        <p:nvPicPr>
          <p:cNvPr id="17" name="Image 0" descr="preencoded.png">    </p:cNvPr>
          <p:cNvPicPr>
            <a:picLocks noChangeAspect="1"/>
          </p:cNvPicPr>
          <p:nvPr/>
        </p:nvPicPr>
        <p:blipFill>
          <a:blip r:embed="rId1"/>
          <a:stretch>
            <a:fillRect/>
          </a:stretch>
        </p:blipFill>
        <p:spPr>
          <a:xfrm>
            <a:off x="620092" y="3714006"/>
            <a:ext cx="155004" cy="123974"/>
          </a:xfrm>
          <a:prstGeom prst="rect">
            <a:avLst/>
          </a:prstGeom>
        </p:spPr>
      </p:pic>
      <p:sp>
        <p:nvSpPr>
          <p:cNvPr id="18" name="Text 15"/>
          <p:cNvSpPr/>
          <p:nvPr/>
        </p:nvSpPr>
        <p:spPr>
          <a:xfrm>
            <a:off x="899071" y="3684389"/>
            <a:ext cx="7624837" cy="396925"/>
          </a:xfrm>
          <a:prstGeom prst="rect">
            <a:avLst/>
          </a:prstGeom>
          <a:noFill/>
          <a:ln/>
        </p:spPr>
        <p:txBody>
          <a:bodyPr wrap="square" lIns="0" tIns="0" rIns="0" bIns="0" rtlCol="0" anchor="t"/>
          <a:lstStyle/>
          <a:p>
            <a:pPr algn="l" indent="0" marL="0">
              <a:lnSpc>
                <a:spcPts val="1550"/>
              </a:lnSpc>
              <a:buNone/>
            </a:pPr>
            <a:r>
              <a:rPr lang="en-US" sz="950" dirty="0">
                <a:solidFill>
                  <a:srgbClr val="000000"/>
                </a:solidFill>
                <a:latin typeface="Roboto" pitchFamily="34" charset="0"/>
                <a:ea typeface="Roboto" pitchFamily="34" charset="-122"/>
                <a:cs typeface="Roboto" pitchFamily="34" charset="-120"/>
              </a:rPr>
              <a:t>Use 400 when the client's data is wrong. Use 404 when the client's target doesn't exist. Don't swap them — they communicate very different problems.</a:t>
            </a:r>
            <a:endParaRPr lang="en-US" sz="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496119" y="1221656"/>
            <a:ext cx="1424062" cy="242739"/>
          </a:xfrm>
          <a:prstGeom prst="roundRect">
            <a:avLst>
              <a:gd name="adj" fmla="val 17171"/>
            </a:avLst>
          </a:prstGeom>
          <a:noFill/>
          <a:ln w="4763">
            <a:solidFill>
              <a:srgbClr val="1B1B27"/>
            </a:solidFill>
            <a:prstDash val="solid"/>
          </a:ln>
        </p:spPr>
      </p:sp>
      <p:sp>
        <p:nvSpPr>
          <p:cNvPr id="3" name="Text 1"/>
          <p:cNvSpPr/>
          <p:nvPr/>
        </p:nvSpPr>
        <p:spPr>
          <a:xfrm>
            <a:off x="575295" y="1263625"/>
            <a:ext cx="1265709"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5 — ERROR HANDLING</a:t>
            </a:r>
            <a:endParaRPr lang="en-US" sz="750" dirty="0"/>
          </a:p>
        </p:txBody>
      </p:sp>
      <p:sp>
        <p:nvSpPr>
          <p:cNvPr id="4" name="Text 2"/>
          <p:cNvSpPr/>
          <p:nvPr/>
        </p:nvSpPr>
        <p:spPr>
          <a:xfrm>
            <a:off x="496119" y="1513954"/>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Validation Errors</a:t>
            </a:r>
            <a:endParaRPr lang="en-US" sz="2400" dirty="0"/>
          </a:p>
        </p:txBody>
      </p:sp>
      <p:sp>
        <p:nvSpPr>
          <p:cNvPr id="5" name="Text 3"/>
          <p:cNvSpPr/>
          <p:nvPr/>
        </p:nvSpPr>
        <p:spPr>
          <a:xfrm>
            <a:off x="496119" y="2087538"/>
            <a:ext cx="8151763" cy="4016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When a client sends a request body that doesn't match your Pydantic model, FastAPI automatically returns a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422 Unprocessable Entity</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response — no extra code needed. This is one of FastAPI's most powerful built-in features.</a:t>
            </a:r>
            <a:endParaRPr lang="en-US" sz="950" dirty="0"/>
          </a:p>
        </p:txBody>
      </p:sp>
      <p:sp>
        <p:nvSpPr>
          <p:cNvPr id="6" name="Shape 4"/>
          <p:cNvSpPr/>
          <p:nvPr/>
        </p:nvSpPr>
        <p:spPr>
          <a:xfrm>
            <a:off x="406822" y="2628751"/>
            <a:ext cx="4103191" cy="955104"/>
          </a:xfrm>
          <a:prstGeom prst="roundRect">
            <a:avLst>
              <a:gd name="adj" fmla="val 9351"/>
            </a:avLst>
          </a:prstGeom>
          <a:solidFill>
            <a:srgbClr val="1B1B27">
              <a:alpha val="95000"/>
            </a:srgbClr>
          </a:solidFill>
          <a:ln/>
        </p:spPr>
      </p:sp>
      <p:sp>
        <p:nvSpPr>
          <p:cNvPr id="7" name="Text 5"/>
          <p:cNvSpPr/>
          <p:nvPr/>
        </p:nvSpPr>
        <p:spPr>
          <a:xfrm>
            <a:off x="530796" y="2752725"/>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FFFFFF"/>
                </a:solidFill>
                <a:latin typeface="Raleway" pitchFamily="34" charset="0"/>
                <a:ea typeface="Raleway" pitchFamily="34" charset="-122"/>
                <a:cs typeface="Raleway" pitchFamily="34" charset="-120"/>
              </a:rPr>
              <a:t>Missing Fields</a:t>
            </a:r>
            <a:endParaRPr lang="en-US" sz="1200" dirty="0"/>
          </a:p>
        </p:txBody>
      </p:sp>
      <p:sp>
        <p:nvSpPr>
          <p:cNvPr id="8" name="Text 6"/>
          <p:cNvSpPr/>
          <p:nvPr/>
        </p:nvSpPr>
        <p:spPr>
          <a:xfrm>
            <a:off x="530796" y="3070547"/>
            <a:ext cx="3855244" cy="396925"/>
          </a:xfrm>
          <a:prstGeom prst="rect">
            <a:avLst/>
          </a:prstGeom>
          <a:noFill/>
          <a:ln/>
        </p:spPr>
        <p:txBody>
          <a:bodyPr wrap="square" lIns="0" tIns="0" rIns="0" bIns="0" rtlCol="0" anchor="t"/>
          <a:lstStyle/>
          <a:p>
            <a:pPr algn="l" indent="0" marL="0">
              <a:lnSpc>
                <a:spcPts val="1550"/>
              </a:lnSpc>
              <a:buNone/>
            </a:pPr>
            <a:r>
              <a:rPr lang="en-US" sz="950" dirty="0">
                <a:solidFill>
                  <a:srgbClr val="FFFFFF"/>
                </a:solidFill>
                <a:latin typeface="Roboto" pitchFamily="34" charset="0"/>
                <a:ea typeface="Roboto" pitchFamily="34" charset="-122"/>
                <a:cs typeface="Roboto" pitchFamily="34" charset="-120"/>
              </a:rPr>
              <a:t>If a required field is absent from the request body, Pydantic flags it immediately and returns which field is missing.</a:t>
            </a:r>
            <a:endParaRPr lang="en-US" sz="950" dirty="0"/>
          </a:p>
        </p:txBody>
      </p:sp>
      <p:sp>
        <p:nvSpPr>
          <p:cNvPr id="9" name="Text 7"/>
          <p:cNvSpPr/>
          <p:nvPr/>
        </p:nvSpPr>
        <p:spPr>
          <a:xfrm>
            <a:off x="4728046" y="2752725"/>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1B1B27"/>
                </a:solidFill>
                <a:latin typeface="Raleway" pitchFamily="34" charset="0"/>
                <a:ea typeface="Raleway" pitchFamily="34" charset="-122"/>
                <a:cs typeface="Raleway" pitchFamily="34" charset="-120"/>
              </a:rPr>
              <a:t>Wrong Types</a:t>
            </a:r>
            <a:endParaRPr lang="en-US" sz="1200" dirty="0"/>
          </a:p>
        </p:txBody>
      </p:sp>
      <p:sp>
        <p:nvSpPr>
          <p:cNvPr id="10" name="Text 8"/>
          <p:cNvSpPr/>
          <p:nvPr/>
        </p:nvSpPr>
        <p:spPr>
          <a:xfrm>
            <a:off x="4728046" y="3070547"/>
            <a:ext cx="3924598" cy="401687"/>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If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price</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is declared as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float</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but receives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"cheap"</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the request is rejected before your code even runs.</a:t>
            </a:r>
            <a:endParaRPr lang="en-US" sz="950" dirty="0"/>
          </a:p>
        </p:txBody>
      </p:sp>
      <p:sp>
        <p:nvSpPr>
          <p:cNvPr id="11" name="Text 9"/>
          <p:cNvSpPr/>
          <p:nvPr/>
        </p:nvSpPr>
        <p:spPr>
          <a:xfrm>
            <a:off x="496119" y="3723382"/>
            <a:ext cx="8151763" cy="198462"/>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The response includes a detailed error list explaining exactly which field failed and why — making it easy for the client to fix the problem.</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496119" y="1347936"/>
            <a:ext cx="1424062" cy="242739"/>
          </a:xfrm>
          <a:prstGeom prst="roundRect">
            <a:avLst>
              <a:gd name="adj" fmla="val 17171"/>
            </a:avLst>
          </a:prstGeom>
          <a:noFill/>
          <a:ln w="4763">
            <a:solidFill>
              <a:srgbClr val="1B1B27"/>
            </a:solidFill>
            <a:prstDash val="solid"/>
          </a:ln>
        </p:spPr>
      </p:sp>
      <p:sp>
        <p:nvSpPr>
          <p:cNvPr id="3" name="Text 1"/>
          <p:cNvSpPr/>
          <p:nvPr/>
        </p:nvSpPr>
        <p:spPr>
          <a:xfrm>
            <a:off x="575295" y="1389906"/>
            <a:ext cx="1265709" cy="158800"/>
          </a:xfrm>
          <a:prstGeom prst="rect">
            <a:avLst/>
          </a:prstGeom>
          <a:noFill/>
          <a:ln/>
        </p:spPr>
        <p:txBody>
          <a:bodyPr wrap="none" lIns="0" tIns="0" rIns="0" bIns="0" rtlCol="0" anchor="t"/>
          <a:lstStyle/>
          <a:p>
            <a:pPr algn="l" indent="0" marL="0">
              <a:lnSpc>
                <a:spcPts val="1250"/>
              </a:lnSpc>
              <a:buNone/>
            </a:pPr>
            <a:r>
              <a:rPr lang="en-US" sz="750" dirty="0">
                <a:solidFill>
                  <a:srgbClr val="1B1B27"/>
                </a:solidFill>
                <a:latin typeface="Roboto" pitchFamily="34" charset="0"/>
                <a:ea typeface="Roboto" pitchFamily="34" charset="-122"/>
                <a:cs typeface="Roboto" pitchFamily="34" charset="-120"/>
              </a:rPr>
              <a:t>PART 5 — ERROR HANDLING</a:t>
            </a:r>
            <a:endParaRPr lang="en-US" sz="750" dirty="0"/>
          </a:p>
        </p:txBody>
      </p:sp>
      <p:sp>
        <p:nvSpPr>
          <p:cNvPr id="4" name="Text 2"/>
          <p:cNvSpPr/>
          <p:nvPr/>
        </p:nvSpPr>
        <p:spPr>
          <a:xfrm>
            <a:off x="496119" y="1640235"/>
            <a:ext cx="3980557"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Testing Errors with Swagger</a:t>
            </a:r>
            <a:endParaRPr lang="en-US" sz="2400" dirty="0"/>
          </a:p>
        </p:txBody>
      </p:sp>
      <p:sp>
        <p:nvSpPr>
          <p:cNvPr id="5" name="Text 3"/>
          <p:cNvSpPr/>
          <p:nvPr/>
        </p:nvSpPr>
        <p:spPr>
          <a:xfrm>
            <a:off x="496119" y="2213818"/>
            <a:ext cx="8151763"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Swagger UI is the perfect tool for testing your error handling. You can deliberately send bad requests to verify that your backend responds correctly in every failure scenario.</a:t>
            </a:r>
            <a:endParaRPr lang="en-US" sz="950" dirty="0"/>
          </a:p>
        </p:txBody>
      </p:sp>
      <p:sp>
        <p:nvSpPr>
          <p:cNvPr id="6" name="Text 4"/>
          <p:cNvSpPr/>
          <p:nvPr/>
        </p:nvSpPr>
        <p:spPr>
          <a:xfrm>
            <a:off x="496119" y="2750269"/>
            <a:ext cx="248022" cy="155004"/>
          </a:xfrm>
          <a:prstGeom prst="rect">
            <a:avLst/>
          </a:prstGeom>
          <a:noFill/>
          <a:ln/>
        </p:spPr>
        <p:txBody>
          <a:bodyPr wrap="none" lIns="0" tIns="0" rIns="0" bIns="0" rtlCol="0" anchor="ctr"/>
          <a:lstStyle/>
          <a:p>
            <a:pPr algn="l" indent="0" marL="0">
              <a:lnSpc>
                <a:spcPts val="1550"/>
              </a:lnSpc>
              <a:buNone/>
            </a:pPr>
            <a:r>
              <a:rPr lang="en-US" sz="950" dirty="0">
                <a:solidFill>
                  <a:srgbClr val="3C3939"/>
                </a:solidFill>
                <a:latin typeface="Raleway Light" pitchFamily="34" charset="0"/>
                <a:ea typeface="Raleway Light" pitchFamily="34" charset="-122"/>
                <a:cs typeface="Raleway Light" pitchFamily="34" charset="-120"/>
              </a:rPr>
              <a:t>01</a:t>
            </a:r>
            <a:endParaRPr lang="en-US" sz="950" dirty="0"/>
          </a:p>
        </p:txBody>
      </p:sp>
      <p:sp>
        <p:nvSpPr>
          <p:cNvPr id="7" name="Shape 5"/>
          <p:cNvSpPr/>
          <p:nvPr/>
        </p:nvSpPr>
        <p:spPr>
          <a:xfrm>
            <a:off x="496119" y="2946722"/>
            <a:ext cx="2634555" cy="14288"/>
          </a:xfrm>
          <a:prstGeom prst="rect">
            <a:avLst/>
          </a:prstGeom>
          <a:solidFill>
            <a:srgbClr val="1B1B27"/>
          </a:solidFill>
          <a:ln/>
        </p:spPr>
      </p:sp>
      <p:sp>
        <p:nvSpPr>
          <p:cNvPr id="8" name="Text 6"/>
          <p:cNvSpPr/>
          <p:nvPr/>
        </p:nvSpPr>
        <p:spPr>
          <a:xfrm>
            <a:off x="496119" y="3037284"/>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Test Wrong Input</a:t>
            </a:r>
            <a:endParaRPr lang="en-US" sz="1200" dirty="0"/>
          </a:p>
        </p:txBody>
      </p:sp>
      <p:sp>
        <p:nvSpPr>
          <p:cNvPr id="9" name="Text 7"/>
          <p:cNvSpPr/>
          <p:nvPr/>
        </p:nvSpPr>
        <p:spPr>
          <a:xfrm>
            <a:off x="496119" y="3305547"/>
            <a:ext cx="2634555"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Send a string where an integer is expected — confirm a 422 is returned</a:t>
            </a:r>
            <a:endParaRPr lang="en-US" sz="950" dirty="0"/>
          </a:p>
        </p:txBody>
      </p:sp>
      <p:sp>
        <p:nvSpPr>
          <p:cNvPr id="10" name="Text 8"/>
          <p:cNvSpPr/>
          <p:nvPr/>
        </p:nvSpPr>
        <p:spPr>
          <a:xfrm>
            <a:off x="3254648" y="2750269"/>
            <a:ext cx="248022" cy="155004"/>
          </a:xfrm>
          <a:prstGeom prst="rect">
            <a:avLst/>
          </a:prstGeom>
          <a:noFill/>
          <a:ln/>
        </p:spPr>
        <p:txBody>
          <a:bodyPr wrap="none" lIns="0" tIns="0" rIns="0" bIns="0" rtlCol="0" anchor="ctr"/>
          <a:lstStyle/>
          <a:p>
            <a:pPr algn="l" indent="0" marL="0">
              <a:lnSpc>
                <a:spcPts val="1550"/>
              </a:lnSpc>
              <a:buNone/>
            </a:pPr>
            <a:r>
              <a:rPr lang="en-US" sz="950" dirty="0">
                <a:solidFill>
                  <a:srgbClr val="3C3939"/>
                </a:solidFill>
                <a:latin typeface="Raleway Light" pitchFamily="34" charset="0"/>
                <a:ea typeface="Raleway Light" pitchFamily="34" charset="-122"/>
                <a:cs typeface="Raleway Light" pitchFamily="34" charset="-120"/>
              </a:rPr>
              <a:t>02</a:t>
            </a:r>
            <a:endParaRPr lang="en-US" sz="950" dirty="0"/>
          </a:p>
        </p:txBody>
      </p:sp>
      <p:sp>
        <p:nvSpPr>
          <p:cNvPr id="11" name="Shape 9"/>
          <p:cNvSpPr/>
          <p:nvPr/>
        </p:nvSpPr>
        <p:spPr>
          <a:xfrm>
            <a:off x="3254648" y="2946722"/>
            <a:ext cx="2634630" cy="14288"/>
          </a:xfrm>
          <a:prstGeom prst="rect">
            <a:avLst/>
          </a:prstGeom>
          <a:solidFill>
            <a:srgbClr val="1B1B27"/>
          </a:solidFill>
          <a:ln/>
        </p:spPr>
      </p:sp>
      <p:sp>
        <p:nvSpPr>
          <p:cNvPr id="12" name="Text 10"/>
          <p:cNvSpPr/>
          <p:nvPr/>
        </p:nvSpPr>
        <p:spPr>
          <a:xfrm>
            <a:off x="3254648" y="3037284"/>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Test Missing Fields</a:t>
            </a:r>
            <a:endParaRPr lang="en-US" sz="1200" dirty="0"/>
          </a:p>
        </p:txBody>
      </p:sp>
      <p:sp>
        <p:nvSpPr>
          <p:cNvPr id="13" name="Text 11"/>
          <p:cNvSpPr/>
          <p:nvPr/>
        </p:nvSpPr>
        <p:spPr>
          <a:xfrm>
            <a:off x="3254648" y="3305547"/>
            <a:ext cx="2634630"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Submit a POST body with a required field removed — verify the validation error</a:t>
            </a:r>
            <a:endParaRPr lang="en-US" sz="950" dirty="0"/>
          </a:p>
        </p:txBody>
      </p:sp>
      <p:sp>
        <p:nvSpPr>
          <p:cNvPr id="14" name="Text 12"/>
          <p:cNvSpPr/>
          <p:nvPr/>
        </p:nvSpPr>
        <p:spPr>
          <a:xfrm>
            <a:off x="6013252" y="2750269"/>
            <a:ext cx="248022" cy="155004"/>
          </a:xfrm>
          <a:prstGeom prst="rect">
            <a:avLst/>
          </a:prstGeom>
          <a:noFill/>
          <a:ln/>
        </p:spPr>
        <p:txBody>
          <a:bodyPr wrap="none" lIns="0" tIns="0" rIns="0" bIns="0" rtlCol="0" anchor="ctr"/>
          <a:lstStyle/>
          <a:p>
            <a:pPr algn="l" indent="0" marL="0">
              <a:lnSpc>
                <a:spcPts val="1550"/>
              </a:lnSpc>
              <a:buNone/>
            </a:pPr>
            <a:r>
              <a:rPr lang="en-US" sz="950" dirty="0">
                <a:solidFill>
                  <a:srgbClr val="3C3939"/>
                </a:solidFill>
                <a:latin typeface="Raleway Light" pitchFamily="34" charset="0"/>
                <a:ea typeface="Raleway Light" pitchFamily="34" charset="-122"/>
                <a:cs typeface="Raleway Light" pitchFamily="34" charset="-120"/>
              </a:rPr>
              <a:t>03</a:t>
            </a:r>
            <a:endParaRPr lang="en-US" sz="950" dirty="0"/>
          </a:p>
        </p:txBody>
      </p:sp>
      <p:sp>
        <p:nvSpPr>
          <p:cNvPr id="15" name="Shape 13"/>
          <p:cNvSpPr/>
          <p:nvPr/>
        </p:nvSpPr>
        <p:spPr>
          <a:xfrm>
            <a:off x="6013252" y="2946722"/>
            <a:ext cx="2634555" cy="14288"/>
          </a:xfrm>
          <a:prstGeom prst="rect">
            <a:avLst/>
          </a:prstGeom>
          <a:solidFill>
            <a:srgbClr val="1B1B27"/>
          </a:solidFill>
          <a:ln/>
        </p:spPr>
      </p:sp>
      <p:sp>
        <p:nvSpPr>
          <p:cNvPr id="16" name="Text 14"/>
          <p:cNvSpPr/>
          <p:nvPr/>
        </p:nvSpPr>
        <p:spPr>
          <a:xfrm>
            <a:off x="6013252" y="3037284"/>
            <a:ext cx="1550566" cy="193849"/>
          </a:xfrm>
          <a:prstGeom prst="rect">
            <a:avLst/>
          </a:prstGeom>
          <a:noFill/>
          <a:ln/>
        </p:spPr>
        <p:txBody>
          <a:bodyPr wrap="none" lIns="0" tIns="0" rIns="0" bIns="0" rtlCol="0" anchor="t"/>
          <a:lstStyle/>
          <a:p>
            <a:pPr algn="l" indent="0" marL="0">
              <a:lnSpc>
                <a:spcPts val="1500"/>
              </a:lnSpc>
              <a:buNone/>
            </a:pPr>
            <a:r>
              <a:rPr lang="en-US" sz="1200" dirty="0">
                <a:solidFill>
                  <a:srgbClr val="3C3939"/>
                </a:solidFill>
                <a:latin typeface="Raleway" pitchFamily="34" charset="0"/>
                <a:ea typeface="Raleway" pitchFamily="34" charset="-122"/>
                <a:cs typeface="Raleway" pitchFamily="34" charset="-120"/>
              </a:rPr>
              <a:t>Test Invalid IDs</a:t>
            </a:r>
            <a:endParaRPr lang="en-US" sz="1200" dirty="0"/>
          </a:p>
        </p:txBody>
      </p:sp>
      <p:sp>
        <p:nvSpPr>
          <p:cNvPr id="17" name="Text 15"/>
          <p:cNvSpPr/>
          <p:nvPr/>
        </p:nvSpPr>
        <p:spPr>
          <a:xfrm>
            <a:off x="6013252" y="3305547"/>
            <a:ext cx="2634555" cy="396925"/>
          </a:xfrm>
          <a:prstGeom prst="rect">
            <a:avLst/>
          </a:prstGeom>
          <a:noFill/>
          <a:ln/>
        </p:spPr>
        <p:txBody>
          <a:bodyPr wrap="squar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Request an item ID that doesn't exist — confirm a 404 with the correct detail message</a:t>
            </a:r>
            <a:endParaRPr lang="en-US" sz="9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96119" y="1337444"/>
            <a:ext cx="3101132" cy="387548"/>
          </a:xfrm>
          <a:prstGeom prst="rect">
            <a:avLst/>
          </a:prstGeom>
          <a:noFill/>
          <a:ln/>
        </p:spPr>
        <p:txBody>
          <a:bodyPr wrap="none" lIns="0" tIns="0" rIns="0" bIns="0" rtlCol="0" anchor="t"/>
          <a:lstStyle/>
          <a:p>
            <a:pPr algn="l" indent="0" marL="0">
              <a:lnSpc>
                <a:spcPts val="3050"/>
              </a:lnSpc>
              <a:buNone/>
            </a:pPr>
            <a:r>
              <a:rPr lang="en-US" sz="2400" dirty="0">
                <a:solidFill>
                  <a:srgbClr val="1B1B27"/>
                </a:solidFill>
                <a:latin typeface="Raleway" pitchFamily="34" charset="0"/>
                <a:ea typeface="Raleway" pitchFamily="34" charset="-122"/>
                <a:cs typeface="Raleway" pitchFamily="34" charset="-120"/>
              </a:rPr>
              <a:t>Over to VS Code</a:t>
            </a:r>
            <a:endParaRPr lang="en-US" sz="2400" dirty="0"/>
          </a:p>
        </p:txBody>
      </p:sp>
      <p:sp>
        <p:nvSpPr>
          <p:cNvPr id="3" name="Text 1"/>
          <p:cNvSpPr/>
          <p:nvPr/>
        </p:nvSpPr>
        <p:spPr>
          <a:xfrm>
            <a:off x="496119" y="1911028"/>
            <a:ext cx="6202263" cy="784771"/>
          </a:xfrm>
          <a:prstGeom prst="rect">
            <a:avLst/>
          </a:prstGeom>
          <a:noFill/>
          <a:ln/>
        </p:spPr>
        <p:txBody>
          <a:bodyPr wrap="none" lIns="0" tIns="0" rIns="0" bIns="0" rtlCol="0" anchor="t"/>
          <a:lstStyle/>
          <a:p>
            <a:pPr algn="l" indent="0" marL="0">
              <a:lnSpc>
                <a:spcPts val="6100"/>
              </a:lnSpc>
              <a:buNone/>
            </a:pPr>
            <a:r>
              <a:rPr lang="en-US" sz="4850" dirty="0">
                <a:solidFill>
                  <a:srgbClr val="000000"/>
                </a:solidFill>
                <a:latin typeface="Raleway" pitchFamily="34" charset="0"/>
                <a:ea typeface="Raleway" pitchFamily="34" charset="-122"/>
                <a:cs typeface="Raleway" pitchFamily="34" charset="-120"/>
              </a:rPr>
              <a:t>👨‍💻</a:t>
            </a:r>
            <a:endParaRPr lang="en-US" sz="4850" dirty="0"/>
          </a:p>
        </p:txBody>
      </p:sp>
      <p:sp>
        <p:nvSpPr>
          <p:cNvPr id="4" name="Text 2"/>
          <p:cNvSpPr/>
          <p:nvPr/>
        </p:nvSpPr>
        <p:spPr>
          <a:xfrm>
            <a:off x="496119" y="2881833"/>
            <a:ext cx="4279553" cy="534888"/>
          </a:xfrm>
          <a:prstGeom prst="rect">
            <a:avLst/>
          </a:prstGeom>
          <a:noFill/>
          <a:ln/>
        </p:spPr>
        <p:txBody>
          <a:bodyPr wrap="none" lIns="0" tIns="0" rIns="0" bIns="0" rtlCol="0" anchor="t"/>
          <a:lstStyle/>
          <a:p>
            <a:pPr algn="l" indent="0" marL="0">
              <a:lnSpc>
                <a:spcPts val="4200"/>
              </a:lnSpc>
              <a:buNone/>
            </a:pPr>
            <a:r>
              <a:rPr lang="en-US" sz="3350" dirty="0">
                <a:solidFill>
                  <a:srgbClr val="1B1B27"/>
                </a:solidFill>
                <a:latin typeface="Raleway" pitchFamily="34" charset="0"/>
                <a:ea typeface="Raleway" pitchFamily="34" charset="-122"/>
                <a:cs typeface="Raleway" pitchFamily="34" charset="-120"/>
              </a:rPr>
              <a:t>Over to VS Code</a:t>
            </a:r>
            <a:endParaRPr lang="en-US" sz="3350" dirty="0"/>
          </a:p>
        </p:txBody>
      </p:sp>
      <p:sp>
        <p:nvSpPr>
          <p:cNvPr id="5" name="Text 3"/>
          <p:cNvSpPr/>
          <p:nvPr/>
        </p:nvSpPr>
        <p:spPr>
          <a:xfrm>
            <a:off x="496119" y="3602757"/>
            <a:ext cx="8151763" cy="203225"/>
          </a:xfrm>
          <a:prstGeom prst="rect">
            <a:avLst/>
          </a:prstGeom>
          <a:noFill/>
          <a:ln/>
        </p:spPr>
        <p:txBody>
          <a:bodyPr wrap="none" lIns="0" tIns="0" rIns="0" bIns="0" rtlCol="0" anchor="t"/>
          <a:lstStyle/>
          <a:p>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Add </a:t>
            </a:r>
            <a:pPr algn="l" indent="0" marL="0">
              <a:lnSpc>
                <a:spcPts val="1550"/>
              </a:lnSpc>
              <a:buNone/>
            </a:pPr>
            <a:r>
              <a:rPr lang="en-US" sz="950" dirty="0">
                <a:solidFill>
                  <a:srgbClr val="3C3939"/>
                </a:solidFill>
                <a:highlight>
                  <a:srgbClr val="F2F2F2"/>
                </a:highlight>
                <a:latin typeface="Consolas" pitchFamily="34" charset="0"/>
                <a:ea typeface="Consolas" pitchFamily="34" charset="-122"/>
                <a:cs typeface="Consolas" pitchFamily="34" charset="-120"/>
              </a:rPr>
              <a:t>HTTPException</a:t>
            </a:r>
            <a:pPr algn="l" indent="0" marL="0">
              <a:lnSpc>
                <a:spcPts val="1550"/>
              </a:lnSpc>
              <a:buNone/>
            </a:pPr>
            <a:r>
              <a:rPr lang="en-US" sz="950" dirty="0">
                <a:solidFill>
                  <a:srgbClr val="3C3939"/>
                </a:solidFill>
                <a:latin typeface="Roboto" pitchFamily="34" charset="0"/>
                <a:ea typeface="Roboto" pitchFamily="34" charset="-122"/>
                <a:cs typeface="Roboto" pitchFamily="34" charset="-120"/>
              </a:rPr>
              <a:t> error handling to your endpoints and test every error scenario using Swagger UI.</a:t>
            </a:r>
            <a:endParaRPr lang="en-US" sz="9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5715000" y="0"/>
            <a:ext cx="3429000" cy="5143500"/>
          </a:xfrm>
          <a:prstGeom prst="rect">
            <a:avLst/>
          </a:prstGeom>
          <a:solidFill>
            <a:srgbClr val="E1E1EA"/>
          </a:solidFill>
          <a:ln/>
        </p:spPr>
      </p:sp>
      <p:pic>
        <p:nvPicPr>
          <p:cNvPr id="3" name="Image 0" descr="preencoded.png">    </p:cNvPr>
          <p:cNvPicPr>
            <a:picLocks noChangeAspect="1"/>
          </p:cNvPicPr>
          <p:nvPr/>
        </p:nvPicPr>
        <p:blipFill>
          <a:blip r:embed="rId1"/>
          <a:stretch>
            <a:fillRect/>
          </a:stretch>
        </p:blipFill>
        <p:spPr>
          <a:xfrm>
            <a:off x="5755258" y="339403"/>
            <a:ext cx="3348410" cy="4464621"/>
          </a:xfrm>
          <a:prstGeom prst="rect">
            <a:avLst/>
          </a:prstGeom>
        </p:spPr>
      </p:pic>
      <p:sp>
        <p:nvSpPr>
          <p:cNvPr id="4" name="Shape 1"/>
          <p:cNvSpPr/>
          <p:nvPr/>
        </p:nvSpPr>
        <p:spPr>
          <a:xfrm>
            <a:off x="496119" y="439564"/>
            <a:ext cx="862310" cy="143024"/>
          </a:xfrm>
          <a:prstGeom prst="roundRect">
            <a:avLst>
              <a:gd name="adj" fmla="val 18942"/>
            </a:avLst>
          </a:prstGeom>
          <a:noFill/>
          <a:ln w="4763">
            <a:solidFill>
              <a:srgbClr val="1B1B27"/>
            </a:solidFill>
            <a:prstDash val="solid"/>
          </a:ln>
        </p:spPr>
      </p:sp>
      <p:sp>
        <p:nvSpPr>
          <p:cNvPr id="5" name="Text 2"/>
          <p:cNvSpPr/>
          <p:nvPr/>
        </p:nvSpPr>
        <p:spPr>
          <a:xfrm>
            <a:off x="549250" y="468511"/>
            <a:ext cx="756047" cy="85130"/>
          </a:xfrm>
          <a:prstGeom prst="rect">
            <a:avLst/>
          </a:prstGeom>
          <a:noFill/>
          <a:ln/>
        </p:spPr>
        <p:txBody>
          <a:bodyPr wrap="none" lIns="0" tIns="0" rIns="0" bIns="0" rtlCol="0" anchor="t"/>
          <a:lstStyle/>
          <a:p>
            <a:pPr algn="l" indent="0" marL="0">
              <a:lnSpc>
                <a:spcPts val="650"/>
              </a:lnSpc>
              <a:buNone/>
            </a:pPr>
            <a:r>
              <a:rPr lang="en-US" sz="500" dirty="0">
                <a:solidFill>
                  <a:srgbClr val="1B1B27"/>
                </a:solidFill>
                <a:latin typeface="Roboto" pitchFamily="34" charset="0"/>
                <a:ea typeface="Roboto" pitchFamily="34" charset="-122"/>
                <a:cs typeface="Roboto" pitchFamily="34" charset="-120"/>
              </a:rPr>
              <a:t>PART 6 — FINAL PROJECT</a:t>
            </a:r>
            <a:endParaRPr lang="en-US" sz="500" dirty="0"/>
          </a:p>
        </p:txBody>
      </p:sp>
      <p:sp>
        <p:nvSpPr>
          <p:cNvPr id="6" name="Text 3"/>
          <p:cNvSpPr/>
          <p:nvPr/>
        </p:nvSpPr>
        <p:spPr>
          <a:xfrm>
            <a:off x="496119" y="603498"/>
            <a:ext cx="2015728" cy="251966"/>
          </a:xfrm>
          <a:prstGeom prst="rect">
            <a:avLst/>
          </a:prstGeom>
          <a:noFill/>
          <a:ln/>
        </p:spPr>
        <p:txBody>
          <a:bodyPr wrap="none" lIns="0" tIns="0" rIns="0" bIns="0" rtlCol="0" anchor="t"/>
          <a:lstStyle/>
          <a:p>
            <a:pPr algn="l" indent="0" marL="0">
              <a:lnSpc>
                <a:spcPts val="1950"/>
              </a:lnSpc>
              <a:buNone/>
            </a:pPr>
            <a:r>
              <a:rPr lang="en-US" sz="1550" dirty="0">
                <a:solidFill>
                  <a:srgbClr val="1B1B27"/>
                </a:solidFill>
                <a:latin typeface="Raleway" pitchFamily="34" charset="0"/>
                <a:ea typeface="Raleway" pitchFamily="34" charset="-122"/>
                <a:cs typeface="Raleway" pitchFamily="34" charset="-120"/>
              </a:rPr>
              <a:t>Final Backend Project</a:t>
            </a:r>
            <a:endParaRPr lang="en-US" sz="1550" dirty="0"/>
          </a:p>
        </p:txBody>
      </p:sp>
      <p:sp>
        <p:nvSpPr>
          <p:cNvPr id="7" name="Text 4"/>
          <p:cNvSpPr/>
          <p:nvPr/>
        </p:nvSpPr>
        <p:spPr>
          <a:xfrm>
            <a:off x="496119" y="934045"/>
            <a:ext cx="3470821" cy="347663"/>
          </a:xfrm>
          <a:prstGeom prst="rect">
            <a:avLst/>
          </a:prstGeom>
          <a:noFill/>
          <a:ln/>
        </p:spPr>
        <p:txBody>
          <a:bodyPr wrap="none" lIns="0" tIns="0" rIns="0" bIns="0" rtlCol="0" anchor="t"/>
          <a:lstStyle/>
          <a:p>
            <a:pPr algn="l" indent="0" marL="0">
              <a:lnSpc>
                <a:spcPts val="2700"/>
              </a:lnSpc>
              <a:buNone/>
            </a:pPr>
            <a:r>
              <a:rPr lang="en-US" sz="2150" dirty="0">
                <a:solidFill>
                  <a:srgbClr val="1B1B27"/>
                </a:solidFill>
                <a:latin typeface="Raleway" pitchFamily="34" charset="0"/>
                <a:ea typeface="Raleway" pitchFamily="34" charset="-122"/>
                <a:cs typeface="Raleway" pitchFamily="34" charset="-120"/>
              </a:rPr>
              <a:t>Inventory Management API</a:t>
            </a:r>
            <a:endParaRPr lang="en-US" sz="2150" dirty="0"/>
          </a:p>
        </p:txBody>
      </p:sp>
      <p:sp>
        <p:nvSpPr>
          <p:cNvPr id="8" name="Text 5"/>
          <p:cNvSpPr/>
          <p:nvPr/>
        </p:nvSpPr>
        <p:spPr>
          <a:xfrm>
            <a:off x="496119" y="1360289"/>
            <a:ext cx="4722763" cy="212824"/>
          </a:xfrm>
          <a:prstGeom prst="rect">
            <a:avLst/>
          </a:prstGeom>
          <a:noFill/>
          <a:ln/>
        </p:spPr>
        <p:txBody>
          <a:bodyPr wrap="square" lIns="0" tIns="0" rIns="0" bIns="0" rtlCol="0" anchor="t"/>
          <a:lstStyle/>
          <a:p>
            <a:pPr algn="l" indent="0" marL="0">
              <a:lnSpc>
                <a:spcPts val="800"/>
              </a:lnSpc>
              <a:buNone/>
            </a:pPr>
            <a:r>
              <a:rPr lang="en-US" sz="600" dirty="0">
                <a:solidFill>
                  <a:srgbClr val="3C3939"/>
                </a:solidFill>
                <a:latin typeface="Roboto" pitchFamily="34" charset="0"/>
                <a:ea typeface="Roboto" pitchFamily="34" charset="-122"/>
                <a:cs typeface="Roboto" pitchFamily="34" charset="-120"/>
              </a:rPr>
              <a:t>You will build a complete, production-style backend API from scratch — combining everything from this module into a single working system: routing, validation, business logic, and error handling.</a:t>
            </a:r>
            <a:endParaRPr lang="en-US" sz="600" dirty="0"/>
          </a:p>
        </p:txBody>
      </p:sp>
      <p:sp>
        <p:nvSpPr>
          <p:cNvPr id="9" name="Shape 6"/>
          <p:cNvSpPr/>
          <p:nvPr/>
        </p:nvSpPr>
        <p:spPr>
          <a:xfrm>
            <a:off x="496119" y="1632049"/>
            <a:ext cx="4722763" cy="728663"/>
          </a:xfrm>
          <a:prstGeom prst="roundRect">
            <a:avLst>
              <a:gd name="adj" fmla="val 4648"/>
            </a:avLst>
          </a:prstGeom>
          <a:solidFill>
            <a:srgbClr val="E1E1EA"/>
          </a:solidFill>
          <a:ln w="4763">
            <a:solidFill>
              <a:srgbClr val="C7C7D0"/>
            </a:solidFill>
            <a:prstDash val="solid"/>
          </a:ln>
        </p:spPr>
      </p:sp>
      <p:sp>
        <p:nvSpPr>
          <p:cNvPr id="10" name="Shape 7"/>
          <p:cNvSpPr/>
          <p:nvPr/>
        </p:nvSpPr>
        <p:spPr>
          <a:xfrm>
            <a:off x="581471" y="1717402"/>
            <a:ext cx="241846" cy="241846"/>
          </a:xfrm>
          <a:prstGeom prst="roundRect">
            <a:avLst>
              <a:gd name="adj" fmla="val 23628377"/>
            </a:avLst>
          </a:prstGeom>
          <a:solidFill>
            <a:srgbClr val="1B1B27"/>
          </a:solidFill>
          <a:ln/>
        </p:spPr>
      </p:sp>
      <p:pic>
        <p:nvPicPr>
          <p:cNvPr id="11"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7998" y="1783928"/>
            <a:ext cx="108793" cy="108793"/>
          </a:xfrm>
          <a:prstGeom prst="rect">
            <a:avLst/>
          </a:prstGeom>
        </p:spPr>
      </p:pic>
      <p:sp>
        <p:nvSpPr>
          <p:cNvPr id="12" name="Text 8"/>
          <p:cNvSpPr/>
          <p:nvPr/>
        </p:nvSpPr>
        <p:spPr>
          <a:xfrm>
            <a:off x="581471" y="2011635"/>
            <a:ext cx="1007864" cy="125909"/>
          </a:xfrm>
          <a:prstGeom prst="rect">
            <a:avLst/>
          </a:prstGeom>
          <a:noFill/>
          <a:ln/>
        </p:spPr>
        <p:txBody>
          <a:bodyPr wrap="none" lIns="0" tIns="0" rIns="0" bIns="0" rtlCol="0" anchor="t"/>
          <a:lstStyle/>
          <a:p>
            <a:pPr algn="l" indent="0" marL="0">
              <a:lnSpc>
                <a:spcPts val="950"/>
              </a:lnSpc>
              <a:buNone/>
            </a:pPr>
            <a:r>
              <a:rPr lang="en-US" sz="750" dirty="0">
                <a:solidFill>
                  <a:srgbClr val="3C3939"/>
                </a:solidFill>
                <a:latin typeface="Raleway" pitchFamily="34" charset="0"/>
                <a:ea typeface="Raleway" pitchFamily="34" charset="-122"/>
                <a:cs typeface="Raleway" pitchFamily="34" charset="-120"/>
              </a:rPr>
              <a:t>Create Items</a:t>
            </a:r>
            <a:endParaRPr lang="en-US" sz="750" dirty="0"/>
          </a:p>
        </p:txBody>
      </p:sp>
      <p:sp>
        <p:nvSpPr>
          <p:cNvPr id="13" name="Text 9"/>
          <p:cNvSpPr/>
          <p:nvPr/>
        </p:nvSpPr>
        <p:spPr>
          <a:xfrm>
            <a:off x="581471" y="2168947"/>
            <a:ext cx="4552057" cy="106412"/>
          </a:xfrm>
          <a:prstGeom prst="rect">
            <a:avLst/>
          </a:prstGeom>
          <a:noFill/>
          <a:ln/>
        </p:spPr>
        <p:txBody>
          <a:bodyPr wrap="none" lIns="0" tIns="0" rIns="0" bIns="0" rtlCol="0" anchor="t"/>
          <a:lstStyle/>
          <a:p>
            <a:pPr algn="l" indent="0" marL="0">
              <a:lnSpc>
                <a:spcPts val="800"/>
              </a:lnSpc>
              <a:buNone/>
            </a:pPr>
            <a:r>
              <a:rPr lang="en-US" sz="600" dirty="0">
                <a:solidFill>
                  <a:srgbClr val="3C3939"/>
                </a:solidFill>
                <a:highlight>
                  <a:srgbClr val="F2F2F2"/>
                </a:highlight>
                <a:latin typeface="Consolas" pitchFamily="34" charset="0"/>
                <a:ea typeface="Consolas" pitchFamily="34" charset="-122"/>
                <a:cs typeface="Consolas" pitchFamily="34" charset="-120"/>
              </a:rPr>
              <a:t>POST /items</a:t>
            </a:r>
            <a:pPr algn="l" indent="0" marL="0">
              <a:lnSpc>
                <a:spcPts val="800"/>
              </a:lnSpc>
              <a:buNone/>
            </a:pPr>
            <a:r>
              <a:rPr lang="en-US" sz="600" dirty="0">
                <a:solidFill>
                  <a:srgbClr val="3C3939"/>
                </a:solidFill>
                <a:latin typeface="Roboto" pitchFamily="34" charset="0"/>
                <a:ea typeface="Roboto" pitchFamily="34" charset="-122"/>
                <a:cs typeface="Roboto" pitchFamily="34" charset="-120"/>
              </a:rPr>
              <a:t> — Accept a validated request body and add an item to inventory</a:t>
            </a:r>
            <a:endParaRPr lang="en-US" sz="600" dirty="0"/>
          </a:p>
        </p:txBody>
      </p:sp>
      <p:sp>
        <p:nvSpPr>
          <p:cNvPr id="14" name="Shape 10"/>
          <p:cNvSpPr/>
          <p:nvPr/>
        </p:nvSpPr>
        <p:spPr>
          <a:xfrm>
            <a:off x="496119" y="2413099"/>
            <a:ext cx="4722763" cy="728663"/>
          </a:xfrm>
          <a:prstGeom prst="roundRect">
            <a:avLst>
              <a:gd name="adj" fmla="val 4648"/>
            </a:avLst>
          </a:prstGeom>
          <a:solidFill>
            <a:srgbClr val="E1E1EA"/>
          </a:solidFill>
          <a:ln w="4763">
            <a:solidFill>
              <a:srgbClr val="C7C7D0"/>
            </a:solidFill>
            <a:prstDash val="solid"/>
          </a:ln>
        </p:spPr>
      </p:sp>
      <p:sp>
        <p:nvSpPr>
          <p:cNvPr id="15" name="Shape 11"/>
          <p:cNvSpPr/>
          <p:nvPr/>
        </p:nvSpPr>
        <p:spPr>
          <a:xfrm>
            <a:off x="581471" y="2498452"/>
            <a:ext cx="241846" cy="241846"/>
          </a:xfrm>
          <a:prstGeom prst="roundRect">
            <a:avLst>
              <a:gd name="adj" fmla="val 23628377"/>
            </a:avLst>
          </a:prstGeom>
          <a:solidFill>
            <a:srgbClr val="1B1B27"/>
          </a:solidFill>
          <a:ln/>
        </p:spPr>
      </p:sp>
      <p:pic>
        <p:nvPicPr>
          <p:cNvPr id="1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7998" y="2564978"/>
            <a:ext cx="108793" cy="108793"/>
          </a:xfrm>
          <a:prstGeom prst="rect">
            <a:avLst/>
          </a:prstGeom>
        </p:spPr>
      </p:pic>
      <p:sp>
        <p:nvSpPr>
          <p:cNvPr id="17" name="Text 12"/>
          <p:cNvSpPr/>
          <p:nvPr/>
        </p:nvSpPr>
        <p:spPr>
          <a:xfrm>
            <a:off x="581471" y="2792685"/>
            <a:ext cx="1007864" cy="125909"/>
          </a:xfrm>
          <a:prstGeom prst="rect">
            <a:avLst/>
          </a:prstGeom>
          <a:noFill/>
          <a:ln/>
        </p:spPr>
        <p:txBody>
          <a:bodyPr wrap="none" lIns="0" tIns="0" rIns="0" bIns="0" rtlCol="0" anchor="t"/>
          <a:lstStyle/>
          <a:p>
            <a:pPr algn="l" indent="0" marL="0">
              <a:lnSpc>
                <a:spcPts val="950"/>
              </a:lnSpc>
              <a:buNone/>
            </a:pPr>
            <a:r>
              <a:rPr lang="en-US" sz="750" dirty="0">
                <a:solidFill>
                  <a:srgbClr val="3C3939"/>
                </a:solidFill>
                <a:latin typeface="Raleway" pitchFamily="34" charset="0"/>
                <a:ea typeface="Raleway" pitchFamily="34" charset="-122"/>
                <a:cs typeface="Raleway" pitchFamily="34" charset="-120"/>
              </a:rPr>
              <a:t>Read Items</a:t>
            </a:r>
            <a:endParaRPr lang="en-US" sz="750" dirty="0"/>
          </a:p>
        </p:txBody>
      </p:sp>
      <p:sp>
        <p:nvSpPr>
          <p:cNvPr id="18" name="Text 13"/>
          <p:cNvSpPr/>
          <p:nvPr/>
        </p:nvSpPr>
        <p:spPr>
          <a:xfrm>
            <a:off x="581471" y="2949997"/>
            <a:ext cx="4552057" cy="106412"/>
          </a:xfrm>
          <a:prstGeom prst="rect">
            <a:avLst/>
          </a:prstGeom>
          <a:noFill/>
          <a:ln/>
        </p:spPr>
        <p:txBody>
          <a:bodyPr wrap="none" lIns="0" tIns="0" rIns="0" bIns="0" rtlCol="0" anchor="t"/>
          <a:lstStyle/>
          <a:p>
            <a:pPr algn="l" indent="0" marL="0">
              <a:lnSpc>
                <a:spcPts val="800"/>
              </a:lnSpc>
              <a:buNone/>
            </a:pPr>
            <a:r>
              <a:rPr lang="en-US" sz="600" dirty="0">
                <a:solidFill>
                  <a:srgbClr val="3C3939"/>
                </a:solidFill>
                <a:highlight>
                  <a:srgbClr val="F2F2F2"/>
                </a:highlight>
                <a:latin typeface="Consolas" pitchFamily="34" charset="0"/>
                <a:ea typeface="Consolas" pitchFamily="34" charset="-122"/>
                <a:cs typeface="Consolas" pitchFamily="34" charset="-120"/>
              </a:rPr>
              <a:t>GET /items</a:t>
            </a:r>
            <a:pPr algn="l" indent="0" marL="0">
              <a:lnSpc>
                <a:spcPts val="800"/>
              </a:lnSpc>
              <a:buNone/>
            </a:pPr>
            <a:r>
              <a:rPr lang="en-US" sz="600" dirty="0">
                <a:solidFill>
                  <a:srgbClr val="3C3939"/>
                </a:solidFill>
                <a:latin typeface="Roboto" pitchFamily="34" charset="0"/>
                <a:ea typeface="Roboto" pitchFamily="34" charset="-122"/>
                <a:cs typeface="Roboto" pitchFamily="34" charset="-120"/>
              </a:rPr>
              <a:t> and </a:t>
            </a:r>
            <a:pPr algn="l" indent="0" marL="0">
              <a:lnSpc>
                <a:spcPts val="800"/>
              </a:lnSpc>
              <a:buNone/>
            </a:pPr>
            <a:r>
              <a:rPr lang="en-US" sz="600" dirty="0">
                <a:solidFill>
                  <a:srgbClr val="3C3939"/>
                </a:solidFill>
                <a:highlight>
                  <a:srgbClr val="F2F2F2"/>
                </a:highlight>
                <a:latin typeface="Consolas" pitchFamily="34" charset="0"/>
                <a:ea typeface="Consolas" pitchFamily="34" charset="-122"/>
                <a:cs typeface="Consolas" pitchFamily="34" charset="-120"/>
              </a:rPr>
              <a:t>GET /items/{id}</a:t>
            </a:r>
            <a:pPr algn="l" indent="0" marL="0">
              <a:lnSpc>
                <a:spcPts val="800"/>
              </a:lnSpc>
              <a:buNone/>
            </a:pPr>
            <a:r>
              <a:rPr lang="en-US" sz="600" dirty="0">
                <a:solidFill>
                  <a:srgbClr val="3C3939"/>
                </a:solidFill>
                <a:latin typeface="Roboto" pitchFamily="34" charset="0"/>
                <a:ea typeface="Roboto" pitchFamily="34" charset="-122"/>
                <a:cs typeface="Roboto" pitchFamily="34" charset="-120"/>
              </a:rPr>
              <a:t> — Retrieve all items or a specific one</a:t>
            </a:r>
            <a:endParaRPr lang="en-US" sz="600" dirty="0"/>
          </a:p>
        </p:txBody>
      </p:sp>
      <p:sp>
        <p:nvSpPr>
          <p:cNvPr id="19" name="Shape 14"/>
          <p:cNvSpPr/>
          <p:nvPr/>
        </p:nvSpPr>
        <p:spPr>
          <a:xfrm>
            <a:off x="496119" y="3194149"/>
            <a:ext cx="4722763" cy="728663"/>
          </a:xfrm>
          <a:prstGeom prst="roundRect">
            <a:avLst>
              <a:gd name="adj" fmla="val 4648"/>
            </a:avLst>
          </a:prstGeom>
          <a:solidFill>
            <a:srgbClr val="E1E1EA"/>
          </a:solidFill>
          <a:ln w="4763">
            <a:solidFill>
              <a:srgbClr val="C7C7D0"/>
            </a:solidFill>
            <a:prstDash val="solid"/>
          </a:ln>
        </p:spPr>
      </p:sp>
      <p:sp>
        <p:nvSpPr>
          <p:cNvPr id="20" name="Shape 15"/>
          <p:cNvSpPr/>
          <p:nvPr/>
        </p:nvSpPr>
        <p:spPr>
          <a:xfrm>
            <a:off x="581471" y="3279502"/>
            <a:ext cx="241846" cy="241846"/>
          </a:xfrm>
          <a:prstGeom prst="roundRect">
            <a:avLst>
              <a:gd name="adj" fmla="val 23628377"/>
            </a:avLst>
          </a:prstGeom>
          <a:solidFill>
            <a:srgbClr val="1B1B27"/>
          </a:solidFill>
          <a:ln/>
        </p:spPr>
      </p:sp>
      <p:pic>
        <p:nvPicPr>
          <p:cNvPr id="2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7998" y="3346028"/>
            <a:ext cx="108793" cy="108793"/>
          </a:xfrm>
          <a:prstGeom prst="rect">
            <a:avLst/>
          </a:prstGeom>
        </p:spPr>
      </p:pic>
      <p:sp>
        <p:nvSpPr>
          <p:cNvPr id="22" name="Text 16"/>
          <p:cNvSpPr/>
          <p:nvPr/>
        </p:nvSpPr>
        <p:spPr>
          <a:xfrm>
            <a:off x="581471" y="3573735"/>
            <a:ext cx="1007864" cy="125909"/>
          </a:xfrm>
          <a:prstGeom prst="rect">
            <a:avLst/>
          </a:prstGeom>
          <a:noFill/>
          <a:ln/>
        </p:spPr>
        <p:txBody>
          <a:bodyPr wrap="none" lIns="0" tIns="0" rIns="0" bIns="0" rtlCol="0" anchor="t"/>
          <a:lstStyle/>
          <a:p>
            <a:pPr algn="l" indent="0" marL="0">
              <a:lnSpc>
                <a:spcPts val="950"/>
              </a:lnSpc>
              <a:buNone/>
            </a:pPr>
            <a:r>
              <a:rPr lang="en-US" sz="750" dirty="0">
                <a:solidFill>
                  <a:srgbClr val="3C3939"/>
                </a:solidFill>
                <a:latin typeface="Raleway" pitchFamily="34" charset="0"/>
                <a:ea typeface="Raleway" pitchFamily="34" charset="-122"/>
                <a:cs typeface="Raleway" pitchFamily="34" charset="-120"/>
              </a:rPr>
              <a:t>Update Items</a:t>
            </a:r>
            <a:endParaRPr lang="en-US" sz="750" dirty="0"/>
          </a:p>
        </p:txBody>
      </p:sp>
      <p:sp>
        <p:nvSpPr>
          <p:cNvPr id="23" name="Text 17"/>
          <p:cNvSpPr/>
          <p:nvPr/>
        </p:nvSpPr>
        <p:spPr>
          <a:xfrm>
            <a:off x="581471" y="3731047"/>
            <a:ext cx="4552057" cy="106412"/>
          </a:xfrm>
          <a:prstGeom prst="rect">
            <a:avLst/>
          </a:prstGeom>
          <a:noFill/>
          <a:ln/>
        </p:spPr>
        <p:txBody>
          <a:bodyPr wrap="none" lIns="0" tIns="0" rIns="0" bIns="0" rtlCol="0" anchor="t"/>
          <a:lstStyle/>
          <a:p>
            <a:pPr algn="l" indent="0" marL="0">
              <a:lnSpc>
                <a:spcPts val="800"/>
              </a:lnSpc>
              <a:buNone/>
            </a:pPr>
            <a:r>
              <a:rPr lang="en-US" sz="600" dirty="0">
                <a:solidFill>
                  <a:srgbClr val="3C3939"/>
                </a:solidFill>
                <a:highlight>
                  <a:srgbClr val="F2F2F2"/>
                </a:highlight>
                <a:latin typeface="Consolas" pitchFamily="34" charset="0"/>
                <a:ea typeface="Consolas" pitchFamily="34" charset="-122"/>
                <a:cs typeface="Consolas" pitchFamily="34" charset="-120"/>
              </a:rPr>
              <a:t>PUT /items/{id}</a:t>
            </a:r>
            <a:pPr algn="l" indent="0" marL="0">
              <a:lnSpc>
                <a:spcPts val="800"/>
              </a:lnSpc>
              <a:buNone/>
            </a:pPr>
            <a:r>
              <a:rPr lang="en-US" sz="600" dirty="0">
                <a:solidFill>
                  <a:srgbClr val="3C3939"/>
                </a:solidFill>
                <a:latin typeface="Roboto" pitchFamily="34" charset="0"/>
                <a:ea typeface="Roboto" pitchFamily="34" charset="-122"/>
                <a:cs typeface="Roboto" pitchFamily="34" charset="-120"/>
              </a:rPr>
              <a:t> — Modify an existing item with validated new data</a:t>
            </a:r>
            <a:endParaRPr lang="en-US" sz="600" dirty="0"/>
          </a:p>
        </p:txBody>
      </p:sp>
      <p:sp>
        <p:nvSpPr>
          <p:cNvPr id="24" name="Shape 18"/>
          <p:cNvSpPr/>
          <p:nvPr/>
        </p:nvSpPr>
        <p:spPr>
          <a:xfrm>
            <a:off x="496119" y="3975199"/>
            <a:ext cx="4722763" cy="728663"/>
          </a:xfrm>
          <a:prstGeom prst="roundRect">
            <a:avLst>
              <a:gd name="adj" fmla="val 4648"/>
            </a:avLst>
          </a:prstGeom>
          <a:solidFill>
            <a:srgbClr val="E1E1EA"/>
          </a:solidFill>
          <a:ln w="4763">
            <a:solidFill>
              <a:srgbClr val="C7C7D0"/>
            </a:solidFill>
            <a:prstDash val="solid"/>
          </a:ln>
        </p:spPr>
      </p:sp>
      <p:sp>
        <p:nvSpPr>
          <p:cNvPr id="25" name="Shape 19"/>
          <p:cNvSpPr/>
          <p:nvPr/>
        </p:nvSpPr>
        <p:spPr>
          <a:xfrm>
            <a:off x="581471" y="4060552"/>
            <a:ext cx="241846" cy="241846"/>
          </a:xfrm>
          <a:prstGeom prst="roundRect">
            <a:avLst>
              <a:gd name="adj" fmla="val 23628377"/>
            </a:avLst>
          </a:prstGeom>
          <a:solidFill>
            <a:srgbClr val="1B1B27"/>
          </a:solidFill>
          <a:ln/>
        </p:spPr>
      </p:sp>
      <p:pic>
        <p:nvPicPr>
          <p:cNvPr id="26"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7998" y="4127078"/>
            <a:ext cx="108793" cy="108793"/>
          </a:xfrm>
          <a:prstGeom prst="rect">
            <a:avLst/>
          </a:prstGeom>
        </p:spPr>
      </p:pic>
      <p:sp>
        <p:nvSpPr>
          <p:cNvPr id="27" name="Text 20"/>
          <p:cNvSpPr/>
          <p:nvPr/>
        </p:nvSpPr>
        <p:spPr>
          <a:xfrm>
            <a:off x="581471" y="4354785"/>
            <a:ext cx="1007864" cy="125909"/>
          </a:xfrm>
          <a:prstGeom prst="rect">
            <a:avLst/>
          </a:prstGeom>
          <a:noFill/>
          <a:ln/>
        </p:spPr>
        <p:txBody>
          <a:bodyPr wrap="none" lIns="0" tIns="0" rIns="0" bIns="0" rtlCol="0" anchor="t"/>
          <a:lstStyle/>
          <a:p>
            <a:pPr algn="l" indent="0" marL="0">
              <a:lnSpc>
                <a:spcPts val="950"/>
              </a:lnSpc>
              <a:buNone/>
            </a:pPr>
            <a:r>
              <a:rPr lang="en-US" sz="750" dirty="0">
                <a:solidFill>
                  <a:srgbClr val="3C3939"/>
                </a:solidFill>
                <a:latin typeface="Raleway" pitchFamily="34" charset="0"/>
                <a:ea typeface="Raleway" pitchFamily="34" charset="-122"/>
                <a:cs typeface="Raleway" pitchFamily="34" charset="-120"/>
              </a:rPr>
              <a:t>Delete Items</a:t>
            </a:r>
            <a:endParaRPr lang="en-US" sz="750" dirty="0"/>
          </a:p>
        </p:txBody>
      </p:sp>
      <p:sp>
        <p:nvSpPr>
          <p:cNvPr id="28" name="Text 21"/>
          <p:cNvSpPr/>
          <p:nvPr/>
        </p:nvSpPr>
        <p:spPr>
          <a:xfrm>
            <a:off x="581471" y="4512097"/>
            <a:ext cx="4552057" cy="106412"/>
          </a:xfrm>
          <a:prstGeom prst="rect">
            <a:avLst/>
          </a:prstGeom>
          <a:noFill/>
          <a:ln/>
        </p:spPr>
        <p:txBody>
          <a:bodyPr wrap="none" lIns="0" tIns="0" rIns="0" bIns="0" rtlCol="0" anchor="t"/>
          <a:lstStyle/>
          <a:p>
            <a:pPr algn="l" indent="0" marL="0">
              <a:lnSpc>
                <a:spcPts val="800"/>
              </a:lnSpc>
              <a:buNone/>
            </a:pPr>
            <a:r>
              <a:rPr lang="en-US" sz="600" dirty="0">
                <a:solidFill>
                  <a:srgbClr val="3C3939"/>
                </a:solidFill>
                <a:highlight>
                  <a:srgbClr val="F2F2F2"/>
                </a:highlight>
                <a:latin typeface="Consolas" pitchFamily="34" charset="0"/>
                <a:ea typeface="Consolas" pitchFamily="34" charset="-122"/>
                <a:cs typeface="Consolas" pitchFamily="34" charset="-120"/>
              </a:rPr>
              <a:t>DELETE /items/{id}</a:t>
            </a:r>
            <a:pPr algn="l" indent="0" marL="0">
              <a:lnSpc>
                <a:spcPts val="800"/>
              </a:lnSpc>
              <a:buNone/>
            </a:pPr>
            <a:r>
              <a:rPr lang="en-US" sz="600" dirty="0">
                <a:solidFill>
                  <a:srgbClr val="3C3939"/>
                </a:solidFill>
                <a:latin typeface="Roboto" pitchFamily="34" charset="0"/>
                <a:ea typeface="Roboto" pitchFamily="34" charset="-122"/>
                <a:cs typeface="Roboto" pitchFamily="34" charset="-120"/>
              </a:rPr>
              <a:t> — Remove an item and return a confirmation response</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2026-05-06T06:41:54Z</dcterms:created>
  <dcterms:modified xsi:type="dcterms:W3CDTF">2026-05-06T06:41:54Z</dcterms:modified>
</cp:coreProperties>
</file>