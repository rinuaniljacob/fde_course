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4630400" cy="8229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15" name="Shape 215"/>
          <p:cNvSpPr/>
          <p:nvPr>
            <p:ph type="sldImg"/>
          </p:nvPr>
        </p:nvSpPr>
        <p:spPr>
          <a:xfrm>
            <a:off x="1143000" y="685800"/>
            <a:ext cx="4572000" cy="3429000"/>
          </a:xfrm>
          <a:prstGeom prst="rect">
            <a:avLst/>
          </a:prstGeom>
        </p:spPr>
        <p:txBody>
          <a:bodyPr/>
          <a:lstStyle/>
          <a:p>
            <a:pPr/>
          </a:p>
        </p:txBody>
      </p:sp>
      <p:sp>
        <p:nvSpPr>
          <p:cNvPr id="216" name="Shape 21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Shape 224"/>
          <p:cNvSpPr/>
          <p:nvPr>
            <p:ph type="sldImg"/>
          </p:nvPr>
        </p:nvSpPr>
        <p:spPr>
          <a:prstGeom prst="rect">
            <a:avLst/>
          </a:prstGeom>
        </p:spPr>
        <p:txBody>
          <a:bodyPr/>
          <a:lstStyle/>
          <a:p>
            <a:pPr/>
          </a:p>
        </p:txBody>
      </p:sp>
      <p:sp>
        <p:nvSpPr>
          <p:cNvPr id="225" name="Shape 225"/>
          <p:cNvSpPr/>
          <p:nvPr>
            <p:ph type="body" sz="quarter" idx="1"/>
          </p:nvPr>
        </p:nvSpPr>
        <p:spPr>
          <a:prstGeom prst="rect">
            <a:avLst/>
          </a:prstGeom>
        </p:spPr>
        <p:txBody>
          <a:bodyPr/>
          <a:lstStyle/>
          <a:p>
            <a:pPr/>
            <a:r>
              <a:t>“Yesterday we built something interesting.</a:t>
            </a:r>
          </a:p>
          <a:p>
            <a:pPr/>
          </a:p>
          <a:p>
            <a:pPr/>
            <a:r>
              <a:t>We created a prototype where a user could paste an email and our AI system would classify it and route it to the correct department.</a:t>
            </a:r>
          </a:p>
          <a:p>
            <a:pPr/>
          </a:p>
          <a:p>
            <a:pPr/>
            <a:r>
              <a:t>That was great for proving the idea works.</a:t>
            </a:r>
          </a:p>
          <a:p>
            <a:pPr/>
          </a:p>
          <a:p>
            <a:pPr/>
            <a:r>
              <a:t>But real companies don’t pay for ideas.</a:t>
            </a:r>
          </a:p>
          <a:p>
            <a:pPr/>
          </a:p>
          <a:p>
            <a:pPr/>
            <a:r>
              <a:t>They pay for systems that can scale.</a:t>
            </a:r>
          </a:p>
          <a:p>
            <a:pPr/>
          </a:p>
          <a:p>
            <a:pPr/>
            <a:r>
              <a:t>Today I want to show you how engineers think beyond prototypes.”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9" name="Shape 249"/>
          <p:cNvSpPr/>
          <p:nvPr>
            <p:ph type="sldImg"/>
          </p:nvPr>
        </p:nvSpPr>
        <p:spPr>
          <a:prstGeom prst="rect">
            <a:avLst/>
          </a:prstGeom>
        </p:spPr>
        <p:txBody>
          <a:bodyPr/>
          <a:lstStyle/>
          <a:p>
            <a:pPr/>
          </a:p>
        </p:txBody>
      </p:sp>
      <p:sp>
        <p:nvSpPr>
          <p:cNvPr id="250" name="Shape 250"/>
          <p:cNvSpPr/>
          <p:nvPr>
            <p:ph type="body" sz="quarter" idx="1"/>
          </p:nvPr>
        </p:nvSpPr>
        <p:spPr>
          <a:prstGeom prst="rect">
            <a:avLst/>
          </a:prstGeom>
        </p:spPr>
        <p:txBody>
          <a:bodyPr/>
          <a:lstStyle/>
          <a:p>
            <a:pPr/>
            <a:r>
              <a:t>“Let’s quickly revisit what we built.</a:t>
            </a:r>
          </a:p>
          <a:p>
            <a:pPr/>
          </a:p>
          <a:p>
            <a:pPr/>
            <a:r>
              <a:t>A user manually pasted:</a:t>
            </a:r>
          </a:p>
          <a:p>
            <a:pPr/>
          </a:p>
          <a:p>
            <a:pPr/>
            <a:r>
              <a:t>* refund request</a:t>
            </a:r>
          </a:p>
          <a:p>
            <a:pPr/>
            <a:r>
              <a:t>* technical issue</a:t>
            </a:r>
          </a:p>
          <a:p>
            <a:pPr/>
            <a:r>
              <a:t>* sales inquiry</a:t>
            </a:r>
          </a:p>
          <a:p>
            <a:pPr/>
          </a:p>
          <a:p>
            <a:pPr/>
            <a:r>
              <a:t>And our system routed it correctly.</a:t>
            </a:r>
          </a:p>
          <a:p>
            <a:pPr/>
          </a:p>
          <a:p>
            <a:pPr/>
            <a:r>
              <a:t>This helped us validate:</a:t>
            </a:r>
          </a:p>
          <a:p>
            <a:pPr/>
            <a:r>
              <a:t>Can AI understand customer intent?”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5" name="Shape 275"/>
          <p:cNvSpPr/>
          <p:nvPr>
            <p:ph type="sldImg"/>
          </p:nvPr>
        </p:nvSpPr>
        <p:spPr>
          <a:prstGeom prst="rect">
            <a:avLst/>
          </a:prstGeom>
        </p:spPr>
        <p:txBody>
          <a:bodyPr/>
          <a:lstStyle/>
          <a:p>
            <a:pPr/>
          </a:p>
        </p:txBody>
      </p:sp>
      <p:sp>
        <p:nvSpPr>
          <p:cNvPr id="276" name="Shape 276"/>
          <p:cNvSpPr/>
          <p:nvPr>
            <p:ph type="body" sz="quarter" idx="1"/>
          </p:nvPr>
        </p:nvSpPr>
        <p:spPr>
          <a:prstGeom prst="rect">
            <a:avLst/>
          </a:prstGeom>
        </p:spPr>
        <p:txBody>
          <a:bodyPr/>
          <a:lstStyle/>
          <a:p>
            <a:pPr/>
            <a:r>
              <a:t>“Many Engineers make a huge mistake.</a:t>
            </a:r>
          </a:p>
          <a:p>
            <a:pPr/>
          </a:p>
          <a:p>
            <a:pPr/>
            <a:r>
              <a:t>They try to build large systems immediately.</a:t>
            </a:r>
          </a:p>
          <a:p>
            <a:pPr/>
          </a:p>
          <a:p>
            <a:pPr/>
            <a:r>
              <a:t>That’s dangerous.</a:t>
            </a:r>
          </a:p>
          <a:p>
            <a:pPr/>
          </a:p>
          <a:p>
            <a:pPr/>
            <a:r>
              <a:t>Prototype first:</a:t>
            </a:r>
          </a:p>
          <a:p>
            <a:pPr/>
          </a:p>
          <a:p>
            <a:pPr/>
            <a:r>
              <a:t>* validate demand</a:t>
            </a:r>
          </a:p>
          <a:p>
            <a:pPr/>
            <a:r>
              <a:t>* test technical feasibility</a:t>
            </a:r>
          </a:p>
          <a:p>
            <a:pPr/>
            <a:r>
              <a:t>* gather stakeholder feedback</a:t>
            </a:r>
          </a:p>
          <a:p>
            <a:pPr/>
          </a:p>
          <a:p>
            <a:pPr/>
            <a:r>
              <a:t>This saves months of wasted effort.”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8" name="Shape 298"/>
          <p:cNvSpPr/>
          <p:nvPr>
            <p:ph type="sldImg"/>
          </p:nvPr>
        </p:nvSpPr>
        <p:spPr>
          <a:prstGeom prst="rect">
            <a:avLst/>
          </a:prstGeom>
        </p:spPr>
        <p:txBody>
          <a:bodyPr/>
          <a:lstStyle/>
          <a:p>
            <a:pPr/>
          </a:p>
        </p:txBody>
      </p:sp>
      <p:sp>
        <p:nvSpPr>
          <p:cNvPr id="299" name="Shape 299"/>
          <p:cNvSpPr/>
          <p:nvPr>
            <p:ph type="body" sz="quarter" idx="1"/>
          </p:nvPr>
        </p:nvSpPr>
        <p:spPr>
          <a:prstGeom prst="rect">
            <a:avLst/>
          </a:prstGeom>
        </p:spPr>
        <p:txBody>
          <a:bodyPr/>
          <a:lstStyle/>
          <a:p>
            <a:pPr/>
            <a:r>
              <a:t>“Once stakeholders see the prototype, they start asking real questions.</a:t>
            </a:r>
          </a:p>
          <a:p>
            <a:pPr/>
          </a:p>
          <a:p>
            <a:pPr/>
            <a:r>
              <a:t>What if:</a:t>
            </a:r>
          </a:p>
          <a:p>
            <a:pPr/>
            <a:r>
              <a:t>One email contains both billing and technical issues?</a:t>
            </a:r>
          </a:p>
          <a:p>
            <a:pPr/>
          </a:p>
          <a:p>
            <a:pPr/>
            <a:r>
              <a:t>What if attachments exist?</a:t>
            </a:r>
          </a:p>
          <a:p>
            <a:pPr/>
          </a:p>
          <a:p>
            <a:pPr/>
            <a:r>
              <a:t>What if confidence is low?</a:t>
            </a:r>
          </a:p>
          <a:p>
            <a:pPr/>
          </a:p>
          <a:p>
            <a:pPr/>
            <a:r>
              <a:t>These questions only emerge after prototypes.”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9" name="Shape 319"/>
          <p:cNvSpPr/>
          <p:nvPr>
            <p:ph type="sldImg"/>
          </p:nvPr>
        </p:nvSpPr>
        <p:spPr>
          <a:prstGeom prst="rect">
            <a:avLst/>
          </a:prstGeom>
        </p:spPr>
        <p:txBody>
          <a:bodyPr/>
          <a:lstStyle/>
          <a:p>
            <a:pPr/>
          </a:p>
        </p:txBody>
      </p:sp>
      <p:sp>
        <p:nvSpPr>
          <p:cNvPr id="320" name="Shape 320"/>
          <p:cNvSpPr/>
          <p:nvPr>
            <p:ph type="body" sz="quarter" idx="1"/>
          </p:nvPr>
        </p:nvSpPr>
        <p:spPr>
          <a:prstGeom prst="rect">
            <a:avLst/>
          </a:prstGeom>
        </p:spPr>
        <p:txBody>
          <a:bodyPr/>
          <a:lstStyle/>
          <a:p>
            <a:pPr/>
            <a:r>
              <a:t>“Imagine automatically routing emails before testing edge cases.</a:t>
            </a:r>
          </a:p>
          <a:p>
            <a:pPr/>
          </a:p>
          <a:p>
            <a:pPr/>
            <a:r>
              <a:t>A legal complaint gets routed incorrectly.</a:t>
            </a:r>
          </a:p>
          <a:p>
            <a:pPr/>
          </a:p>
          <a:p>
            <a:pPr/>
            <a:r>
              <a:t>A refund request gets ignored.</a:t>
            </a:r>
          </a:p>
          <a:p>
            <a:pPr/>
          </a:p>
          <a:p>
            <a:pPr/>
            <a:r>
              <a:t>That creates customer frustration.</a:t>
            </a:r>
          </a:p>
          <a:p>
            <a:pPr/>
          </a:p>
          <a:p>
            <a:pPr/>
            <a:r>
              <a:t>Scale bad systems → bigger disasters.”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0" name="Shape 340"/>
          <p:cNvSpPr/>
          <p:nvPr>
            <p:ph type="sldImg"/>
          </p:nvPr>
        </p:nvSpPr>
        <p:spPr>
          <a:prstGeom prst="rect">
            <a:avLst/>
          </a:prstGeom>
        </p:spPr>
        <p:txBody>
          <a:bodyPr/>
          <a:lstStyle/>
          <a:p>
            <a:pPr/>
          </a:p>
        </p:txBody>
      </p:sp>
      <p:sp>
        <p:nvSpPr>
          <p:cNvPr id="341" name="Shape 341"/>
          <p:cNvSpPr/>
          <p:nvPr>
            <p:ph type="body" sz="quarter" idx="1"/>
          </p:nvPr>
        </p:nvSpPr>
        <p:spPr>
          <a:prstGeom prst="rect">
            <a:avLst/>
          </a:prstGeom>
        </p:spPr>
        <p:txBody>
          <a:bodyPr/>
          <a:lstStyle/>
          <a:p>
            <a:pPr/>
            <a:r>
              <a:t>“We scale only when:</a:t>
            </a:r>
          </a:p>
          <a:p>
            <a:pPr/>
          </a:p>
          <a:p>
            <a:pPr/>
            <a:r>
              <a:t>The prototype works</a:t>
            </a:r>
          </a:p>
          <a:p>
            <a:pPr/>
          </a:p>
          <a:p>
            <a:pPr/>
            <a:r>
              <a:t>Feedback is collected</a:t>
            </a:r>
          </a:p>
          <a:p>
            <a:pPr/>
          </a:p>
          <a:p>
            <a:pPr/>
            <a:r>
              <a:t>Edge cases are handled</a:t>
            </a:r>
          </a:p>
          <a:p>
            <a:pPr/>
          </a:p>
          <a:p>
            <a:pPr/>
            <a:r>
              <a:t>Business teams approve”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0" name="Shape 360"/>
          <p:cNvSpPr/>
          <p:nvPr>
            <p:ph type="sldImg"/>
          </p:nvPr>
        </p:nvSpPr>
        <p:spPr>
          <a:prstGeom prst="rect">
            <a:avLst/>
          </a:prstGeom>
        </p:spPr>
        <p:txBody>
          <a:bodyPr/>
          <a:lstStyle/>
          <a:p>
            <a:pPr/>
          </a:p>
        </p:txBody>
      </p:sp>
      <p:sp>
        <p:nvSpPr>
          <p:cNvPr id="361" name="Shape 361"/>
          <p:cNvSpPr/>
          <p:nvPr>
            <p:ph type="body" sz="quarter" idx="1"/>
          </p:nvPr>
        </p:nvSpPr>
        <p:spPr>
          <a:prstGeom prst="rect">
            <a:avLst/>
          </a:prstGeom>
        </p:spPr>
        <p:txBody>
          <a:bodyPr/>
          <a:lstStyle/>
          <a:p>
            <a:pPr/>
            <a:r>
              <a:t>“This is where value changes.</a:t>
            </a:r>
          </a:p>
          <a:p>
            <a:pPr/>
          </a:p>
          <a:p>
            <a:pPr/>
            <a:r>
              <a:t>Prototype = proof</a:t>
            </a:r>
          </a:p>
          <a:p>
            <a:pPr/>
          </a:p>
          <a:p>
            <a:pPr/>
            <a:r>
              <a:t>Scale = money</a:t>
            </a:r>
          </a:p>
          <a:p>
            <a:pPr/>
          </a:p>
          <a:p>
            <a:pPr/>
            <a:r>
              <a:t>That’s when businesses become interested.”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3" name="Shape 373"/>
          <p:cNvSpPr/>
          <p:nvPr>
            <p:ph type="sldImg"/>
          </p:nvPr>
        </p:nvSpPr>
        <p:spPr>
          <a:prstGeom prst="rect">
            <a:avLst/>
          </a:prstGeom>
        </p:spPr>
        <p:txBody>
          <a:bodyPr/>
          <a:lstStyle/>
          <a:p>
            <a:pPr/>
          </a:p>
        </p:txBody>
      </p:sp>
      <p:sp>
        <p:nvSpPr>
          <p:cNvPr id="374" name="Shape 374"/>
          <p:cNvSpPr/>
          <p:nvPr>
            <p:ph type="body" sz="quarter" idx="1"/>
          </p:nvPr>
        </p:nvSpPr>
        <p:spPr>
          <a:prstGeom prst="rect">
            <a:avLst/>
          </a:prstGeom>
        </p:spPr>
        <p:txBody>
          <a:bodyPr/>
          <a:lstStyle/>
          <a:p>
            <a:pPr/>
            <a:r>
              <a:t>Once we Scale the solution.</a:t>
            </a:r>
          </a:p>
          <a:p>
            <a:pPr/>
          </a:p>
          <a:p>
            <a:pPr/>
            <a:r>
              <a:t>Now no employee manually copies emails.</a:t>
            </a:r>
          </a:p>
          <a:p>
            <a:pPr/>
          </a:p>
          <a:p>
            <a:pPr/>
            <a:r>
              <a:t>System automatically:</a:t>
            </a:r>
          </a:p>
          <a:p>
            <a:pPr/>
            <a:r>
              <a:t>reads</a:t>
            </a:r>
          </a:p>
          <a:p>
            <a:pPr/>
            <a:r>
              <a:t>classifies</a:t>
            </a:r>
          </a:p>
          <a:p>
            <a:pPr/>
            <a:r>
              <a:t>routes</a:t>
            </a:r>
          </a:p>
          <a:p>
            <a:pPr/>
          </a:p>
          <a:p>
            <a:pPr/>
            <a:r>
              <a:t>This becomes operational infrastructure.”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7" name="Shape 387"/>
          <p:cNvSpPr/>
          <p:nvPr>
            <p:ph type="sldImg"/>
          </p:nvPr>
        </p:nvSpPr>
        <p:spPr>
          <a:prstGeom prst="rect">
            <a:avLst/>
          </a:prstGeom>
        </p:spPr>
        <p:txBody>
          <a:bodyPr/>
          <a:lstStyle/>
          <a:p>
            <a:pPr/>
          </a:p>
        </p:txBody>
      </p:sp>
      <p:sp>
        <p:nvSpPr>
          <p:cNvPr id="388" name="Shape 388"/>
          <p:cNvSpPr/>
          <p:nvPr>
            <p:ph type="body" sz="quarter" idx="1"/>
          </p:nvPr>
        </p:nvSpPr>
        <p:spPr>
          <a:prstGeom prst="rect">
            <a:avLst/>
          </a:prstGeom>
        </p:spPr>
        <p:txBody>
          <a:bodyPr/>
          <a:lstStyle/>
          <a:p>
            <a:pPr/>
            <a:r>
              <a:t>“Why would companies pay?</a:t>
            </a:r>
          </a:p>
          <a:p>
            <a:pPr/>
          </a:p>
          <a:p>
            <a:pPr/>
            <a:r>
              <a:t>Lower operational cost</a:t>
            </a:r>
          </a:p>
          <a:p>
            <a:pPr/>
          </a:p>
          <a:p>
            <a:pPr/>
            <a:r>
              <a:t>Faster support</a:t>
            </a:r>
          </a:p>
          <a:p>
            <a:pPr/>
          </a:p>
          <a:p>
            <a:pPr/>
            <a:r>
              <a:t>Better customer experience</a:t>
            </a:r>
          </a:p>
          <a:p>
            <a:pPr/>
          </a:p>
          <a:p>
            <a:pPr/>
            <a:r>
              <a:t>Reduced manual labor”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8" name="Shape 418"/>
          <p:cNvSpPr/>
          <p:nvPr>
            <p:ph type="sldImg"/>
          </p:nvPr>
        </p:nvSpPr>
        <p:spPr>
          <a:prstGeom prst="rect">
            <a:avLst/>
          </a:prstGeom>
        </p:spPr>
        <p:txBody>
          <a:bodyPr/>
          <a:lstStyle/>
          <a:p>
            <a:pPr/>
          </a:p>
        </p:txBody>
      </p:sp>
      <p:sp>
        <p:nvSpPr>
          <p:cNvPr id="419" name="Shape 419"/>
          <p:cNvSpPr/>
          <p:nvPr>
            <p:ph type="body" sz="quarter" idx="1"/>
          </p:nvPr>
        </p:nvSpPr>
        <p:spPr>
          <a:prstGeom prst="rect">
            <a:avLst/>
          </a:prstGeom>
        </p:spPr>
        <p:txBody>
          <a:bodyPr/>
          <a:lstStyle/>
          <a:p>
            <a:pPr/>
            <a:r>
              <a:t>“This is where engineering thinking begins.</a:t>
            </a:r>
          </a:p>
          <a:p>
            <a:pPr/>
          </a:p>
          <a:p>
            <a:pPr/>
            <a:r>
              <a:t>Ask:</a:t>
            </a:r>
          </a:p>
          <a:p>
            <a:pPr/>
            <a:r>
              <a:t>Where does data come from?</a:t>
            </a:r>
          </a:p>
          <a:p>
            <a:pPr/>
          </a:p>
          <a:p>
            <a:pPr/>
            <a:r>
              <a:t>How do we process it?</a:t>
            </a:r>
          </a:p>
          <a:p>
            <a:pPr/>
          </a:p>
          <a:p>
            <a:pPr/>
            <a:r>
              <a:t>How does output reach users?”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7" name="Shape 427"/>
          <p:cNvSpPr/>
          <p:nvPr>
            <p:ph type="sldImg"/>
          </p:nvPr>
        </p:nvSpPr>
        <p:spPr>
          <a:prstGeom prst="rect">
            <a:avLst/>
          </a:prstGeom>
        </p:spPr>
        <p:txBody>
          <a:bodyPr/>
          <a:lstStyle/>
          <a:p>
            <a:pPr/>
          </a:p>
        </p:txBody>
      </p:sp>
      <p:sp>
        <p:nvSpPr>
          <p:cNvPr id="428" name="Shape 428"/>
          <p:cNvSpPr/>
          <p:nvPr>
            <p:ph type="body" sz="quarter" idx="1"/>
          </p:nvPr>
        </p:nvSpPr>
        <p:spPr>
          <a:prstGeom prst="rect">
            <a:avLst/>
          </a:prstGeom>
        </p:spPr>
        <p:txBody>
          <a:bodyPr/>
          <a:lstStyle/>
          <a:p>
            <a:pPr/>
            <a:r>
              <a:t>“Notice this isn’t just AI.</a:t>
            </a:r>
          </a:p>
          <a:p>
            <a:pPr/>
          </a:p>
          <a:p>
            <a:pPr/>
            <a:r>
              <a:t>We need:</a:t>
            </a:r>
          </a:p>
          <a:p>
            <a:pPr/>
            <a:r>
              <a:t>email infrastructure</a:t>
            </a:r>
          </a:p>
          <a:p>
            <a:pPr/>
            <a:r>
              <a:t>backend logic</a:t>
            </a:r>
          </a:p>
          <a:p>
            <a:pPr/>
            <a:r>
              <a:t>AI layer</a:t>
            </a:r>
          </a:p>
          <a:p>
            <a:pPr/>
            <a:r>
              <a:t>routing layer”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0" name="Shape 450"/>
          <p:cNvSpPr/>
          <p:nvPr>
            <p:ph type="sldImg"/>
          </p:nvPr>
        </p:nvSpPr>
        <p:spPr>
          <a:prstGeom prst="rect">
            <a:avLst/>
          </a:prstGeom>
        </p:spPr>
        <p:txBody>
          <a:bodyPr/>
          <a:lstStyle/>
          <a:p>
            <a:pPr/>
          </a:p>
        </p:txBody>
      </p:sp>
      <p:sp>
        <p:nvSpPr>
          <p:cNvPr id="451" name="Shape 451"/>
          <p:cNvSpPr/>
          <p:nvPr>
            <p:ph type="body" sz="quarter" idx="1"/>
          </p:nvPr>
        </p:nvSpPr>
        <p:spPr>
          <a:prstGeom prst="rect">
            <a:avLst/>
          </a:prstGeom>
        </p:spPr>
        <p:txBody>
          <a:bodyPr/>
          <a:lstStyle/>
          <a:p>
            <a:pPr/>
          </a:p>
          <a:p>
            <a:pPr/>
          </a:p>
          <a:p>
            <a:pPr/>
            <a:r>
              <a:t>Nothing magical.</a:t>
            </a:r>
          </a:p>
          <a:p>
            <a:pPr/>
          </a:p>
          <a:p>
            <a:pPr/>
            <a:r>
              <a:t>Python</a:t>
            </a:r>
          </a:p>
          <a:p>
            <a:pPr/>
            <a:r>
              <a:t>APIs</a:t>
            </a:r>
          </a:p>
          <a:p>
            <a:pPr/>
            <a:r>
              <a:t>LLMs</a:t>
            </a:r>
          </a:p>
          <a:p>
            <a:pPr/>
            <a:r>
              <a:t>SMTP</a:t>
            </a:r>
          </a:p>
          <a:p>
            <a:pPr/>
          </a:p>
          <a:p>
            <a:pPr/>
            <a:r>
              <a:t>Simple tools combined correctly.”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1" name="Shape 471"/>
          <p:cNvSpPr/>
          <p:nvPr>
            <p:ph type="sldImg"/>
          </p:nvPr>
        </p:nvSpPr>
        <p:spPr>
          <a:prstGeom prst="rect">
            <a:avLst/>
          </a:prstGeom>
        </p:spPr>
        <p:txBody>
          <a:bodyPr/>
          <a:lstStyle/>
          <a:p>
            <a:pPr/>
          </a:p>
        </p:txBody>
      </p:sp>
      <p:sp>
        <p:nvSpPr>
          <p:cNvPr id="472" name="Shape 472"/>
          <p:cNvSpPr/>
          <p:nvPr>
            <p:ph type="body" sz="quarter" idx="1"/>
          </p:nvPr>
        </p:nvSpPr>
        <p:spPr>
          <a:prstGeom prst="rect">
            <a:avLst/>
          </a:prstGeom>
        </p:spPr>
        <p:txBody>
          <a:bodyPr/>
          <a:lstStyle/>
          <a:p>
            <a:pPr/>
          </a:p>
          <a:p>
            <a:pPr/>
          </a:p>
          <a:p>
            <a:pPr/>
            <a:r>
              <a:t>“Let me show you how quickly this becomes real.”</a:t>
            </a:r>
          </a:p>
          <a:p>
            <a:pPr/>
          </a:p>
          <a:p>
            <a:pPr/>
            <a:r>
              <a:t>(Dont start slides yet)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3" name="Shape 483"/>
          <p:cNvSpPr/>
          <p:nvPr>
            <p:ph type="sldImg"/>
          </p:nvPr>
        </p:nvSpPr>
        <p:spPr>
          <a:prstGeom prst="rect">
            <a:avLst/>
          </a:prstGeom>
        </p:spPr>
        <p:txBody>
          <a:bodyPr/>
          <a:lstStyle/>
          <a:p>
            <a:pPr/>
          </a:p>
        </p:txBody>
      </p:sp>
      <p:sp>
        <p:nvSpPr>
          <p:cNvPr id="484" name="Shape 484"/>
          <p:cNvSpPr/>
          <p:nvPr>
            <p:ph type="body" sz="quarter" idx="1"/>
          </p:nvPr>
        </p:nvSpPr>
        <p:spPr>
          <a:prstGeom prst="rect">
            <a:avLst/>
          </a:prstGeom>
        </p:spPr>
        <p:txBody>
          <a:bodyPr/>
          <a:lstStyle/>
          <a:p>
            <a:pPr/>
            <a:r>
              <a:t>Step 1 Read Emails</a:t>
            </a:r>
          </a:p>
          <a:p>
            <a:pPr/>
          </a:p>
          <a:p>
            <a:pPr/>
          </a:p>
          <a:p>
            <a:pPr/>
            <a:r>
              <a:t>“We fetch unread emails directly from Gmail.”</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5" name="Shape 505"/>
          <p:cNvSpPr/>
          <p:nvPr>
            <p:ph type="sldImg"/>
          </p:nvPr>
        </p:nvSpPr>
        <p:spPr>
          <a:prstGeom prst="rect">
            <a:avLst/>
          </a:prstGeom>
        </p:spPr>
        <p:txBody>
          <a:bodyPr/>
          <a:lstStyle/>
          <a:p>
            <a:pPr/>
          </a:p>
        </p:txBody>
      </p:sp>
      <p:sp>
        <p:nvSpPr>
          <p:cNvPr id="506" name="Shape 506"/>
          <p:cNvSpPr/>
          <p:nvPr>
            <p:ph type="body" sz="quarter" idx="1"/>
          </p:nvPr>
        </p:nvSpPr>
        <p:spPr>
          <a:prstGeom prst="rect">
            <a:avLst/>
          </a:prstGeom>
        </p:spPr>
        <p:txBody>
          <a:bodyPr/>
          <a:lstStyle/>
          <a:p>
            <a:pPr/>
            <a:r>
              <a:t>“We extract:</a:t>
            </a:r>
          </a:p>
          <a:p>
            <a:pPr/>
            <a:r>
              <a:t>subject</a:t>
            </a:r>
          </a:p>
          <a:p>
            <a:pPr/>
            <a:r>
              <a:t>body</a:t>
            </a:r>
          </a:p>
          <a:p>
            <a:pPr/>
            <a:r>
              <a:t>sender</a:t>
            </a:r>
          </a:p>
          <a:p>
            <a:pPr/>
          </a:p>
          <a:p>
            <a:pPr/>
            <a:r>
              <a:t>This becomes AI input.”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0" name="Shape 530"/>
          <p:cNvSpPr/>
          <p:nvPr>
            <p:ph type="sldImg"/>
          </p:nvPr>
        </p:nvSpPr>
        <p:spPr>
          <a:prstGeom prst="rect">
            <a:avLst/>
          </a:prstGeom>
        </p:spPr>
        <p:txBody>
          <a:bodyPr/>
          <a:lstStyle/>
          <a:p>
            <a:pPr/>
          </a:p>
        </p:txBody>
      </p:sp>
      <p:sp>
        <p:nvSpPr>
          <p:cNvPr id="531" name="Shape 531"/>
          <p:cNvSpPr/>
          <p:nvPr>
            <p:ph type="body" sz="quarter" idx="1"/>
          </p:nvPr>
        </p:nvSpPr>
        <p:spPr>
          <a:prstGeom prst="rect">
            <a:avLst/>
          </a:prstGeom>
        </p:spPr>
        <p:txBody>
          <a:bodyPr/>
          <a:lstStyle/>
          <a:p>
            <a:pPr/>
            <a:r>
              <a:t>“This is where LLMs shine.</a:t>
            </a:r>
          </a:p>
          <a:p>
            <a:pPr/>
          </a:p>
          <a:p>
            <a:pPr/>
          </a:p>
          <a:p>
            <a:pPr/>
          </a:p>
          <a:p>
            <a:pPr/>
            <a:r>
              <a:t>Understanding messy natural language.”</a:t>
            </a:r>
          </a:p>
          <a:p>
            <a:pPr/>
          </a:p>
          <a:p>
            <a:pPr/>
            <a:r>
              <a:t>This might be the only AI factor in this entire project.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2" name="Shape 542"/>
          <p:cNvSpPr/>
          <p:nvPr>
            <p:ph type="sldImg"/>
          </p:nvPr>
        </p:nvSpPr>
        <p:spPr>
          <a:prstGeom prst="rect">
            <a:avLst/>
          </a:prstGeom>
        </p:spPr>
        <p:txBody>
          <a:bodyPr/>
          <a:lstStyle/>
          <a:p>
            <a:pPr/>
          </a:p>
        </p:txBody>
      </p:sp>
      <p:sp>
        <p:nvSpPr>
          <p:cNvPr id="543" name="Shape 543"/>
          <p:cNvSpPr/>
          <p:nvPr>
            <p:ph type="body" sz="quarter" idx="1"/>
          </p:nvPr>
        </p:nvSpPr>
        <p:spPr>
          <a:prstGeom prst="rect">
            <a:avLst/>
          </a:prstGeom>
        </p:spPr>
        <p:txBody>
          <a:bodyPr/>
          <a:lstStyle/>
          <a:p>
            <a:pPr/>
            <a:r>
              <a:t>“Once classified:</a:t>
            </a:r>
          </a:p>
          <a:p>
            <a:pPr/>
          </a:p>
          <a:p>
            <a:pPr/>
            <a:r>
              <a:t>system routes  to specific departments automatically.”</a:t>
            </a:r>
          </a:p>
          <a:p>
            <a:pPr/>
          </a:p>
          <a:p>
            <a:pPr/>
            <a:r>
              <a:t>Send email automatically</a:t>
            </a:r>
          </a:p>
          <a:p>
            <a:pPr/>
            <a:r>
              <a:t>Include classification label in subject</a:t>
            </a:r>
          </a:p>
          <a:p>
            <a:pPr/>
            <a:r>
              <a:t>Correct department receives it instantly</a:t>
            </a:r>
          </a:p>
          <a:p>
            <a:pPr/>
            <a:r>
              <a:t>Original sender data preserved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9" name="Shape 559"/>
          <p:cNvSpPr/>
          <p:nvPr>
            <p:ph type="sldImg"/>
          </p:nvPr>
        </p:nvSpPr>
        <p:spPr>
          <a:prstGeom prst="rect">
            <a:avLst/>
          </a:prstGeom>
        </p:spPr>
        <p:txBody>
          <a:bodyPr/>
          <a:lstStyle/>
          <a:p>
            <a:pPr/>
          </a:p>
        </p:txBody>
      </p:sp>
      <p:sp>
        <p:nvSpPr>
          <p:cNvPr id="560" name="Shape 560"/>
          <p:cNvSpPr/>
          <p:nvPr>
            <p:ph type="body" sz="quarter" idx="1"/>
          </p:nvPr>
        </p:nvSpPr>
        <p:spPr>
          <a:prstGeom prst="rect">
            <a:avLst/>
          </a:prstGeom>
        </p:spPr>
        <p:txBody>
          <a:bodyPr/>
          <a:lstStyle/>
          <a:p>
            <a:pPr/>
            <a:r>
              <a:t>“This is no longer a classroom project.</a:t>
            </a:r>
          </a:p>
          <a:p>
            <a:pPr/>
          </a:p>
          <a:p>
            <a:pPr/>
            <a:r>
              <a:t>This is something businesses can deploy.”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7" name="Shape 577"/>
          <p:cNvSpPr/>
          <p:nvPr>
            <p:ph type="sldImg"/>
          </p:nvPr>
        </p:nvSpPr>
        <p:spPr>
          <a:prstGeom prst="rect">
            <a:avLst/>
          </a:prstGeom>
        </p:spPr>
        <p:txBody>
          <a:bodyPr/>
          <a:lstStyle/>
          <a:p>
            <a:pPr/>
          </a:p>
        </p:txBody>
      </p:sp>
      <p:sp>
        <p:nvSpPr>
          <p:cNvPr id="578" name="Shape 578"/>
          <p:cNvSpPr/>
          <p:nvPr>
            <p:ph type="body" sz="quarter" idx="1"/>
          </p:nvPr>
        </p:nvSpPr>
        <p:spPr>
          <a:prstGeom prst="rect">
            <a:avLst/>
          </a:prstGeom>
        </p:spPr>
        <p:txBody>
          <a:bodyPr/>
          <a:lstStyle/>
          <a:p>
            <a:pPr/>
            <a:r>
              <a:t>“What happens at:</a:t>
            </a:r>
          </a:p>
          <a:p>
            <a:pPr/>
            <a:r>
              <a:t>50,000 emails/month?</a:t>
            </a:r>
          </a:p>
          <a:p>
            <a:pPr/>
          </a:p>
          <a:p>
            <a:pPr/>
            <a:r>
              <a:t>Huge savings.”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6" name="Shape 596"/>
          <p:cNvSpPr/>
          <p:nvPr>
            <p:ph type="sldImg"/>
          </p:nvPr>
        </p:nvSpPr>
        <p:spPr>
          <a:prstGeom prst="rect">
            <a:avLst/>
          </a:prstGeom>
        </p:spPr>
        <p:txBody>
          <a:bodyPr/>
          <a:lstStyle/>
          <a:p>
            <a:pPr/>
          </a:p>
        </p:txBody>
      </p:sp>
      <p:sp>
        <p:nvSpPr>
          <p:cNvPr id="597" name="Shape 597"/>
          <p:cNvSpPr/>
          <p:nvPr>
            <p:ph type="body" sz="quarter" idx="1"/>
          </p:nvPr>
        </p:nvSpPr>
        <p:spPr>
          <a:prstGeom prst="rect">
            <a:avLst/>
          </a:prstGeom>
        </p:spPr>
        <p:txBody>
          <a:bodyPr/>
          <a:lstStyle/>
          <a:p>
            <a:pPr/>
            <a:r>
              <a:t>“This same architecture applies everywhere:</a:t>
            </a:r>
          </a:p>
          <a:p>
            <a:pPr/>
          </a:p>
          <a:p>
            <a:pPr/>
            <a:r>
              <a:t>insurance</a:t>
            </a:r>
          </a:p>
          <a:p>
            <a:pPr/>
            <a:r>
              <a:t>HR</a:t>
            </a:r>
          </a:p>
          <a:p>
            <a:pPr/>
            <a:r>
              <a:t>legal</a:t>
            </a:r>
          </a:p>
          <a:p>
            <a:pPr/>
            <a:r>
              <a:t>sales”</a:t>
            </a:r>
          </a:p>
          <a:p>
            <a:pPr/>
          </a:p>
          <a:p>
            <a:pPr/>
            <a:r>
              <a:t>## NOW GO TO DEMO AND CODE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9" name="Shape 629"/>
          <p:cNvSpPr/>
          <p:nvPr>
            <p:ph type="sldImg"/>
          </p:nvPr>
        </p:nvSpPr>
        <p:spPr>
          <a:prstGeom prst="rect">
            <a:avLst/>
          </a:prstGeom>
        </p:spPr>
        <p:txBody>
          <a:bodyPr/>
          <a:lstStyle/>
          <a:p>
            <a:pPr/>
          </a:p>
        </p:txBody>
      </p:sp>
      <p:sp>
        <p:nvSpPr>
          <p:cNvPr id="630" name="Shape 630"/>
          <p:cNvSpPr/>
          <p:nvPr>
            <p:ph type="body" sz="quarter" idx="1"/>
          </p:nvPr>
        </p:nvSpPr>
        <p:spPr>
          <a:prstGeom prst="rect">
            <a:avLst/>
          </a:prstGeom>
        </p:spPr>
        <p:txBody>
          <a:bodyPr/>
          <a:lstStyle/>
          <a:p>
            <a:pPr/>
            <a:r>
              <a:t>“Today you saw pieces from multiple modules.</a:t>
            </a:r>
          </a:p>
          <a:p>
            <a:pPr/>
            <a:r>
              <a:t>This course teaches every layer step by step.”</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8" name="Shape 648"/>
          <p:cNvSpPr/>
          <p:nvPr>
            <p:ph type="sldImg"/>
          </p:nvPr>
        </p:nvSpPr>
        <p:spPr>
          <a:prstGeom prst="rect">
            <a:avLst/>
          </a:prstGeom>
        </p:spPr>
        <p:txBody>
          <a:bodyPr/>
          <a:lstStyle/>
          <a:p>
            <a:pPr/>
          </a:p>
        </p:txBody>
      </p:sp>
      <p:sp>
        <p:nvSpPr>
          <p:cNvPr id="649" name="Shape 649"/>
          <p:cNvSpPr/>
          <p:nvPr>
            <p:ph type="body" sz="quarter" idx="1"/>
          </p:nvPr>
        </p:nvSpPr>
        <p:spPr>
          <a:prstGeom prst="rect">
            <a:avLst/>
          </a:prstGeom>
        </p:spPr>
        <p:txBody>
          <a:bodyPr/>
          <a:lstStyle/>
          <a:p>
            <a:pPr/>
            <a:r>
              <a:t>I want to leave you with one thought.</a:t>
            </a:r>
          </a:p>
          <a:p>
            <a:pPr/>
          </a:p>
          <a:p>
            <a:pPr/>
            <a:r>
              <a:t>Most people today are learning isolated tools.</a:t>
            </a:r>
          </a:p>
          <a:p>
            <a:pPr/>
          </a:p>
          <a:p>
            <a:pPr/>
            <a:r>
              <a:t>They know:</a:t>
            </a:r>
          </a:p>
          <a:p>
            <a:pPr/>
            <a:r>
              <a:t>LangChain</a:t>
            </a:r>
          </a:p>
          <a:p>
            <a:pPr/>
            <a:r>
              <a:t>OpenAI</a:t>
            </a:r>
          </a:p>
          <a:p>
            <a:pPr/>
            <a:r>
              <a:t>FastAPI</a:t>
            </a:r>
          </a:p>
          <a:p>
            <a:pPr/>
            <a:r>
              <a:t>ML models</a:t>
            </a:r>
          </a:p>
          <a:p>
            <a:pPr/>
          </a:p>
          <a:p>
            <a:pPr/>
            <a:r>
              <a:t>But they cannot combine them into real products.</a:t>
            </a:r>
          </a:p>
          <a:p>
            <a:pPr/>
          </a:p>
          <a:p>
            <a:pPr/>
            <a:r>
              <a:t>Companies increasingly need builders.</a:t>
            </a:r>
          </a:p>
          <a:p>
            <a:pP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 master">
    <p:bg>
      <p:bgPr>
        <a:solidFill>
          <a:srgbClr val="000000"/>
        </a:solidFill>
      </p:bgPr>
    </p:bg>
    <p:spTree>
      <p:nvGrpSpPr>
        <p:cNvPr id="1" name=""/>
        <p:cNvGrpSpPr/>
        <p:nvPr/>
      </p:nvGrpSpPr>
      <p:grpSpPr>
        <a:xfrm>
          <a:off x="0" y="0"/>
          <a:ext cx="0" cy="0"/>
          <a:chOff x="0" y="0"/>
          <a:chExt cx="0" cy="0"/>
        </a:xfrm>
      </p:grpSpPr>
      <p:sp>
        <p:nvSpPr>
          <p:cNvPr id="18"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9"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 master">
    <p:bg>
      <p:bgPr>
        <a:solidFill>
          <a:srgbClr val="000000"/>
        </a:solidFill>
      </p:bgPr>
    </p:bg>
    <p:spTree>
      <p:nvGrpSpPr>
        <p:cNvPr id="1" name=""/>
        <p:cNvGrpSpPr/>
        <p:nvPr/>
      </p:nvGrpSpPr>
      <p:grpSpPr>
        <a:xfrm>
          <a:off x="0" y="0"/>
          <a:ext cx="0" cy="0"/>
          <a:chOff x="0" y="0"/>
          <a:chExt cx="0" cy="0"/>
        </a:xfrm>
      </p:grpSpPr>
      <p:sp>
        <p:nvSpPr>
          <p:cNvPr id="27"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28"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3 master">
    <p:bg>
      <p:bgPr>
        <a:solidFill>
          <a:srgbClr val="000000"/>
        </a:solidFill>
      </p:bgPr>
    </p:bg>
    <p:spTree>
      <p:nvGrpSpPr>
        <p:cNvPr id="1" name=""/>
        <p:cNvGrpSpPr/>
        <p:nvPr/>
      </p:nvGrpSpPr>
      <p:grpSpPr>
        <a:xfrm>
          <a:off x="0" y="0"/>
          <a:ext cx="0" cy="0"/>
          <a:chOff x="0" y="0"/>
          <a:chExt cx="0" cy="0"/>
        </a:xfrm>
      </p:grpSpPr>
      <p:sp>
        <p:nvSpPr>
          <p:cNvPr id="36"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37"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4 master">
    <p:bg>
      <p:bgPr>
        <a:solidFill>
          <a:srgbClr val="000000"/>
        </a:solidFill>
      </p:bgPr>
    </p:bg>
    <p:spTree>
      <p:nvGrpSpPr>
        <p:cNvPr id="1" name=""/>
        <p:cNvGrpSpPr/>
        <p:nvPr/>
      </p:nvGrpSpPr>
      <p:grpSpPr>
        <a:xfrm>
          <a:off x="0" y="0"/>
          <a:ext cx="0" cy="0"/>
          <a:chOff x="0" y="0"/>
          <a:chExt cx="0" cy="0"/>
        </a:xfrm>
      </p:grpSpPr>
      <p:sp>
        <p:nvSpPr>
          <p:cNvPr id="45"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46"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5 master">
    <p:bg>
      <p:bgPr>
        <a:solidFill>
          <a:srgbClr val="000000"/>
        </a:solidFill>
      </p:bgPr>
    </p:bg>
    <p:spTree>
      <p:nvGrpSpPr>
        <p:cNvPr id="1" name=""/>
        <p:cNvGrpSpPr/>
        <p:nvPr/>
      </p:nvGrpSpPr>
      <p:grpSpPr>
        <a:xfrm>
          <a:off x="0" y="0"/>
          <a:ext cx="0" cy="0"/>
          <a:chOff x="0" y="0"/>
          <a:chExt cx="0" cy="0"/>
        </a:xfrm>
      </p:grpSpPr>
      <p:sp>
        <p:nvSpPr>
          <p:cNvPr id="54"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55"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5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6 master">
    <p:bg>
      <p:bgPr>
        <a:solidFill>
          <a:srgbClr val="000000"/>
        </a:solidFill>
      </p:bgPr>
    </p:bg>
    <p:spTree>
      <p:nvGrpSpPr>
        <p:cNvPr id="1" name=""/>
        <p:cNvGrpSpPr/>
        <p:nvPr/>
      </p:nvGrpSpPr>
      <p:grpSpPr>
        <a:xfrm>
          <a:off x="0" y="0"/>
          <a:ext cx="0" cy="0"/>
          <a:chOff x="0" y="0"/>
          <a:chExt cx="0" cy="0"/>
        </a:xfrm>
      </p:grpSpPr>
      <p:sp>
        <p:nvSpPr>
          <p:cNvPr id="63"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64"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7 master">
    <p:bg>
      <p:bgPr>
        <a:solidFill>
          <a:srgbClr val="000000"/>
        </a:solidFill>
      </p:bgPr>
    </p:bg>
    <p:spTree>
      <p:nvGrpSpPr>
        <p:cNvPr id="1" name=""/>
        <p:cNvGrpSpPr/>
        <p:nvPr/>
      </p:nvGrpSpPr>
      <p:grpSpPr>
        <a:xfrm>
          <a:off x="0" y="0"/>
          <a:ext cx="0" cy="0"/>
          <a:chOff x="0" y="0"/>
          <a:chExt cx="0" cy="0"/>
        </a:xfrm>
      </p:grpSpPr>
      <p:sp>
        <p:nvSpPr>
          <p:cNvPr id="72"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73"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8 master">
    <p:bg>
      <p:bgPr>
        <a:solidFill>
          <a:srgbClr val="000000"/>
        </a:solidFill>
      </p:bgPr>
    </p:bg>
    <p:spTree>
      <p:nvGrpSpPr>
        <p:cNvPr id="1" name=""/>
        <p:cNvGrpSpPr/>
        <p:nvPr/>
      </p:nvGrpSpPr>
      <p:grpSpPr>
        <a:xfrm>
          <a:off x="0" y="0"/>
          <a:ext cx="0" cy="0"/>
          <a:chOff x="0" y="0"/>
          <a:chExt cx="0" cy="0"/>
        </a:xfrm>
      </p:grpSpPr>
      <p:sp>
        <p:nvSpPr>
          <p:cNvPr id="81"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82"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9 master">
    <p:bg>
      <p:bgPr>
        <a:solidFill>
          <a:srgbClr val="000000"/>
        </a:solidFill>
      </p:bgPr>
    </p:bg>
    <p:spTree>
      <p:nvGrpSpPr>
        <p:cNvPr id="1" name=""/>
        <p:cNvGrpSpPr/>
        <p:nvPr/>
      </p:nvGrpSpPr>
      <p:grpSpPr>
        <a:xfrm>
          <a:off x="0" y="0"/>
          <a:ext cx="0" cy="0"/>
          <a:chOff x="0" y="0"/>
          <a:chExt cx="0" cy="0"/>
        </a:xfrm>
      </p:grpSpPr>
      <p:sp>
        <p:nvSpPr>
          <p:cNvPr id="90"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91"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0 master">
    <p:bg>
      <p:bgPr>
        <a:solidFill>
          <a:srgbClr val="000000"/>
        </a:solidFill>
      </p:bgPr>
    </p:bg>
    <p:spTree>
      <p:nvGrpSpPr>
        <p:cNvPr id="1" name=""/>
        <p:cNvGrpSpPr/>
        <p:nvPr/>
      </p:nvGrpSpPr>
      <p:grpSpPr>
        <a:xfrm>
          <a:off x="0" y="0"/>
          <a:ext cx="0" cy="0"/>
          <a:chOff x="0" y="0"/>
          <a:chExt cx="0" cy="0"/>
        </a:xfrm>
      </p:grpSpPr>
      <p:sp>
        <p:nvSpPr>
          <p:cNvPr id="99"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00"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1 master">
    <p:bg>
      <p:bgPr>
        <a:solidFill>
          <a:srgbClr val="000000"/>
        </a:solidFill>
      </p:bgPr>
    </p:bg>
    <p:spTree>
      <p:nvGrpSpPr>
        <p:cNvPr id="1" name=""/>
        <p:cNvGrpSpPr/>
        <p:nvPr/>
      </p:nvGrpSpPr>
      <p:grpSpPr>
        <a:xfrm>
          <a:off x="0" y="0"/>
          <a:ext cx="0" cy="0"/>
          <a:chOff x="0" y="0"/>
          <a:chExt cx="0" cy="0"/>
        </a:xfrm>
      </p:grpSpPr>
      <p:sp>
        <p:nvSpPr>
          <p:cNvPr id="108"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09"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1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2 master">
    <p:bg>
      <p:bgPr>
        <a:solidFill>
          <a:srgbClr val="000000"/>
        </a:solidFill>
      </p:bgPr>
    </p:bg>
    <p:spTree>
      <p:nvGrpSpPr>
        <p:cNvPr id="1" name=""/>
        <p:cNvGrpSpPr/>
        <p:nvPr/>
      </p:nvGrpSpPr>
      <p:grpSpPr>
        <a:xfrm>
          <a:off x="0" y="0"/>
          <a:ext cx="0" cy="0"/>
          <a:chOff x="0" y="0"/>
          <a:chExt cx="0" cy="0"/>
        </a:xfrm>
      </p:grpSpPr>
      <p:sp>
        <p:nvSpPr>
          <p:cNvPr id="117"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18"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3 master">
    <p:bg>
      <p:bgPr>
        <a:solidFill>
          <a:srgbClr val="000000"/>
        </a:solidFill>
      </p:bgPr>
    </p:bg>
    <p:spTree>
      <p:nvGrpSpPr>
        <p:cNvPr id="1" name=""/>
        <p:cNvGrpSpPr/>
        <p:nvPr/>
      </p:nvGrpSpPr>
      <p:grpSpPr>
        <a:xfrm>
          <a:off x="0" y="0"/>
          <a:ext cx="0" cy="0"/>
          <a:chOff x="0" y="0"/>
          <a:chExt cx="0" cy="0"/>
        </a:xfrm>
      </p:grpSpPr>
      <p:sp>
        <p:nvSpPr>
          <p:cNvPr id="126"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27"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4 master">
    <p:bg>
      <p:bgPr>
        <a:solidFill>
          <a:srgbClr val="000000"/>
        </a:solidFill>
      </p:bgPr>
    </p:bg>
    <p:spTree>
      <p:nvGrpSpPr>
        <p:cNvPr id="1" name=""/>
        <p:cNvGrpSpPr/>
        <p:nvPr/>
      </p:nvGrpSpPr>
      <p:grpSpPr>
        <a:xfrm>
          <a:off x="0" y="0"/>
          <a:ext cx="0" cy="0"/>
          <a:chOff x="0" y="0"/>
          <a:chExt cx="0" cy="0"/>
        </a:xfrm>
      </p:grpSpPr>
      <p:sp>
        <p:nvSpPr>
          <p:cNvPr id="135"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36"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5 master">
    <p:bg>
      <p:bgPr>
        <a:solidFill>
          <a:srgbClr val="000000"/>
        </a:solidFill>
      </p:bgPr>
    </p:bg>
    <p:spTree>
      <p:nvGrpSpPr>
        <p:cNvPr id="1" name=""/>
        <p:cNvGrpSpPr/>
        <p:nvPr/>
      </p:nvGrpSpPr>
      <p:grpSpPr>
        <a:xfrm>
          <a:off x="0" y="0"/>
          <a:ext cx="0" cy="0"/>
          <a:chOff x="0" y="0"/>
          <a:chExt cx="0" cy="0"/>
        </a:xfrm>
      </p:grpSpPr>
      <p:sp>
        <p:nvSpPr>
          <p:cNvPr id="144"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45"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4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6 master">
    <p:bg>
      <p:bgPr>
        <a:solidFill>
          <a:srgbClr val="000000"/>
        </a:solidFill>
      </p:bgPr>
    </p:bg>
    <p:spTree>
      <p:nvGrpSpPr>
        <p:cNvPr id="1" name=""/>
        <p:cNvGrpSpPr/>
        <p:nvPr/>
      </p:nvGrpSpPr>
      <p:grpSpPr>
        <a:xfrm>
          <a:off x="0" y="0"/>
          <a:ext cx="0" cy="0"/>
          <a:chOff x="0" y="0"/>
          <a:chExt cx="0" cy="0"/>
        </a:xfrm>
      </p:grpSpPr>
      <p:sp>
        <p:nvSpPr>
          <p:cNvPr id="153"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54"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7 master">
    <p:bg>
      <p:bgPr>
        <a:solidFill>
          <a:srgbClr val="000000"/>
        </a:solidFill>
      </p:bgPr>
    </p:bg>
    <p:spTree>
      <p:nvGrpSpPr>
        <p:cNvPr id="1" name=""/>
        <p:cNvGrpSpPr/>
        <p:nvPr/>
      </p:nvGrpSpPr>
      <p:grpSpPr>
        <a:xfrm>
          <a:off x="0" y="0"/>
          <a:ext cx="0" cy="0"/>
          <a:chOff x="0" y="0"/>
          <a:chExt cx="0" cy="0"/>
        </a:xfrm>
      </p:grpSpPr>
      <p:sp>
        <p:nvSpPr>
          <p:cNvPr id="162"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63"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8 master">
    <p:bg>
      <p:bgPr>
        <a:solidFill>
          <a:srgbClr val="000000"/>
        </a:solidFill>
      </p:bgPr>
    </p:bg>
    <p:spTree>
      <p:nvGrpSpPr>
        <p:cNvPr id="1" name=""/>
        <p:cNvGrpSpPr/>
        <p:nvPr/>
      </p:nvGrpSpPr>
      <p:grpSpPr>
        <a:xfrm>
          <a:off x="0" y="0"/>
          <a:ext cx="0" cy="0"/>
          <a:chOff x="0" y="0"/>
          <a:chExt cx="0" cy="0"/>
        </a:xfrm>
      </p:grpSpPr>
      <p:sp>
        <p:nvSpPr>
          <p:cNvPr id="171"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72"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7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9 master">
    <p:bg>
      <p:bgPr>
        <a:solidFill>
          <a:srgbClr val="000000"/>
        </a:solidFill>
      </p:bgPr>
    </p:bg>
    <p:spTree>
      <p:nvGrpSpPr>
        <p:cNvPr id="1" name=""/>
        <p:cNvGrpSpPr/>
        <p:nvPr/>
      </p:nvGrpSpPr>
      <p:grpSpPr>
        <a:xfrm>
          <a:off x="0" y="0"/>
          <a:ext cx="0" cy="0"/>
          <a:chOff x="0" y="0"/>
          <a:chExt cx="0" cy="0"/>
        </a:xfrm>
      </p:grpSpPr>
      <p:sp>
        <p:nvSpPr>
          <p:cNvPr id="180"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81"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8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0 master">
    <p:bg>
      <p:bgPr>
        <a:solidFill>
          <a:srgbClr val="000000"/>
        </a:solidFill>
      </p:bgPr>
    </p:bg>
    <p:spTree>
      <p:nvGrpSpPr>
        <p:cNvPr id="1" name=""/>
        <p:cNvGrpSpPr/>
        <p:nvPr/>
      </p:nvGrpSpPr>
      <p:grpSpPr>
        <a:xfrm>
          <a:off x="0" y="0"/>
          <a:ext cx="0" cy="0"/>
          <a:chOff x="0" y="0"/>
          <a:chExt cx="0" cy="0"/>
        </a:xfrm>
      </p:grpSpPr>
      <p:sp>
        <p:nvSpPr>
          <p:cNvPr id="189"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90"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1 master">
    <p:bg>
      <p:bgPr>
        <a:solidFill>
          <a:srgbClr val="000000"/>
        </a:solidFill>
      </p:bgPr>
    </p:bg>
    <p:spTree>
      <p:nvGrpSpPr>
        <p:cNvPr id="1" name=""/>
        <p:cNvGrpSpPr/>
        <p:nvPr/>
      </p:nvGrpSpPr>
      <p:grpSpPr>
        <a:xfrm>
          <a:off x="0" y="0"/>
          <a:ext cx="0" cy="0"/>
          <a:chOff x="0" y="0"/>
          <a:chExt cx="0" cy="0"/>
        </a:xfrm>
      </p:grpSpPr>
      <p:sp>
        <p:nvSpPr>
          <p:cNvPr id="198"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99"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20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2 master">
    <p:bg>
      <p:bgPr>
        <a:solidFill>
          <a:srgbClr val="000000"/>
        </a:solidFill>
      </p:bgPr>
    </p:bg>
    <p:spTree>
      <p:nvGrpSpPr>
        <p:cNvPr id="1" name=""/>
        <p:cNvGrpSpPr/>
        <p:nvPr/>
      </p:nvGrpSpPr>
      <p:grpSpPr>
        <a:xfrm>
          <a:off x="0" y="0"/>
          <a:ext cx="0" cy="0"/>
          <a:chOff x="0" y="0"/>
          <a:chExt cx="0" cy="0"/>
        </a:xfrm>
      </p:grpSpPr>
      <p:sp>
        <p:nvSpPr>
          <p:cNvPr id="207"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208"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20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731520" y="110489"/>
            <a:ext cx="13167361" cy="1809751"/>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731520" y="1920239"/>
            <a:ext cx="13167361" cy="6309362"/>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7071359" y="7408545"/>
            <a:ext cx="3413761" cy="438150"/>
          </a:xfrm>
          <a:prstGeom prst="rect">
            <a:avLst/>
          </a:prstGeom>
          <a:ln w="12700">
            <a:miter lim="400000"/>
          </a:ln>
        </p:spPr>
        <p:txBody>
          <a:bodyPr wrap="none" lIns="45719" rIns="45719" anchor="ctr">
            <a:spAutoFit/>
          </a:bodyPr>
          <a:lstStyle>
            <a:lvl1pPr algn="r">
              <a:defRPr sz="1200">
                <a:latin typeface="+mn-lt"/>
                <a:ea typeface="+mn-ea"/>
                <a:cs typeface="+mn-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0.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3.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6.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8.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0.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22.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 Id="rId3"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Shape 0"/>
          <p:cNvSpPr/>
          <p:nvPr/>
        </p:nvSpPr>
        <p:spPr>
          <a:xfrm>
            <a:off x="9144000" y="0"/>
            <a:ext cx="5486400" cy="8229600"/>
          </a:xfrm>
          <a:prstGeom prst="rect">
            <a:avLst/>
          </a:prstGeom>
          <a:solidFill>
            <a:srgbClr val="E1E1EA"/>
          </a:solidFill>
          <a:ln w="12700">
            <a:miter lim="400000"/>
          </a:ln>
        </p:spPr>
        <p:txBody>
          <a:bodyPr lIns="45719" rIns="45719"/>
          <a:lstStyle/>
          <a:p>
            <a:pPr/>
          </a:p>
        </p:txBody>
      </p:sp>
      <p:pic>
        <p:nvPicPr>
          <p:cNvPr id="219" name="Image 0" descr="Image 0"/>
          <p:cNvPicPr>
            <a:picLocks noChangeAspect="1"/>
          </p:cNvPicPr>
          <p:nvPr/>
        </p:nvPicPr>
        <p:blipFill>
          <a:blip r:embed="rId3">
            <a:extLst/>
          </a:blip>
          <a:stretch>
            <a:fillRect/>
          </a:stretch>
        </p:blipFill>
        <p:spPr>
          <a:xfrm>
            <a:off x="9243179" y="148708"/>
            <a:ext cx="5288043" cy="7932065"/>
          </a:xfrm>
          <a:prstGeom prst="rect">
            <a:avLst/>
          </a:prstGeom>
          <a:ln w="12700">
            <a:miter lim="400000"/>
          </a:ln>
        </p:spPr>
      </p:pic>
      <p:sp>
        <p:nvSpPr>
          <p:cNvPr id="220" name="Text 1"/>
          <p:cNvSpPr txBox="1"/>
          <p:nvPr/>
        </p:nvSpPr>
        <p:spPr>
          <a:xfrm>
            <a:off x="793789" y="3032522"/>
            <a:ext cx="5553632"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From Prototype to Scale</a:t>
            </a:r>
          </a:p>
        </p:txBody>
      </p:sp>
      <p:sp>
        <p:nvSpPr>
          <p:cNvPr id="221" name="Text 2"/>
          <p:cNvSpPr txBox="1"/>
          <p:nvPr/>
        </p:nvSpPr>
        <p:spPr>
          <a:xfrm>
            <a:off x="793790" y="3950256"/>
            <a:ext cx="7556421"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How real AI products are built — and what it takes to go from a working demo to a system that handles thousands of requests reliably.</a:t>
            </a:r>
          </a:p>
        </p:txBody>
      </p:sp>
      <p:sp>
        <p:nvSpPr>
          <p:cNvPr id="222" name="Shape 3"/>
          <p:cNvSpPr/>
          <p:nvPr/>
        </p:nvSpPr>
        <p:spPr>
          <a:xfrm>
            <a:off x="793790" y="4808577"/>
            <a:ext cx="3887154" cy="388383"/>
          </a:xfrm>
          <a:prstGeom prst="roundRect">
            <a:avLst>
              <a:gd name="adj" fmla="val 17171"/>
            </a:avLst>
          </a:prstGeom>
          <a:ln w="7620">
            <a:solidFill>
              <a:srgbClr val="1B1B27"/>
            </a:solidFill>
          </a:ln>
        </p:spPr>
        <p:txBody>
          <a:bodyPr lIns="45719" rIns="45719"/>
          <a:lstStyle/>
          <a:p>
            <a:pPr/>
          </a:p>
        </p:txBody>
      </p:sp>
      <p:sp>
        <p:nvSpPr>
          <p:cNvPr id="223" name="Text 4"/>
          <p:cNvSpPr txBox="1"/>
          <p:nvPr/>
        </p:nvSpPr>
        <p:spPr>
          <a:xfrm>
            <a:off x="920471" y="4875727"/>
            <a:ext cx="3501902" cy="2404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FORWARD DEPLOYED ENGINEERING · FINAL DEMO</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Shape 0"/>
          <p:cNvSpPr/>
          <p:nvPr/>
        </p:nvSpPr>
        <p:spPr>
          <a:xfrm>
            <a:off x="793790" y="1340882"/>
            <a:ext cx="1031797" cy="373143"/>
          </a:xfrm>
          <a:prstGeom prst="roundRect">
            <a:avLst>
              <a:gd name="adj" fmla="val 17872"/>
            </a:avLst>
          </a:prstGeom>
          <a:solidFill>
            <a:srgbClr val="E1E1EA"/>
          </a:solidFill>
          <a:ln w="12700">
            <a:miter lim="400000"/>
          </a:ln>
        </p:spPr>
        <p:txBody>
          <a:bodyPr lIns="45719" rIns="45719"/>
          <a:lstStyle/>
          <a:p>
            <a:pPr/>
          </a:p>
        </p:txBody>
      </p:sp>
      <p:sp>
        <p:nvSpPr>
          <p:cNvPr id="228" name="Text 1"/>
          <p:cNvSpPr txBox="1"/>
          <p:nvPr/>
        </p:nvSpPr>
        <p:spPr>
          <a:xfrm>
            <a:off x="912852" y="1400412"/>
            <a:ext cx="774701" cy="2404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3C3939"/>
                </a:solidFill>
                <a:latin typeface="Roboto Regular Regular"/>
                <a:ea typeface="Roboto Regular Regular"/>
                <a:cs typeface="Roboto Regular Regular"/>
                <a:sym typeface="Roboto Regular Regular"/>
              </a:defRPr>
            </a:lvl1pPr>
          </a:lstStyle>
          <a:p>
            <a:pPr/>
            <a:r>
              <a:t>01 · RECAP</a:t>
            </a:r>
          </a:p>
        </p:txBody>
      </p:sp>
      <p:sp>
        <p:nvSpPr>
          <p:cNvPr id="229" name="Text 2"/>
          <p:cNvSpPr txBox="1"/>
          <p:nvPr/>
        </p:nvSpPr>
        <p:spPr>
          <a:xfrm>
            <a:off x="793790" y="1793319"/>
            <a:ext cx="5670719"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What We Built Yesterday</a:t>
            </a:r>
          </a:p>
        </p:txBody>
      </p:sp>
      <p:sp>
        <p:nvSpPr>
          <p:cNvPr id="230" name="Text 3"/>
          <p:cNvSpPr txBox="1"/>
          <p:nvPr/>
        </p:nvSpPr>
        <p:spPr>
          <a:xfrm>
            <a:off x="793790" y="2711052"/>
            <a:ext cx="13042821"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In our last session, we built a working AI prototype that takes a raw customer email, classifies its intent using a language model, and routes it to the correct department — all from a simple manual input.</a:t>
            </a:r>
          </a:p>
        </p:txBody>
      </p:sp>
      <p:pic>
        <p:nvPicPr>
          <p:cNvPr id="231" name="Image 0" descr="Image 0"/>
          <p:cNvPicPr>
            <a:picLocks noChangeAspect="1"/>
          </p:cNvPicPr>
          <p:nvPr/>
        </p:nvPicPr>
        <p:blipFill>
          <a:blip r:embed="rId3">
            <a:extLst/>
          </a:blip>
          <a:stretch>
            <a:fillRect/>
          </a:stretch>
        </p:blipFill>
        <p:spPr>
          <a:xfrm>
            <a:off x="793790" y="3569375"/>
            <a:ext cx="4347568" cy="793791"/>
          </a:xfrm>
          <a:prstGeom prst="rect">
            <a:avLst/>
          </a:prstGeom>
          <a:ln w="12700">
            <a:miter lim="400000"/>
          </a:ln>
        </p:spPr>
      </p:pic>
      <p:sp>
        <p:nvSpPr>
          <p:cNvPr id="232" name="Text 4"/>
          <p:cNvSpPr txBox="1"/>
          <p:nvPr/>
        </p:nvSpPr>
        <p:spPr>
          <a:xfrm>
            <a:off x="992147" y="4561523"/>
            <a:ext cx="1463339"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Manual Input</a:t>
            </a:r>
          </a:p>
        </p:txBody>
      </p:sp>
      <p:sp>
        <p:nvSpPr>
          <p:cNvPr id="233" name="Text 5"/>
          <p:cNvSpPr txBox="1"/>
          <p:nvPr/>
        </p:nvSpPr>
        <p:spPr>
          <a:xfrm>
            <a:off x="992147" y="4990743"/>
            <a:ext cx="2585010" cy="3005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Paste email text into the script</a:t>
            </a:r>
          </a:p>
        </p:txBody>
      </p:sp>
      <p:pic>
        <p:nvPicPr>
          <p:cNvPr id="234" name="Image 1" descr="Image 1"/>
          <p:cNvPicPr>
            <a:picLocks noChangeAspect="1"/>
          </p:cNvPicPr>
          <p:nvPr/>
        </p:nvPicPr>
        <p:blipFill>
          <a:blip r:embed="rId4">
            <a:extLst/>
          </a:blip>
          <a:stretch>
            <a:fillRect/>
          </a:stretch>
        </p:blipFill>
        <p:spPr>
          <a:xfrm>
            <a:off x="5141357" y="3569375"/>
            <a:ext cx="4347568" cy="793791"/>
          </a:xfrm>
          <a:prstGeom prst="rect">
            <a:avLst/>
          </a:prstGeom>
          <a:ln w="12700">
            <a:miter lim="400000"/>
          </a:ln>
        </p:spPr>
      </p:pic>
      <p:sp>
        <p:nvSpPr>
          <p:cNvPr id="235" name="Text 6"/>
          <p:cNvSpPr txBox="1"/>
          <p:nvPr/>
        </p:nvSpPr>
        <p:spPr>
          <a:xfrm>
            <a:off x="5339715" y="4561523"/>
            <a:ext cx="1758512"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AI Classification</a:t>
            </a:r>
          </a:p>
        </p:txBody>
      </p:sp>
      <p:sp>
        <p:nvSpPr>
          <p:cNvPr id="236" name="Text 7"/>
          <p:cNvSpPr txBox="1"/>
          <p:nvPr/>
        </p:nvSpPr>
        <p:spPr>
          <a:xfrm>
            <a:off x="5339715" y="4990743"/>
            <a:ext cx="2843039" cy="3005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LLM identifies the intent category</a:t>
            </a:r>
          </a:p>
        </p:txBody>
      </p:sp>
      <p:pic>
        <p:nvPicPr>
          <p:cNvPr id="237" name="Image 2" descr="Image 2"/>
          <p:cNvPicPr>
            <a:picLocks noChangeAspect="1"/>
          </p:cNvPicPr>
          <p:nvPr/>
        </p:nvPicPr>
        <p:blipFill>
          <a:blip r:embed="rId5">
            <a:extLst/>
          </a:blip>
          <a:stretch>
            <a:fillRect/>
          </a:stretch>
        </p:blipFill>
        <p:spPr>
          <a:xfrm>
            <a:off x="9488923" y="3569375"/>
            <a:ext cx="4347569" cy="793791"/>
          </a:xfrm>
          <a:prstGeom prst="rect">
            <a:avLst/>
          </a:prstGeom>
          <a:ln w="12700">
            <a:miter lim="400000"/>
          </a:ln>
        </p:spPr>
      </p:pic>
      <p:sp>
        <p:nvSpPr>
          <p:cNvPr id="238" name="Text 8"/>
          <p:cNvSpPr txBox="1"/>
          <p:nvPr/>
        </p:nvSpPr>
        <p:spPr>
          <a:xfrm>
            <a:off x="9687282" y="4561523"/>
            <a:ext cx="2281465"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Department Routing</a:t>
            </a:r>
          </a:p>
        </p:txBody>
      </p:sp>
      <p:sp>
        <p:nvSpPr>
          <p:cNvPr id="239" name="Text 9"/>
          <p:cNvSpPr txBox="1"/>
          <p:nvPr/>
        </p:nvSpPr>
        <p:spPr>
          <a:xfrm>
            <a:off x="9687282" y="4990743"/>
            <a:ext cx="2656074" cy="3005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Output directs to the right team</a:t>
            </a:r>
          </a:p>
        </p:txBody>
      </p:sp>
      <p:sp>
        <p:nvSpPr>
          <p:cNvPr id="240" name="Shape 10"/>
          <p:cNvSpPr/>
          <p:nvPr/>
        </p:nvSpPr>
        <p:spPr>
          <a:xfrm>
            <a:off x="793790" y="5729882"/>
            <a:ext cx="4215289" cy="1158717"/>
          </a:xfrm>
          <a:prstGeom prst="roundRect">
            <a:avLst>
              <a:gd name="adj" fmla="val 7194"/>
            </a:avLst>
          </a:prstGeom>
          <a:solidFill>
            <a:srgbClr val="E1E1EA"/>
          </a:solidFill>
          <a:ln w="7620">
            <a:solidFill>
              <a:srgbClr val="C7C7D0"/>
            </a:solidFill>
          </a:ln>
        </p:spPr>
        <p:txBody>
          <a:bodyPr lIns="45719" rIns="45719"/>
          <a:lstStyle/>
          <a:p>
            <a:pPr/>
          </a:p>
        </p:txBody>
      </p:sp>
      <p:sp>
        <p:nvSpPr>
          <p:cNvPr id="241" name="Text 11"/>
          <p:cNvSpPr txBox="1"/>
          <p:nvPr/>
        </p:nvSpPr>
        <p:spPr>
          <a:xfrm>
            <a:off x="999768" y="5935860"/>
            <a:ext cx="2088729" cy="3291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Refund request</a:t>
            </a:r>
          </a:p>
        </p:txBody>
      </p:sp>
      <p:sp>
        <p:nvSpPr>
          <p:cNvPr id="242" name="Text 12"/>
          <p:cNvSpPr txBox="1"/>
          <p:nvPr/>
        </p:nvSpPr>
        <p:spPr>
          <a:xfrm>
            <a:off x="999768" y="6365080"/>
            <a:ext cx="1286297" cy="3005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 Billing Team</a:t>
            </a:r>
          </a:p>
        </p:txBody>
      </p:sp>
      <p:sp>
        <p:nvSpPr>
          <p:cNvPr id="243" name="Shape 13"/>
          <p:cNvSpPr/>
          <p:nvPr/>
        </p:nvSpPr>
        <p:spPr>
          <a:xfrm>
            <a:off x="5207437" y="5729882"/>
            <a:ext cx="4215408" cy="1158717"/>
          </a:xfrm>
          <a:prstGeom prst="roundRect">
            <a:avLst>
              <a:gd name="adj" fmla="val 7194"/>
            </a:avLst>
          </a:prstGeom>
          <a:solidFill>
            <a:srgbClr val="E1E1EA"/>
          </a:solidFill>
          <a:ln w="7620">
            <a:solidFill>
              <a:srgbClr val="C7C7D0"/>
            </a:solidFill>
          </a:ln>
        </p:spPr>
        <p:txBody>
          <a:bodyPr lIns="45719" rIns="45719"/>
          <a:lstStyle/>
          <a:p>
            <a:pPr/>
          </a:p>
        </p:txBody>
      </p:sp>
      <p:sp>
        <p:nvSpPr>
          <p:cNvPr id="244" name="Text 14"/>
          <p:cNvSpPr txBox="1"/>
          <p:nvPr/>
        </p:nvSpPr>
        <p:spPr>
          <a:xfrm>
            <a:off x="5413414" y="5935860"/>
            <a:ext cx="1526183" cy="3291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Tech issue</a:t>
            </a:r>
          </a:p>
        </p:txBody>
      </p:sp>
      <p:sp>
        <p:nvSpPr>
          <p:cNvPr id="245" name="Text 15"/>
          <p:cNvSpPr txBox="1"/>
          <p:nvPr/>
        </p:nvSpPr>
        <p:spPr>
          <a:xfrm>
            <a:off x="5413414" y="6365080"/>
            <a:ext cx="1376339" cy="3005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 Tech Support</a:t>
            </a:r>
          </a:p>
        </p:txBody>
      </p:sp>
      <p:sp>
        <p:nvSpPr>
          <p:cNvPr id="246" name="Shape 16"/>
          <p:cNvSpPr/>
          <p:nvPr/>
        </p:nvSpPr>
        <p:spPr>
          <a:xfrm>
            <a:off x="9621202" y="5729882"/>
            <a:ext cx="4215290" cy="1158717"/>
          </a:xfrm>
          <a:prstGeom prst="roundRect">
            <a:avLst>
              <a:gd name="adj" fmla="val 7194"/>
            </a:avLst>
          </a:prstGeom>
          <a:solidFill>
            <a:srgbClr val="E1E1EA"/>
          </a:solidFill>
          <a:ln w="7620">
            <a:solidFill>
              <a:srgbClr val="C7C7D0"/>
            </a:solidFill>
          </a:ln>
        </p:spPr>
        <p:txBody>
          <a:bodyPr lIns="45719" rIns="45719"/>
          <a:lstStyle/>
          <a:p>
            <a:pPr/>
          </a:p>
        </p:txBody>
      </p:sp>
      <p:sp>
        <p:nvSpPr>
          <p:cNvPr id="247" name="Text 17"/>
          <p:cNvSpPr txBox="1"/>
          <p:nvPr/>
        </p:nvSpPr>
        <p:spPr>
          <a:xfrm>
            <a:off x="9827180" y="5935860"/>
            <a:ext cx="1783132" cy="3291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Sales inquiry</a:t>
            </a:r>
          </a:p>
        </p:txBody>
      </p:sp>
      <p:sp>
        <p:nvSpPr>
          <p:cNvPr id="248" name="Text 18"/>
          <p:cNvSpPr txBox="1"/>
          <p:nvPr/>
        </p:nvSpPr>
        <p:spPr>
          <a:xfrm>
            <a:off x="9827180" y="6365080"/>
            <a:ext cx="1232534" cy="3005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 Sales Team</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Shape 0"/>
          <p:cNvSpPr/>
          <p:nvPr/>
        </p:nvSpPr>
        <p:spPr>
          <a:xfrm>
            <a:off x="793790" y="822602"/>
            <a:ext cx="1600438" cy="373143"/>
          </a:xfrm>
          <a:prstGeom prst="roundRect">
            <a:avLst>
              <a:gd name="adj" fmla="val 17872"/>
            </a:avLst>
          </a:prstGeom>
          <a:solidFill>
            <a:srgbClr val="E1E1EA"/>
          </a:solidFill>
          <a:ln w="12700">
            <a:miter lim="400000"/>
          </a:ln>
        </p:spPr>
        <p:txBody>
          <a:bodyPr lIns="45719" rIns="45719"/>
          <a:lstStyle/>
          <a:p>
            <a:pPr/>
          </a:p>
        </p:txBody>
      </p:sp>
      <p:sp>
        <p:nvSpPr>
          <p:cNvPr id="253" name="Text 1"/>
          <p:cNvSpPr txBox="1"/>
          <p:nvPr/>
        </p:nvSpPr>
        <p:spPr>
          <a:xfrm>
            <a:off x="912851" y="882134"/>
            <a:ext cx="1320752"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3C3939"/>
                </a:solidFill>
                <a:latin typeface="Roboto Regular Regular"/>
                <a:ea typeface="Roboto Regular Regular"/>
                <a:cs typeface="Roboto Regular Regular"/>
                <a:sym typeface="Roboto Regular Regular"/>
              </a:defRPr>
            </a:lvl1pPr>
          </a:lstStyle>
          <a:p>
            <a:pPr/>
            <a:r>
              <a:t>02 · FOUNDATIONS</a:t>
            </a:r>
          </a:p>
        </p:txBody>
      </p:sp>
      <p:sp>
        <p:nvSpPr>
          <p:cNvPr id="254" name="Text 2"/>
          <p:cNvSpPr txBox="1"/>
          <p:nvPr/>
        </p:nvSpPr>
        <p:spPr>
          <a:xfrm>
            <a:off x="793790" y="1275040"/>
            <a:ext cx="5301056"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Why Prototypes Matter</a:t>
            </a:r>
          </a:p>
        </p:txBody>
      </p:sp>
      <p:sp>
        <p:nvSpPr>
          <p:cNvPr id="255" name="Text 3"/>
          <p:cNvSpPr txBox="1"/>
          <p:nvPr/>
        </p:nvSpPr>
        <p:spPr>
          <a:xfrm>
            <a:off x="793789" y="2371368"/>
            <a:ext cx="6279358" cy="9355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A prototype is not a toy — it is a strategic tool. Before investing in a full production system, a prototype lets you prove the idea works, gather real feedback, and reduce the risk of building the wrong thing.</a:t>
            </a:r>
          </a:p>
        </p:txBody>
      </p:sp>
      <p:sp>
        <p:nvSpPr>
          <p:cNvPr id="256" name="Shape 4"/>
          <p:cNvSpPr/>
          <p:nvPr/>
        </p:nvSpPr>
        <p:spPr>
          <a:xfrm>
            <a:off x="793790" y="3547228"/>
            <a:ext cx="6279356" cy="1160741"/>
          </a:xfrm>
          <a:prstGeom prst="roundRect">
            <a:avLst>
              <a:gd name="adj" fmla="val 7182"/>
            </a:avLst>
          </a:prstGeom>
          <a:solidFill>
            <a:srgbClr val="B6D6FC"/>
          </a:solidFill>
          <a:ln w="12700">
            <a:miter lim="400000"/>
          </a:ln>
        </p:spPr>
        <p:txBody>
          <a:bodyPr lIns="45719" rIns="45719"/>
          <a:lstStyle/>
          <a:p>
            <a:pPr/>
          </a:p>
        </p:txBody>
      </p:sp>
      <p:pic>
        <p:nvPicPr>
          <p:cNvPr id="257" name="Image 0" descr="Image 0"/>
          <p:cNvPicPr>
            <a:picLocks noChangeAspect="1"/>
          </p:cNvPicPr>
          <p:nvPr/>
        </p:nvPicPr>
        <p:blipFill>
          <a:blip r:embed="rId3">
            <a:extLst/>
          </a:blip>
          <a:stretch>
            <a:fillRect/>
          </a:stretch>
        </p:blipFill>
        <p:spPr>
          <a:xfrm>
            <a:off x="992147" y="3842503"/>
            <a:ext cx="248008" cy="198359"/>
          </a:xfrm>
          <a:prstGeom prst="rect">
            <a:avLst/>
          </a:prstGeom>
          <a:ln w="12700">
            <a:miter lim="400000"/>
          </a:ln>
        </p:spPr>
      </p:pic>
      <p:sp>
        <p:nvSpPr>
          <p:cNvPr id="258" name="Text 5"/>
          <p:cNvSpPr txBox="1"/>
          <p:nvPr/>
        </p:nvSpPr>
        <p:spPr>
          <a:xfrm>
            <a:off x="1438512" y="3795117"/>
            <a:ext cx="5436277"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latin typeface="Roboto Regular Regular"/>
                <a:ea typeface="Roboto Regular Regular"/>
                <a:cs typeface="Roboto Regular Regular"/>
                <a:sym typeface="Roboto Regular Regular"/>
              </a:defRPr>
            </a:lvl1pPr>
          </a:lstStyle>
          <a:p>
            <a:pPr/>
            <a:r>
              <a:t>A validated prototype is the strongest argument for building the real product.</a:t>
            </a:r>
          </a:p>
        </p:txBody>
      </p:sp>
      <p:sp>
        <p:nvSpPr>
          <p:cNvPr id="259" name="Shape 6"/>
          <p:cNvSpPr/>
          <p:nvPr/>
        </p:nvSpPr>
        <p:spPr>
          <a:xfrm>
            <a:off x="7564873" y="2416016"/>
            <a:ext cx="446485" cy="446485"/>
          </a:xfrm>
          <a:prstGeom prst="roundRect">
            <a:avLst>
              <a:gd name="adj" fmla="val 18670"/>
            </a:avLst>
          </a:prstGeom>
          <a:solidFill>
            <a:srgbClr val="E1E1EA"/>
          </a:solidFill>
          <a:ln w="7620">
            <a:solidFill>
              <a:srgbClr val="C7C7D0"/>
            </a:solidFill>
          </a:ln>
        </p:spPr>
        <p:txBody>
          <a:bodyPr lIns="45719" rIns="45719"/>
          <a:lstStyle/>
          <a:p>
            <a:pPr/>
          </a:p>
        </p:txBody>
      </p:sp>
      <p:sp>
        <p:nvSpPr>
          <p:cNvPr id="260" name="Text 7"/>
          <p:cNvSpPr txBox="1"/>
          <p:nvPr/>
        </p:nvSpPr>
        <p:spPr>
          <a:xfrm>
            <a:off x="7719267" y="2488243"/>
            <a:ext cx="137698" cy="30203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2300"/>
              </a:lnSpc>
              <a:defRPr sz="2300">
                <a:solidFill>
                  <a:srgbClr val="3C3939"/>
                </a:solidFill>
                <a:latin typeface="Raleway Thin Regular"/>
                <a:ea typeface="Raleway Thin Regular"/>
                <a:cs typeface="Raleway Thin Regular"/>
                <a:sym typeface="Raleway Thin Regular"/>
              </a:defRPr>
            </a:lvl1pPr>
          </a:lstStyle>
          <a:p>
            <a:pPr/>
            <a:r>
              <a:t>1</a:t>
            </a:r>
          </a:p>
        </p:txBody>
      </p:sp>
      <p:sp>
        <p:nvSpPr>
          <p:cNvPr id="261" name="Text 8"/>
          <p:cNvSpPr txBox="1"/>
          <p:nvPr/>
        </p:nvSpPr>
        <p:spPr>
          <a:xfrm>
            <a:off x="8209716" y="2484239"/>
            <a:ext cx="2427562"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Validate ideas quickly</a:t>
            </a:r>
          </a:p>
        </p:txBody>
      </p:sp>
      <p:sp>
        <p:nvSpPr>
          <p:cNvPr id="262" name="Text 9"/>
          <p:cNvSpPr txBox="1"/>
          <p:nvPr/>
        </p:nvSpPr>
        <p:spPr>
          <a:xfrm>
            <a:off x="8209716" y="2992754"/>
            <a:ext cx="4723204" cy="3005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Test the core hypothesis before writing production code</a:t>
            </a:r>
          </a:p>
        </p:txBody>
      </p:sp>
      <p:sp>
        <p:nvSpPr>
          <p:cNvPr id="263" name="Shape 10"/>
          <p:cNvSpPr/>
          <p:nvPr/>
        </p:nvSpPr>
        <p:spPr>
          <a:xfrm>
            <a:off x="7564873" y="3707129"/>
            <a:ext cx="446485" cy="446485"/>
          </a:xfrm>
          <a:prstGeom prst="roundRect">
            <a:avLst>
              <a:gd name="adj" fmla="val 18670"/>
            </a:avLst>
          </a:prstGeom>
          <a:solidFill>
            <a:srgbClr val="E1E1EA"/>
          </a:solidFill>
          <a:ln w="7620">
            <a:solidFill>
              <a:srgbClr val="C7C7D0"/>
            </a:solidFill>
          </a:ln>
        </p:spPr>
        <p:txBody>
          <a:bodyPr lIns="45719" rIns="45719"/>
          <a:lstStyle/>
          <a:p>
            <a:pPr/>
          </a:p>
        </p:txBody>
      </p:sp>
      <p:sp>
        <p:nvSpPr>
          <p:cNvPr id="264" name="Text 11"/>
          <p:cNvSpPr txBox="1"/>
          <p:nvPr/>
        </p:nvSpPr>
        <p:spPr>
          <a:xfrm>
            <a:off x="7705735" y="3779357"/>
            <a:ext cx="164762" cy="30203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2300"/>
              </a:lnSpc>
              <a:defRPr sz="2300">
                <a:solidFill>
                  <a:srgbClr val="3C3939"/>
                </a:solidFill>
                <a:latin typeface="Raleway Thin Regular"/>
                <a:ea typeface="Raleway Thin Regular"/>
                <a:cs typeface="Raleway Thin Regular"/>
                <a:sym typeface="Raleway Thin Regular"/>
              </a:defRPr>
            </a:lvl1pPr>
          </a:lstStyle>
          <a:p>
            <a:pPr/>
            <a:r>
              <a:t>2</a:t>
            </a:r>
          </a:p>
        </p:txBody>
      </p:sp>
      <p:sp>
        <p:nvSpPr>
          <p:cNvPr id="265" name="Text 12"/>
          <p:cNvSpPr txBox="1"/>
          <p:nvPr/>
        </p:nvSpPr>
        <p:spPr>
          <a:xfrm>
            <a:off x="8209716" y="3775352"/>
            <a:ext cx="1656902"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Test if AI works</a:t>
            </a:r>
          </a:p>
        </p:txBody>
      </p:sp>
      <p:sp>
        <p:nvSpPr>
          <p:cNvPr id="266" name="Text 13"/>
          <p:cNvSpPr txBox="1"/>
          <p:nvPr/>
        </p:nvSpPr>
        <p:spPr>
          <a:xfrm>
            <a:off x="8209716" y="4283869"/>
            <a:ext cx="3991528" cy="3005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Confirm the model performs well on real inputs</a:t>
            </a:r>
          </a:p>
        </p:txBody>
      </p:sp>
      <p:sp>
        <p:nvSpPr>
          <p:cNvPr id="267" name="Shape 14"/>
          <p:cNvSpPr/>
          <p:nvPr/>
        </p:nvSpPr>
        <p:spPr>
          <a:xfrm>
            <a:off x="7564873" y="4998244"/>
            <a:ext cx="446485" cy="446485"/>
          </a:xfrm>
          <a:prstGeom prst="roundRect">
            <a:avLst>
              <a:gd name="adj" fmla="val 18670"/>
            </a:avLst>
          </a:prstGeom>
          <a:solidFill>
            <a:srgbClr val="E1E1EA"/>
          </a:solidFill>
          <a:ln w="7620">
            <a:solidFill>
              <a:srgbClr val="C7C7D0"/>
            </a:solidFill>
          </a:ln>
        </p:spPr>
        <p:txBody>
          <a:bodyPr lIns="45719" rIns="45719"/>
          <a:lstStyle/>
          <a:p>
            <a:pPr/>
          </a:p>
        </p:txBody>
      </p:sp>
      <p:sp>
        <p:nvSpPr>
          <p:cNvPr id="268" name="Text 15"/>
          <p:cNvSpPr txBox="1"/>
          <p:nvPr/>
        </p:nvSpPr>
        <p:spPr>
          <a:xfrm>
            <a:off x="7703715" y="5070471"/>
            <a:ext cx="168802" cy="30203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2300"/>
              </a:lnSpc>
              <a:defRPr sz="2300">
                <a:solidFill>
                  <a:srgbClr val="3C3939"/>
                </a:solidFill>
                <a:latin typeface="Raleway Thin Regular"/>
                <a:ea typeface="Raleway Thin Regular"/>
                <a:cs typeface="Raleway Thin Regular"/>
                <a:sym typeface="Raleway Thin Regular"/>
              </a:defRPr>
            </a:lvl1pPr>
          </a:lstStyle>
          <a:p>
            <a:pPr/>
            <a:r>
              <a:t>3</a:t>
            </a:r>
          </a:p>
        </p:txBody>
      </p:sp>
      <p:sp>
        <p:nvSpPr>
          <p:cNvPr id="269" name="Text 16"/>
          <p:cNvSpPr txBox="1"/>
          <p:nvPr/>
        </p:nvSpPr>
        <p:spPr>
          <a:xfrm>
            <a:off x="8209716" y="5066467"/>
            <a:ext cx="2892006"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Get stakeholder feedback</a:t>
            </a:r>
          </a:p>
        </p:txBody>
      </p:sp>
      <p:sp>
        <p:nvSpPr>
          <p:cNvPr id="270" name="Text 17"/>
          <p:cNvSpPr txBox="1"/>
          <p:nvPr/>
        </p:nvSpPr>
        <p:spPr>
          <a:xfrm>
            <a:off x="8209716" y="5574982"/>
            <a:ext cx="4267976" cy="3005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Show something tangible to decision-makers early</a:t>
            </a:r>
          </a:p>
        </p:txBody>
      </p:sp>
      <p:sp>
        <p:nvSpPr>
          <p:cNvPr id="271" name="Shape 18"/>
          <p:cNvSpPr/>
          <p:nvPr/>
        </p:nvSpPr>
        <p:spPr>
          <a:xfrm>
            <a:off x="7564873" y="6289357"/>
            <a:ext cx="446485" cy="446485"/>
          </a:xfrm>
          <a:prstGeom prst="roundRect">
            <a:avLst>
              <a:gd name="adj" fmla="val 18670"/>
            </a:avLst>
          </a:prstGeom>
          <a:solidFill>
            <a:srgbClr val="E1E1EA"/>
          </a:solidFill>
          <a:ln w="7620">
            <a:solidFill>
              <a:srgbClr val="C7C7D0"/>
            </a:solidFill>
          </a:ln>
        </p:spPr>
        <p:txBody>
          <a:bodyPr lIns="45719" rIns="45719"/>
          <a:lstStyle/>
          <a:p>
            <a:pPr/>
          </a:p>
        </p:txBody>
      </p:sp>
      <p:sp>
        <p:nvSpPr>
          <p:cNvPr id="272" name="Text 19"/>
          <p:cNvSpPr txBox="1"/>
          <p:nvPr/>
        </p:nvSpPr>
        <p:spPr>
          <a:xfrm>
            <a:off x="7701989" y="6361585"/>
            <a:ext cx="172254" cy="30203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2300"/>
              </a:lnSpc>
              <a:defRPr sz="2300">
                <a:solidFill>
                  <a:srgbClr val="3C3939"/>
                </a:solidFill>
                <a:latin typeface="Raleway Thin Regular"/>
                <a:ea typeface="Raleway Thin Regular"/>
                <a:cs typeface="Raleway Thin Regular"/>
                <a:sym typeface="Raleway Thin Regular"/>
              </a:defRPr>
            </a:lvl1pPr>
          </a:lstStyle>
          <a:p>
            <a:pPr/>
            <a:r>
              <a:t>4</a:t>
            </a:r>
          </a:p>
        </p:txBody>
      </p:sp>
      <p:sp>
        <p:nvSpPr>
          <p:cNvPr id="273" name="Text 20"/>
          <p:cNvSpPr txBox="1"/>
          <p:nvPr/>
        </p:nvSpPr>
        <p:spPr>
          <a:xfrm>
            <a:off x="8209716" y="6357580"/>
            <a:ext cx="2874637"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Reduce development risk</a:t>
            </a:r>
          </a:p>
        </p:txBody>
      </p:sp>
      <p:sp>
        <p:nvSpPr>
          <p:cNvPr id="274" name="Text 21"/>
          <p:cNvSpPr txBox="1"/>
          <p:nvPr/>
        </p:nvSpPr>
        <p:spPr>
          <a:xfrm>
            <a:off x="8209716" y="6866095"/>
            <a:ext cx="3738613" cy="3005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Catch edge cases before they hit production</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Shape 0"/>
          <p:cNvSpPr/>
          <p:nvPr/>
        </p:nvSpPr>
        <p:spPr>
          <a:xfrm>
            <a:off x="793790" y="1553407"/>
            <a:ext cx="1694975" cy="373143"/>
          </a:xfrm>
          <a:prstGeom prst="roundRect">
            <a:avLst>
              <a:gd name="adj" fmla="val 17872"/>
            </a:avLst>
          </a:prstGeom>
          <a:solidFill>
            <a:srgbClr val="E1E1EA"/>
          </a:solidFill>
          <a:ln w="12700">
            <a:miter lim="400000"/>
          </a:ln>
        </p:spPr>
        <p:txBody>
          <a:bodyPr lIns="45719" rIns="45719"/>
          <a:lstStyle/>
          <a:p>
            <a:pPr/>
          </a:p>
        </p:txBody>
      </p:sp>
      <p:sp>
        <p:nvSpPr>
          <p:cNvPr id="279" name="Text 1"/>
          <p:cNvSpPr txBox="1"/>
          <p:nvPr/>
        </p:nvSpPr>
        <p:spPr>
          <a:xfrm>
            <a:off x="912852" y="1612940"/>
            <a:ext cx="1411536"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3C3939"/>
                </a:solidFill>
                <a:latin typeface="Roboto Regular Regular"/>
                <a:ea typeface="Roboto Regular Regular"/>
                <a:cs typeface="Roboto Regular Regular"/>
                <a:sym typeface="Roboto Regular Regular"/>
              </a:defRPr>
            </a:lvl1pPr>
          </a:lstStyle>
          <a:p>
            <a:pPr/>
            <a:r>
              <a:t>03 · REALITY CHECK</a:t>
            </a:r>
          </a:p>
        </p:txBody>
      </p:sp>
      <p:sp>
        <p:nvSpPr>
          <p:cNvPr id="280" name="Text 2"/>
          <p:cNvSpPr txBox="1"/>
          <p:nvPr/>
        </p:nvSpPr>
        <p:spPr>
          <a:xfrm>
            <a:off x="793789" y="2005845"/>
            <a:ext cx="6544560"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Feedback We Might Receive</a:t>
            </a:r>
          </a:p>
        </p:txBody>
      </p:sp>
      <p:sp>
        <p:nvSpPr>
          <p:cNvPr id="281" name="Text 3"/>
          <p:cNvSpPr txBox="1"/>
          <p:nvPr/>
        </p:nvSpPr>
        <p:spPr>
          <a:xfrm>
            <a:off x="793790" y="2923580"/>
            <a:ext cx="13042821"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Real-world emails don't behave like test inputs. After sharing a prototype with stakeholders, these are the kinds of challenges that surface — and why they must be handled before any system goes live.</a:t>
            </a:r>
          </a:p>
        </p:txBody>
      </p:sp>
      <p:sp>
        <p:nvSpPr>
          <p:cNvPr id="282" name="Shape 4"/>
          <p:cNvSpPr/>
          <p:nvPr/>
        </p:nvSpPr>
        <p:spPr>
          <a:xfrm>
            <a:off x="793790" y="3781900"/>
            <a:ext cx="6422231" cy="1506737"/>
          </a:xfrm>
          <a:prstGeom prst="roundRect">
            <a:avLst>
              <a:gd name="adj" fmla="val 7282"/>
            </a:avLst>
          </a:prstGeom>
          <a:solidFill>
            <a:srgbClr val="FFFFFF">
              <a:alpha val="95000"/>
            </a:srgbClr>
          </a:solidFill>
          <a:ln w="22860">
            <a:solidFill>
              <a:srgbClr val="C7C7D0"/>
            </a:solidFill>
          </a:ln>
        </p:spPr>
        <p:txBody>
          <a:bodyPr lIns="45719" rIns="45719"/>
          <a:lstStyle/>
          <a:p>
            <a:pPr/>
          </a:p>
        </p:txBody>
      </p:sp>
      <p:sp>
        <p:nvSpPr>
          <p:cNvPr id="283" name="Shape 5"/>
          <p:cNvSpPr/>
          <p:nvPr/>
        </p:nvSpPr>
        <p:spPr>
          <a:xfrm>
            <a:off x="770929" y="3781900"/>
            <a:ext cx="91441" cy="1506737"/>
          </a:xfrm>
          <a:prstGeom prst="roundRect">
            <a:avLst>
              <a:gd name="adj" fmla="val 50000"/>
            </a:avLst>
          </a:prstGeom>
          <a:solidFill>
            <a:srgbClr val="1B1B27"/>
          </a:solidFill>
          <a:ln w="12700">
            <a:miter lim="400000"/>
          </a:ln>
        </p:spPr>
        <p:txBody>
          <a:bodyPr lIns="45719" rIns="45719"/>
          <a:lstStyle/>
          <a:p>
            <a:pPr/>
          </a:p>
        </p:txBody>
      </p:sp>
      <p:sp>
        <p:nvSpPr>
          <p:cNvPr id="284" name="Text 6"/>
          <p:cNvSpPr txBox="1"/>
          <p:nvPr/>
        </p:nvSpPr>
        <p:spPr>
          <a:xfrm>
            <a:off x="1083587" y="4003118"/>
            <a:ext cx="3087926"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Multiple issues in one email</a:t>
            </a:r>
          </a:p>
        </p:txBody>
      </p:sp>
      <p:sp>
        <p:nvSpPr>
          <p:cNvPr id="285" name="Text 7"/>
          <p:cNvSpPr txBox="1"/>
          <p:nvPr/>
        </p:nvSpPr>
        <p:spPr>
          <a:xfrm>
            <a:off x="1083587" y="4432339"/>
            <a:ext cx="5911217"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500"/>
              </a:lnSpc>
              <a:defRPr sz="1500">
                <a:solidFill>
                  <a:srgbClr val="3C3939"/>
                </a:solidFill>
                <a:latin typeface="Roboto Regular Regular"/>
                <a:ea typeface="Roboto Regular Regular"/>
                <a:cs typeface="Roboto Regular Regular"/>
                <a:sym typeface="Roboto Regular Regular"/>
              </a:defRPr>
            </a:pPr>
            <a:r>
              <a:t>A customer asks about a refund </a:t>
            </a:r>
            <a:r>
              <a:rPr i="1"/>
              <a:t>and</a:t>
            </a:r>
            <a:r>
              <a:t> a technical error in the same message</a:t>
            </a:r>
          </a:p>
        </p:txBody>
      </p:sp>
      <p:sp>
        <p:nvSpPr>
          <p:cNvPr id="286" name="Shape 8"/>
          <p:cNvSpPr/>
          <p:nvPr/>
        </p:nvSpPr>
        <p:spPr>
          <a:xfrm>
            <a:off x="7414379" y="3781900"/>
            <a:ext cx="6422232" cy="1506737"/>
          </a:xfrm>
          <a:prstGeom prst="roundRect">
            <a:avLst>
              <a:gd name="adj" fmla="val 7282"/>
            </a:avLst>
          </a:prstGeom>
          <a:solidFill>
            <a:srgbClr val="FFFFFF">
              <a:alpha val="95000"/>
            </a:srgbClr>
          </a:solidFill>
          <a:ln w="22860">
            <a:solidFill>
              <a:srgbClr val="C7C7D0"/>
            </a:solidFill>
          </a:ln>
        </p:spPr>
        <p:txBody>
          <a:bodyPr lIns="45719" rIns="45719"/>
          <a:lstStyle/>
          <a:p>
            <a:pPr/>
          </a:p>
        </p:txBody>
      </p:sp>
      <p:sp>
        <p:nvSpPr>
          <p:cNvPr id="287" name="Shape 9"/>
          <p:cNvSpPr/>
          <p:nvPr/>
        </p:nvSpPr>
        <p:spPr>
          <a:xfrm>
            <a:off x="7391519" y="3781900"/>
            <a:ext cx="91441" cy="1506737"/>
          </a:xfrm>
          <a:prstGeom prst="roundRect">
            <a:avLst>
              <a:gd name="adj" fmla="val 50000"/>
            </a:avLst>
          </a:prstGeom>
          <a:solidFill>
            <a:srgbClr val="1B1B27"/>
          </a:solidFill>
          <a:ln w="12700">
            <a:miter lim="400000"/>
          </a:ln>
        </p:spPr>
        <p:txBody>
          <a:bodyPr lIns="45719" rIns="45719"/>
          <a:lstStyle/>
          <a:p>
            <a:pPr/>
          </a:p>
        </p:txBody>
      </p:sp>
      <p:sp>
        <p:nvSpPr>
          <p:cNvPr id="288" name="Text 10"/>
          <p:cNvSpPr txBox="1"/>
          <p:nvPr/>
        </p:nvSpPr>
        <p:spPr>
          <a:xfrm>
            <a:off x="7704177" y="4003118"/>
            <a:ext cx="3117199"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Vague or ambiguous emails</a:t>
            </a:r>
          </a:p>
        </p:txBody>
      </p:sp>
      <p:sp>
        <p:nvSpPr>
          <p:cNvPr id="289" name="Text 11"/>
          <p:cNvSpPr txBox="1"/>
          <p:nvPr/>
        </p:nvSpPr>
        <p:spPr>
          <a:xfrm>
            <a:off x="7704176" y="4432339"/>
            <a:ext cx="5911217" cy="300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"I have a problem with my account" — which team should handle this?</a:t>
            </a:r>
          </a:p>
        </p:txBody>
      </p:sp>
      <p:sp>
        <p:nvSpPr>
          <p:cNvPr id="290" name="Shape 12"/>
          <p:cNvSpPr/>
          <p:nvPr/>
        </p:nvSpPr>
        <p:spPr>
          <a:xfrm>
            <a:off x="793790" y="5486994"/>
            <a:ext cx="6422231" cy="1189197"/>
          </a:xfrm>
          <a:prstGeom prst="roundRect">
            <a:avLst>
              <a:gd name="adj" fmla="val 9227"/>
            </a:avLst>
          </a:prstGeom>
          <a:solidFill>
            <a:srgbClr val="FFFFFF">
              <a:alpha val="95000"/>
            </a:srgbClr>
          </a:solidFill>
          <a:ln w="22860">
            <a:solidFill>
              <a:srgbClr val="C7C7D0"/>
            </a:solidFill>
          </a:ln>
        </p:spPr>
        <p:txBody>
          <a:bodyPr lIns="45719" rIns="45719"/>
          <a:lstStyle/>
          <a:p>
            <a:pPr/>
          </a:p>
        </p:txBody>
      </p:sp>
      <p:sp>
        <p:nvSpPr>
          <p:cNvPr id="291" name="Shape 13"/>
          <p:cNvSpPr/>
          <p:nvPr/>
        </p:nvSpPr>
        <p:spPr>
          <a:xfrm>
            <a:off x="770929" y="5486994"/>
            <a:ext cx="91441" cy="1189197"/>
          </a:xfrm>
          <a:prstGeom prst="roundRect">
            <a:avLst>
              <a:gd name="adj" fmla="val 50000"/>
            </a:avLst>
          </a:prstGeom>
          <a:solidFill>
            <a:srgbClr val="1B1B27"/>
          </a:solidFill>
          <a:ln w="12700">
            <a:miter lim="400000"/>
          </a:ln>
        </p:spPr>
        <p:txBody>
          <a:bodyPr lIns="45719" rIns="45719"/>
          <a:lstStyle/>
          <a:p>
            <a:pPr/>
          </a:p>
        </p:txBody>
      </p:sp>
      <p:sp>
        <p:nvSpPr>
          <p:cNvPr id="292" name="Text 14"/>
          <p:cNvSpPr txBox="1"/>
          <p:nvPr/>
        </p:nvSpPr>
        <p:spPr>
          <a:xfrm>
            <a:off x="1083588" y="5708212"/>
            <a:ext cx="2475113"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Attachments included</a:t>
            </a:r>
          </a:p>
        </p:txBody>
      </p:sp>
      <p:sp>
        <p:nvSpPr>
          <p:cNvPr id="293" name="Text 15"/>
          <p:cNvSpPr txBox="1"/>
          <p:nvPr/>
        </p:nvSpPr>
        <p:spPr>
          <a:xfrm>
            <a:off x="1083587" y="6137433"/>
            <a:ext cx="4619583" cy="3005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Key context lives in a PDF or image, not the email body</a:t>
            </a:r>
          </a:p>
        </p:txBody>
      </p:sp>
      <p:sp>
        <p:nvSpPr>
          <p:cNvPr id="294" name="Shape 16"/>
          <p:cNvSpPr/>
          <p:nvPr/>
        </p:nvSpPr>
        <p:spPr>
          <a:xfrm>
            <a:off x="7414379" y="5486994"/>
            <a:ext cx="6422232" cy="1189197"/>
          </a:xfrm>
          <a:prstGeom prst="roundRect">
            <a:avLst>
              <a:gd name="adj" fmla="val 9227"/>
            </a:avLst>
          </a:prstGeom>
          <a:solidFill>
            <a:srgbClr val="FFFFFF">
              <a:alpha val="95000"/>
            </a:srgbClr>
          </a:solidFill>
          <a:ln w="22860">
            <a:solidFill>
              <a:srgbClr val="C7C7D0"/>
            </a:solidFill>
          </a:ln>
        </p:spPr>
        <p:txBody>
          <a:bodyPr lIns="45719" rIns="45719"/>
          <a:lstStyle/>
          <a:p>
            <a:pPr/>
          </a:p>
        </p:txBody>
      </p:sp>
      <p:sp>
        <p:nvSpPr>
          <p:cNvPr id="295" name="Shape 17"/>
          <p:cNvSpPr/>
          <p:nvPr/>
        </p:nvSpPr>
        <p:spPr>
          <a:xfrm>
            <a:off x="7391519" y="5486994"/>
            <a:ext cx="91441" cy="1189197"/>
          </a:xfrm>
          <a:prstGeom prst="roundRect">
            <a:avLst>
              <a:gd name="adj" fmla="val 50000"/>
            </a:avLst>
          </a:prstGeom>
          <a:solidFill>
            <a:srgbClr val="1B1B27"/>
          </a:solidFill>
          <a:ln w="12700">
            <a:miter lim="400000"/>
          </a:ln>
        </p:spPr>
        <p:txBody>
          <a:bodyPr lIns="45719" rIns="45719"/>
          <a:lstStyle/>
          <a:p>
            <a:pPr/>
          </a:p>
        </p:txBody>
      </p:sp>
      <p:sp>
        <p:nvSpPr>
          <p:cNvPr id="296" name="Text 18"/>
          <p:cNvSpPr txBox="1"/>
          <p:nvPr/>
        </p:nvSpPr>
        <p:spPr>
          <a:xfrm>
            <a:off x="7704176" y="5708212"/>
            <a:ext cx="3094569"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Low confidence predictions</a:t>
            </a:r>
          </a:p>
        </p:txBody>
      </p:sp>
      <p:sp>
        <p:nvSpPr>
          <p:cNvPr id="297" name="Text 19"/>
          <p:cNvSpPr txBox="1"/>
          <p:nvPr/>
        </p:nvSpPr>
        <p:spPr>
          <a:xfrm>
            <a:off x="7704176" y="6137433"/>
            <a:ext cx="4307881" cy="3005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The model isn't sure — should it guess or escalate?</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Shape 0"/>
          <p:cNvSpPr/>
          <p:nvPr/>
        </p:nvSpPr>
        <p:spPr>
          <a:xfrm>
            <a:off x="0" y="0"/>
            <a:ext cx="5486400" cy="8229600"/>
          </a:xfrm>
          <a:prstGeom prst="rect">
            <a:avLst/>
          </a:prstGeom>
          <a:solidFill>
            <a:srgbClr val="E1E1EA"/>
          </a:solidFill>
          <a:ln w="12700">
            <a:miter lim="400000"/>
          </a:ln>
        </p:spPr>
        <p:txBody>
          <a:bodyPr lIns="45719" rIns="45719"/>
          <a:lstStyle/>
          <a:p>
            <a:pPr/>
          </a:p>
        </p:txBody>
      </p:sp>
      <p:pic>
        <p:nvPicPr>
          <p:cNvPr id="302" name="Image 0" descr="Image 0"/>
          <p:cNvPicPr>
            <a:picLocks noChangeAspect="1"/>
          </p:cNvPicPr>
          <p:nvPr/>
        </p:nvPicPr>
        <p:blipFill>
          <a:blip r:embed="rId3">
            <a:extLst/>
          </a:blip>
          <a:stretch>
            <a:fillRect/>
          </a:stretch>
        </p:blipFill>
        <p:spPr>
          <a:xfrm>
            <a:off x="94178" y="141207"/>
            <a:ext cx="5298043" cy="7947067"/>
          </a:xfrm>
          <a:prstGeom prst="rect">
            <a:avLst/>
          </a:prstGeom>
          <a:ln w="12700">
            <a:miter lim="400000"/>
          </a:ln>
        </p:spPr>
      </p:pic>
      <p:sp>
        <p:nvSpPr>
          <p:cNvPr id="303" name="Shape 1"/>
          <p:cNvSpPr/>
          <p:nvPr/>
        </p:nvSpPr>
        <p:spPr>
          <a:xfrm>
            <a:off x="6280189" y="620196"/>
            <a:ext cx="827843" cy="348378"/>
          </a:xfrm>
          <a:prstGeom prst="roundRect">
            <a:avLst>
              <a:gd name="adj" fmla="val 18185"/>
            </a:avLst>
          </a:prstGeom>
          <a:solidFill>
            <a:srgbClr val="E1E1EA"/>
          </a:solidFill>
          <a:ln w="12700">
            <a:miter lim="400000"/>
          </a:ln>
        </p:spPr>
        <p:txBody>
          <a:bodyPr lIns="45719" rIns="45719"/>
          <a:lstStyle/>
          <a:p>
            <a:pPr/>
          </a:p>
        </p:txBody>
      </p:sp>
      <p:sp>
        <p:nvSpPr>
          <p:cNvPr id="304" name="Text 2"/>
          <p:cNvSpPr txBox="1"/>
          <p:nvPr/>
        </p:nvSpPr>
        <p:spPr>
          <a:xfrm>
            <a:off x="6393298" y="676750"/>
            <a:ext cx="570205" cy="2169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800"/>
              </a:lnSpc>
              <a:defRPr sz="1100">
                <a:solidFill>
                  <a:srgbClr val="3C3939"/>
                </a:solidFill>
                <a:latin typeface="Roboto Regular Regular"/>
                <a:ea typeface="Roboto Regular Regular"/>
                <a:cs typeface="Roboto Regular Regular"/>
                <a:sym typeface="Roboto Regular Regular"/>
              </a:defRPr>
            </a:lvl1pPr>
          </a:lstStyle>
          <a:p>
            <a:pPr/>
            <a:r>
              <a:t>04 · RISK</a:t>
            </a:r>
          </a:p>
        </p:txBody>
      </p:sp>
      <p:sp>
        <p:nvSpPr>
          <p:cNvPr id="305" name="Text 3"/>
          <p:cNvSpPr txBox="1"/>
          <p:nvPr/>
        </p:nvSpPr>
        <p:spPr>
          <a:xfrm>
            <a:off x="6280189" y="1040130"/>
            <a:ext cx="5894197" cy="57731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600"/>
              </a:lnSpc>
              <a:defRPr sz="3700">
                <a:solidFill>
                  <a:srgbClr val="1B1B27"/>
                </a:solidFill>
                <a:latin typeface="Raleway Thin Regular"/>
                <a:ea typeface="Raleway Thin Regular"/>
                <a:cs typeface="Raleway Thin Regular"/>
                <a:sym typeface="Raleway Thin Regular"/>
              </a:defRPr>
            </a:lvl1pPr>
          </a:lstStyle>
          <a:p>
            <a:pPr/>
            <a:r>
              <a:t>Why Scaling Too Early Fails</a:t>
            </a:r>
          </a:p>
        </p:txBody>
      </p:sp>
      <p:sp>
        <p:nvSpPr>
          <p:cNvPr id="306" name="Text 4"/>
          <p:cNvSpPr txBox="1"/>
          <p:nvPr/>
        </p:nvSpPr>
        <p:spPr>
          <a:xfrm>
            <a:off x="6280189" y="1897856"/>
            <a:ext cx="7556422" cy="5691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300"/>
              </a:lnSpc>
              <a:defRPr sz="1400">
                <a:solidFill>
                  <a:srgbClr val="3C3939"/>
                </a:solidFill>
                <a:latin typeface="Roboto Regular Regular"/>
                <a:ea typeface="Roboto Regular Regular"/>
                <a:cs typeface="Roboto Regular Regular"/>
                <a:sym typeface="Roboto Regular Regular"/>
              </a:defRPr>
            </a:lvl1pPr>
          </a:lstStyle>
          <a:p>
            <a:pPr/>
            <a:r>
              <a:t>Moving a prototype into production before it's ready doesn't save time — it creates compounding problems that erode customer trust and operational stability.</a:t>
            </a:r>
          </a:p>
        </p:txBody>
      </p:sp>
      <p:sp>
        <p:nvSpPr>
          <p:cNvPr id="307" name="Shape 5"/>
          <p:cNvSpPr/>
          <p:nvPr/>
        </p:nvSpPr>
        <p:spPr>
          <a:xfrm>
            <a:off x="6280189" y="2687716"/>
            <a:ext cx="7556422" cy="1096090"/>
          </a:xfrm>
          <a:prstGeom prst="roundRect">
            <a:avLst>
              <a:gd name="adj" fmla="val 7225"/>
            </a:avLst>
          </a:prstGeom>
          <a:solidFill>
            <a:srgbClr val="E1E1EA"/>
          </a:solidFill>
          <a:ln w="7620">
            <a:solidFill>
              <a:srgbClr val="C7C7D0"/>
            </a:solidFill>
          </a:ln>
        </p:spPr>
        <p:txBody>
          <a:bodyPr lIns="45719" rIns="45719"/>
          <a:lstStyle/>
          <a:p>
            <a:pPr/>
          </a:p>
        </p:txBody>
      </p:sp>
      <p:sp>
        <p:nvSpPr>
          <p:cNvPr id="308" name="Text 6"/>
          <p:cNvSpPr txBox="1"/>
          <p:nvPr/>
        </p:nvSpPr>
        <p:spPr>
          <a:xfrm>
            <a:off x="6476286" y="2883812"/>
            <a:ext cx="1866816" cy="31702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300"/>
              </a:lnSpc>
              <a:defRPr>
                <a:latin typeface="Raleway Thin Regular"/>
                <a:ea typeface="Raleway Thin Regular"/>
                <a:cs typeface="Raleway Thin Regular"/>
                <a:sym typeface="Raleway Thin Regular"/>
              </a:defRPr>
            </a:pPr>
            <a:r>
              <a:t>❌</a:t>
            </a:r>
            <a:r>
              <a:rPr>
                <a:solidFill>
                  <a:srgbClr val="3C3939"/>
                </a:solidFill>
              </a:rPr>
              <a:t> Wrong routing</a:t>
            </a:r>
          </a:p>
        </p:txBody>
      </p:sp>
      <p:sp>
        <p:nvSpPr>
          <p:cNvPr id="309" name="Text 7"/>
          <p:cNvSpPr txBox="1"/>
          <p:nvPr/>
        </p:nvSpPr>
        <p:spPr>
          <a:xfrm>
            <a:off x="6476285" y="3293507"/>
            <a:ext cx="3564361" cy="27708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300"/>
              </a:lnSpc>
              <a:defRPr sz="1400">
                <a:solidFill>
                  <a:srgbClr val="3C3939"/>
                </a:solidFill>
                <a:latin typeface="Roboto Regular Regular"/>
                <a:ea typeface="Roboto Regular Regular"/>
                <a:cs typeface="Roboto Regular Regular"/>
                <a:sym typeface="Roboto Regular Regular"/>
              </a:defRPr>
            </a:lvl1pPr>
          </a:lstStyle>
          <a:p>
            <a:pPr/>
            <a:r>
              <a:t>Emails land in the wrong inbox — no one acts</a:t>
            </a:r>
          </a:p>
        </p:txBody>
      </p:sp>
      <p:sp>
        <p:nvSpPr>
          <p:cNvPr id="310" name="Shape 8"/>
          <p:cNvSpPr/>
          <p:nvPr/>
        </p:nvSpPr>
        <p:spPr>
          <a:xfrm>
            <a:off x="6280189" y="3962875"/>
            <a:ext cx="7556422" cy="1096090"/>
          </a:xfrm>
          <a:prstGeom prst="roundRect">
            <a:avLst>
              <a:gd name="adj" fmla="val 7225"/>
            </a:avLst>
          </a:prstGeom>
          <a:solidFill>
            <a:srgbClr val="E1E1EA"/>
          </a:solidFill>
          <a:ln w="7620">
            <a:solidFill>
              <a:srgbClr val="C7C7D0"/>
            </a:solidFill>
          </a:ln>
        </p:spPr>
        <p:txBody>
          <a:bodyPr lIns="45719" rIns="45719"/>
          <a:lstStyle/>
          <a:p>
            <a:pPr/>
          </a:p>
        </p:txBody>
      </p:sp>
      <p:sp>
        <p:nvSpPr>
          <p:cNvPr id="311" name="Text 9"/>
          <p:cNvSpPr txBox="1"/>
          <p:nvPr/>
        </p:nvSpPr>
        <p:spPr>
          <a:xfrm>
            <a:off x="6476286" y="4158972"/>
            <a:ext cx="2071644" cy="31702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300"/>
              </a:lnSpc>
              <a:defRPr>
                <a:latin typeface="Raleway Thin Regular"/>
                <a:ea typeface="Raleway Thin Regular"/>
                <a:cs typeface="Raleway Thin Regular"/>
                <a:sym typeface="Raleway Thin Regular"/>
              </a:defRPr>
            </a:pPr>
            <a:r>
              <a:t>😤</a:t>
            </a:r>
            <a:r>
              <a:rPr>
                <a:solidFill>
                  <a:srgbClr val="3C3939"/>
                </a:solidFill>
              </a:rPr>
              <a:t> Poor experience</a:t>
            </a:r>
          </a:p>
        </p:txBody>
      </p:sp>
      <p:sp>
        <p:nvSpPr>
          <p:cNvPr id="312" name="Text 10"/>
          <p:cNvSpPr txBox="1"/>
          <p:nvPr/>
        </p:nvSpPr>
        <p:spPr>
          <a:xfrm>
            <a:off x="6476285" y="4568666"/>
            <a:ext cx="4085606" cy="27708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300"/>
              </a:lnSpc>
              <a:defRPr sz="1400">
                <a:solidFill>
                  <a:srgbClr val="3C3939"/>
                </a:solidFill>
                <a:latin typeface="Roboto Regular Regular"/>
                <a:ea typeface="Roboto Regular Regular"/>
                <a:cs typeface="Roboto Regular Regular"/>
                <a:sym typeface="Roboto Regular Regular"/>
              </a:defRPr>
            </a:lvl1pPr>
          </a:lstStyle>
          <a:p>
            <a:pPr/>
            <a:r>
              <a:t>Customers wait longer and receive irrelevant replies</a:t>
            </a:r>
          </a:p>
        </p:txBody>
      </p:sp>
      <p:sp>
        <p:nvSpPr>
          <p:cNvPr id="313" name="Shape 11"/>
          <p:cNvSpPr/>
          <p:nvPr/>
        </p:nvSpPr>
        <p:spPr>
          <a:xfrm>
            <a:off x="6280189" y="5238036"/>
            <a:ext cx="7556422" cy="1096090"/>
          </a:xfrm>
          <a:prstGeom prst="roundRect">
            <a:avLst>
              <a:gd name="adj" fmla="val 7225"/>
            </a:avLst>
          </a:prstGeom>
          <a:solidFill>
            <a:srgbClr val="E1E1EA"/>
          </a:solidFill>
          <a:ln w="7620">
            <a:solidFill>
              <a:srgbClr val="C7C7D0"/>
            </a:solidFill>
          </a:ln>
        </p:spPr>
        <p:txBody>
          <a:bodyPr lIns="45719" rIns="45719"/>
          <a:lstStyle/>
          <a:p>
            <a:pPr/>
          </a:p>
        </p:txBody>
      </p:sp>
      <p:sp>
        <p:nvSpPr>
          <p:cNvPr id="314" name="Text 12"/>
          <p:cNvSpPr txBox="1"/>
          <p:nvPr/>
        </p:nvSpPr>
        <p:spPr>
          <a:xfrm>
            <a:off x="6476286" y="5434131"/>
            <a:ext cx="2564857" cy="31702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300"/>
              </a:lnSpc>
              <a:defRPr>
                <a:latin typeface="Raleway Thin Regular"/>
                <a:ea typeface="Raleway Thin Regular"/>
                <a:cs typeface="Raleway Thin Regular"/>
                <a:sym typeface="Raleway Thin Regular"/>
              </a:defRPr>
            </a:pPr>
            <a:r>
              <a:t>⚙️</a:t>
            </a:r>
            <a:r>
              <a:rPr>
                <a:solidFill>
                  <a:srgbClr val="3C3939"/>
                </a:solidFill>
              </a:rPr>
              <a:t> Operational mistakes</a:t>
            </a:r>
          </a:p>
        </p:txBody>
      </p:sp>
      <p:sp>
        <p:nvSpPr>
          <p:cNvPr id="315" name="Text 13"/>
          <p:cNvSpPr txBox="1"/>
          <p:nvPr/>
        </p:nvSpPr>
        <p:spPr>
          <a:xfrm>
            <a:off x="6476285" y="5843825"/>
            <a:ext cx="3731048" cy="27709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300"/>
              </a:lnSpc>
              <a:defRPr sz="1400">
                <a:solidFill>
                  <a:srgbClr val="3C3939"/>
                </a:solidFill>
                <a:latin typeface="Roboto Regular Regular"/>
                <a:ea typeface="Roboto Regular Regular"/>
                <a:cs typeface="Roboto Regular Regular"/>
                <a:sym typeface="Roboto Regular Regular"/>
              </a:defRPr>
            </a:lvl1pPr>
          </a:lstStyle>
          <a:p>
            <a:pPr/>
            <a:r>
              <a:t>Teams are overwhelmed with misdirected work</a:t>
            </a:r>
          </a:p>
        </p:txBody>
      </p:sp>
      <p:sp>
        <p:nvSpPr>
          <p:cNvPr id="316" name="Shape 14"/>
          <p:cNvSpPr/>
          <p:nvPr/>
        </p:nvSpPr>
        <p:spPr>
          <a:xfrm>
            <a:off x="6280189" y="6513194"/>
            <a:ext cx="7556422" cy="1096090"/>
          </a:xfrm>
          <a:prstGeom prst="roundRect">
            <a:avLst>
              <a:gd name="adj" fmla="val 7225"/>
            </a:avLst>
          </a:prstGeom>
          <a:solidFill>
            <a:srgbClr val="E1E1EA"/>
          </a:solidFill>
          <a:ln w="7620">
            <a:solidFill>
              <a:srgbClr val="C7C7D0"/>
            </a:solidFill>
          </a:ln>
        </p:spPr>
        <p:txBody>
          <a:bodyPr lIns="45719" rIns="45719"/>
          <a:lstStyle/>
          <a:p>
            <a:pPr/>
          </a:p>
        </p:txBody>
      </p:sp>
      <p:sp>
        <p:nvSpPr>
          <p:cNvPr id="317" name="Text 15"/>
          <p:cNvSpPr txBox="1"/>
          <p:nvPr/>
        </p:nvSpPr>
        <p:spPr>
          <a:xfrm>
            <a:off x="6476286" y="6709291"/>
            <a:ext cx="1638958" cy="31702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300"/>
              </a:lnSpc>
              <a:defRPr>
                <a:latin typeface="Raleway Thin Regular"/>
                <a:ea typeface="Raleway Thin Regular"/>
                <a:cs typeface="Raleway Thin Regular"/>
                <a:sym typeface="Raleway Thin Regular"/>
              </a:defRPr>
            </a:pPr>
            <a:r>
              <a:t>💔</a:t>
            </a:r>
            <a:r>
              <a:rPr>
                <a:solidFill>
                  <a:srgbClr val="3C3939"/>
                </a:solidFill>
              </a:rPr>
              <a:t> Loss of trust</a:t>
            </a:r>
          </a:p>
        </p:txBody>
      </p:sp>
      <p:sp>
        <p:nvSpPr>
          <p:cNvPr id="318" name="Text 16"/>
          <p:cNvSpPr txBox="1"/>
          <p:nvPr/>
        </p:nvSpPr>
        <p:spPr>
          <a:xfrm>
            <a:off x="6476285" y="7118984"/>
            <a:ext cx="4293184" cy="27709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300"/>
              </a:lnSpc>
              <a:defRPr sz="1400">
                <a:solidFill>
                  <a:srgbClr val="3C3939"/>
                </a:solidFill>
                <a:latin typeface="Roboto Regular Regular"/>
                <a:ea typeface="Roboto Regular Regular"/>
                <a:cs typeface="Roboto Regular Regular"/>
                <a:sym typeface="Roboto Regular Regular"/>
              </a:defRPr>
            </a:lvl1pPr>
          </a:lstStyle>
          <a:p>
            <a:pPr/>
            <a:r>
              <a:t>Once broken, stakeholder confidence is hard to rebuild</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2" name="Shape 0"/>
          <p:cNvSpPr/>
          <p:nvPr/>
        </p:nvSpPr>
        <p:spPr>
          <a:xfrm>
            <a:off x="396835" y="272890"/>
            <a:ext cx="683419" cy="154782"/>
          </a:xfrm>
          <a:prstGeom prst="roundRect">
            <a:avLst>
              <a:gd name="adj" fmla="val 21542"/>
            </a:avLst>
          </a:prstGeom>
          <a:solidFill>
            <a:srgbClr val="E1E1EA"/>
          </a:solidFill>
          <a:ln w="12700">
            <a:miter lim="400000"/>
          </a:ln>
        </p:spPr>
        <p:txBody>
          <a:bodyPr lIns="45719" rIns="45719"/>
          <a:lstStyle/>
          <a:p>
            <a:pPr/>
          </a:p>
        </p:txBody>
      </p:sp>
      <p:sp>
        <p:nvSpPr>
          <p:cNvPr id="323" name="Text 1"/>
          <p:cNvSpPr txBox="1"/>
          <p:nvPr/>
        </p:nvSpPr>
        <p:spPr>
          <a:xfrm>
            <a:off x="456367" y="302657"/>
            <a:ext cx="554919"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700"/>
              </a:lnSpc>
              <a:defRPr sz="600">
                <a:solidFill>
                  <a:srgbClr val="3C3939"/>
                </a:solidFill>
                <a:latin typeface="Roboto Regular Regular"/>
                <a:ea typeface="Roboto Regular Regular"/>
                <a:cs typeface="Roboto Regular Regular"/>
                <a:sym typeface="Roboto Regular Regular"/>
              </a:defRPr>
            </a:lvl1pPr>
          </a:lstStyle>
          <a:p>
            <a:pPr/>
            <a:r>
              <a:t>05 · READINESS</a:t>
            </a:r>
          </a:p>
        </p:txBody>
      </p:sp>
      <p:sp>
        <p:nvSpPr>
          <p:cNvPr id="324" name="Text 2"/>
          <p:cNvSpPr txBox="1"/>
          <p:nvPr/>
        </p:nvSpPr>
        <p:spPr>
          <a:xfrm>
            <a:off x="396835" y="447436"/>
            <a:ext cx="1798084"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1B1B27"/>
                </a:solidFill>
                <a:latin typeface="Raleway Thin Regular"/>
                <a:ea typeface="Raleway Thin Regular"/>
                <a:cs typeface="Raleway Thin Regular"/>
                <a:sym typeface="Raleway Thin Regular"/>
              </a:defRPr>
            </a:lvl1pPr>
          </a:lstStyle>
          <a:p>
            <a:pPr/>
            <a:r>
              <a:t>When We Scale</a:t>
            </a:r>
          </a:p>
        </p:txBody>
      </p:sp>
      <p:sp>
        <p:nvSpPr>
          <p:cNvPr id="325" name="Text 3"/>
          <p:cNvSpPr txBox="1"/>
          <p:nvPr/>
        </p:nvSpPr>
        <p:spPr>
          <a:xfrm>
            <a:off x="396834" y="832009"/>
            <a:ext cx="4854192"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C3939"/>
                </a:solidFill>
                <a:latin typeface="Roboto Regular Regular"/>
                <a:ea typeface="Roboto Regular Regular"/>
                <a:cs typeface="Roboto Regular Regular"/>
                <a:sym typeface="Roboto Regular Regular"/>
              </a:defRPr>
            </a:lvl1pPr>
          </a:lstStyle>
          <a:p>
            <a:pPr/>
            <a:r>
              <a:t>Scaling is not a date on a calendar — it's a standard. A system earns the right to scale when it has passed every gate below.</a:t>
            </a:r>
          </a:p>
        </p:txBody>
      </p:sp>
      <p:pic>
        <p:nvPicPr>
          <p:cNvPr id="326" name="Image 0" descr="Image 0"/>
          <p:cNvPicPr>
            <a:picLocks noChangeAspect="1"/>
          </p:cNvPicPr>
          <p:nvPr/>
        </p:nvPicPr>
        <p:blipFill>
          <a:blip r:embed="rId3">
            <a:extLst/>
          </a:blip>
          <a:stretch>
            <a:fillRect/>
          </a:stretch>
        </p:blipFill>
        <p:spPr>
          <a:xfrm>
            <a:off x="396835" y="1006672"/>
            <a:ext cx="13836730" cy="6925272"/>
          </a:xfrm>
          <a:prstGeom prst="rect">
            <a:avLst/>
          </a:prstGeom>
          <a:ln w="12700">
            <a:miter lim="400000"/>
          </a:ln>
        </p:spPr>
      </p:pic>
      <p:sp>
        <p:nvSpPr>
          <p:cNvPr id="327" name="Text 4"/>
          <p:cNvSpPr txBox="1"/>
          <p:nvPr/>
        </p:nvSpPr>
        <p:spPr>
          <a:xfrm>
            <a:off x="459043" y="3983778"/>
            <a:ext cx="2598705" cy="7571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3000"/>
              </a:lnSpc>
              <a:defRPr sz="2400">
                <a:solidFill>
                  <a:srgbClr val="3C3939"/>
                </a:solidFill>
                <a:latin typeface="Raleway Thin Regular"/>
                <a:ea typeface="Raleway Thin Regular"/>
                <a:cs typeface="Raleway Thin Regular"/>
                <a:sym typeface="Raleway Thin Regular"/>
              </a:defRPr>
            </a:lvl1pPr>
          </a:lstStyle>
          <a:p>
            <a:pPr/>
            <a:r>
              <a:t>Stakeholder Alignment</a:t>
            </a:r>
          </a:p>
        </p:txBody>
      </p:sp>
      <p:sp>
        <p:nvSpPr>
          <p:cNvPr id="328" name="Text 5"/>
          <p:cNvSpPr txBox="1"/>
          <p:nvPr/>
        </p:nvSpPr>
        <p:spPr>
          <a:xfrm>
            <a:off x="6692049" y="7342310"/>
            <a:ext cx="1252349" cy="37612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3000"/>
              </a:lnSpc>
              <a:defRPr sz="2400">
                <a:solidFill>
                  <a:srgbClr val="3C3939"/>
                </a:solidFill>
                <a:latin typeface="Raleway Thin Regular"/>
                <a:ea typeface="Raleway Thin Regular"/>
                <a:cs typeface="Raleway Thin Regular"/>
                <a:sym typeface="Raleway Thin Regular"/>
              </a:defRPr>
            </a:lvl1pPr>
          </a:lstStyle>
          <a:p>
            <a:pPr/>
            <a:r>
              <a:t>Low Risk</a:t>
            </a:r>
          </a:p>
        </p:txBody>
      </p:sp>
      <p:sp>
        <p:nvSpPr>
          <p:cNvPr id="329" name="Text 6"/>
          <p:cNvSpPr txBox="1"/>
          <p:nvPr/>
        </p:nvSpPr>
        <p:spPr>
          <a:xfrm>
            <a:off x="11558827" y="3983778"/>
            <a:ext cx="2598706" cy="7571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3000"/>
              </a:lnSpc>
              <a:defRPr sz="2400">
                <a:solidFill>
                  <a:srgbClr val="3C3939"/>
                </a:solidFill>
                <a:latin typeface="Raleway Thin Regular"/>
                <a:ea typeface="Raleway Thin Regular"/>
                <a:cs typeface="Raleway Thin Regular"/>
                <a:sym typeface="Raleway Thin Regular"/>
              </a:defRPr>
            </a:lvl1pPr>
          </a:lstStyle>
          <a:p>
            <a:pPr/>
            <a:r>
              <a:t>Operational Readiness</a:t>
            </a:r>
          </a:p>
        </p:txBody>
      </p:sp>
      <p:sp>
        <p:nvSpPr>
          <p:cNvPr id="330" name="Text 7"/>
          <p:cNvSpPr txBox="1"/>
          <p:nvPr/>
        </p:nvSpPr>
        <p:spPr>
          <a:xfrm>
            <a:off x="6124496" y="1290906"/>
            <a:ext cx="2371906" cy="3761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3000"/>
              </a:lnSpc>
              <a:defRPr sz="2400">
                <a:solidFill>
                  <a:srgbClr val="3C3939"/>
                </a:solidFill>
                <a:latin typeface="Raleway Thin Regular"/>
                <a:ea typeface="Raleway Thin Regular"/>
                <a:cs typeface="Raleway Thin Regular"/>
                <a:sym typeface="Raleway Thin Regular"/>
              </a:defRPr>
            </a:lvl1pPr>
          </a:lstStyle>
          <a:p>
            <a:pPr/>
            <a:r>
              <a:t>High Confidence</a:t>
            </a:r>
          </a:p>
        </p:txBody>
      </p:sp>
      <p:sp>
        <p:nvSpPr>
          <p:cNvPr id="331" name="Text 8"/>
          <p:cNvSpPr txBox="1"/>
          <p:nvPr/>
        </p:nvSpPr>
        <p:spPr>
          <a:xfrm>
            <a:off x="4274163" y="5880972"/>
            <a:ext cx="2667820" cy="4703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800"/>
              </a:lnSpc>
              <a:defRPr sz="1900">
                <a:solidFill>
                  <a:srgbClr val="3C3939"/>
                </a:solidFill>
                <a:latin typeface="Roboto Regular Regular"/>
                <a:ea typeface="Roboto Regular Regular"/>
                <a:cs typeface="Roboto Regular Regular"/>
                <a:sym typeface="Roboto Regular Regular"/>
              </a:defRPr>
            </a:lvl1pPr>
          </a:lstStyle>
          <a:p>
            <a:pPr/>
            <a:r>
              <a:t>Edge cases handled and tested</a:t>
            </a:r>
          </a:p>
        </p:txBody>
      </p:sp>
      <p:pic>
        <p:nvPicPr>
          <p:cNvPr id="332" name="Image 1" descr="Image 1"/>
          <p:cNvPicPr>
            <a:picLocks noChangeAspect="1"/>
          </p:cNvPicPr>
          <p:nvPr/>
        </p:nvPicPr>
        <p:blipFill>
          <a:blip r:embed="rId4">
            <a:extLst/>
          </a:blip>
          <a:stretch>
            <a:fillRect/>
          </a:stretch>
        </p:blipFill>
        <p:spPr>
          <a:xfrm>
            <a:off x="5333341" y="4965636"/>
            <a:ext cx="387042" cy="387042"/>
          </a:xfrm>
          <a:prstGeom prst="rect">
            <a:avLst/>
          </a:prstGeom>
          <a:ln w="12700">
            <a:miter lim="400000"/>
          </a:ln>
        </p:spPr>
      </p:pic>
      <p:sp>
        <p:nvSpPr>
          <p:cNvPr id="333" name="Text 9"/>
          <p:cNvSpPr txBox="1"/>
          <p:nvPr/>
        </p:nvSpPr>
        <p:spPr>
          <a:xfrm>
            <a:off x="7937230" y="5894794"/>
            <a:ext cx="2667821" cy="4703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800"/>
              </a:lnSpc>
              <a:defRPr sz="1900">
                <a:solidFill>
                  <a:srgbClr val="3C3939"/>
                </a:solidFill>
                <a:latin typeface="Roboto Regular Regular"/>
                <a:ea typeface="Roboto Regular Regular"/>
                <a:cs typeface="Roboto Regular Regular"/>
                <a:sym typeface="Roboto Regular Regular"/>
              </a:defRPr>
            </a:lvl1pPr>
          </a:lstStyle>
          <a:p>
            <a:pPr/>
            <a:r>
              <a:t>Business approves stakeholder sign‑off</a:t>
            </a:r>
          </a:p>
        </p:txBody>
      </p:sp>
      <p:pic>
        <p:nvPicPr>
          <p:cNvPr id="334" name="Image 2" descr="Image 2"/>
          <p:cNvPicPr>
            <a:picLocks noChangeAspect="1"/>
          </p:cNvPicPr>
          <p:nvPr/>
        </p:nvPicPr>
        <p:blipFill>
          <a:blip r:embed="rId4">
            <a:extLst/>
          </a:blip>
          <a:stretch>
            <a:fillRect/>
          </a:stretch>
        </p:blipFill>
        <p:spPr>
          <a:xfrm>
            <a:off x="9077618" y="4973844"/>
            <a:ext cx="387042" cy="387042"/>
          </a:xfrm>
          <a:prstGeom prst="rect">
            <a:avLst/>
          </a:prstGeom>
          <a:ln w="12700">
            <a:miter lim="400000"/>
          </a:ln>
        </p:spPr>
      </p:pic>
      <p:sp>
        <p:nvSpPr>
          <p:cNvPr id="335" name="Text 10"/>
          <p:cNvSpPr txBox="1"/>
          <p:nvPr/>
        </p:nvSpPr>
        <p:spPr>
          <a:xfrm>
            <a:off x="7937230" y="3337559"/>
            <a:ext cx="2667821" cy="4703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800"/>
              </a:lnSpc>
              <a:defRPr sz="1900">
                <a:solidFill>
                  <a:srgbClr val="3C3939"/>
                </a:solidFill>
                <a:latin typeface="Roboto Regular Regular"/>
                <a:ea typeface="Roboto Regular Regular"/>
                <a:cs typeface="Roboto Regular Regular"/>
                <a:sym typeface="Roboto Regular Regular"/>
              </a:defRPr>
            </a:lvl1pPr>
          </a:lstStyle>
          <a:p>
            <a:pPr/>
            <a:r>
              <a:t>Feedback collected from real users</a:t>
            </a:r>
          </a:p>
        </p:txBody>
      </p:sp>
      <p:pic>
        <p:nvPicPr>
          <p:cNvPr id="336" name="Image 3" descr="Image 3"/>
          <p:cNvPicPr>
            <a:picLocks noChangeAspect="1"/>
          </p:cNvPicPr>
          <p:nvPr/>
        </p:nvPicPr>
        <p:blipFill>
          <a:blip r:embed="rId4">
            <a:extLst/>
          </a:blip>
          <a:stretch>
            <a:fillRect/>
          </a:stretch>
        </p:blipFill>
        <p:spPr>
          <a:xfrm>
            <a:off x="9077618" y="2416609"/>
            <a:ext cx="387042" cy="387042"/>
          </a:xfrm>
          <a:prstGeom prst="rect">
            <a:avLst/>
          </a:prstGeom>
          <a:ln w="12700">
            <a:miter lim="400000"/>
          </a:ln>
        </p:spPr>
      </p:pic>
      <p:sp>
        <p:nvSpPr>
          <p:cNvPr id="337" name="Text 11"/>
          <p:cNvSpPr txBox="1"/>
          <p:nvPr/>
        </p:nvSpPr>
        <p:spPr>
          <a:xfrm>
            <a:off x="4191225" y="3337559"/>
            <a:ext cx="2667821" cy="4703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800"/>
              </a:lnSpc>
              <a:defRPr sz="1900">
                <a:solidFill>
                  <a:srgbClr val="3C3939"/>
                </a:solidFill>
                <a:latin typeface="Roboto Regular Regular"/>
                <a:ea typeface="Roboto Regular Regular"/>
                <a:cs typeface="Roboto Regular Regular"/>
                <a:sym typeface="Roboto Regular Regular"/>
              </a:defRPr>
            </a:lvl1pPr>
          </a:lstStyle>
          <a:p>
            <a:pPr/>
            <a:r>
              <a:t>Prototype validated — core logic works</a:t>
            </a:r>
          </a:p>
        </p:txBody>
      </p:sp>
      <p:pic>
        <p:nvPicPr>
          <p:cNvPr id="338" name="Image 4" descr="Image 4"/>
          <p:cNvPicPr>
            <a:picLocks noChangeAspect="1"/>
          </p:cNvPicPr>
          <p:nvPr/>
        </p:nvPicPr>
        <p:blipFill>
          <a:blip r:embed="rId4">
            <a:extLst/>
          </a:blip>
          <a:stretch>
            <a:fillRect/>
          </a:stretch>
        </p:blipFill>
        <p:spPr>
          <a:xfrm>
            <a:off x="5331614" y="2416609"/>
            <a:ext cx="387042" cy="387042"/>
          </a:xfrm>
          <a:prstGeom prst="rect">
            <a:avLst/>
          </a:prstGeom>
          <a:ln w="12700">
            <a:miter lim="400000"/>
          </a:ln>
        </p:spPr>
      </p:pic>
      <p:sp>
        <p:nvSpPr>
          <p:cNvPr id="339" name="Text 12"/>
          <p:cNvSpPr txBox="1"/>
          <p:nvPr/>
        </p:nvSpPr>
        <p:spPr>
          <a:xfrm>
            <a:off x="396834" y="7987665"/>
            <a:ext cx="4273781"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C3939"/>
                </a:solidFill>
                <a:latin typeface="Roboto Regular Regular"/>
                <a:ea typeface="Roboto Regular Regular"/>
                <a:cs typeface="Roboto Regular Regular"/>
                <a:sym typeface="Roboto Regular Regular"/>
              </a:defRPr>
            </a:lvl1pPr>
          </a:lstStyle>
          <a:p>
            <a:pPr/>
            <a:r>
              <a:t>Each gate is a quality checkpoint. Skipping any one of them increases the probability of failure in production.</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3" name="Shape 0"/>
          <p:cNvSpPr/>
          <p:nvPr/>
        </p:nvSpPr>
        <p:spPr>
          <a:xfrm>
            <a:off x="793790" y="1367195"/>
            <a:ext cx="1010007" cy="373143"/>
          </a:xfrm>
          <a:prstGeom prst="roundRect">
            <a:avLst>
              <a:gd name="adj" fmla="val 17872"/>
            </a:avLst>
          </a:prstGeom>
          <a:solidFill>
            <a:srgbClr val="E1E1EA"/>
          </a:solidFill>
          <a:ln w="12700">
            <a:miter lim="400000"/>
          </a:ln>
        </p:spPr>
        <p:txBody>
          <a:bodyPr lIns="45719" rIns="45719"/>
          <a:lstStyle/>
          <a:p>
            <a:pPr/>
          </a:p>
        </p:txBody>
      </p:sp>
      <p:sp>
        <p:nvSpPr>
          <p:cNvPr id="344" name="Text 1"/>
          <p:cNvSpPr txBox="1"/>
          <p:nvPr/>
        </p:nvSpPr>
        <p:spPr>
          <a:xfrm>
            <a:off x="912852" y="1426725"/>
            <a:ext cx="753790" cy="2404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3C3939"/>
                </a:solidFill>
                <a:latin typeface="Roboto Regular Regular"/>
                <a:ea typeface="Roboto Regular Regular"/>
                <a:cs typeface="Roboto Regular Regular"/>
                <a:sym typeface="Roboto Regular Regular"/>
              </a:defRPr>
            </a:lvl1pPr>
          </a:lstStyle>
          <a:p>
            <a:pPr/>
            <a:r>
              <a:t>06 · VALUE</a:t>
            </a:r>
          </a:p>
        </p:txBody>
      </p:sp>
      <p:sp>
        <p:nvSpPr>
          <p:cNvPr id="345" name="Text 2"/>
          <p:cNvSpPr txBox="1"/>
          <p:nvPr/>
        </p:nvSpPr>
        <p:spPr>
          <a:xfrm>
            <a:off x="793790" y="1819631"/>
            <a:ext cx="7251827"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What Companies Actually Want</a:t>
            </a:r>
          </a:p>
        </p:txBody>
      </p:sp>
      <p:sp>
        <p:nvSpPr>
          <p:cNvPr id="346" name="Shape 3"/>
          <p:cNvSpPr/>
          <p:nvPr/>
        </p:nvSpPr>
        <p:spPr>
          <a:xfrm>
            <a:off x="650915" y="2737366"/>
            <a:ext cx="6565107" cy="3584138"/>
          </a:xfrm>
          <a:prstGeom prst="roundRect">
            <a:avLst>
              <a:gd name="adj" fmla="val 3987"/>
            </a:avLst>
          </a:prstGeom>
          <a:solidFill>
            <a:srgbClr val="1A1A2E">
              <a:alpha val="95000"/>
            </a:srgbClr>
          </a:solidFill>
          <a:ln w="12700">
            <a:miter lim="400000"/>
          </a:ln>
        </p:spPr>
        <p:txBody>
          <a:bodyPr lIns="45719" rIns="45719"/>
          <a:lstStyle/>
          <a:p>
            <a:pPr/>
          </a:p>
        </p:txBody>
      </p:sp>
      <p:sp>
        <p:nvSpPr>
          <p:cNvPr id="347" name="Text 4"/>
          <p:cNvSpPr txBox="1"/>
          <p:nvPr/>
        </p:nvSpPr>
        <p:spPr>
          <a:xfrm>
            <a:off x="849272" y="2935723"/>
            <a:ext cx="1108106"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FFFFFF"/>
                </a:solidFill>
                <a:latin typeface="Raleway Thin Regular"/>
                <a:ea typeface="Raleway Thin Regular"/>
                <a:cs typeface="Raleway Thin Regular"/>
                <a:sym typeface="Raleway Thin Regular"/>
              </a:defRPr>
            </a:lvl1pPr>
          </a:lstStyle>
          <a:p>
            <a:pPr/>
            <a:r>
              <a:t>Prototype</a:t>
            </a:r>
          </a:p>
        </p:txBody>
      </p:sp>
      <p:sp>
        <p:nvSpPr>
          <p:cNvPr id="348" name="Text 5"/>
          <p:cNvSpPr txBox="1"/>
          <p:nvPr/>
        </p:nvSpPr>
        <p:spPr>
          <a:xfrm>
            <a:off x="849272" y="3444240"/>
            <a:ext cx="2375255" cy="3005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FFFFFF"/>
                </a:solidFill>
                <a:latin typeface="Roboto Regular Regular"/>
                <a:ea typeface="Roboto Regular Regular"/>
                <a:cs typeface="Roboto Regular Regular"/>
                <a:sym typeface="Roboto Regular Regular"/>
              </a:defRPr>
            </a:lvl1pPr>
          </a:lstStyle>
          <a:p>
            <a:pPr/>
            <a:r>
              <a:t>Proves the concept is viable</a:t>
            </a:r>
          </a:p>
        </p:txBody>
      </p:sp>
      <p:sp>
        <p:nvSpPr>
          <p:cNvPr id="349" name="Text 6"/>
          <p:cNvSpPr txBox="1"/>
          <p:nvPr/>
        </p:nvSpPr>
        <p:spPr>
          <a:xfrm>
            <a:off x="849272" y="3940373"/>
            <a:ext cx="6168392" cy="9355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ts val="2500"/>
              </a:lnSpc>
              <a:buSzPct val="100000"/>
              <a:buChar char="•"/>
              <a:defRPr sz="1500">
                <a:solidFill>
                  <a:srgbClr val="FFFFFF"/>
                </a:solidFill>
                <a:latin typeface="Roboto Regular Regular"/>
                <a:ea typeface="Roboto Regular Regular"/>
                <a:cs typeface="Roboto Regular Regular"/>
                <a:sym typeface="Roboto Regular Regular"/>
              </a:defRPr>
            </a:pPr>
            <a:r>
              <a:t>Validates AI accuracy</a:t>
            </a:r>
          </a:p>
          <a:p>
            <a:pPr marL="342900" indent="-342900">
              <a:lnSpc>
                <a:spcPts val="2500"/>
              </a:lnSpc>
              <a:buSzPct val="100000"/>
              <a:buChar char="•"/>
              <a:defRPr sz="1500">
                <a:solidFill>
                  <a:srgbClr val="FFFFFF"/>
                </a:solidFill>
                <a:latin typeface="Roboto Regular Regular"/>
                <a:ea typeface="Roboto Regular Regular"/>
                <a:cs typeface="Roboto Regular Regular"/>
                <a:sym typeface="Roboto Regular Regular"/>
              </a:defRPr>
            </a:pPr>
            <a:r>
              <a:t>Generates stakeholder buy-in</a:t>
            </a:r>
          </a:p>
          <a:p>
            <a:pPr marL="342900" indent="-342900">
              <a:lnSpc>
                <a:spcPts val="2500"/>
              </a:lnSpc>
              <a:buSzPct val="100000"/>
              <a:buChar char="•"/>
              <a:defRPr sz="1500">
                <a:solidFill>
                  <a:srgbClr val="FFFFFF"/>
                </a:solidFill>
                <a:latin typeface="Roboto Regular Regular"/>
                <a:ea typeface="Roboto Regular Regular"/>
                <a:cs typeface="Roboto Regular Regular"/>
                <a:sym typeface="Roboto Regular Regular"/>
              </a:defRPr>
            </a:pPr>
            <a:r>
              <a:t>Exposes gaps before they cost money</a:t>
            </a:r>
          </a:p>
        </p:txBody>
      </p:sp>
      <p:sp>
        <p:nvSpPr>
          <p:cNvPr id="350" name="Shape 7"/>
          <p:cNvSpPr/>
          <p:nvPr/>
        </p:nvSpPr>
        <p:spPr>
          <a:xfrm>
            <a:off x="849272" y="5255062"/>
            <a:ext cx="6168392" cy="843202"/>
          </a:xfrm>
          <a:prstGeom prst="roundRect">
            <a:avLst>
              <a:gd name="adj" fmla="val 9886"/>
            </a:avLst>
          </a:prstGeom>
          <a:solidFill>
            <a:srgbClr val="D2D2E0"/>
          </a:solidFill>
          <a:ln w="12700">
            <a:miter lim="400000"/>
          </a:ln>
        </p:spPr>
        <p:txBody>
          <a:bodyPr lIns="45719" rIns="45719"/>
          <a:lstStyle/>
          <a:p>
            <a:pPr/>
          </a:p>
        </p:txBody>
      </p:sp>
      <p:pic>
        <p:nvPicPr>
          <p:cNvPr id="351" name="Image 0" descr="Image 0"/>
          <p:cNvPicPr>
            <a:picLocks noChangeAspect="1"/>
          </p:cNvPicPr>
          <p:nvPr/>
        </p:nvPicPr>
        <p:blipFill>
          <a:blip r:embed="rId3">
            <a:extLst/>
          </a:blip>
          <a:stretch>
            <a:fillRect/>
          </a:stretch>
        </p:blipFill>
        <p:spPr>
          <a:xfrm>
            <a:off x="1047631" y="5550337"/>
            <a:ext cx="248008" cy="198359"/>
          </a:xfrm>
          <a:prstGeom prst="rect">
            <a:avLst/>
          </a:prstGeom>
          <a:ln w="12700">
            <a:miter lim="400000"/>
          </a:ln>
        </p:spPr>
      </p:pic>
      <p:sp>
        <p:nvSpPr>
          <p:cNvPr id="352" name="Text 8"/>
          <p:cNvSpPr txBox="1"/>
          <p:nvPr/>
        </p:nvSpPr>
        <p:spPr>
          <a:xfrm>
            <a:off x="1493996" y="5502950"/>
            <a:ext cx="1588232" cy="3005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latin typeface="Roboto Regular Regular"/>
                <a:ea typeface="Roboto Regular Regular"/>
                <a:cs typeface="Roboto Regular Regular"/>
                <a:sym typeface="Roboto Regular Regular"/>
              </a:defRPr>
            </a:lvl1pPr>
          </a:lstStyle>
          <a:p>
            <a:pPr/>
            <a:r>
              <a:t>Used for decisions</a:t>
            </a:r>
          </a:p>
        </p:txBody>
      </p:sp>
      <p:sp>
        <p:nvSpPr>
          <p:cNvPr id="353" name="Text 9"/>
          <p:cNvSpPr txBox="1"/>
          <p:nvPr/>
        </p:nvSpPr>
        <p:spPr>
          <a:xfrm>
            <a:off x="7564873" y="2935723"/>
            <a:ext cx="630395"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1B1B27"/>
                </a:solidFill>
                <a:latin typeface="Raleway Thin Regular"/>
                <a:ea typeface="Raleway Thin Regular"/>
                <a:cs typeface="Raleway Thin Regular"/>
                <a:sym typeface="Raleway Thin Regular"/>
              </a:defRPr>
            </a:lvl1pPr>
          </a:lstStyle>
          <a:p>
            <a:pPr/>
            <a:r>
              <a:t>Scale</a:t>
            </a:r>
          </a:p>
        </p:txBody>
      </p:sp>
      <p:sp>
        <p:nvSpPr>
          <p:cNvPr id="354" name="Text 10"/>
          <p:cNvSpPr txBox="1"/>
          <p:nvPr/>
        </p:nvSpPr>
        <p:spPr>
          <a:xfrm>
            <a:off x="7564873" y="3444240"/>
            <a:ext cx="2978846" cy="3005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Delivers continuous business value</a:t>
            </a:r>
          </a:p>
        </p:txBody>
      </p:sp>
      <p:sp>
        <p:nvSpPr>
          <p:cNvPr id="355" name="Text 11"/>
          <p:cNvSpPr txBox="1"/>
          <p:nvPr/>
        </p:nvSpPr>
        <p:spPr>
          <a:xfrm>
            <a:off x="7564873" y="3940373"/>
            <a:ext cx="6279358" cy="9355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ts val="2500"/>
              </a:lnSpc>
              <a:buSzPct val="100000"/>
              <a:buChar char="•"/>
              <a:defRPr sz="1500">
                <a:solidFill>
                  <a:srgbClr val="3C3939"/>
                </a:solidFill>
                <a:latin typeface="Roboto Regular Regular"/>
                <a:ea typeface="Roboto Regular Regular"/>
                <a:cs typeface="Roboto Regular Regular"/>
                <a:sym typeface="Roboto Regular Regular"/>
              </a:defRPr>
            </a:pPr>
            <a:r>
              <a:t>Runs automatically, 24/7</a:t>
            </a:r>
          </a:p>
          <a:p>
            <a:pPr marL="342900" indent="-342900">
              <a:lnSpc>
                <a:spcPts val="2500"/>
              </a:lnSpc>
              <a:buSzPct val="100000"/>
              <a:buChar char="•"/>
              <a:defRPr sz="1500">
                <a:solidFill>
                  <a:srgbClr val="3C3939"/>
                </a:solidFill>
                <a:latin typeface="Roboto Regular Regular"/>
                <a:ea typeface="Roboto Regular Regular"/>
                <a:cs typeface="Roboto Regular Regular"/>
                <a:sym typeface="Roboto Regular Regular"/>
              </a:defRPr>
            </a:pPr>
            <a:r>
              <a:t>Handles thousands of emails</a:t>
            </a:r>
          </a:p>
          <a:p>
            <a:pPr marL="342900" indent="-342900">
              <a:lnSpc>
                <a:spcPts val="2500"/>
              </a:lnSpc>
              <a:buSzPct val="100000"/>
              <a:buChar char="•"/>
              <a:defRPr sz="1500">
                <a:solidFill>
                  <a:srgbClr val="3C3939"/>
                </a:solidFill>
                <a:latin typeface="Roboto Regular Regular"/>
                <a:ea typeface="Roboto Regular Regular"/>
                <a:cs typeface="Roboto Regular Regular"/>
                <a:sym typeface="Roboto Regular Regular"/>
              </a:defRPr>
            </a:pPr>
            <a:r>
              <a:t>Reduces headcount costs</a:t>
            </a:r>
          </a:p>
        </p:txBody>
      </p:sp>
      <p:sp>
        <p:nvSpPr>
          <p:cNvPr id="356" name="Shape 12"/>
          <p:cNvSpPr/>
          <p:nvPr/>
        </p:nvSpPr>
        <p:spPr>
          <a:xfrm>
            <a:off x="7564873" y="5255062"/>
            <a:ext cx="6279357" cy="843202"/>
          </a:xfrm>
          <a:prstGeom prst="roundRect">
            <a:avLst>
              <a:gd name="adj" fmla="val 9886"/>
            </a:avLst>
          </a:prstGeom>
          <a:solidFill>
            <a:srgbClr val="B6FCB8"/>
          </a:solidFill>
          <a:ln w="12700">
            <a:miter lim="400000"/>
          </a:ln>
        </p:spPr>
        <p:txBody>
          <a:bodyPr lIns="45719" rIns="45719"/>
          <a:lstStyle/>
          <a:p>
            <a:pPr/>
          </a:p>
        </p:txBody>
      </p:sp>
      <p:pic>
        <p:nvPicPr>
          <p:cNvPr id="357" name="Image 1" descr="Image 1"/>
          <p:cNvPicPr>
            <a:picLocks noChangeAspect="1"/>
          </p:cNvPicPr>
          <p:nvPr/>
        </p:nvPicPr>
        <p:blipFill>
          <a:blip r:embed="rId4">
            <a:extLst/>
          </a:blip>
          <a:stretch>
            <a:fillRect/>
          </a:stretch>
        </p:blipFill>
        <p:spPr>
          <a:xfrm>
            <a:off x="7763232" y="5550337"/>
            <a:ext cx="248008" cy="198359"/>
          </a:xfrm>
          <a:prstGeom prst="rect">
            <a:avLst/>
          </a:prstGeom>
          <a:ln w="12700">
            <a:miter lim="400000"/>
          </a:ln>
        </p:spPr>
      </p:pic>
      <p:sp>
        <p:nvSpPr>
          <p:cNvPr id="358" name="Text 13"/>
          <p:cNvSpPr txBox="1"/>
          <p:nvPr/>
        </p:nvSpPr>
        <p:spPr>
          <a:xfrm>
            <a:off x="8209598" y="5502950"/>
            <a:ext cx="1678831" cy="3005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latin typeface="Roboto Regular Regular"/>
                <a:ea typeface="Roboto Regular Regular"/>
                <a:cs typeface="Roboto Regular Regular"/>
                <a:sym typeface="Roboto Regular Regular"/>
              </a:defRPr>
            </a:lvl1pPr>
          </a:lstStyle>
          <a:p>
            <a:pPr/>
            <a:r>
              <a:t>Used for operations</a:t>
            </a:r>
          </a:p>
        </p:txBody>
      </p:sp>
      <p:sp>
        <p:nvSpPr>
          <p:cNvPr id="359" name="Text 14"/>
          <p:cNvSpPr txBox="1"/>
          <p:nvPr/>
        </p:nvSpPr>
        <p:spPr>
          <a:xfrm>
            <a:off x="793790" y="6544747"/>
            <a:ext cx="6076889" cy="3005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The prototype earns the meeting. The scaled system earns the contract.</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3" name="Shape 0"/>
          <p:cNvSpPr/>
          <p:nvPr/>
        </p:nvSpPr>
        <p:spPr>
          <a:xfrm>
            <a:off x="607814" y="421718"/>
            <a:ext cx="1275637" cy="262653"/>
          </a:xfrm>
          <a:prstGeom prst="roundRect">
            <a:avLst>
              <a:gd name="adj" fmla="val 19439"/>
            </a:avLst>
          </a:prstGeom>
          <a:solidFill>
            <a:srgbClr val="E1E1EA"/>
          </a:solidFill>
          <a:ln w="12700">
            <a:miter lim="400000"/>
          </a:ln>
        </p:spPr>
        <p:txBody>
          <a:bodyPr lIns="45719" rIns="45719"/>
          <a:lstStyle/>
          <a:p>
            <a:pPr/>
          </a:p>
        </p:txBody>
      </p:sp>
      <p:sp>
        <p:nvSpPr>
          <p:cNvPr id="364" name="Text 1"/>
          <p:cNvSpPr txBox="1"/>
          <p:nvPr/>
        </p:nvSpPr>
        <p:spPr>
          <a:xfrm>
            <a:off x="698897" y="467200"/>
            <a:ext cx="1041791" cy="15998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900">
                <a:solidFill>
                  <a:srgbClr val="3C3939"/>
                </a:solidFill>
                <a:latin typeface="Roboto Regular Regular"/>
                <a:ea typeface="Roboto Regular Regular"/>
                <a:cs typeface="Roboto Regular Regular"/>
                <a:sym typeface="Roboto Regular Regular"/>
              </a:defRPr>
            </a:lvl1pPr>
          </a:lstStyle>
          <a:p>
            <a:pPr/>
            <a:r>
              <a:t>07 · ARCHITECTURE</a:t>
            </a:r>
          </a:p>
        </p:txBody>
      </p:sp>
      <p:sp>
        <p:nvSpPr>
          <p:cNvPr id="365" name="Text 2"/>
          <p:cNvSpPr txBox="1"/>
          <p:nvPr/>
        </p:nvSpPr>
        <p:spPr>
          <a:xfrm>
            <a:off x="607813" y="730806"/>
            <a:ext cx="3202818" cy="4621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700"/>
              </a:lnSpc>
              <a:defRPr sz="2900">
                <a:solidFill>
                  <a:srgbClr val="1B1B27"/>
                </a:solidFill>
                <a:latin typeface="Raleway Thin Regular"/>
                <a:ea typeface="Raleway Thin Regular"/>
                <a:cs typeface="Raleway Thin Regular"/>
                <a:sym typeface="Raleway Thin Regular"/>
              </a:defRPr>
            </a:lvl1pPr>
          </a:lstStyle>
          <a:p>
            <a:pPr/>
            <a:r>
              <a:t>Scalable Workflow</a:t>
            </a:r>
          </a:p>
        </p:txBody>
      </p:sp>
      <p:sp>
        <p:nvSpPr>
          <p:cNvPr id="366" name="Text 3"/>
          <p:cNvSpPr txBox="1"/>
          <p:nvPr/>
        </p:nvSpPr>
        <p:spPr>
          <a:xfrm>
            <a:off x="607814" y="1380052"/>
            <a:ext cx="9737676" cy="19666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600"/>
              </a:lnSpc>
              <a:defRPr sz="1100">
                <a:solidFill>
                  <a:srgbClr val="3C3939"/>
                </a:solidFill>
                <a:latin typeface="Roboto Regular Regular"/>
                <a:ea typeface="Roboto Regular Regular"/>
                <a:cs typeface="Roboto Regular Regular"/>
                <a:sym typeface="Roboto Regular Regular"/>
              </a:defRPr>
            </a:lvl1pPr>
          </a:lstStyle>
          <a:p>
            <a:pPr/>
            <a:r>
              <a:t>A production-ready email classification system replaces every manual step. No human touches the inbox — the pipeline runs continuously and autonomously.</a:t>
            </a:r>
          </a:p>
        </p:txBody>
      </p:sp>
      <p:pic>
        <p:nvPicPr>
          <p:cNvPr id="367" name="Image 0" descr="Image 0"/>
          <p:cNvPicPr>
            <a:picLocks noChangeAspect="1"/>
          </p:cNvPicPr>
          <p:nvPr/>
        </p:nvPicPr>
        <p:blipFill>
          <a:blip r:embed="rId3">
            <a:extLst/>
          </a:blip>
          <a:stretch>
            <a:fillRect/>
          </a:stretch>
        </p:blipFill>
        <p:spPr>
          <a:xfrm>
            <a:off x="663058" y="1725453"/>
            <a:ext cx="13304165" cy="5737028"/>
          </a:xfrm>
          <a:prstGeom prst="rect">
            <a:avLst/>
          </a:prstGeom>
          <a:ln w="12700">
            <a:miter lim="400000"/>
          </a:ln>
        </p:spPr>
      </p:pic>
      <p:sp>
        <p:nvSpPr>
          <p:cNvPr id="368" name="Text 4"/>
          <p:cNvSpPr txBox="1"/>
          <p:nvPr/>
        </p:nvSpPr>
        <p:spPr>
          <a:xfrm>
            <a:off x="1558325" y="6374524"/>
            <a:ext cx="1886849" cy="36299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900"/>
              </a:lnSpc>
              <a:defRPr sz="2300">
                <a:solidFill>
                  <a:srgbClr val="FFFFFF"/>
                </a:solidFill>
                <a:latin typeface="Raleway Thin Regular"/>
                <a:ea typeface="Raleway Thin Regular"/>
                <a:cs typeface="Raleway Thin Regular"/>
                <a:sym typeface="Raleway Thin Regular"/>
              </a:defRPr>
            </a:lvl1pPr>
          </a:lstStyle>
          <a:p>
            <a:pPr/>
            <a:r>
              <a:t>Route to Dept</a:t>
            </a:r>
          </a:p>
        </p:txBody>
      </p:sp>
      <p:sp>
        <p:nvSpPr>
          <p:cNvPr id="369" name="Text 5"/>
          <p:cNvSpPr txBox="1"/>
          <p:nvPr/>
        </p:nvSpPr>
        <p:spPr>
          <a:xfrm>
            <a:off x="1558325" y="5046496"/>
            <a:ext cx="1458171" cy="36299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900"/>
              </a:lnSpc>
              <a:defRPr sz="2300">
                <a:solidFill>
                  <a:srgbClr val="FFFFFF"/>
                </a:solidFill>
                <a:latin typeface="Raleway Thin Regular"/>
                <a:ea typeface="Raleway Thin Regular"/>
                <a:cs typeface="Raleway Thin Regular"/>
                <a:sym typeface="Raleway Thin Regular"/>
              </a:defRPr>
            </a:lvl1pPr>
          </a:lstStyle>
          <a:p>
            <a:pPr/>
            <a:r>
              <a:t>LLM Intent</a:t>
            </a:r>
          </a:p>
        </p:txBody>
      </p:sp>
      <p:sp>
        <p:nvSpPr>
          <p:cNvPr id="370" name="Text 6"/>
          <p:cNvSpPr txBox="1"/>
          <p:nvPr/>
        </p:nvSpPr>
        <p:spPr>
          <a:xfrm>
            <a:off x="1558325" y="3731881"/>
            <a:ext cx="1939088" cy="36299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900"/>
              </a:lnSpc>
              <a:defRPr sz="2300">
                <a:solidFill>
                  <a:srgbClr val="FFFFFF"/>
                </a:solidFill>
                <a:latin typeface="Raleway Thin Regular"/>
                <a:ea typeface="Raleway Thin Regular"/>
                <a:cs typeface="Raleway Thin Regular"/>
                <a:sym typeface="Raleway Thin Regular"/>
              </a:defRPr>
            </a:lvl1pPr>
          </a:lstStyle>
          <a:p>
            <a:pPr/>
            <a:r>
              <a:t>Auto Read API</a:t>
            </a:r>
          </a:p>
        </p:txBody>
      </p:sp>
      <p:sp>
        <p:nvSpPr>
          <p:cNvPr id="371" name="Text 7"/>
          <p:cNvSpPr txBox="1"/>
          <p:nvPr/>
        </p:nvSpPr>
        <p:spPr>
          <a:xfrm>
            <a:off x="1558325" y="2403853"/>
            <a:ext cx="1672135" cy="36299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900"/>
              </a:lnSpc>
              <a:defRPr sz="2300">
                <a:solidFill>
                  <a:srgbClr val="FFFFFF"/>
                </a:solidFill>
                <a:latin typeface="Raleway Thin Regular"/>
                <a:ea typeface="Raleway Thin Regular"/>
                <a:cs typeface="Raleway Thin Regular"/>
                <a:sym typeface="Raleway Thin Regular"/>
              </a:defRPr>
            </a:lvl1pPr>
          </a:lstStyle>
          <a:p>
            <a:pPr/>
            <a:r>
              <a:t>Inbox Arrival</a:t>
            </a:r>
          </a:p>
        </p:txBody>
      </p:sp>
      <p:sp>
        <p:nvSpPr>
          <p:cNvPr id="372" name="Text 8"/>
          <p:cNvSpPr txBox="1"/>
          <p:nvPr/>
        </p:nvSpPr>
        <p:spPr>
          <a:xfrm>
            <a:off x="607814" y="7593330"/>
            <a:ext cx="7518438" cy="19666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600"/>
              </a:lnSpc>
              <a:defRPr sz="1100">
                <a:solidFill>
                  <a:srgbClr val="3C3939"/>
                </a:solidFill>
                <a:latin typeface="Roboto Regular Regular"/>
                <a:ea typeface="Roboto Regular Regular"/>
                <a:cs typeface="Roboto Regular Regular"/>
                <a:sym typeface="Roboto Regular Regular"/>
              </a:defRPr>
            </a:lvl1pPr>
          </a:lstStyle>
          <a:p>
            <a:pPr/>
            <a:r>
              <a:t>Every stage is automated, logged, and recoverable — meaning if something fails, the system can retry without losing data.</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6" name="Shape 0"/>
          <p:cNvSpPr/>
          <p:nvPr/>
        </p:nvSpPr>
        <p:spPr>
          <a:xfrm>
            <a:off x="793790" y="1422796"/>
            <a:ext cx="1106329" cy="373143"/>
          </a:xfrm>
          <a:prstGeom prst="roundRect">
            <a:avLst>
              <a:gd name="adj" fmla="val 17872"/>
            </a:avLst>
          </a:prstGeom>
          <a:solidFill>
            <a:srgbClr val="E1E1EA"/>
          </a:solidFill>
          <a:ln w="12700">
            <a:miter lim="400000"/>
          </a:ln>
        </p:spPr>
        <p:txBody>
          <a:bodyPr lIns="45719" rIns="45719"/>
          <a:lstStyle/>
          <a:p>
            <a:pPr/>
          </a:p>
        </p:txBody>
      </p:sp>
      <p:sp>
        <p:nvSpPr>
          <p:cNvPr id="377" name="Text 1"/>
          <p:cNvSpPr txBox="1"/>
          <p:nvPr/>
        </p:nvSpPr>
        <p:spPr>
          <a:xfrm>
            <a:off x="912852" y="1482328"/>
            <a:ext cx="846361"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3C3939"/>
                </a:solidFill>
                <a:latin typeface="Roboto Regular Regular"/>
                <a:ea typeface="Roboto Regular Regular"/>
                <a:cs typeface="Roboto Regular Regular"/>
                <a:sym typeface="Roboto Regular Regular"/>
              </a:defRPr>
            </a:lvl1pPr>
          </a:lstStyle>
          <a:p>
            <a:pPr/>
            <a:r>
              <a:t>08 · IMPACT</a:t>
            </a:r>
          </a:p>
        </p:txBody>
      </p:sp>
      <p:sp>
        <p:nvSpPr>
          <p:cNvPr id="378" name="Text 2"/>
          <p:cNvSpPr txBox="1"/>
          <p:nvPr/>
        </p:nvSpPr>
        <p:spPr>
          <a:xfrm>
            <a:off x="793789" y="1875233"/>
            <a:ext cx="3450929"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Business Value</a:t>
            </a:r>
          </a:p>
        </p:txBody>
      </p:sp>
      <p:sp>
        <p:nvSpPr>
          <p:cNvPr id="379" name="Text 3"/>
          <p:cNvSpPr txBox="1"/>
          <p:nvPr/>
        </p:nvSpPr>
        <p:spPr>
          <a:xfrm>
            <a:off x="793790" y="3537108"/>
            <a:ext cx="1967499"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Faster Responses</a:t>
            </a:r>
          </a:p>
        </p:txBody>
      </p:sp>
      <p:sp>
        <p:nvSpPr>
          <p:cNvPr id="380" name="Text 4"/>
          <p:cNvSpPr txBox="1"/>
          <p:nvPr/>
        </p:nvSpPr>
        <p:spPr>
          <a:xfrm>
            <a:off x="793789" y="3966328"/>
            <a:ext cx="6397349"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Emails are classified and routed in seconds — not hours. SLA compliance improves dramatically.</a:t>
            </a:r>
          </a:p>
        </p:txBody>
      </p:sp>
      <p:sp>
        <p:nvSpPr>
          <p:cNvPr id="381" name="Text 5"/>
          <p:cNvSpPr txBox="1"/>
          <p:nvPr/>
        </p:nvSpPr>
        <p:spPr>
          <a:xfrm>
            <a:off x="7439144" y="3537108"/>
            <a:ext cx="1387079"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Lower Costs</a:t>
            </a:r>
          </a:p>
        </p:txBody>
      </p:sp>
      <p:sp>
        <p:nvSpPr>
          <p:cNvPr id="382" name="Text 6"/>
          <p:cNvSpPr txBox="1"/>
          <p:nvPr/>
        </p:nvSpPr>
        <p:spPr>
          <a:xfrm>
            <a:off x="7439144" y="3966328"/>
            <a:ext cx="6397467"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Automation eliminates repetitive manual triage work, freeing staff for higher-value tasks.</a:t>
            </a:r>
          </a:p>
        </p:txBody>
      </p:sp>
      <p:sp>
        <p:nvSpPr>
          <p:cNvPr id="383" name="Text 7"/>
          <p:cNvSpPr txBox="1"/>
          <p:nvPr/>
        </p:nvSpPr>
        <p:spPr>
          <a:xfrm>
            <a:off x="793790" y="5742383"/>
            <a:ext cx="2048151"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Less Manual Work</a:t>
            </a:r>
          </a:p>
        </p:txBody>
      </p:sp>
      <p:sp>
        <p:nvSpPr>
          <p:cNvPr id="384" name="Text 8"/>
          <p:cNvSpPr txBox="1"/>
          <p:nvPr/>
        </p:nvSpPr>
        <p:spPr>
          <a:xfrm>
            <a:off x="793789" y="6171605"/>
            <a:ext cx="6397349"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No one reads and sorts emails by hand. The system handles classification end-to-end.</a:t>
            </a:r>
          </a:p>
        </p:txBody>
      </p:sp>
      <p:sp>
        <p:nvSpPr>
          <p:cNvPr id="385" name="Text 9"/>
          <p:cNvSpPr txBox="1"/>
          <p:nvPr/>
        </p:nvSpPr>
        <p:spPr>
          <a:xfrm>
            <a:off x="7439144" y="5742383"/>
            <a:ext cx="2006997"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Better Experience</a:t>
            </a:r>
          </a:p>
        </p:txBody>
      </p:sp>
      <p:sp>
        <p:nvSpPr>
          <p:cNvPr id="386" name="Text 10"/>
          <p:cNvSpPr txBox="1"/>
          <p:nvPr/>
        </p:nvSpPr>
        <p:spPr>
          <a:xfrm>
            <a:off x="7439144" y="6171605"/>
            <a:ext cx="6397467"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Customers reach the right team faster, reducing friction and increasing satisfaction scores.</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0" name="Shape 0"/>
          <p:cNvSpPr/>
          <p:nvPr/>
        </p:nvSpPr>
        <p:spPr>
          <a:xfrm>
            <a:off x="793790" y="822007"/>
            <a:ext cx="1216581" cy="373143"/>
          </a:xfrm>
          <a:prstGeom prst="roundRect">
            <a:avLst>
              <a:gd name="adj" fmla="val 17872"/>
            </a:avLst>
          </a:prstGeom>
          <a:solidFill>
            <a:srgbClr val="E1E1EA"/>
          </a:solidFill>
          <a:ln w="12700">
            <a:miter lim="400000"/>
          </a:ln>
        </p:spPr>
        <p:txBody>
          <a:bodyPr lIns="45719" rIns="45719"/>
          <a:lstStyle/>
          <a:p>
            <a:pPr/>
          </a:p>
        </p:txBody>
      </p:sp>
      <p:sp>
        <p:nvSpPr>
          <p:cNvPr id="391" name="Text 1"/>
          <p:cNvSpPr txBox="1"/>
          <p:nvPr/>
        </p:nvSpPr>
        <p:spPr>
          <a:xfrm>
            <a:off x="912852" y="881539"/>
            <a:ext cx="952178"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3C3939"/>
                </a:solidFill>
                <a:latin typeface="Roboto Regular Regular"/>
                <a:ea typeface="Roboto Regular Regular"/>
                <a:cs typeface="Roboto Regular Regular"/>
                <a:sym typeface="Roboto Regular Regular"/>
              </a:defRPr>
            </a:lvl1pPr>
          </a:lstStyle>
          <a:p>
            <a:pPr/>
            <a:r>
              <a:t>09 · MINDSET</a:t>
            </a:r>
          </a:p>
        </p:txBody>
      </p:sp>
      <p:sp>
        <p:nvSpPr>
          <p:cNvPr id="392" name="Text 2"/>
          <p:cNvSpPr txBox="1"/>
          <p:nvPr/>
        </p:nvSpPr>
        <p:spPr>
          <a:xfrm>
            <a:off x="793789" y="1274444"/>
            <a:ext cx="4082995"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Think Like an FDE</a:t>
            </a:r>
          </a:p>
        </p:txBody>
      </p:sp>
      <p:sp>
        <p:nvSpPr>
          <p:cNvPr id="393" name="Text 3"/>
          <p:cNvSpPr txBox="1"/>
          <p:nvPr/>
        </p:nvSpPr>
        <p:spPr>
          <a:xfrm>
            <a:off x="793790" y="2192178"/>
            <a:ext cx="13042821"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A Forward Deployed Engineer doesn't just write code — they think through the entire system before writing a single line. Ask these four questions before building anything.</a:t>
            </a:r>
          </a:p>
        </p:txBody>
      </p:sp>
      <p:sp>
        <p:nvSpPr>
          <p:cNvPr id="394" name="Shape 4"/>
          <p:cNvSpPr/>
          <p:nvPr/>
        </p:nvSpPr>
        <p:spPr>
          <a:xfrm>
            <a:off x="793790" y="3348156"/>
            <a:ext cx="6422231" cy="1781652"/>
          </a:xfrm>
          <a:prstGeom prst="roundRect">
            <a:avLst>
              <a:gd name="adj" fmla="val 6159"/>
            </a:avLst>
          </a:prstGeom>
          <a:solidFill>
            <a:srgbClr val="FFFFFF">
              <a:alpha val="95000"/>
            </a:srgbClr>
          </a:solidFill>
          <a:ln w="12700">
            <a:miter lim="400000"/>
          </a:ln>
        </p:spPr>
        <p:txBody>
          <a:bodyPr lIns="45719" rIns="45719"/>
          <a:lstStyle/>
          <a:p>
            <a:pPr/>
          </a:p>
        </p:txBody>
      </p:sp>
      <p:sp>
        <p:nvSpPr>
          <p:cNvPr id="395" name="Shape 5"/>
          <p:cNvSpPr/>
          <p:nvPr/>
        </p:nvSpPr>
        <p:spPr>
          <a:xfrm>
            <a:off x="793790" y="3325297"/>
            <a:ext cx="6422231" cy="91441"/>
          </a:xfrm>
          <a:prstGeom prst="roundRect">
            <a:avLst>
              <a:gd name="adj" fmla="val 50000"/>
            </a:avLst>
          </a:prstGeom>
          <a:solidFill>
            <a:srgbClr val="1B1B27"/>
          </a:solidFill>
          <a:ln w="12700">
            <a:miter lim="400000"/>
          </a:ln>
        </p:spPr>
        <p:txBody>
          <a:bodyPr lIns="45719" rIns="45719"/>
          <a:lstStyle/>
          <a:p>
            <a:pPr/>
          </a:p>
        </p:txBody>
      </p:sp>
      <p:sp>
        <p:nvSpPr>
          <p:cNvPr id="396" name="Shape 6"/>
          <p:cNvSpPr/>
          <p:nvPr/>
        </p:nvSpPr>
        <p:spPr>
          <a:xfrm>
            <a:off x="3707248" y="3050500"/>
            <a:ext cx="595314" cy="595314"/>
          </a:xfrm>
          <a:prstGeom prst="roundRect">
            <a:avLst>
              <a:gd name="adj" fmla="val 50000"/>
            </a:avLst>
          </a:prstGeom>
          <a:solidFill>
            <a:srgbClr val="1B1B27"/>
          </a:solidFill>
          <a:ln w="12700">
            <a:miter lim="400000"/>
          </a:ln>
        </p:spPr>
        <p:txBody>
          <a:bodyPr lIns="45719" rIns="45719"/>
          <a:lstStyle/>
          <a:p>
            <a:pPr/>
          </a:p>
        </p:txBody>
      </p:sp>
      <p:sp>
        <p:nvSpPr>
          <p:cNvPr id="397" name="Text 7"/>
          <p:cNvSpPr txBox="1"/>
          <p:nvPr/>
        </p:nvSpPr>
        <p:spPr>
          <a:xfrm>
            <a:off x="3941405" y="3169010"/>
            <a:ext cx="127001" cy="35829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3000"/>
              </a:lnSpc>
              <a:defRPr>
                <a:solidFill>
                  <a:srgbClr val="FFFFFF"/>
                </a:solidFill>
                <a:latin typeface="Raleway Thin Regular"/>
                <a:ea typeface="Raleway Thin Regular"/>
                <a:cs typeface="Raleway Thin Regular"/>
                <a:sym typeface="Raleway Thin Regular"/>
              </a:defRPr>
            </a:lvl1pPr>
          </a:lstStyle>
          <a:p>
            <a:pPr/>
            <a:r>
              <a:t>1</a:t>
            </a:r>
          </a:p>
        </p:txBody>
      </p:sp>
      <p:sp>
        <p:nvSpPr>
          <p:cNvPr id="398" name="Text 8"/>
          <p:cNvSpPr txBox="1"/>
          <p:nvPr/>
        </p:nvSpPr>
        <p:spPr>
          <a:xfrm>
            <a:off x="1015007" y="3844290"/>
            <a:ext cx="3314385"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Where do emails come from?</a:t>
            </a:r>
          </a:p>
        </p:txBody>
      </p:sp>
      <p:sp>
        <p:nvSpPr>
          <p:cNvPr id="399" name="Text 9"/>
          <p:cNvSpPr txBox="1"/>
          <p:nvPr/>
        </p:nvSpPr>
        <p:spPr>
          <a:xfrm>
            <a:off x="1015007" y="4273510"/>
            <a:ext cx="5979797"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Gmail? Outlook? A helpdesk API? The source determines your ingestion method.</a:t>
            </a:r>
          </a:p>
        </p:txBody>
      </p:sp>
      <p:sp>
        <p:nvSpPr>
          <p:cNvPr id="400" name="Shape 10"/>
          <p:cNvSpPr/>
          <p:nvPr/>
        </p:nvSpPr>
        <p:spPr>
          <a:xfrm>
            <a:off x="7414379" y="3348156"/>
            <a:ext cx="6422232" cy="1781652"/>
          </a:xfrm>
          <a:prstGeom prst="roundRect">
            <a:avLst>
              <a:gd name="adj" fmla="val 6159"/>
            </a:avLst>
          </a:prstGeom>
          <a:solidFill>
            <a:srgbClr val="FFFFFF">
              <a:alpha val="95000"/>
            </a:srgbClr>
          </a:solidFill>
          <a:ln w="12700">
            <a:miter lim="400000"/>
          </a:ln>
        </p:spPr>
        <p:txBody>
          <a:bodyPr lIns="45719" rIns="45719"/>
          <a:lstStyle/>
          <a:p>
            <a:pPr/>
          </a:p>
        </p:txBody>
      </p:sp>
      <p:sp>
        <p:nvSpPr>
          <p:cNvPr id="401" name="Shape 11"/>
          <p:cNvSpPr/>
          <p:nvPr/>
        </p:nvSpPr>
        <p:spPr>
          <a:xfrm>
            <a:off x="7414379" y="3325297"/>
            <a:ext cx="6422232" cy="91441"/>
          </a:xfrm>
          <a:prstGeom prst="roundRect">
            <a:avLst>
              <a:gd name="adj" fmla="val 50000"/>
            </a:avLst>
          </a:prstGeom>
          <a:solidFill>
            <a:srgbClr val="1B1B27"/>
          </a:solidFill>
          <a:ln w="12700">
            <a:miter lim="400000"/>
          </a:ln>
        </p:spPr>
        <p:txBody>
          <a:bodyPr lIns="45719" rIns="45719"/>
          <a:lstStyle/>
          <a:p>
            <a:pPr/>
          </a:p>
        </p:txBody>
      </p:sp>
      <p:sp>
        <p:nvSpPr>
          <p:cNvPr id="402" name="Shape 12"/>
          <p:cNvSpPr/>
          <p:nvPr/>
        </p:nvSpPr>
        <p:spPr>
          <a:xfrm>
            <a:off x="10327837" y="3050500"/>
            <a:ext cx="595314" cy="595314"/>
          </a:xfrm>
          <a:prstGeom prst="roundRect">
            <a:avLst>
              <a:gd name="adj" fmla="val 50000"/>
            </a:avLst>
          </a:prstGeom>
          <a:solidFill>
            <a:srgbClr val="1B1B27"/>
          </a:solidFill>
          <a:ln w="12700">
            <a:miter lim="400000"/>
          </a:ln>
        </p:spPr>
        <p:txBody>
          <a:bodyPr lIns="45719" rIns="45719"/>
          <a:lstStyle/>
          <a:p>
            <a:pPr/>
          </a:p>
        </p:txBody>
      </p:sp>
      <p:sp>
        <p:nvSpPr>
          <p:cNvPr id="403" name="Text 13"/>
          <p:cNvSpPr txBox="1"/>
          <p:nvPr/>
        </p:nvSpPr>
        <p:spPr>
          <a:xfrm>
            <a:off x="10559642" y="3169010"/>
            <a:ext cx="131705" cy="35829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3000"/>
              </a:lnSpc>
              <a:defRPr>
                <a:solidFill>
                  <a:srgbClr val="FFFFFF"/>
                </a:solidFill>
                <a:latin typeface="Raleway Thin Regular"/>
                <a:ea typeface="Raleway Thin Regular"/>
                <a:cs typeface="Raleway Thin Regular"/>
                <a:sym typeface="Raleway Thin Regular"/>
              </a:defRPr>
            </a:lvl1pPr>
          </a:lstStyle>
          <a:p>
            <a:pPr/>
            <a:r>
              <a:t>2</a:t>
            </a:r>
          </a:p>
        </p:txBody>
      </p:sp>
      <p:sp>
        <p:nvSpPr>
          <p:cNvPr id="404" name="Text 14"/>
          <p:cNvSpPr txBox="1"/>
          <p:nvPr/>
        </p:nvSpPr>
        <p:spPr>
          <a:xfrm>
            <a:off x="7635596" y="3844290"/>
            <a:ext cx="2404616"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How are emails read?</a:t>
            </a:r>
          </a:p>
        </p:txBody>
      </p:sp>
      <p:sp>
        <p:nvSpPr>
          <p:cNvPr id="405" name="Text 15"/>
          <p:cNvSpPr txBox="1"/>
          <p:nvPr/>
        </p:nvSpPr>
        <p:spPr>
          <a:xfrm>
            <a:off x="7635596" y="4273510"/>
            <a:ext cx="5979796"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IMAP polling? Webhook? Real-time or batch? Defines your system's responsiveness.</a:t>
            </a:r>
          </a:p>
        </p:txBody>
      </p:sp>
      <p:sp>
        <p:nvSpPr>
          <p:cNvPr id="406" name="Shape 16"/>
          <p:cNvSpPr/>
          <p:nvPr/>
        </p:nvSpPr>
        <p:spPr>
          <a:xfrm>
            <a:off x="793790" y="5625822"/>
            <a:ext cx="6422231" cy="1781652"/>
          </a:xfrm>
          <a:prstGeom prst="roundRect">
            <a:avLst>
              <a:gd name="adj" fmla="val 6159"/>
            </a:avLst>
          </a:prstGeom>
          <a:solidFill>
            <a:srgbClr val="FFFFFF">
              <a:alpha val="95000"/>
            </a:srgbClr>
          </a:solidFill>
          <a:ln w="12700">
            <a:miter lim="400000"/>
          </a:ln>
        </p:spPr>
        <p:txBody>
          <a:bodyPr lIns="45719" rIns="45719"/>
          <a:lstStyle/>
          <a:p>
            <a:pPr/>
          </a:p>
        </p:txBody>
      </p:sp>
      <p:sp>
        <p:nvSpPr>
          <p:cNvPr id="407" name="Shape 17"/>
          <p:cNvSpPr/>
          <p:nvPr/>
        </p:nvSpPr>
        <p:spPr>
          <a:xfrm>
            <a:off x="793790" y="5602961"/>
            <a:ext cx="6422231" cy="91441"/>
          </a:xfrm>
          <a:prstGeom prst="roundRect">
            <a:avLst>
              <a:gd name="adj" fmla="val 50000"/>
            </a:avLst>
          </a:prstGeom>
          <a:solidFill>
            <a:srgbClr val="1B1B27"/>
          </a:solidFill>
          <a:ln w="12700">
            <a:miter lim="400000"/>
          </a:ln>
        </p:spPr>
        <p:txBody>
          <a:bodyPr lIns="45719" rIns="45719"/>
          <a:lstStyle/>
          <a:p>
            <a:pPr/>
          </a:p>
        </p:txBody>
      </p:sp>
      <p:sp>
        <p:nvSpPr>
          <p:cNvPr id="408" name="Shape 18"/>
          <p:cNvSpPr/>
          <p:nvPr/>
        </p:nvSpPr>
        <p:spPr>
          <a:xfrm>
            <a:off x="3707248" y="5328165"/>
            <a:ext cx="595314" cy="595314"/>
          </a:xfrm>
          <a:prstGeom prst="roundRect">
            <a:avLst>
              <a:gd name="adj" fmla="val 50000"/>
            </a:avLst>
          </a:prstGeom>
          <a:solidFill>
            <a:srgbClr val="1B1B27"/>
          </a:solidFill>
          <a:ln w="12700">
            <a:miter lim="400000"/>
          </a:ln>
        </p:spPr>
        <p:txBody>
          <a:bodyPr lIns="45719" rIns="45719"/>
          <a:lstStyle/>
          <a:p>
            <a:pPr/>
          </a:p>
        </p:txBody>
      </p:sp>
      <p:sp>
        <p:nvSpPr>
          <p:cNvPr id="409" name="Text 19"/>
          <p:cNvSpPr txBox="1"/>
          <p:nvPr/>
        </p:nvSpPr>
        <p:spPr>
          <a:xfrm>
            <a:off x="3937472" y="5446676"/>
            <a:ext cx="134867" cy="35829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3000"/>
              </a:lnSpc>
              <a:defRPr>
                <a:solidFill>
                  <a:srgbClr val="FFFFFF"/>
                </a:solidFill>
                <a:latin typeface="Raleway Thin Regular"/>
                <a:ea typeface="Raleway Thin Regular"/>
                <a:cs typeface="Raleway Thin Regular"/>
                <a:sym typeface="Raleway Thin Regular"/>
              </a:defRPr>
            </a:lvl1pPr>
          </a:lstStyle>
          <a:p>
            <a:pPr/>
            <a:r>
              <a:t>3</a:t>
            </a:r>
          </a:p>
        </p:txBody>
      </p:sp>
      <p:sp>
        <p:nvSpPr>
          <p:cNvPr id="410" name="Text 20"/>
          <p:cNvSpPr txBox="1"/>
          <p:nvPr/>
        </p:nvSpPr>
        <p:spPr>
          <a:xfrm>
            <a:off x="1015008" y="6121956"/>
            <a:ext cx="3645197"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How does classification happen?</a:t>
            </a:r>
          </a:p>
        </p:txBody>
      </p:sp>
      <p:sp>
        <p:nvSpPr>
          <p:cNvPr id="411" name="Text 21"/>
          <p:cNvSpPr txBox="1"/>
          <p:nvPr/>
        </p:nvSpPr>
        <p:spPr>
          <a:xfrm>
            <a:off x="1015007" y="6551176"/>
            <a:ext cx="5979797"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Which model? What prompt? How do you handle low-confidence outputs?</a:t>
            </a:r>
          </a:p>
        </p:txBody>
      </p:sp>
      <p:sp>
        <p:nvSpPr>
          <p:cNvPr id="412" name="Shape 22"/>
          <p:cNvSpPr/>
          <p:nvPr/>
        </p:nvSpPr>
        <p:spPr>
          <a:xfrm>
            <a:off x="7414379" y="5625822"/>
            <a:ext cx="6422232" cy="1781652"/>
          </a:xfrm>
          <a:prstGeom prst="roundRect">
            <a:avLst>
              <a:gd name="adj" fmla="val 6159"/>
            </a:avLst>
          </a:prstGeom>
          <a:solidFill>
            <a:srgbClr val="FFFFFF">
              <a:alpha val="95000"/>
            </a:srgbClr>
          </a:solidFill>
          <a:ln w="12700">
            <a:miter lim="400000"/>
          </a:ln>
        </p:spPr>
        <p:txBody>
          <a:bodyPr lIns="45719" rIns="45719"/>
          <a:lstStyle/>
          <a:p>
            <a:pPr/>
          </a:p>
        </p:txBody>
      </p:sp>
      <p:sp>
        <p:nvSpPr>
          <p:cNvPr id="413" name="Shape 23"/>
          <p:cNvSpPr/>
          <p:nvPr/>
        </p:nvSpPr>
        <p:spPr>
          <a:xfrm>
            <a:off x="7414379" y="5602961"/>
            <a:ext cx="6422232" cy="91441"/>
          </a:xfrm>
          <a:prstGeom prst="roundRect">
            <a:avLst>
              <a:gd name="adj" fmla="val 50000"/>
            </a:avLst>
          </a:prstGeom>
          <a:solidFill>
            <a:srgbClr val="1B1B27"/>
          </a:solidFill>
          <a:ln w="12700">
            <a:miter lim="400000"/>
          </a:ln>
        </p:spPr>
        <p:txBody>
          <a:bodyPr lIns="45719" rIns="45719"/>
          <a:lstStyle/>
          <a:p>
            <a:pPr/>
          </a:p>
        </p:txBody>
      </p:sp>
      <p:sp>
        <p:nvSpPr>
          <p:cNvPr id="414" name="Shape 24"/>
          <p:cNvSpPr/>
          <p:nvPr/>
        </p:nvSpPr>
        <p:spPr>
          <a:xfrm>
            <a:off x="10327837" y="5328165"/>
            <a:ext cx="595314" cy="595314"/>
          </a:xfrm>
          <a:prstGeom prst="roundRect">
            <a:avLst>
              <a:gd name="adj" fmla="val 50000"/>
            </a:avLst>
          </a:prstGeom>
          <a:solidFill>
            <a:srgbClr val="1B1B27"/>
          </a:solidFill>
          <a:ln w="12700">
            <a:miter lim="400000"/>
          </a:ln>
        </p:spPr>
        <p:txBody>
          <a:bodyPr lIns="45719" rIns="45719"/>
          <a:lstStyle/>
          <a:p>
            <a:pPr/>
          </a:p>
        </p:txBody>
      </p:sp>
      <p:sp>
        <p:nvSpPr>
          <p:cNvPr id="415" name="Text 25"/>
          <p:cNvSpPr txBox="1"/>
          <p:nvPr/>
        </p:nvSpPr>
        <p:spPr>
          <a:xfrm>
            <a:off x="10556711" y="5446676"/>
            <a:ext cx="137568" cy="35829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3000"/>
              </a:lnSpc>
              <a:defRPr>
                <a:solidFill>
                  <a:srgbClr val="FFFFFF"/>
                </a:solidFill>
                <a:latin typeface="Raleway Thin Regular"/>
                <a:ea typeface="Raleway Thin Regular"/>
                <a:cs typeface="Raleway Thin Regular"/>
                <a:sym typeface="Raleway Thin Regular"/>
              </a:defRPr>
            </a:lvl1pPr>
          </a:lstStyle>
          <a:p>
            <a:pPr/>
            <a:r>
              <a:t>4</a:t>
            </a:r>
          </a:p>
        </p:txBody>
      </p:sp>
      <p:sp>
        <p:nvSpPr>
          <p:cNvPr id="416" name="Text 26"/>
          <p:cNvSpPr txBox="1"/>
          <p:nvPr/>
        </p:nvSpPr>
        <p:spPr>
          <a:xfrm>
            <a:off x="7635596" y="6121956"/>
            <a:ext cx="3007792"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How does routing happen?</a:t>
            </a:r>
          </a:p>
        </p:txBody>
      </p:sp>
      <p:sp>
        <p:nvSpPr>
          <p:cNvPr id="417" name="Text 27"/>
          <p:cNvSpPr txBox="1"/>
          <p:nvPr/>
        </p:nvSpPr>
        <p:spPr>
          <a:xfrm>
            <a:off x="7635596" y="6551176"/>
            <a:ext cx="5979796"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SMTP forwarding? CRM update? Ticketing system? Defines the integration layer.</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1" name="Shape 0"/>
          <p:cNvSpPr/>
          <p:nvPr/>
        </p:nvSpPr>
        <p:spPr>
          <a:xfrm>
            <a:off x="657343" y="460652"/>
            <a:ext cx="1380650" cy="290752"/>
          </a:xfrm>
          <a:prstGeom prst="roundRect">
            <a:avLst>
              <a:gd name="adj" fmla="val 18994"/>
            </a:avLst>
          </a:prstGeom>
          <a:solidFill>
            <a:srgbClr val="E1E1EA"/>
          </a:solidFill>
          <a:ln w="12700">
            <a:miter lim="400000"/>
          </a:ln>
        </p:spPr>
        <p:txBody>
          <a:bodyPr lIns="45719" rIns="45719"/>
          <a:lstStyle/>
          <a:p>
            <a:pPr/>
          </a:p>
        </p:txBody>
      </p:sp>
      <p:sp>
        <p:nvSpPr>
          <p:cNvPr id="422" name="Text 1"/>
          <p:cNvSpPr txBox="1"/>
          <p:nvPr/>
        </p:nvSpPr>
        <p:spPr>
          <a:xfrm>
            <a:off x="755928" y="509944"/>
            <a:ext cx="1156135" cy="18340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000">
                <a:solidFill>
                  <a:srgbClr val="3C3939"/>
                </a:solidFill>
                <a:latin typeface="Roboto Regular Regular"/>
                <a:ea typeface="Roboto Regular Regular"/>
                <a:cs typeface="Roboto Regular Regular"/>
                <a:sym typeface="Roboto Regular Regular"/>
              </a:defRPr>
            </a:lvl1pPr>
          </a:lstStyle>
          <a:p>
            <a:pPr/>
            <a:r>
              <a:t>10 · ARCHITECTURE</a:t>
            </a:r>
          </a:p>
        </p:txBody>
      </p:sp>
      <p:sp>
        <p:nvSpPr>
          <p:cNvPr id="423" name="Text 2"/>
          <p:cNvSpPr txBox="1"/>
          <p:nvPr/>
        </p:nvSpPr>
        <p:spPr>
          <a:xfrm>
            <a:off x="657343" y="805815"/>
            <a:ext cx="3805208" cy="50149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000"/>
              </a:lnSpc>
              <a:defRPr sz="3200">
                <a:solidFill>
                  <a:srgbClr val="1B1B27"/>
                </a:solidFill>
                <a:latin typeface="Raleway Thin Regular"/>
                <a:ea typeface="Raleway Thin Regular"/>
                <a:cs typeface="Raleway Thin Regular"/>
                <a:sym typeface="Raleway Thin Regular"/>
              </a:defRPr>
            </a:lvl1pPr>
          </a:lstStyle>
          <a:p>
            <a:pPr/>
            <a:r>
              <a:t>System Architecture</a:t>
            </a:r>
          </a:p>
        </p:txBody>
      </p:sp>
      <p:sp>
        <p:nvSpPr>
          <p:cNvPr id="424" name="Text 3"/>
          <p:cNvSpPr txBox="1"/>
          <p:nvPr/>
        </p:nvSpPr>
        <p:spPr>
          <a:xfrm>
            <a:off x="657343" y="1523404"/>
            <a:ext cx="10690673" cy="22008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800"/>
              </a:lnSpc>
              <a:defRPr sz="1200">
                <a:solidFill>
                  <a:srgbClr val="3C3939"/>
                </a:solidFill>
                <a:latin typeface="Roboto Regular Regular"/>
                <a:ea typeface="Roboto Regular Regular"/>
                <a:cs typeface="Roboto Regular Regular"/>
                <a:sym typeface="Roboto Regular Regular"/>
              </a:defRPr>
            </a:lvl1pPr>
          </a:lstStyle>
          <a:p>
            <a:pPr/>
            <a:r>
              <a:t>Every component in this pipeline has a specific responsibility. Understanding how they connect is the difference between writing code and designing a system.</a:t>
            </a:r>
          </a:p>
        </p:txBody>
      </p:sp>
      <p:pic>
        <p:nvPicPr>
          <p:cNvPr id="425" name="Image 0" descr="Image 0"/>
          <p:cNvPicPr>
            <a:picLocks noChangeAspect="1"/>
          </p:cNvPicPr>
          <p:nvPr/>
        </p:nvPicPr>
        <p:blipFill>
          <a:blip r:embed="rId3">
            <a:extLst/>
          </a:blip>
          <a:stretch>
            <a:fillRect/>
          </a:stretch>
        </p:blipFill>
        <p:spPr>
          <a:xfrm>
            <a:off x="657343" y="1916787"/>
            <a:ext cx="10485121" cy="5852160"/>
          </a:xfrm>
          <a:prstGeom prst="rect">
            <a:avLst/>
          </a:prstGeom>
          <a:ln w="12700">
            <a:miter lim="400000"/>
          </a:ln>
        </p:spPr>
      </p:pic>
      <p:pic>
        <p:nvPicPr>
          <p:cNvPr id="426" name="Image 1" descr="Image 1"/>
          <p:cNvPicPr>
            <a:picLocks noChangeAspect="1"/>
          </p:cNvPicPr>
          <p:nvPr/>
        </p:nvPicPr>
        <p:blipFill>
          <a:blip r:embed="rId4">
            <a:extLst/>
          </a:blip>
          <a:stretch>
            <a:fillRect/>
          </a:stretch>
        </p:blipFill>
        <p:spPr>
          <a:xfrm>
            <a:off x="657343" y="1916787"/>
            <a:ext cx="10485121" cy="5852160"/>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0" name="Shape 0"/>
          <p:cNvSpPr/>
          <p:nvPr/>
        </p:nvSpPr>
        <p:spPr>
          <a:xfrm>
            <a:off x="793790" y="1107757"/>
            <a:ext cx="1025129" cy="373143"/>
          </a:xfrm>
          <a:prstGeom prst="roundRect">
            <a:avLst>
              <a:gd name="adj" fmla="val 17872"/>
            </a:avLst>
          </a:prstGeom>
          <a:solidFill>
            <a:srgbClr val="E1E1EA"/>
          </a:solidFill>
          <a:ln w="12700">
            <a:miter lim="400000"/>
          </a:ln>
        </p:spPr>
        <p:txBody>
          <a:bodyPr lIns="45719" rIns="45719"/>
          <a:lstStyle/>
          <a:p>
            <a:pPr/>
          </a:p>
        </p:txBody>
      </p:sp>
      <p:sp>
        <p:nvSpPr>
          <p:cNvPr id="431" name="Text 1"/>
          <p:cNvSpPr txBox="1"/>
          <p:nvPr/>
        </p:nvSpPr>
        <p:spPr>
          <a:xfrm>
            <a:off x="912852" y="1167289"/>
            <a:ext cx="768375"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3C3939"/>
                </a:solidFill>
                <a:latin typeface="Roboto Regular Regular"/>
                <a:ea typeface="Roboto Regular Regular"/>
                <a:cs typeface="Roboto Regular Regular"/>
                <a:sym typeface="Roboto Regular Regular"/>
              </a:defRPr>
            </a:lvl1pPr>
          </a:lstStyle>
          <a:p>
            <a:pPr/>
            <a:r>
              <a:t>11 · STACK</a:t>
            </a:r>
          </a:p>
        </p:txBody>
      </p:sp>
      <p:sp>
        <p:nvSpPr>
          <p:cNvPr id="432" name="Text 2"/>
          <p:cNvSpPr txBox="1"/>
          <p:nvPr/>
        </p:nvSpPr>
        <p:spPr>
          <a:xfrm>
            <a:off x="793789" y="1560194"/>
            <a:ext cx="4077915"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Technology Stack</a:t>
            </a:r>
          </a:p>
        </p:txBody>
      </p:sp>
      <p:sp>
        <p:nvSpPr>
          <p:cNvPr id="433" name="Text 3"/>
          <p:cNvSpPr txBox="1"/>
          <p:nvPr/>
        </p:nvSpPr>
        <p:spPr>
          <a:xfrm>
            <a:off x="793790" y="2477928"/>
            <a:ext cx="11297314" cy="3005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This system is built with four tools that every FDE should know. Together, they cover ingestion, orchestration, intelligence, and delivery.</a:t>
            </a:r>
          </a:p>
        </p:txBody>
      </p:sp>
      <p:sp>
        <p:nvSpPr>
          <p:cNvPr id="434" name="Shape 4"/>
          <p:cNvSpPr/>
          <p:nvPr/>
        </p:nvSpPr>
        <p:spPr>
          <a:xfrm>
            <a:off x="793790" y="3018711"/>
            <a:ext cx="6422231" cy="1952388"/>
          </a:xfrm>
          <a:prstGeom prst="roundRect">
            <a:avLst>
              <a:gd name="adj" fmla="val 4270"/>
            </a:avLst>
          </a:prstGeom>
          <a:solidFill>
            <a:srgbClr val="E1E1EA"/>
          </a:solidFill>
          <a:ln w="7620">
            <a:solidFill>
              <a:srgbClr val="C7C7D0"/>
            </a:solidFill>
          </a:ln>
        </p:spPr>
        <p:txBody>
          <a:bodyPr lIns="45719" rIns="45719"/>
          <a:lstStyle/>
          <a:p>
            <a:pPr/>
          </a:p>
        </p:txBody>
      </p:sp>
      <p:sp>
        <p:nvSpPr>
          <p:cNvPr id="435" name="Shape 5"/>
          <p:cNvSpPr/>
          <p:nvPr/>
        </p:nvSpPr>
        <p:spPr>
          <a:xfrm>
            <a:off x="999768" y="3224689"/>
            <a:ext cx="595314" cy="595314"/>
          </a:xfrm>
          <a:prstGeom prst="roundRect">
            <a:avLst>
              <a:gd name="adj" fmla="val 50000"/>
            </a:avLst>
          </a:prstGeom>
          <a:solidFill>
            <a:srgbClr val="1B1B27"/>
          </a:solidFill>
          <a:ln w="12700">
            <a:miter lim="400000"/>
          </a:ln>
        </p:spPr>
        <p:txBody>
          <a:bodyPr lIns="45719" rIns="45719"/>
          <a:lstStyle/>
          <a:p>
            <a:pPr/>
          </a:p>
        </p:txBody>
      </p:sp>
      <p:sp>
        <p:nvSpPr>
          <p:cNvPr id="436" name="Text 6"/>
          <p:cNvSpPr txBox="1"/>
          <p:nvPr/>
        </p:nvSpPr>
        <p:spPr>
          <a:xfrm>
            <a:off x="999768" y="4018358"/>
            <a:ext cx="799304"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Python</a:t>
            </a:r>
          </a:p>
        </p:txBody>
      </p:sp>
      <p:sp>
        <p:nvSpPr>
          <p:cNvPr id="437" name="Text 7"/>
          <p:cNvSpPr txBox="1"/>
          <p:nvPr/>
        </p:nvSpPr>
        <p:spPr>
          <a:xfrm>
            <a:off x="999768" y="4447580"/>
            <a:ext cx="4856963" cy="3005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Core backend language — orchestrates the entire pipeline</a:t>
            </a:r>
          </a:p>
        </p:txBody>
      </p:sp>
      <p:sp>
        <p:nvSpPr>
          <p:cNvPr id="438" name="Shape 8"/>
          <p:cNvSpPr/>
          <p:nvPr/>
        </p:nvSpPr>
        <p:spPr>
          <a:xfrm>
            <a:off x="7414379" y="3018711"/>
            <a:ext cx="6422232" cy="1952388"/>
          </a:xfrm>
          <a:prstGeom prst="roundRect">
            <a:avLst>
              <a:gd name="adj" fmla="val 4270"/>
            </a:avLst>
          </a:prstGeom>
          <a:solidFill>
            <a:srgbClr val="E1E1EA"/>
          </a:solidFill>
          <a:ln w="7620">
            <a:solidFill>
              <a:srgbClr val="C7C7D0"/>
            </a:solidFill>
          </a:ln>
        </p:spPr>
        <p:txBody>
          <a:bodyPr lIns="45719" rIns="45719"/>
          <a:lstStyle/>
          <a:p>
            <a:pPr/>
          </a:p>
        </p:txBody>
      </p:sp>
      <p:sp>
        <p:nvSpPr>
          <p:cNvPr id="439" name="Shape 9"/>
          <p:cNvSpPr/>
          <p:nvPr/>
        </p:nvSpPr>
        <p:spPr>
          <a:xfrm>
            <a:off x="7620357" y="3224689"/>
            <a:ext cx="595314" cy="595314"/>
          </a:xfrm>
          <a:prstGeom prst="roundRect">
            <a:avLst>
              <a:gd name="adj" fmla="val 50000"/>
            </a:avLst>
          </a:prstGeom>
          <a:solidFill>
            <a:srgbClr val="1B1B27"/>
          </a:solidFill>
          <a:ln w="12700">
            <a:miter lim="400000"/>
          </a:ln>
        </p:spPr>
        <p:txBody>
          <a:bodyPr lIns="45719" rIns="45719"/>
          <a:lstStyle/>
          <a:p>
            <a:pPr/>
          </a:p>
        </p:txBody>
      </p:sp>
      <p:sp>
        <p:nvSpPr>
          <p:cNvPr id="440" name="Text 10"/>
          <p:cNvSpPr txBox="1"/>
          <p:nvPr/>
        </p:nvSpPr>
        <p:spPr>
          <a:xfrm>
            <a:off x="7620357" y="4018358"/>
            <a:ext cx="1930326"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Gmail API / IMAP</a:t>
            </a:r>
          </a:p>
        </p:txBody>
      </p:sp>
      <p:sp>
        <p:nvSpPr>
          <p:cNvPr id="441" name="Text 11"/>
          <p:cNvSpPr txBox="1"/>
          <p:nvPr/>
        </p:nvSpPr>
        <p:spPr>
          <a:xfrm>
            <a:off x="7620357" y="4447580"/>
            <a:ext cx="4247512" cy="3005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Reads unread emails from the inbox automatically</a:t>
            </a:r>
          </a:p>
        </p:txBody>
      </p:sp>
      <p:sp>
        <p:nvSpPr>
          <p:cNvPr id="442" name="Shape 12"/>
          <p:cNvSpPr/>
          <p:nvPr/>
        </p:nvSpPr>
        <p:spPr>
          <a:xfrm>
            <a:off x="793790" y="5169456"/>
            <a:ext cx="6422231" cy="1952388"/>
          </a:xfrm>
          <a:prstGeom prst="roundRect">
            <a:avLst>
              <a:gd name="adj" fmla="val 4270"/>
            </a:avLst>
          </a:prstGeom>
          <a:solidFill>
            <a:srgbClr val="E1E1EA"/>
          </a:solidFill>
          <a:ln w="7620">
            <a:solidFill>
              <a:srgbClr val="C7C7D0"/>
            </a:solidFill>
          </a:ln>
        </p:spPr>
        <p:txBody>
          <a:bodyPr lIns="45719" rIns="45719"/>
          <a:lstStyle/>
          <a:p>
            <a:pPr/>
          </a:p>
        </p:txBody>
      </p:sp>
      <p:sp>
        <p:nvSpPr>
          <p:cNvPr id="443" name="Shape 13"/>
          <p:cNvSpPr/>
          <p:nvPr/>
        </p:nvSpPr>
        <p:spPr>
          <a:xfrm>
            <a:off x="999768" y="5375433"/>
            <a:ext cx="595314" cy="595314"/>
          </a:xfrm>
          <a:prstGeom prst="roundRect">
            <a:avLst>
              <a:gd name="adj" fmla="val 50000"/>
            </a:avLst>
          </a:prstGeom>
          <a:solidFill>
            <a:srgbClr val="1B1B27"/>
          </a:solidFill>
          <a:ln w="12700">
            <a:miter lim="400000"/>
          </a:ln>
        </p:spPr>
        <p:txBody>
          <a:bodyPr lIns="45719" rIns="45719"/>
          <a:lstStyle/>
          <a:p>
            <a:pPr/>
          </a:p>
        </p:txBody>
      </p:sp>
      <p:sp>
        <p:nvSpPr>
          <p:cNvPr id="444" name="Text 14"/>
          <p:cNvSpPr txBox="1"/>
          <p:nvPr/>
        </p:nvSpPr>
        <p:spPr>
          <a:xfrm>
            <a:off x="999768" y="6169104"/>
            <a:ext cx="1897721"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OpenAI / Gemini</a:t>
            </a:r>
          </a:p>
        </p:txBody>
      </p:sp>
      <p:sp>
        <p:nvSpPr>
          <p:cNvPr id="445" name="Text 15"/>
          <p:cNvSpPr txBox="1"/>
          <p:nvPr/>
        </p:nvSpPr>
        <p:spPr>
          <a:xfrm>
            <a:off x="999768" y="6598325"/>
            <a:ext cx="4414385" cy="3005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Classifies email intent using a large language model</a:t>
            </a:r>
          </a:p>
        </p:txBody>
      </p:sp>
      <p:sp>
        <p:nvSpPr>
          <p:cNvPr id="446" name="Shape 16"/>
          <p:cNvSpPr/>
          <p:nvPr/>
        </p:nvSpPr>
        <p:spPr>
          <a:xfrm>
            <a:off x="7414379" y="5169456"/>
            <a:ext cx="6422232" cy="1952388"/>
          </a:xfrm>
          <a:prstGeom prst="roundRect">
            <a:avLst>
              <a:gd name="adj" fmla="val 4270"/>
            </a:avLst>
          </a:prstGeom>
          <a:solidFill>
            <a:srgbClr val="E1E1EA"/>
          </a:solidFill>
          <a:ln w="7620">
            <a:solidFill>
              <a:srgbClr val="C7C7D0"/>
            </a:solidFill>
          </a:ln>
        </p:spPr>
        <p:txBody>
          <a:bodyPr lIns="45719" rIns="45719"/>
          <a:lstStyle/>
          <a:p>
            <a:pPr/>
          </a:p>
        </p:txBody>
      </p:sp>
      <p:sp>
        <p:nvSpPr>
          <p:cNvPr id="447" name="Shape 17"/>
          <p:cNvSpPr/>
          <p:nvPr/>
        </p:nvSpPr>
        <p:spPr>
          <a:xfrm>
            <a:off x="7620357" y="5375433"/>
            <a:ext cx="595314" cy="595314"/>
          </a:xfrm>
          <a:prstGeom prst="roundRect">
            <a:avLst>
              <a:gd name="adj" fmla="val 50000"/>
            </a:avLst>
          </a:prstGeom>
          <a:solidFill>
            <a:srgbClr val="1B1B27"/>
          </a:solidFill>
          <a:ln w="12700">
            <a:miter lim="400000"/>
          </a:ln>
        </p:spPr>
        <p:txBody>
          <a:bodyPr lIns="45719" rIns="45719"/>
          <a:lstStyle/>
          <a:p>
            <a:pPr/>
          </a:p>
        </p:txBody>
      </p:sp>
      <p:sp>
        <p:nvSpPr>
          <p:cNvPr id="448" name="Text 18"/>
          <p:cNvSpPr txBox="1"/>
          <p:nvPr/>
        </p:nvSpPr>
        <p:spPr>
          <a:xfrm>
            <a:off x="7620357" y="6169104"/>
            <a:ext cx="667972"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SMTP</a:t>
            </a:r>
          </a:p>
        </p:txBody>
      </p:sp>
      <p:sp>
        <p:nvSpPr>
          <p:cNvPr id="449" name="Text 19"/>
          <p:cNvSpPr txBox="1"/>
          <p:nvPr/>
        </p:nvSpPr>
        <p:spPr>
          <a:xfrm>
            <a:off x="7620357" y="6598325"/>
            <a:ext cx="4608885" cy="3005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Delivers routed emails to the correct department inbox</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3" name="Shape 0"/>
          <p:cNvSpPr/>
          <p:nvPr/>
        </p:nvSpPr>
        <p:spPr>
          <a:xfrm>
            <a:off x="0" y="0"/>
            <a:ext cx="5486400" cy="8229600"/>
          </a:xfrm>
          <a:prstGeom prst="rect">
            <a:avLst/>
          </a:prstGeom>
          <a:solidFill>
            <a:srgbClr val="E1E1EA"/>
          </a:solidFill>
          <a:ln w="12700">
            <a:miter lim="400000"/>
          </a:ln>
        </p:spPr>
        <p:txBody>
          <a:bodyPr lIns="45719" rIns="45719"/>
          <a:lstStyle/>
          <a:p>
            <a:pPr/>
          </a:p>
        </p:txBody>
      </p:sp>
      <p:pic>
        <p:nvPicPr>
          <p:cNvPr id="454" name="Image 0" descr="Image 0"/>
          <p:cNvPicPr>
            <a:picLocks noChangeAspect="1"/>
          </p:cNvPicPr>
          <p:nvPr/>
        </p:nvPicPr>
        <p:blipFill>
          <a:blip r:embed="rId3">
            <a:extLst/>
          </a:blip>
          <a:stretch>
            <a:fillRect/>
          </a:stretch>
        </p:blipFill>
        <p:spPr>
          <a:xfrm>
            <a:off x="99178" y="148708"/>
            <a:ext cx="5288043" cy="7932065"/>
          </a:xfrm>
          <a:prstGeom prst="rect">
            <a:avLst/>
          </a:prstGeom>
          <a:ln w="12700">
            <a:miter lim="400000"/>
          </a:ln>
        </p:spPr>
      </p:pic>
      <p:sp>
        <p:nvSpPr>
          <p:cNvPr id="455" name="Shape 1"/>
          <p:cNvSpPr/>
          <p:nvPr/>
        </p:nvSpPr>
        <p:spPr>
          <a:xfrm>
            <a:off x="6280189" y="719017"/>
            <a:ext cx="978933" cy="373143"/>
          </a:xfrm>
          <a:prstGeom prst="roundRect">
            <a:avLst>
              <a:gd name="adj" fmla="val 17872"/>
            </a:avLst>
          </a:prstGeom>
          <a:solidFill>
            <a:srgbClr val="E1E1EA"/>
          </a:solidFill>
          <a:ln w="12700">
            <a:miter lim="400000"/>
          </a:ln>
        </p:spPr>
        <p:txBody>
          <a:bodyPr lIns="45719" rIns="45719"/>
          <a:lstStyle/>
          <a:p>
            <a:pPr/>
          </a:p>
        </p:txBody>
      </p:sp>
      <p:sp>
        <p:nvSpPr>
          <p:cNvPr id="456" name="Text 2"/>
          <p:cNvSpPr txBox="1"/>
          <p:nvPr/>
        </p:nvSpPr>
        <p:spPr>
          <a:xfrm>
            <a:off x="6399252" y="778550"/>
            <a:ext cx="723950"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3C3939"/>
                </a:solidFill>
                <a:latin typeface="Roboto Regular Regular"/>
                <a:ea typeface="Roboto Regular Regular"/>
                <a:cs typeface="Roboto Regular Regular"/>
                <a:sym typeface="Roboto Regular Regular"/>
              </a:defRPr>
            </a:lvl1pPr>
          </a:lstStyle>
          <a:p>
            <a:pPr/>
            <a:r>
              <a:t>12 · DEMO</a:t>
            </a:r>
          </a:p>
        </p:txBody>
      </p:sp>
      <p:sp>
        <p:nvSpPr>
          <p:cNvPr id="457" name="Text 3"/>
          <p:cNvSpPr txBox="1"/>
          <p:nvPr/>
        </p:nvSpPr>
        <p:spPr>
          <a:xfrm>
            <a:off x="6280189" y="1171456"/>
            <a:ext cx="4929487"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Live Workshop Demo</a:t>
            </a:r>
          </a:p>
        </p:txBody>
      </p:sp>
      <p:sp>
        <p:nvSpPr>
          <p:cNvPr id="458" name="Text 4"/>
          <p:cNvSpPr txBox="1"/>
          <p:nvPr/>
        </p:nvSpPr>
        <p:spPr>
          <a:xfrm>
            <a:off x="6280189" y="2089189"/>
            <a:ext cx="5122893" cy="83822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6700"/>
              </a:lnSpc>
              <a:defRPr sz="5300">
                <a:solidFill>
                  <a:srgbClr val="1B1B27"/>
                </a:solidFill>
                <a:latin typeface="Raleway Thin Regular"/>
                <a:ea typeface="Raleway Thin Regular"/>
                <a:cs typeface="Raleway Thin Regular"/>
                <a:sym typeface="Raleway Thin Regular"/>
              </a:defRPr>
            </a:lvl1pPr>
          </a:lstStyle>
          <a:p>
            <a:pPr/>
            <a:r>
              <a:t>Over to VS Code</a:t>
            </a:r>
          </a:p>
        </p:txBody>
      </p:sp>
      <p:sp>
        <p:nvSpPr>
          <p:cNvPr id="459" name="Text 5"/>
          <p:cNvSpPr txBox="1"/>
          <p:nvPr/>
        </p:nvSpPr>
        <p:spPr>
          <a:xfrm>
            <a:off x="6280189" y="3217382"/>
            <a:ext cx="203141" cy="29857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nSpc>
                <a:spcPts val="2500"/>
              </a:lnSpc>
              <a:defRPr sz="1500">
                <a:solidFill>
                  <a:srgbClr val="3C3939"/>
                </a:solidFill>
                <a:latin typeface="Raleway Light"/>
                <a:ea typeface="Raleway Light"/>
                <a:cs typeface="Raleway Light"/>
                <a:sym typeface="Raleway Light"/>
              </a:defRPr>
            </a:lvl1pPr>
          </a:lstStyle>
          <a:p>
            <a:pPr/>
            <a:r>
              <a:t>01</a:t>
            </a:r>
          </a:p>
        </p:txBody>
      </p:sp>
      <p:sp>
        <p:nvSpPr>
          <p:cNvPr id="460" name="Shape 6"/>
          <p:cNvSpPr/>
          <p:nvPr/>
        </p:nvSpPr>
        <p:spPr>
          <a:xfrm>
            <a:off x="6280189" y="3556992"/>
            <a:ext cx="7556422" cy="22861"/>
          </a:xfrm>
          <a:prstGeom prst="rect">
            <a:avLst/>
          </a:prstGeom>
          <a:solidFill>
            <a:srgbClr val="1B1B27"/>
          </a:solidFill>
          <a:ln w="12700">
            <a:miter lim="400000"/>
          </a:ln>
        </p:spPr>
        <p:txBody>
          <a:bodyPr lIns="45719" rIns="45719"/>
          <a:lstStyle/>
          <a:p>
            <a:pPr/>
          </a:p>
        </p:txBody>
      </p:sp>
      <p:sp>
        <p:nvSpPr>
          <p:cNvPr id="461" name="Text 7"/>
          <p:cNvSpPr txBox="1"/>
          <p:nvPr/>
        </p:nvSpPr>
        <p:spPr>
          <a:xfrm>
            <a:off x="6280189" y="3701891"/>
            <a:ext cx="2229916"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Read unread emails</a:t>
            </a:r>
          </a:p>
        </p:txBody>
      </p:sp>
      <p:sp>
        <p:nvSpPr>
          <p:cNvPr id="462" name="Text 8"/>
          <p:cNvSpPr txBox="1"/>
          <p:nvPr/>
        </p:nvSpPr>
        <p:spPr>
          <a:xfrm>
            <a:off x="6280189" y="4333950"/>
            <a:ext cx="223267" cy="29857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nSpc>
                <a:spcPts val="2500"/>
              </a:lnSpc>
              <a:defRPr sz="1500">
                <a:solidFill>
                  <a:srgbClr val="3C3939"/>
                </a:solidFill>
                <a:latin typeface="Raleway Light"/>
                <a:ea typeface="Raleway Light"/>
                <a:cs typeface="Raleway Light"/>
                <a:sym typeface="Raleway Light"/>
              </a:defRPr>
            </a:lvl1pPr>
          </a:lstStyle>
          <a:p>
            <a:pPr/>
            <a:r>
              <a:t>02</a:t>
            </a:r>
          </a:p>
        </p:txBody>
      </p:sp>
      <p:sp>
        <p:nvSpPr>
          <p:cNvPr id="463" name="Shape 9"/>
          <p:cNvSpPr/>
          <p:nvPr/>
        </p:nvSpPr>
        <p:spPr>
          <a:xfrm>
            <a:off x="6280189" y="4673560"/>
            <a:ext cx="7556422" cy="22861"/>
          </a:xfrm>
          <a:prstGeom prst="rect">
            <a:avLst/>
          </a:prstGeom>
          <a:solidFill>
            <a:srgbClr val="1B1B27"/>
          </a:solidFill>
          <a:ln w="12700">
            <a:miter lim="400000"/>
          </a:ln>
        </p:spPr>
        <p:txBody>
          <a:bodyPr lIns="45719" rIns="45719"/>
          <a:lstStyle/>
          <a:p>
            <a:pPr/>
          </a:p>
        </p:txBody>
      </p:sp>
      <p:sp>
        <p:nvSpPr>
          <p:cNvPr id="464" name="Text 10"/>
          <p:cNvSpPr txBox="1"/>
          <p:nvPr/>
        </p:nvSpPr>
        <p:spPr>
          <a:xfrm>
            <a:off x="6280189" y="4818458"/>
            <a:ext cx="1707798"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Extract content</a:t>
            </a:r>
          </a:p>
        </p:txBody>
      </p:sp>
      <p:sp>
        <p:nvSpPr>
          <p:cNvPr id="465" name="Text 11"/>
          <p:cNvSpPr txBox="1"/>
          <p:nvPr/>
        </p:nvSpPr>
        <p:spPr>
          <a:xfrm>
            <a:off x="6280189" y="5450518"/>
            <a:ext cx="228757" cy="29857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nSpc>
                <a:spcPts val="2500"/>
              </a:lnSpc>
              <a:defRPr sz="1500">
                <a:solidFill>
                  <a:srgbClr val="3C3939"/>
                </a:solidFill>
                <a:latin typeface="Raleway Light"/>
                <a:ea typeface="Raleway Light"/>
                <a:cs typeface="Raleway Light"/>
                <a:sym typeface="Raleway Light"/>
              </a:defRPr>
            </a:lvl1pPr>
          </a:lstStyle>
          <a:p>
            <a:pPr/>
            <a:r>
              <a:t>03</a:t>
            </a:r>
          </a:p>
        </p:txBody>
      </p:sp>
      <p:sp>
        <p:nvSpPr>
          <p:cNvPr id="466" name="Shape 12"/>
          <p:cNvSpPr/>
          <p:nvPr/>
        </p:nvSpPr>
        <p:spPr>
          <a:xfrm>
            <a:off x="6280189" y="5790127"/>
            <a:ext cx="7556422" cy="22861"/>
          </a:xfrm>
          <a:prstGeom prst="rect">
            <a:avLst/>
          </a:prstGeom>
          <a:solidFill>
            <a:srgbClr val="1B1B27"/>
          </a:solidFill>
          <a:ln w="12700">
            <a:miter lim="400000"/>
          </a:ln>
        </p:spPr>
        <p:txBody>
          <a:bodyPr lIns="45719" rIns="45719"/>
          <a:lstStyle/>
          <a:p>
            <a:pPr/>
          </a:p>
        </p:txBody>
      </p:sp>
      <p:sp>
        <p:nvSpPr>
          <p:cNvPr id="467" name="Text 13"/>
          <p:cNvSpPr txBox="1"/>
          <p:nvPr/>
        </p:nvSpPr>
        <p:spPr>
          <a:xfrm>
            <a:off x="6280189" y="5935028"/>
            <a:ext cx="1667249"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Classify with AI</a:t>
            </a:r>
          </a:p>
        </p:txBody>
      </p:sp>
      <p:sp>
        <p:nvSpPr>
          <p:cNvPr id="468" name="Text 14"/>
          <p:cNvSpPr txBox="1"/>
          <p:nvPr/>
        </p:nvSpPr>
        <p:spPr>
          <a:xfrm>
            <a:off x="6280189" y="6567087"/>
            <a:ext cx="229009" cy="29857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nSpc>
                <a:spcPts val="2500"/>
              </a:lnSpc>
              <a:defRPr sz="1500">
                <a:solidFill>
                  <a:srgbClr val="3C3939"/>
                </a:solidFill>
                <a:latin typeface="Raleway Light"/>
                <a:ea typeface="Raleway Light"/>
                <a:cs typeface="Raleway Light"/>
                <a:sym typeface="Raleway Light"/>
              </a:defRPr>
            </a:lvl1pPr>
          </a:lstStyle>
          <a:p>
            <a:pPr/>
            <a:r>
              <a:t>04</a:t>
            </a:r>
          </a:p>
        </p:txBody>
      </p:sp>
      <p:sp>
        <p:nvSpPr>
          <p:cNvPr id="469" name="Shape 15"/>
          <p:cNvSpPr/>
          <p:nvPr/>
        </p:nvSpPr>
        <p:spPr>
          <a:xfrm>
            <a:off x="6280189" y="6906697"/>
            <a:ext cx="7556422" cy="22861"/>
          </a:xfrm>
          <a:prstGeom prst="rect">
            <a:avLst/>
          </a:prstGeom>
          <a:solidFill>
            <a:srgbClr val="1B1B27"/>
          </a:solidFill>
          <a:ln w="12700">
            <a:miter lim="400000"/>
          </a:ln>
        </p:spPr>
        <p:txBody>
          <a:bodyPr lIns="45719" rIns="45719"/>
          <a:lstStyle/>
          <a:p>
            <a:pPr/>
          </a:p>
        </p:txBody>
      </p:sp>
      <p:sp>
        <p:nvSpPr>
          <p:cNvPr id="470" name="Text 16"/>
          <p:cNvSpPr txBox="1"/>
          <p:nvPr/>
        </p:nvSpPr>
        <p:spPr>
          <a:xfrm>
            <a:off x="6280189" y="7051595"/>
            <a:ext cx="2240157"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Route automatically</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4" name="Shape 0"/>
          <p:cNvSpPr/>
          <p:nvPr/>
        </p:nvSpPr>
        <p:spPr>
          <a:xfrm>
            <a:off x="706992" y="497085"/>
            <a:ext cx="664251" cy="319803"/>
          </a:xfrm>
          <a:prstGeom prst="roundRect">
            <a:avLst>
              <a:gd name="adj" fmla="val 18572"/>
            </a:avLst>
          </a:prstGeom>
          <a:solidFill>
            <a:srgbClr val="E1E1EA"/>
          </a:solidFill>
          <a:ln w="12700">
            <a:miter lim="400000"/>
          </a:ln>
        </p:spPr>
        <p:txBody>
          <a:bodyPr lIns="45719" rIns="45719"/>
          <a:lstStyle/>
          <a:p>
            <a:pPr/>
          </a:p>
        </p:txBody>
      </p:sp>
      <p:sp>
        <p:nvSpPr>
          <p:cNvPr id="475" name="Text 1"/>
          <p:cNvSpPr txBox="1"/>
          <p:nvPr/>
        </p:nvSpPr>
        <p:spPr>
          <a:xfrm>
            <a:off x="812958" y="550068"/>
            <a:ext cx="459701" cy="19666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600"/>
              </a:lnSpc>
              <a:defRPr sz="1100">
                <a:solidFill>
                  <a:srgbClr val="3C3939"/>
                </a:solidFill>
                <a:latin typeface="Roboto Regular Regular"/>
                <a:ea typeface="Roboto Regular Regular"/>
                <a:cs typeface="Roboto Regular Regular"/>
                <a:sym typeface="Roboto Regular Regular"/>
              </a:defRPr>
            </a:lvl1pPr>
          </a:lstStyle>
          <a:p>
            <a:pPr/>
            <a:r>
              <a:t>STEP 1</a:t>
            </a:r>
          </a:p>
        </p:txBody>
      </p:sp>
      <p:sp>
        <p:nvSpPr>
          <p:cNvPr id="476" name="Text 2"/>
          <p:cNvSpPr txBox="1"/>
          <p:nvPr/>
        </p:nvSpPr>
        <p:spPr>
          <a:xfrm>
            <a:off x="706992" y="879752"/>
            <a:ext cx="2467541" cy="53792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300"/>
              </a:lnSpc>
              <a:defRPr sz="3400">
                <a:solidFill>
                  <a:srgbClr val="1B1B27"/>
                </a:solidFill>
                <a:latin typeface="Raleway Thin Regular"/>
                <a:ea typeface="Raleway Thin Regular"/>
                <a:cs typeface="Raleway Thin Regular"/>
                <a:sym typeface="Raleway Thin Regular"/>
              </a:defRPr>
            </a:lvl1pPr>
          </a:lstStyle>
          <a:p>
            <a:pPr/>
            <a:r>
              <a:t>Read Emails</a:t>
            </a:r>
          </a:p>
        </p:txBody>
      </p:sp>
      <p:sp>
        <p:nvSpPr>
          <p:cNvPr id="477" name="Text 3"/>
          <p:cNvSpPr txBox="1"/>
          <p:nvPr/>
        </p:nvSpPr>
        <p:spPr>
          <a:xfrm>
            <a:off x="706993" y="1809987"/>
            <a:ext cx="7074931" cy="787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300">
                <a:solidFill>
                  <a:srgbClr val="3C3939"/>
                </a:solidFill>
                <a:latin typeface="Roboto Regular Regular"/>
                <a:ea typeface="Roboto Regular Regular"/>
                <a:cs typeface="Roboto Regular Regular"/>
                <a:sym typeface="Roboto Regular Regular"/>
              </a:defRPr>
            </a:lvl1pPr>
          </a:lstStyle>
          <a:p>
            <a:pPr/>
            <a:r>
              <a:t>The first step is connecting to the Gmail inbox using IMAP and fetching all unread messages. The script authenticates with the mail server, selects the inbox, and retrieves only the messages the system hasn't processed yet — avoiding duplicates and reprocessing.</a:t>
            </a:r>
          </a:p>
        </p:txBody>
      </p:sp>
      <p:sp>
        <p:nvSpPr>
          <p:cNvPr id="478" name="Shape 4"/>
          <p:cNvSpPr/>
          <p:nvPr/>
        </p:nvSpPr>
        <p:spPr>
          <a:xfrm>
            <a:off x="706992" y="3056691"/>
            <a:ext cx="7074933" cy="966431"/>
          </a:xfrm>
          <a:prstGeom prst="roundRect">
            <a:avLst>
              <a:gd name="adj" fmla="val 7682"/>
            </a:avLst>
          </a:prstGeom>
          <a:solidFill>
            <a:srgbClr val="B6D6FC"/>
          </a:solidFill>
          <a:ln w="12700">
            <a:miter lim="400000"/>
          </a:ln>
        </p:spPr>
        <p:txBody>
          <a:bodyPr lIns="45719" rIns="45719"/>
          <a:lstStyle/>
          <a:p>
            <a:pPr/>
          </a:p>
        </p:txBody>
      </p:sp>
      <p:pic>
        <p:nvPicPr>
          <p:cNvPr id="479" name="Image 0" descr="Image 0"/>
          <p:cNvPicPr>
            <a:picLocks noChangeAspect="1"/>
          </p:cNvPicPr>
          <p:nvPr/>
        </p:nvPicPr>
        <p:blipFill>
          <a:blip r:embed="rId3">
            <a:extLst/>
          </a:blip>
          <a:stretch>
            <a:fillRect/>
          </a:stretch>
        </p:blipFill>
        <p:spPr>
          <a:xfrm>
            <a:off x="883682" y="3313390"/>
            <a:ext cx="220862" cy="176689"/>
          </a:xfrm>
          <a:prstGeom prst="rect">
            <a:avLst/>
          </a:prstGeom>
          <a:ln w="12700">
            <a:miter lim="400000"/>
          </a:ln>
        </p:spPr>
      </p:pic>
      <p:sp>
        <p:nvSpPr>
          <p:cNvPr id="480" name="Text 5"/>
          <p:cNvSpPr txBox="1"/>
          <p:nvPr/>
        </p:nvSpPr>
        <p:spPr>
          <a:xfrm>
            <a:off x="1281231" y="3258263"/>
            <a:ext cx="6324007" cy="5203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300">
                <a:latin typeface="Roboto Regular Regular"/>
                <a:ea typeface="Roboto Regular Regular"/>
                <a:cs typeface="Roboto Regular Regular"/>
                <a:sym typeface="Roboto Regular Regular"/>
              </a:defRPr>
            </a:lvl1pPr>
          </a:lstStyle>
          <a:p>
            <a:pPr/>
            <a:r>
              <a:t>The system marks each email as "read" after processing to ensure it isn't classified twice.</a:t>
            </a:r>
          </a:p>
        </p:txBody>
      </p:sp>
      <p:sp>
        <p:nvSpPr>
          <p:cNvPr id="481" name="Text 6"/>
          <p:cNvSpPr txBox="1"/>
          <p:nvPr/>
        </p:nvSpPr>
        <p:spPr>
          <a:xfrm>
            <a:off x="706993" y="4200168"/>
            <a:ext cx="7074931" cy="7870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ts val="2100"/>
              </a:lnSpc>
              <a:buSzPct val="100000"/>
              <a:buChar char="•"/>
              <a:defRPr sz="1300">
                <a:solidFill>
                  <a:srgbClr val="3C3939"/>
                </a:solidFill>
                <a:latin typeface="Roboto Regular Regular"/>
                <a:ea typeface="Roboto Regular Regular"/>
                <a:cs typeface="Roboto Regular Regular"/>
                <a:sym typeface="Roboto Regular Regular"/>
              </a:defRPr>
            </a:pPr>
            <a:r>
              <a:t>Authenticate via IMAP or Gmail API</a:t>
            </a:r>
          </a:p>
          <a:p>
            <a:pPr marL="342900" indent="-342900">
              <a:lnSpc>
                <a:spcPts val="2100"/>
              </a:lnSpc>
              <a:buSzPct val="100000"/>
              <a:buChar char="•"/>
              <a:defRPr sz="1300">
                <a:solidFill>
                  <a:srgbClr val="3C3939"/>
                </a:solidFill>
                <a:latin typeface="Roboto Regular Regular"/>
                <a:ea typeface="Roboto Regular Regular"/>
                <a:cs typeface="Roboto Regular Regular"/>
                <a:sym typeface="Roboto Regular Regular"/>
              </a:defRPr>
            </a:pPr>
            <a:r>
              <a:t>Fetch only unread messages</a:t>
            </a:r>
          </a:p>
          <a:p>
            <a:pPr marL="342900" indent="-342900">
              <a:lnSpc>
                <a:spcPts val="2100"/>
              </a:lnSpc>
              <a:buSzPct val="100000"/>
              <a:buChar char="•"/>
              <a:defRPr sz="1300">
                <a:solidFill>
                  <a:srgbClr val="3C3939"/>
                </a:solidFill>
                <a:latin typeface="Roboto Regular Regular"/>
                <a:ea typeface="Roboto Regular Regular"/>
                <a:cs typeface="Roboto Regular Regular"/>
                <a:sym typeface="Roboto Regular Regular"/>
              </a:defRPr>
            </a:pPr>
            <a:r>
              <a:t>Extract raw email data into memory</a:t>
            </a:r>
          </a:p>
        </p:txBody>
      </p:sp>
      <p:pic>
        <p:nvPicPr>
          <p:cNvPr id="482" name="Image 1" descr="Image 1"/>
          <p:cNvPicPr>
            <a:picLocks noChangeAspect="1"/>
          </p:cNvPicPr>
          <p:nvPr/>
        </p:nvPicPr>
        <p:blipFill>
          <a:blip r:embed="rId4">
            <a:extLst/>
          </a:blip>
          <a:stretch>
            <a:fillRect/>
          </a:stretch>
        </p:blipFill>
        <p:spPr>
          <a:xfrm>
            <a:off x="8220788" y="1845349"/>
            <a:ext cx="5710120" cy="5710120"/>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6" name="Shape 0"/>
          <p:cNvSpPr/>
          <p:nvPr/>
        </p:nvSpPr>
        <p:spPr>
          <a:xfrm>
            <a:off x="793790" y="1729145"/>
            <a:ext cx="746047" cy="373143"/>
          </a:xfrm>
          <a:prstGeom prst="roundRect">
            <a:avLst>
              <a:gd name="adj" fmla="val 17872"/>
            </a:avLst>
          </a:prstGeom>
          <a:solidFill>
            <a:srgbClr val="E1E1EA"/>
          </a:solidFill>
          <a:ln w="12700">
            <a:miter lim="400000"/>
          </a:ln>
        </p:spPr>
        <p:txBody>
          <a:bodyPr lIns="45719" rIns="45719"/>
          <a:lstStyle/>
          <a:p>
            <a:pPr/>
          </a:p>
        </p:txBody>
      </p:sp>
      <p:sp>
        <p:nvSpPr>
          <p:cNvPr id="487" name="Text 1"/>
          <p:cNvSpPr txBox="1"/>
          <p:nvPr/>
        </p:nvSpPr>
        <p:spPr>
          <a:xfrm>
            <a:off x="912852" y="1788676"/>
            <a:ext cx="500336"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3C3939"/>
                </a:solidFill>
                <a:latin typeface="Roboto Regular Regular"/>
                <a:ea typeface="Roboto Regular Regular"/>
                <a:cs typeface="Roboto Regular Regular"/>
                <a:sym typeface="Roboto Regular Regular"/>
              </a:defRPr>
            </a:lvl1pPr>
          </a:lstStyle>
          <a:p>
            <a:pPr/>
            <a:r>
              <a:t>STEP 2</a:t>
            </a:r>
          </a:p>
        </p:txBody>
      </p:sp>
      <p:sp>
        <p:nvSpPr>
          <p:cNvPr id="488" name="Text 2"/>
          <p:cNvSpPr txBox="1"/>
          <p:nvPr/>
        </p:nvSpPr>
        <p:spPr>
          <a:xfrm>
            <a:off x="793789" y="2181581"/>
            <a:ext cx="3562505"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Extract Content</a:t>
            </a:r>
          </a:p>
        </p:txBody>
      </p:sp>
      <p:sp>
        <p:nvSpPr>
          <p:cNvPr id="489" name="Text 3"/>
          <p:cNvSpPr txBox="1"/>
          <p:nvPr/>
        </p:nvSpPr>
        <p:spPr>
          <a:xfrm>
            <a:off x="793790" y="3099316"/>
            <a:ext cx="13042821"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Before classification, the system must parse the raw email into clean, structured fields. The language model will only receive the information it needs — no noise, no headers, no metadata bloat.</a:t>
            </a:r>
          </a:p>
        </p:txBody>
      </p:sp>
      <p:sp>
        <p:nvSpPr>
          <p:cNvPr id="490" name="Shape 4"/>
          <p:cNvSpPr/>
          <p:nvPr/>
        </p:nvSpPr>
        <p:spPr>
          <a:xfrm>
            <a:off x="793790" y="3957637"/>
            <a:ext cx="13042821" cy="1476257"/>
          </a:xfrm>
          <a:prstGeom prst="roundRect">
            <a:avLst>
              <a:gd name="adj" fmla="val 5647"/>
            </a:avLst>
          </a:prstGeom>
          <a:solidFill>
            <a:srgbClr val="E1E1EA"/>
          </a:solidFill>
          <a:ln w="7620">
            <a:solidFill>
              <a:srgbClr val="C7C7D0"/>
            </a:solidFill>
          </a:ln>
        </p:spPr>
        <p:txBody>
          <a:bodyPr lIns="45719" rIns="45719"/>
          <a:lstStyle/>
          <a:p>
            <a:pPr/>
          </a:p>
        </p:txBody>
      </p:sp>
      <p:sp>
        <p:nvSpPr>
          <p:cNvPr id="491" name="Shape 5"/>
          <p:cNvSpPr/>
          <p:nvPr/>
        </p:nvSpPr>
        <p:spPr>
          <a:xfrm>
            <a:off x="801409" y="3965257"/>
            <a:ext cx="4342450" cy="1461017"/>
          </a:xfrm>
          <a:prstGeom prst="roundRect">
            <a:avLst>
              <a:gd name="adj" fmla="val 5706"/>
            </a:avLst>
          </a:prstGeom>
          <a:solidFill>
            <a:srgbClr val="E1E1EA"/>
          </a:solidFill>
          <a:ln w="12700">
            <a:miter lim="400000"/>
          </a:ln>
        </p:spPr>
        <p:txBody>
          <a:bodyPr lIns="45719" rIns="45719"/>
          <a:lstStyle/>
          <a:p>
            <a:pPr/>
          </a:p>
        </p:txBody>
      </p:sp>
      <p:sp>
        <p:nvSpPr>
          <p:cNvPr id="492" name="Text 6"/>
          <p:cNvSpPr txBox="1"/>
          <p:nvPr/>
        </p:nvSpPr>
        <p:spPr>
          <a:xfrm>
            <a:off x="999768" y="4163616"/>
            <a:ext cx="1171303"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Sender</a:t>
            </a:r>
          </a:p>
        </p:txBody>
      </p:sp>
      <p:sp>
        <p:nvSpPr>
          <p:cNvPr id="493" name="Text 7"/>
          <p:cNvSpPr txBox="1"/>
          <p:nvPr/>
        </p:nvSpPr>
        <p:spPr>
          <a:xfrm>
            <a:off x="999768" y="4592835"/>
            <a:ext cx="3945731"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Who sent the email — used for logging and reply routing</a:t>
            </a:r>
          </a:p>
        </p:txBody>
      </p:sp>
      <p:sp>
        <p:nvSpPr>
          <p:cNvPr id="494" name="Shape 8"/>
          <p:cNvSpPr/>
          <p:nvPr/>
        </p:nvSpPr>
        <p:spPr>
          <a:xfrm>
            <a:off x="5143856" y="3965257"/>
            <a:ext cx="4342569" cy="1461017"/>
          </a:xfrm>
          <a:prstGeom prst="rect">
            <a:avLst/>
          </a:prstGeom>
          <a:solidFill>
            <a:srgbClr val="E1E1EA"/>
          </a:solidFill>
          <a:ln w="12700">
            <a:miter lim="400000"/>
          </a:ln>
        </p:spPr>
        <p:txBody>
          <a:bodyPr lIns="45719" rIns="45719"/>
          <a:lstStyle/>
          <a:p>
            <a:pPr/>
          </a:p>
        </p:txBody>
      </p:sp>
      <p:sp>
        <p:nvSpPr>
          <p:cNvPr id="495" name="Shape 9"/>
          <p:cNvSpPr/>
          <p:nvPr/>
        </p:nvSpPr>
        <p:spPr>
          <a:xfrm>
            <a:off x="5143856" y="3965257"/>
            <a:ext cx="22861" cy="1461017"/>
          </a:xfrm>
          <a:prstGeom prst="roundRect">
            <a:avLst>
              <a:gd name="adj" fmla="val 50000"/>
            </a:avLst>
          </a:prstGeom>
          <a:solidFill>
            <a:srgbClr val="C7C7D0"/>
          </a:solidFill>
          <a:ln w="12700">
            <a:miter lim="400000"/>
          </a:ln>
        </p:spPr>
        <p:txBody>
          <a:bodyPr lIns="45719" rIns="45719"/>
          <a:lstStyle/>
          <a:p>
            <a:pPr/>
          </a:p>
        </p:txBody>
      </p:sp>
      <p:sp>
        <p:nvSpPr>
          <p:cNvPr id="496" name="Text 10"/>
          <p:cNvSpPr txBox="1"/>
          <p:nvPr/>
        </p:nvSpPr>
        <p:spPr>
          <a:xfrm>
            <a:off x="5342215" y="4163616"/>
            <a:ext cx="1214280"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Subject</a:t>
            </a:r>
          </a:p>
        </p:txBody>
      </p:sp>
      <p:sp>
        <p:nvSpPr>
          <p:cNvPr id="497" name="Text 11"/>
          <p:cNvSpPr txBox="1"/>
          <p:nvPr/>
        </p:nvSpPr>
        <p:spPr>
          <a:xfrm>
            <a:off x="5342214" y="4592835"/>
            <a:ext cx="3945851"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Often contains the clearest signal for classification</a:t>
            </a:r>
          </a:p>
        </p:txBody>
      </p:sp>
      <p:sp>
        <p:nvSpPr>
          <p:cNvPr id="498" name="Shape 12"/>
          <p:cNvSpPr/>
          <p:nvPr/>
        </p:nvSpPr>
        <p:spPr>
          <a:xfrm>
            <a:off x="9486424" y="3965257"/>
            <a:ext cx="4342568" cy="1461017"/>
          </a:xfrm>
          <a:prstGeom prst="rect">
            <a:avLst/>
          </a:prstGeom>
          <a:solidFill>
            <a:srgbClr val="E1E1EA"/>
          </a:solidFill>
          <a:ln w="12700">
            <a:miter lim="400000"/>
          </a:ln>
        </p:spPr>
        <p:txBody>
          <a:bodyPr lIns="45719" rIns="45719"/>
          <a:lstStyle/>
          <a:p>
            <a:pPr/>
          </a:p>
        </p:txBody>
      </p:sp>
      <p:sp>
        <p:nvSpPr>
          <p:cNvPr id="499" name="Shape 13"/>
          <p:cNvSpPr/>
          <p:nvPr/>
        </p:nvSpPr>
        <p:spPr>
          <a:xfrm>
            <a:off x="9486424" y="3965257"/>
            <a:ext cx="22861" cy="1461017"/>
          </a:xfrm>
          <a:prstGeom prst="roundRect">
            <a:avLst>
              <a:gd name="adj" fmla="val 50000"/>
            </a:avLst>
          </a:prstGeom>
          <a:solidFill>
            <a:srgbClr val="C7C7D0"/>
          </a:solidFill>
          <a:ln w="12700">
            <a:miter lim="400000"/>
          </a:ln>
        </p:spPr>
        <p:txBody>
          <a:bodyPr lIns="45719" rIns="45719"/>
          <a:lstStyle/>
          <a:p>
            <a:pPr/>
          </a:p>
        </p:txBody>
      </p:sp>
      <p:sp>
        <p:nvSpPr>
          <p:cNvPr id="500" name="Text 14"/>
          <p:cNvSpPr txBox="1"/>
          <p:nvPr/>
        </p:nvSpPr>
        <p:spPr>
          <a:xfrm>
            <a:off x="9684781" y="4163616"/>
            <a:ext cx="951681"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Body</a:t>
            </a:r>
          </a:p>
        </p:txBody>
      </p:sp>
      <p:sp>
        <p:nvSpPr>
          <p:cNvPr id="501" name="Text 15"/>
          <p:cNvSpPr txBox="1"/>
          <p:nvPr/>
        </p:nvSpPr>
        <p:spPr>
          <a:xfrm>
            <a:off x="9684781" y="4592835"/>
            <a:ext cx="3945850"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The full message text — primary input to the LLM prompt</a:t>
            </a:r>
          </a:p>
        </p:txBody>
      </p:sp>
      <p:sp>
        <p:nvSpPr>
          <p:cNvPr id="502" name="Shape 16"/>
          <p:cNvSpPr/>
          <p:nvPr/>
        </p:nvSpPr>
        <p:spPr>
          <a:xfrm>
            <a:off x="793790" y="5657136"/>
            <a:ext cx="13042821" cy="843202"/>
          </a:xfrm>
          <a:prstGeom prst="roundRect">
            <a:avLst>
              <a:gd name="adj" fmla="val 9886"/>
            </a:avLst>
          </a:prstGeom>
          <a:solidFill>
            <a:srgbClr val="D2D2E0"/>
          </a:solidFill>
          <a:ln w="12700">
            <a:miter lim="400000"/>
          </a:ln>
        </p:spPr>
        <p:txBody>
          <a:bodyPr lIns="45719" rIns="45719"/>
          <a:lstStyle/>
          <a:p>
            <a:pPr/>
          </a:p>
        </p:txBody>
      </p:sp>
      <p:pic>
        <p:nvPicPr>
          <p:cNvPr id="503" name="Image 0" descr="Image 0"/>
          <p:cNvPicPr>
            <a:picLocks noChangeAspect="1"/>
          </p:cNvPicPr>
          <p:nvPr/>
        </p:nvPicPr>
        <p:blipFill>
          <a:blip r:embed="rId3">
            <a:extLst/>
          </a:blip>
          <a:stretch>
            <a:fillRect/>
          </a:stretch>
        </p:blipFill>
        <p:spPr>
          <a:xfrm>
            <a:off x="992147" y="5952411"/>
            <a:ext cx="248008" cy="198359"/>
          </a:xfrm>
          <a:prstGeom prst="rect">
            <a:avLst/>
          </a:prstGeom>
          <a:ln w="12700">
            <a:miter lim="400000"/>
          </a:ln>
        </p:spPr>
      </p:pic>
      <p:sp>
        <p:nvSpPr>
          <p:cNvPr id="504" name="Text 17"/>
          <p:cNvSpPr txBox="1"/>
          <p:nvPr/>
        </p:nvSpPr>
        <p:spPr>
          <a:xfrm>
            <a:off x="1438512" y="5905024"/>
            <a:ext cx="7526475" cy="3005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latin typeface="Roboto Regular Regular"/>
                <a:ea typeface="Roboto Regular Regular"/>
                <a:cs typeface="Roboto Regular Regular"/>
                <a:sym typeface="Roboto Regular Regular"/>
              </a:defRPr>
            </a:lvl1pPr>
          </a:lstStyle>
          <a:p>
            <a:pPr/>
            <a:r>
              <a:t>Clean inputs produce clean classifications. Garbage in, garbage out — this step is critical.</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8" name="Shape 0"/>
          <p:cNvSpPr/>
          <p:nvPr/>
        </p:nvSpPr>
        <p:spPr>
          <a:xfrm>
            <a:off x="793790" y="694373"/>
            <a:ext cx="634128" cy="300991"/>
          </a:xfrm>
          <a:prstGeom prst="roundRect">
            <a:avLst>
              <a:gd name="adj" fmla="val 18833"/>
            </a:avLst>
          </a:prstGeom>
          <a:solidFill>
            <a:srgbClr val="E1E1EA"/>
          </a:solidFill>
          <a:ln w="12700">
            <a:miter lim="400000"/>
          </a:ln>
        </p:spPr>
        <p:txBody>
          <a:bodyPr lIns="45719" rIns="45719"/>
          <a:lstStyle/>
          <a:p>
            <a:pPr/>
          </a:p>
        </p:txBody>
      </p:sp>
      <p:sp>
        <p:nvSpPr>
          <p:cNvPr id="509" name="Text 1"/>
          <p:cNvSpPr txBox="1"/>
          <p:nvPr/>
        </p:nvSpPr>
        <p:spPr>
          <a:xfrm>
            <a:off x="894993" y="744974"/>
            <a:ext cx="419063" cy="18340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000">
                <a:solidFill>
                  <a:srgbClr val="3C3939"/>
                </a:solidFill>
                <a:latin typeface="Roboto Regular Regular"/>
                <a:ea typeface="Roboto Regular Regular"/>
                <a:cs typeface="Roboto Regular Regular"/>
                <a:sym typeface="Roboto Regular Regular"/>
              </a:defRPr>
            </a:lvl1pPr>
          </a:lstStyle>
          <a:p>
            <a:pPr/>
            <a:r>
              <a:t>STEP 3</a:t>
            </a:r>
          </a:p>
        </p:txBody>
      </p:sp>
      <p:sp>
        <p:nvSpPr>
          <p:cNvPr id="510" name="Text 2"/>
          <p:cNvSpPr txBox="1"/>
          <p:nvPr/>
        </p:nvSpPr>
        <p:spPr>
          <a:xfrm>
            <a:off x="793789" y="1052631"/>
            <a:ext cx="3044901" cy="51462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100"/>
              </a:lnSpc>
              <a:defRPr sz="3300">
                <a:solidFill>
                  <a:srgbClr val="1B1B27"/>
                </a:solidFill>
                <a:latin typeface="Raleway Thin Regular"/>
                <a:ea typeface="Raleway Thin Regular"/>
                <a:cs typeface="Raleway Thin Regular"/>
                <a:sym typeface="Raleway Thin Regular"/>
              </a:defRPr>
            </a:lvl1pPr>
          </a:lstStyle>
          <a:p>
            <a:pPr/>
            <a:r>
              <a:t>AI Classification</a:t>
            </a:r>
          </a:p>
        </p:txBody>
      </p:sp>
      <p:sp>
        <p:nvSpPr>
          <p:cNvPr id="511" name="Text 3"/>
          <p:cNvSpPr txBox="1"/>
          <p:nvPr/>
        </p:nvSpPr>
        <p:spPr>
          <a:xfrm>
            <a:off x="793790" y="1794748"/>
            <a:ext cx="13042821" cy="474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900"/>
              </a:lnSpc>
              <a:defRPr sz="1300">
                <a:solidFill>
                  <a:srgbClr val="3C3939"/>
                </a:solidFill>
                <a:latin typeface="Roboto Regular Regular"/>
                <a:ea typeface="Roboto Regular Regular"/>
                <a:cs typeface="Roboto Regular Regular"/>
                <a:sym typeface="Roboto Regular Regular"/>
              </a:defRPr>
            </a:lvl1pPr>
          </a:lstStyle>
          <a:p>
            <a:pPr/>
            <a:r>
              <a:t>The extracted email content is passed to the language model with a structured prompt. The model returns a single category label. The system uses that label to determine the routing destination.</a:t>
            </a:r>
          </a:p>
        </p:txBody>
      </p:sp>
      <p:pic>
        <p:nvPicPr>
          <p:cNvPr id="512" name="Image 0" descr="Image 0"/>
          <p:cNvPicPr>
            <a:picLocks noChangeAspect="1"/>
          </p:cNvPicPr>
          <p:nvPr/>
        </p:nvPicPr>
        <p:blipFill>
          <a:blip r:embed="rId3">
            <a:extLst/>
          </a:blip>
          <a:stretch>
            <a:fillRect/>
          </a:stretch>
        </p:blipFill>
        <p:spPr>
          <a:xfrm>
            <a:off x="793790" y="2455306"/>
            <a:ext cx="6521410" cy="674728"/>
          </a:xfrm>
          <a:prstGeom prst="rect">
            <a:avLst/>
          </a:prstGeom>
          <a:ln w="12700">
            <a:miter lim="400000"/>
          </a:ln>
        </p:spPr>
      </p:pic>
      <p:sp>
        <p:nvSpPr>
          <p:cNvPr id="513" name="Text 4"/>
          <p:cNvSpPr txBox="1"/>
          <p:nvPr/>
        </p:nvSpPr>
        <p:spPr>
          <a:xfrm>
            <a:off x="962381" y="3273385"/>
            <a:ext cx="1524246" cy="25074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600">
                <a:solidFill>
                  <a:srgbClr val="3C3939"/>
                </a:solidFill>
                <a:latin typeface="Raleway Thin Regular"/>
                <a:ea typeface="Raleway Thin Regular"/>
                <a:cs typeface="Raleway Thin Regular"/>
                <a:sym typeface="Raleway Thin Regular"/>
              </a:defRPr>
            </a:lvl1pPr>
          </a:lstStyle>
          <a:p>
            <a:pPr/>
            <a:r>
              <a:t>Refund Request</a:t>
            </a:r>
          </a:p>
        </p:txBody>
      </p:sp>
      <p:sp>
        <p:nvSpPr>
          <p:cNvPr id="514" name="Text 5"/>
          <p:cNvSpPr txBox="1"/>
          <p:nvPr/>
        </p:nvSpPr>
        <p:spPr>
          <a:xfrm>
            <a:off x="962381" y="3622833"/>
            <a:ext cx="2822384" cy="23334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C3939"/>
                </a:solidFill>
                <a:latin typeface="Roboto Regular Regular"/>
                <a:ea typeface="Roboto Regular Regular"/>
                <a:cs typeface="Roboto Regular Regular"/>
                <a:sym typeface="Roboto Regular Regular"/>
              </a:defRPr>
            </a:lvl1pPr>
          </a:lstStyle>
          <a:p>
            <a:pPr/>
            <a:r>
              <a:t>Keywords: refund, charge, money back</a:t>
            </a:r>
          </a:p>
        </p:txBody>
      </p:sp>
      <p:pic>
        <p:nvPicPr>
          <p:cNvPr id="515" name="Image 1" descr="Image 1"/>
          <p:cNvPicPr>
            <a:picLocks noChangeAspect="1"/>
          </p:cNvPicPr>
          <p:nvPr/>
        </p:nvPicPr>
        <p:blipFill>
          <a:blip r:embed="rId4">
            <a:extLst/>
          </a:blip>
          <a:stretch>
            <a:fillRect/>
          </a:stretch>
        </p:blipFill>
        <p:spPr>
          <a:xfrm>
            <a:off x="7315200" y="2455306"/>
            <a:ext cx="6521410" cy="674728"/>
          </a:xfrm>
          <a:prstGeom prst="rect">
            <a:avLst/>
          </a:prstGeom>
          <a:ln w="12700">
            <a:miter lim="400000"/>
          </a:ln>
        </p:spPr>
      </p:pic>
      <p:sp>
        <p:nvSpPr>
          <p:cNvPr id="516" name="Text 6"/>
          <p:cNvSpPr txBox="1"/>
          <p:nvPr/>
        </p:nvSpPr>
        <p:spPr>
          <a:xfrm>
            <a:off x="7483792" y="3273385"/>
            <a:ext cx="1409927" cy="25074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600">
                <a:solidFill>
                  <a:srgbClr val="3C3939"/>
                </a:solidFill>
                <a:latin typeface="Raleway Thin Regular"/>
                <a:ea typeface="Raleway Thin Regular"/>
                <a:cs typeface="Raleway Thin Regular"/>
                <a:sym typeface="Raleway Thin Regular"/>
              </a:defRPr>
            </a:lvl1pPr>
          </a:lstStyle>
          <a:p>
            <a:pPr/>
            <a:r>
              <a:t>→ Billing Team</a:t>
            </a:r>
          </a:p>
        </p:txBody>
      </p:sp>
      <p:sp>
        <p:nvSpPr>
          <p:cNvPr id="517" name="Text 7"/>
          <p:cNvSpPr txBox="1"/>
          <p:nvPr/>
        </p:nvSpPr>
        <p:spPr>
          <a:xfrm>
            <a:off x="7483791" y="3622833"/>
            <a:ext cx="2852373" cy="23334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C3939"/>
                </a:solidFill>
                <a:latin typeface="Roboto Regular Regular"/>
                <a:ea typeface="Roboto Regular Regular"/>
                <a:cs typeface="Roboto Regular Regular"/>
                <a:sym typeface="Roboto Regular Regular"/>
              </a:defRPr>
            </a:lvl1pPr>
          </a:lstStyle>
          <a:p>
            <a:pPr/>
            <a:r>
              <a:t>Handles all payment and refund issues</a:t>
            </a:r>
          </a:p>
        </p:txBody>
      </p:sp>
      <p:pic>
        <p:nvPicPr>
          <p:cNvPr id="518" name="Image 2" descr="Image 2"/>
          <p:cNvPicPr>
            <a:picLocks noChangeAspect="1"/>
          </p:cNvPicPr>
          <p:nvPr/>
        </p:nvPicPr>
        <p:blipFill>
          <a:blip r:embed="rId3">
            <a:extLst/>
          </a:blip>
          <a:stretch>
            <a:fillRect/>
          </a:stretch>
        </p:blipFill>
        <p:spPr>
          <a:xfrm>
            <a:off x="793790" y="4202310"/>
            <a:ext cx="6521410" cy="674728"/>
          </a:xfrm>
          <a:prstGeom prst="rect">
            <a:avLst/>
          </a:prstGeom>
          <a:ln w="12700">
            <a:miter lim="400000"/>
          </a:ln>
        </p:spPr>
      </p:pic>
      <p:sp>
        <p:nvSpPr>
          <p:cNvPr id="519" name="Text 8"/>
          <p:cNvSpPr txBox="1"/>
          <p:nvPr/>
        </p:nvSpPr>
        <p:spPr>
          <a:xfrm>
            <a:off x="962381" y="5020388"/>
            <a:ext cx="1000401" cy="25074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600">
                <a:solidFill>
                  <a:srgbClr val="3C3939"/>
                </a:solidFill>
                <a:latin typeface="Raleway Thin Regular"/>
                <a:ea typeface="Raleway Thin Regular"/>
                <a:cs typeface="Raleway Thin Regular"/>
                <a:sym typeface="Raleway Thin Regular"/>
              </a:defRPr>
            </a:lvl1pPr>
          </a:lstStyle>
          <a:p>
            <a:pPr/>
            <a:r>
              <a:t>Tech Issue</a:t>
            </a:r>
          </a:p>
        </p:txBody>
      </p:sp>
      <p:sp>
        <p:nvSpPr>
          <p:cNvPr id="520" name="Text 9"/>
          <p:cNvSpPr txBox="1"/>
          <p:nvPr/>
        </p:nvSpPr>
        <p:spPr>
          <a:xfrm>
            <a:off x="962381" y="5369838"/>
            <a:ext cx="2659783" cy="23334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C3939"/>
                </a:solidFill>
                <a:latin typeface="Roboto Regular Regular"/>
                <a:ea typeface="Roboto Regular Regular"/>
                <a:cs typeface="Roboto Regular Regular"/>
                <a:sym typeface="Roboto Regular Regular"/>
              </a:defRPr>
            </a:lvl1pPr>
          </a:lstStyle>
          <a:p>
            <a:pPr/>
            <a:r>
              <a:t>Keywords: error, broken, not working</a:t>
            </a:r>
          </a:p>
        </p:txBody>
      </p:sp>
      <p:pic>
        <p:nvPicPr>
          <p:cNvPr id="521" name="Image 3" descr="Image 3"/>
          <p:cNvPicPr>
            <a:picLocks noChangeAspect="1"/>
          </p:cNvPicPr>
          <p:nvPr/>
        </p:nvPicPr>
        <p:blipFill>
          <a:blip r:embed="rId4">
            <a:extLst/>
          </a:blip>
          <a:stretch>
            <a:fillRect/>
          </a:stretch>
        </p:blipFill>
        <p:spPr>
          <a:xfrm>
            <a:off x="7315200" y="4202310"/>
            <a:ext cx="6521410" cy="674728"/>
          </a:xfrm>
          <a:prstGeom prst="rect">
            <a:avLst/>
          </a:prstGeom>
          <a:ln w="12700">
            <a:miter lim="400000"/>
          </a:ln>
        </p:spPr>
      </p:pic>
      <p:sp>
        <p:nvSpPr>
          <p:cNvPr id="522" name="Text 10"/>
          <p:cNvSpPr txBox="1"/>
          <p:nvPr/>
        </p:nvSpPr>
        <p:spPr>
          <a:xfrm>
            <a:off x="7483792" y="5020388"/>
            <a:ext cx="1519275" cy="25074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600">
                <a:solidFill>
                  <a:srgbClr val="3C3939"/>
                </a:solidFill>
                <a:latin typeface="Raleway Thin Regular"/>
                <a:ea typeface="Raleway Thin Regular"/>
                <a:cs typeface="Raleway Thin Regular"/>
                <a:sym typeface="Raleway Thin Regular"/>
              </a:defRPr>
            </a:lvl1pPr>
          </a:lstStyle>
          <a:p>
            <a:pPr/>
            <a:r>
              <a:t>→ Tech Support</a:t>
            </a:r>
          </a:p>
        </p:txBody>
      </p:sp>
      <p:sp>
        <p:nvSpPr>
          <p:cNvPr id="523" name="Text 11"/>
          <p:cNvSpPr txBox="1"/>
          <p:nvPr/>
        </p:nvSpPr>
        <p:spPr>
          <a:xfrm>
            <a:off x="7483791" y="5369838"/>
            <a:ext cx="3070357" cy="23334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C3939"/>
                </a:solidFill>
                <a:latin typeface="Roboto Regular Regular"/>
                <a:ea typeface="Roboto Regular Regular"/>
                <a:cs typeface="Roboto Regular Regular"/>
                <a:sym typeface="Roboto Regular Regular"/>
              </a:defRPr>
            </a:lvl1pPr>
          </a:lstStyle>
          <a:p>
            <a:pPr/>
            <a:r>
              <a:t>Handles bugs, outages, and feature errors</a:t>
            </a:r>
          </a:p>
        </p:txBody>
      </p:sp>
      <p:pic>
        <p:nvPicPr>
          <p:cNvPr id="524" name="Image 4" descr="Image 4"/>
          <p:cNvPicPr>
            <a:picLocks noChangeAspect="1"/>
          </p:cNvPicPr>
          <p:nvPr/>
        </p:nvPicPr>
        <p:blipFill>
          <a:blip r:embed="rId3">
            <a:extLst/>
          </a:blip>
          <a:stretch>
            <a:fillRect/>
          </a:stretch>
        </p:blipFill>
        <p:spPr>
          <a:xfrm>
            <a:off x="793790" y="5949315"/>
            <a:ext cx="6521410" cy="674728"/>
          </a:xfrm>
          <a:prstGeom prst="rect">
            <a:avLst/>
          </a:prstGeom>
          <a:ln w="12700">
            <a:miter lim="400000"/>
          </a:ln>
        </p:spPr>
      </p:pic>
      <p:sp>
        <p:nvSpPr>
          <p:cNvPr id="525" name="Text 12"/>
          <p:cNvSpPr txBox="1"/>
          <p:nvPr/>
        </p:nvSpPr>
        <p:spPr>
          <a:xfrm>
            <a:off x="962381" y="6767393"/>
            <a:ext cx="1211819" cy="25074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600">
                <a:solidFill>
                  <a:srgbClr val="3C3939"/>
                </a:solidFill>
                <a:latin typeface="Raleway Thin Regular"/>
                <a:ea typeface="Raleway Thin Regular"/>
                <a:cs typeface="Raleway Thin Regular"/>
                <a:sym typeface="Raleway Thin Regular"/>
              </a:defRPr>
            </a:lvl1pPr>
          </a:lstStyle>
          <a:p>
            <a:pPr/>
            <a:r>
              <a:t>Sales Inquiry</a:t>
            </a:r>
          </a:p>
        </p:txBody>
      </p:sp>
      <p:sp>
        <p:nvSpPr>
          <p:cNvPr id="526" name="Text 13"/>
          <p:cNvSpPr txBox="1"/>
          <p:nvPr/>
        </p:nvSpPr>
        <p:spPr>
          <a:xfrm>
            <a:off x="962381" y="7116842"/>
            <a:ext cx="2863337" cy="23334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C3939"/>
                </a:solidFill>
                <a:latin typeface="Roboto Regular Regular"/>
                <a:ea typeface="Roboto Regular Regular"/>
                <a:cs typeface="Roboto Regular Regular"/>
                <a:sym typeface="Roboto Regular Regular"/>
              </a:defRPr>
            </a:lvl1pPr>
          </a:lstStyle>
          <a:p>
            <a:pPr/>
            <a:r>
              <a:t>Keywords: pricing, demo, upgrade, plan</a:t>
            </a:r>
          </a:p>
        </p:txBody>
      </p:sp>
      <p:pic>
        <p:nvPicPr>
          <p:cNvPr id="527" name="Image 5" descr="Image 5"/>
          <p:cNvPicPr>
            <a:picLocks noChangeAspect="1"/>
          </p:cNvPicPr>
          <p:nvPr/>
        </p:nvPicPr>
        <p:blipFill>
          <a:blip r:embed="rId4">
            <a:extLst/>
          </a:blip>
          <a:stretch>
            <a:fillRect/>
          </a:stretch>
        </p:blipFill>
        <p:spPr>
          <a:xfrm>
            <a:off x="7315200" y="5949315"/>
            <a:ext cx="6521410" cy="674728"/>
          </a:xfrm>
          <a:prstGeom prst="rect">
            <a:avLst/>
          </a:prstGeom>
          <a:ln w="12700">
            <a:miter lim="400000"/>
          </a:ln>
        </p:spPr>
      </p:pic>
      <p:sp>
        <p:nvSpPr>
          <p:cNvPr id="528" name="Text 14"/>
          <p:cNvSpPr txBox="1"/>
          <p:nvPr/>
        </p:nvSpPr>
        <p:spPr>
          <a:xfrm>
            <a:off x="7483792" y="6767393"/>
            <a:ext cx="1338358" cy="25074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600">
                <a:solidFill>
                  <a:srgbClr val="3C3939"/>
                </a:solidFill>
                <a:latin typeface="Raleway Thin Regular"/>
                <a:ea typeface="Raleway Thin Regular"/>
                <a:cs typeface="Raleway Thin Regular"/>
                <a:sym typeface="Raleway Thin Regular"/>
              </a:defRPr>
            </a:lvl1pPr>
          </a:lstStyle>
          <a:p>
            <a:pPr/>
            <a:r>
              <a:t>→ Sales Team</a:t>
            </a:r>
          </a:p>
        </p:txBody>
      </p:sp>
      <p:sp>
        <p:nvSpPr>
          <p:cNvPr id="529" name="Text 15"/>
          <p:cNvSpPr txBox="1"/>
          <p:nvPr/>
        </p:nvSpPr>
        <p:spPr>
          <a:xfrm>
            <a:off x="7483791" y="7116842"/>
            <a:ext cx="2812952" cy="23334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C3939"/>
                </a:solidFill>
                <a:latin typeface="Roboto Regular Regular"/>
                <a:ea typeface="Roboto Regular Regular"/>
                <a:cs typeface="Roboto Regular Regular"/>
                <a:sym typeface="Roboto Regular Regular"/>
              </a:defRPr>
            </a:lvl1pPr>
          </a:lstStyle>
          <a:p>
            <a:pPr/>
            <a:r>
              <a:t>Handles all commercial conversations</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3" name="Shape 0"/>
          <p:cNvSpPr/>
          <p:nvPr/>
        </p:nvSpPr>
        <p:spPr>
          <a:xfrm>
            <a:off x="706992" y="497085"/>
            <a:ext cx="664251" cy="319803"/>
          </a:xfrm>
          <a:prstGeom prst="roundRect">
            <a:avLst>
              <a:gd name="adj" fmla="val 18572"/>
            </a:avLst>
          </a:prstGeom>
          <a:solidFill>
            <a:srgbClr val="E1E1EA"/>
          </a:solidFill>
          <a:ln w="12700">
            <a:miter lim="400000"/>
          </a:ln>
        </p:spPr>
        <p:txBody>
          <a:bodyPr lIns="45719" rIns="45719"/>
          <a:lstStyle/>
          <a:p>
            <a:pPr/>
          </a:p>
        </p:txBody>
      </p:sp>
      <p:sp>
        <p:nvSpPr>
          <p:cNvPr id="534" name="Text 1"/>
          <p:cNvSpPr txBox="1"/>
          <p:nvPr/>
        </p:nvSpPr>
        <p:spPr>
          <a:xfrm>
            <a:off x="812958" y="550068"/>
            <a:ext cx="459701" cy="19666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600"/>
              </a:lnSpc>
              <a:defRPr sz="1100">
                <a:solidFill>
                  <a:srgbClr val="3C3939"/>
                </a:solidFill>
                <a:latin typeface="Roboto Regular Regular"/>
                <a:ea typeface="Roboto Regular Regular"/>
                <a:cs typeface="Roboto Regular Regular"/>
                <a:sym typeface="Roboto Regular Regular"/>
              </a:defRPr>
            </a:lvl1pPr>
          </a:lstStyle>
          <a:p>
            <a:pPr/>
            <a:r>
              <a:t>STEP 4</a:t>
            </a:r>
          </a:p>
        </p:txBody>
      </p:sp>
      <p:sp>
        <p:nvSpPr>
          <p:cNvPr id="535" name="Text 2"/>
          <p:cNvSpPr txBox="1"/>
          <p:nvPr/>
        </p:nvSpPr>
        <p:spPr>
          <a:xfrm>
            <a:off x="706992" y="879752"/>
            <a:ext cx="2618007" cy="53792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300"/>
              </a:lnSpc>
              <a:defRPr sz="3400">
                <a:solidFill>
                  <a:srgbClr val="1B1B27"/>
                </a:solidFill>
                <a:latin typeface="Raleway Thin Regular"/>
                <a:ea typeface="Raleway Thin Regular"/>
                <a:cs typeface="Raleway Thin Regular"/>
                <a:sym typeface="Raleway Thin Regular"/>
              </a:defRPr>
            </a:lvl1pPr>
          </a:lstStyle>
          <a:p>
            <a:pPr/>
            <a:r>
              <a:t>Route Emails</a:t>
            </a:r>
          </a:p>
        </p:txBody>
      </p:sp>
      <p:pic>
        <p:nvPicPr>
          <p:cNvPr id="536" name="Image 0" descr="Image 0"/>
          <p:cNvPicPr>
            <a:picLocks noChangeAspect="1"/>
          </p:cNvPicPr>
          <p:nvPr/>
        </p:nvPicPr>
        <p:blipFill>
          <a:blip r:embed="rId3">
            <a:extLst/>
          </a:blip>
          <a:stretch>
            <a:fillRect/>
          </a:stretch>
        </p:blipFill>
        <p:spPr>
          <a:xfrm>
            <a:off x="706992" y="1845349"/>
            <a:ext cx="5710120" cy="5710120"/>
          </a:xfrm>
          <a:prstGeom prst="rect">
            <a:avLst/>
          </a:prstGeom>
          <a:ln w="12700">
            <a:miter lim="400000"/>
          </a:ln>
        </p:spPr>
      </p:pic>
      <p:sp>
        <p:nvSpPr>
          <p:cNvPr id="537" name="Text 3"/>
          <p:cNvSpPr txBox="1"/>
          <p:nvPr/>
        </p:nvSpPr>
        <p:spPr>
          <a:xfrm>
            <a:off x="6855976" y="1809987"/>
            <a:ext cx="7074932" cy="787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300">
                <a:solidFill>
                  <a:srgbClr val="3C3939"/>
                </a:solidFill>
                <a:latin typeface="Roboto Regular Regular"/>
                <a:ea typeface="Roboto Regular Regular"/>
                <a:cs typeface="Roboto Regular Regular"/>
                <a:sym typeface="Roboto Regular Regular"/>
              </a:defRPr>
            </a:lvl1pPr>
          </a:lstStyle>
          <a:p>
            <a:pPr/>
            <a:r>
              <a:t>Once the category is known, the system uses SMTP or Gmail API  to forward the original email — along with classification metadata — to the correct department inbox. No human decides. No manual copy-paste. The right team simply receives the right email.</a:t>
            </a:r>
          </a:p>
        </p:txBody>
      </p:sp>
      <p:sp>
        <p:nvSpPr>
          <p:cNvPr id="538" name="Text 4"/>
          <p:cNvSpPr txBox="1"/>
          <p:nvPr/>
        </p:nvSpPr>
        <p:spPr>
          <a:xfrm>
            <a:off x="6855976" y="2854463"/>
            <a:ext cx="7074932" cy="10537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ts val="2100"/>
              </a:lnSpc>
              <a:buSzPct val="100000"/>
              <a:buChar char="•"/>
              <a:defRPr sz="1300">
                <a:solidFill>
                  <a:srgbClr val="3C3939"/>
                </a:solidFill>
                <a:latin typeface="Roboto Regular Regular"/>
                <a:ea typeface="Roboto Regular Regular"/>
                <a:cs typeface="Roboto Regular Regular"/>
                <a:sym typeface="Roboto Regular Regular"/>
              </a:defRPr>
            </a:pPr>
            <a:r>
              <a:t>Send email automatically via SMTP</a:t>
            </a:r>
          </a:p>
          <a:p>
            <a:pPr marL="342900" indent="-342900">
              <a:lnSpc>
                <a:spcPts val="2100"/>
              </a:lnSpc>
              <a:buSzPct val="100000"/>
              <a:buChar char="•"/>
              <a:defRPr sz="1300">
                <a:solidFill>
                  <a:srgbClr val="3C3939"/>
                </a:solidFill>
                <a:latin typeface="Roboto Regular Regular"/>
                <a:ea typeface="Roboto Regular Regular"/>
                <a:cs typeface="Roboto Regular Regular"/>
                <a:sym typeface="Roboto Regular Regular"/>
              </a:defRPr>
            </a:pPr>
            <a:r>
              <a:t>Include classification label in subject</a:t>
            </a:r>
          </a:p>
          <a:p>
            <a:pPr marL="342900" indent="-342900">
              <a:lnSpc>
                <a:spcPts val="2100"/>
              </a:lnSpc>
              <a:buSzPct val="100000"/>
              <a:buChar char="•"/>
              <a:defRPr sz="1300">
                <a:solidFill>
                  <a:srgbClr val="3C3939"/>
                </a:solidFill>
                <a:latin typeface="Roboto Regular Regular"/>
                <a:ea typeface="Roboto Regular Regular"/>
                <a:cs typeface="Roboto Regular Regular"/>
                <a:sym typeface="Roboto Regular Regular"/>
              </a:defRPr>
            </a:pPr>
            <a:r>
              <a:t>Correct department receives it instantly</a:t>
            </a:r>
          </a:p>
          <a:p>
            <a:pPr marL="342900" indent="-342900">
              <a:lnSpc>
                <a:spcPts val="2100"/>
              </a:lnSpc>
              <a:buSzPct val="100000"/>
              <a:buChar char="•"/>
              <a:defRPr sz="1300">
                <a:solidFill>
                  <a:srgbClr val="3C3939"/>
                </a:solidFill>
                <a:latin typeface="Roboto Regular Regular"/>
                <a:ea typeface="Roboto Regular Regular"/>
                <a:cs typeface="Roboto Regular Regular"/>
                <a:sym typeface="Roboto Regular Regular"/>
              </a:defRPr>
            </a:pPr>
            <a:r>
              <a:t>Original sender data preserved</a:t>
            </a:r>
          </a:p>
        </p:txBody>
      </p:sp>
      <p:sp>
        <p:nvSpPr>
          <p:cNvPr id="539" name="Shape 5"/>
          <p:cNvSpPr/>
          <p:nvPr/>
        </p:nvSpPr>
        <p:spPr>
          <a:xfrm>
            <a:off x="6855976" y="4165639"/>
            <a:ext cx="7074932" cy="699017"/>
          </a:xfrm>
          <a:prstGeom prst="roundRect">
            <a:avLst>
              <a:gd name="adj" fmla="val 10621"/>
            </a:avLst>
          </a:prstGeom>
          <a:solidFill>
            <a:srgbClr val="B6FCB8"/>
          </a:solidFill>
          <a:ln w="12700">
            <a:miter lim="400000"/>
          </a:ln>
        </p:spPr>
        <p:txBody>
          <a:bodyPr lIns="45719" rIns="45719"/>
          <a:lstStyle/>
          <a:p>
            <a:pPr/>
          </a:p>
        </p:txBody>
      </p:sp>
      <p:pic>
        <p:nvPicPr>
          <p:cNvPr id="540" name="Image 1" descr="Image 1"/>
          <p:cNvPicPr>
            <a:picLocks noChangeAspect="1"/>
          </p:cNvPicPr>
          <p:nvPr/>
        </p:nvPicPr>
        <p:blipFill>
          <a:blip r:embed="rId4">
            <a:extLst/>
          </a:blip>
          <a:stretch>
            <a:fillRect/>
          </a:stretch>
        </p:blipFill>
        <p:spPr>
          <a:xfrm>
            <a:off x="7032665" y="4422337"/>
            <a:ext cx="220862" cy="176690"/>
          </a:xfrm>
          <a:prstGeom prst="rect">
            <a:avLst/>
          </a:prstGeom>
          <a:ln w="12700">
            <a:miter lim="400000"/>
          </a:ln>
        </p:spPr>
      </p:pic>
      <p:sp>
        <p:nvSpPr>
          <p:cNvPr id="541" name="Text 6"/>
          <p:cNvSpPr txBox="1"/>
          <p:nvPr/>
        </p:nvSpPr>
        <p:spPr>
          <a:xfrm>
            <a:off x="7430213" y="4367212"/>
            <a:ext cx="3764212" cy="2536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300">
                <a:latin typeface="Roboto Regular Regular"/>
                <a:ea typeface="Roboto Regular Regular"/>
                <a:cs typeface="Roboto Regular Regular"/>
                <a:sym typeface="Roboto Regular Regular"/>
              </a:defRPr>
            </a:lvl1pPr>
          </a:lstStyle>
          <a:p>
            <a:pPr/>
            <a:r>
              <a:t>Routing takes milliseconds — not minutes or hours.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5" name="Shape 0"/>
          <p:cNvSpPr/>
          <p:nvPr/>
        </p:nvSpPr>
        <p:spPr>
          <a:xfrm>
            <a:off x="471367" y="349805"/>
            <a:ext cx="641272" cy="190620"/>
          </a:xfrm>
          <a:prstGeom prst="roundRect">
            <a:avLst>
              <a:gd name="adj" fmla="val 20772"/>
            </a:avLst>
          </a:prstGeom>
          <a:solidFill>
            <a:srgbClr val="E1E1EA"/>
          </a:solidFill>
          <a:ln w="12700">
            <a:miter lim="400000"/>
          </a:ln>
        </p:spPr>
        <p:txBody>
          <a:bodyPr lIns="45719" rIns="45719"/>
          <a:lstStyle/>
          <a:p>
            <a:pPr/>
          </a:p>
        </p:txBody>
      </p:sp>
      <p:sp>
        <p:nvSpPr>
          <p:cNvPr id="546" name="Text 1"/>
          <p:cNvSpPr txBox="1"/>
          <p:nvPr/>
        </p:nvSpPr>
        <p:spPr>
          <a:xfrm>
            <a:off x="541973" y="385048"/>
            <a:ext cx="484678"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C3939"/>
                </a:solidFill>
                <a:latin typeface="Roboto Regular Regular"/>
                <a:ea typeface="Roboto Regular Regular"/>
                <a:cs typeface="Roboto Regular Regular"/>
                <a:sym typeface="Roboto Regular Regular"/>
              </a:defRPr>
            </a:lvl1pPr>
          </a:lstStyle>
          <a:p>
            <a:pPr/>
            <a:r>
              <a:t>13 · RESULT</a:t>
            </a:r>
          </a:p>
        </p:txBody>
      </p:sp>
      <p:sp>
        <p:nvSpPr>
          <p:cNvPr id="547" name="Text 2"/>
          <p:cNvSpPr txBox="1"/>
          <p:nvPr/>
        </p:nvSpPr>
        <p:spPr>
          <a:xfrm>
            <a:off x="471367" y="568404"/>
            <a:ext cx="1789510" cy="35283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800"/>
              </a:lnSpc>
              <a:defRPr sz="2300">
                <a:solidFill>
                  <a:srgbClr val="1B1B27"/>
                </a:solidFill>
                <a:latin typeface="Raleway Thin Regular"/>
                <a:ea typeface="Raleway Thin Regular"/>
                <a:cs typeface="Raleway Thin Regular"/>
                <a:sym typeface="Raleway Thin Regular"/>
              </a:defRPr>
            </a:lvl1pPr>
          </a:lstStyle>
          <a:p>
            <a:pPr/>
            <a:r>
              <a:t>Final Product</a:t>
            </a:r>
          </a:p>
        </p:txBody>
      </p:sp>
      <p:sp>
        <p:nvSpPr>
          <p:cNvPr id="548" name="Text 3"/>
          <p:cNvSpPr txBox="1"/>
          <p:nvPr/>
        </p:nvSpPr>
        <p:spPr>
          <a:xfrm>
            <a:off x="471368" y="1041440"/>
            <a:ext cx="8636044" cy="1396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100"/>
              </a:lnSpc>
              <a:defRPr sz="900">
                <a:solidFill>
                  <a:srgbClr val="3C3939"/>
                </a:solidFill>
                <a:latin typeface="Roboto Regular Regular"/>
                <a:ea typeface="Roboto Regular Regular"/>
                <a:cs typeface="Roboto Regular Regular"/>
                <a:sym typeface="Roboto Regular Regular"/>
              </a:defRPr>
            </a:lvl1pPr>
          </a:lstStyle>
          <a:p>
            <a:pPr/>
            <a:r>
              <a:t>This is what a working, automated AI system looks like end-to-end. No human touches the pipeline. The customer gets faster service. The business saves time and money.</a:t>
            </a:r>
          </a:p>
        </p:txBody>
      </p:sp>
      <p:pic>
        <p:nvPicPr>
          <p:cNvPr id="549" name="Image 0" descr="Image 0"/>
          <p:cNvPicPr>
            <a:picLocks noChangeAspect="1"/>
          </p:cNvPicPr>
          <p:nvPr/>
        </p:nvPicPr>
        <p:blipFill>
          <a:blip r:embed="rId3">
            <a:extLst/>
          </a:blip>
          <a:stretch>
            <a:fillRect/>
          </a:stretch>
        </p:blipFill>
        <p:spPr>
          <a:xfrm>
            <a:off x="471367" y="1270396"/>
            <a:ext cx="13687665" cy="6159343"/>
          </a:xfrm>
          <a:prstGeom prst="rect">
            <a:avLst/>
          </a:prstGeom>
          <a:ln w="12700">
            <a:miter lim="400000"/>
          </a:ln>
        </p:spPr>
      </p:pic>
      <p:sp>
        <p:nvSpPr>
          <p:cNvPr id="550" name="Text 4"/>
          <p:cNvSpPr txBox="1"/>
          <p:nvPr/>
        </p:nvSpPr>
        <p:spPr>
          <a:xfrm>
            <a:off x="3237467" y="1586465"/>
            <a:ext cx="2092365" cy="36299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900"/>
              </a:lnSpc>
              <a:defRPr sz="2300">
                <a:solidFill>
                  <a:srgbClr val="3C3939"/>
                </a:solidFill>
                <a:latin typeface="Raleway Thin Regular"/>
                <a:ea typeface="Raleway Thin Regular"/>
                <a:cs typeface="Raleway Thin Regular"/>
                <a:sym typeface="Raleway Thin Regular"/>
              </a:defRPr>
            </a:lvl1pPr>
          </a:lstStyle>
          <a:p>
            <a:pPr/>
            <a:r>
              <a:t>Incoming Email</a:t>
            </a:r>
          </a:p>
        </p:txBody>
      </p:sp>
      <p:sp>
        <p:nvSpPr>
          <p:cNvPr id="551" name="Text 5"/>
          <p:cNvSpPr txBox="1"/>
          <p:nvPr/>
        </p:nvSpPr>
        <p:spPr>
          <a:xfrm>
            <a:off x="3086000" y="2061907"/>
            <a:ext cx="2395299" cy="4672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800"/>
              </a:lnSpc>
              <a:defRPr>
                <a:solidFill>
                  <a:srgbClr val="3C3939"/>
                </a:solidFill>
                <a:latin typeface="Roboto Regular Regular"/>
                <a:ea typeface="Roboto Regular Regular"/>
                <a:cs typeface="Roboto Regular Regular"/>
                <a:sym typeface="Roboto Regular Regular"/>
              </a:defRPr>
            </a:lvl1pPr>
          </a:lstStyle>
          <a:p>
            <a:pPr/>
            <a:r>
              <a:t>Customer message lands in Gmail</a:t>
            </a:r>
          </a:p>
        </p:txBody>
      </p:sp>
      <p:sp>
        <p:nvSpPr>
          <p:cNvPr id="552" name="Text 6"/>
          <p:cNvSpPr txBox="1"/>
          <p:nvPr/>
        </p:nvSpPr>
        <p:spPr>
          <a:xfrm>
            <a:off x="6113026" y="6020896"/>
            <a:ext cx="2408461" cy="7312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2900"/>
              </a:lnSpc>
              <a:defRPr sz="2300">
                <a:solidFill>
                  <a:srgbClr val="3C3939"/>
                </a:solidFill>
                <a:latin typeface="Raleway Thin Regular"/>
                <a:ea typeface="Raleway Thin Regular"/>
                <a:cs typeface="Raleway Thin Regular"/>
                <a:sym typeface="Raleway Thin Regular"/>
              </a:defRPr>
            </a:lvl1pPr>
          </a:lstStyle>
          <a:p>
            <a:pPr/>
            <a:r>
              <a:t>Automated Routing</a:t>
            </a:r>
          </a:p>
        </p:txBody>
      </p:sp>
      <p:sp>
        <p:nvSpPr>
          <p:cNvPr id="553" name="Text 7"/>
          <p:cNvSpPr txBox="1"/>
          <p:nvPr/>
        </p:nvSpPr>
        <p:spPr>
          <a:xfrm>
            <a:off x="6113026" y="6866488"/>
            <a:ext cx="2408461" cy="4672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800"/>
              </a:lnSpc>
              <a:defRPr>
                <a:solidFill>
                  <a:srgbClr val="3C3939"/>
                </a:solidFill>
                <a:latin typeface="Roboto Regular Regular"/>
                <a:ea typeface="Roboto Regular Regular"/>
                <a:cs typeface="Roboto Regular Regular"/>
                <a:sym typeface="Roboto Regular Regular"/>
              </a:defRPr>
            </a:lvl1pPr>
          </a:lstStyle>
          <a:p>
            <a:pPr/>
            <a:r>
              <a:t>Python + LLM classifies and routes</a:t>
            </a:r>
          </a:p>
        </p:txBody>
      </p:sp>
      <p:sp>
        <p:nvSpPr>
          <p:cNvPr id="554" name="Text 8"/>
          <p:cNvSpPr txBox="1"/>
          <p:nvPr/>
        </p:nvSpPr>
        <p:spPr>
          <a:xfrm>
            <a:off x="9404685" y="1540402"/>
            <a:ext cx="1681781" cy="36299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900"/>
              </a:lnSpc>
              <a:defRPr sz="2300">
                <a:solidFill>
                  <a:srgbClr val="3C3939"/>
                </a:solidFill>
                <a:latin typeface="Raleway Thin Regular"/>
                <a:ea typeface="Raleway Thin Regular"/>
                <a:cs typeface="Raleway Thin Regular"/>
                <a:sym typeface="Raleway Thin Regular"/>
              </a:defRPr>
            </a:lvl1pPr>
          </a:lstStyle>
          <a:p>
            <a:pPr/>
            <a:r>
              <a:t>Team Action</a:t>
            </a:r>
          </a:p>
        </p:txBody>
      </p:sp>
      <p:sp>
        <p:nvSpPr>
          <p:cNvPr id="555" name="Text 9"/>
          <p:cNvSpPr txBox="1"/>
          <p:nvPr/>
        </p:nvSpPr>
        <p:spPr>
          <a:xfrm>
            <a:off x="9047926" y="2015843"/>
            <a:ext cx="2395299" cy="4672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800"/>
              </a:lnSpc>
              <a:defRPr>
                <a:solidFill>
                  <a:srgbClr val="3C3939"/>
                </a:solidFill>
                <a:latin typeface="Roboto Regular Regular"/>
                <a:ea typeface="Roboto Regular Regular"/>
                <a:cs typeface="Roboto Regular Regular"/>
                <a:sym typeface="Roboto Regular Regular"/>
              </a:defRPr>
            </a:lvl1pPr>
          </a:lstStyle>
          <a:p>
            <a:pPr/>
            <a:r>
              <a:t>Correct department receives and acts</a:t>
            </a:r>
          </a:p>
        </p:txBody>
      </p:sp>
      <p:sp>
        <p:nvSpPr>
          <p:cNvPr id="556" name="Shape 10"/>
          <p:cNvSpPr/>
          <p:nvPr/>
        </p:nvSpPr>
        <p:spPr>
          <a:xfrm>
            <a:off x="471367" y="7508437"/>
            <a:ext cx="13687665" cy="371238"/>
          </a:xfrm>
          <a:prstGeom prst="roundRect">
            <a:avLst>
              <a:gd name="adj" fmla="val 13332"/>
            </a:avLst>
          </a:prstGeom>
          <a:solidFill>
            <a:srgbClr val="B6FCB8"/>
          </a:solidFill>
          <a:ln w="12700">
            <a:miter lim="400000"/>
          </a:ln>
        </p:spPr>
        <p:txBody>
          <a:bodyPr lIns="45719" rIns="45719"/>
          <a:lstStyle/>
          <a:p>
            <a:pPr/>
          </a:p>
        </p:txBody>
      </p:sp>
      <p:pic>
        <p:nvPicPr>
          <p:cNvPr id="557" name="Image 4" descr="Image 4"/>
          <p:cNvPicPr>
            <a:picLocks noChangeAspect="1"/>
          </p:cNvPicPr>
          <p:nvPr/>
        </p:nvPicPr>
        <p:blipFill>
          <a:blip r:embed="rId4">
            <a:extLst/>
          </a:blip>
          <a:stretch>
            <a:fillRect/>
          </a:stretch>
        </p:blipFill>
        <p:spPr>
          <a:xfrm>
            <a:off x="589121" y="7659172"/>
            <a:ext cx="147281" cy="117754"/>
          </a:xfrm>
          <a:prstGeom prst="rect">
            <a:avLst/>
          </a:prstGeom>
          <a:ln w="12700">
            <a:miter lim="400000"/>
          </a:ln>
        </p:spPr>
      </p:pic>
      <p:sp>
        <p:nvSpPr>
          <p:cNvPr id="558" name="Text 11"/>
          <p:cNvSpPr txBox="1"/>
          <p:nvPr/>
        </p:nvSpPr>
        <p:spPr>
          <a:xfrm>
            <a:off x="854154" y="7607737"/>
            <a:ext cx="2965916" cy="1396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100"/>
              </a:lnSpc>
              <a:defRPr sz="900">
                <a:latin typeface="Roboto Regular Regular"/>
                <a:ea typeface="Roboto Regular Regular"/>
                <a:cs typeface="Roboto Regular Regular"/>
                <a:sym typeface="Roboto Regular Regular"/>
              </a:defRPr>
            </a:lvl1pPr>
          </a:lstStyle>
          <a:p>
            <a:pPr/>
            <a:r>
              <a:t>This is not a demo anymore — this is a deployable system.</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2" name="Shape 0"/>
          <p:cNvSpPr/>
          <p:nvPr/>
        </p:nvSpPr>
        <p:spPr>
          <a:xfrm>
            <a:off x="793790" y="1641157"/>
            <a:ext cx="1013580" cy="373143"/>
          </a:xfrm>
          <a:prstGeom prst="roundRect">
            <a:avLst>
              <a:gd name="adj" fmla="val 17872"/>
            </a:avLst>
          </a:prstGeom>
          <a:solidFill>
            <a:srgbClr val="E1E1EA"/>
          </a:solidFill>
          <a:ln w="12700">
            <a:miter lim="400000"/>
          </a:ln>
        </p:spPr>
        <p:txBody>
          <a:bodyPr lIns="45719" rIns="45719"/>
          <a:lstStyle/>
          <a:p>
            <a:pPr/>
          </a:p>
        </p:txBody>
      </p:sp>
      <p:sp>
        <p:nvSpPr>
          <p:cNvPr id="563" name="Text 1"/>
          <p:cNvSpPr txBox="1"/>
          <p:nvPr/>
        </p:nvSpPr>
        <p:spPr>
          <a:xfrm>
            <a:off x="912852" y="1700689"/>
            <a:ext cx="757213"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3C3939"/>
                </a:solidFill>
                <a:latin typeface="Roboto Regular Regular"/>
                <a:ea typeface="Roboto Regular Regular"/>
                <a:cs typeface="Roboto Regular Regular"/>
                <a:sym typeface="Roboto Regular Regular"/>
              </a:defRPr>
            </a:lvl1pPr>
          </a:lstStyle>
          <a:p>
            <a:pPr/>
            <a:r>
              <a:t>14 · SCALE</a:t>
            </a:r>
          </a:p>
        </p:txBody>
      </p:sp>
      <p:sp>
        <p:nvSpPr>
          <p:cNvPr id="564" name="Text 2"/>
          <p:cNvSpPr txBox="1"/>
          <p:nvPr/>
        </p:nvSpPr>
        <p:spPr>
          <a:xfrm>
            <a:off x="793789" y="2093595"/>
            <a:ext cx="3248000"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Imagine Scale</a:t>
            </a:r>
          </a:p>
        </p:txBody>
      </p:sp>
      <p:sp>
        <p:nvSpPr>
          <p:cNvPr id="565" name="Shape 3"/>
          <p:cNvSpPr/>
          <p:nvPr/>
        </p:nvSpPr>
        <p:spPr>
          <a:xfrm>
            <a:off x="650915" y="3011328"/>
            <a:ext cx="5212318" cy="3577115"/>
          </a:xfrm>
          <a:prstGeom prst="roundRect">
            <a:avLst>
              <a:gd name="adj" fmla="val 3995"/>
            </a:avLst>
          </a:prstGeom>
          <a:solidFill>
            <a:srgbClr val="0F3460">
              <a:alpha val="95000"/>
            </a:srgbClr>
          </a:solidFill>
          <a:ln w="12700">
            <a:miter lim="400000"/>
          </a:ln>
        </p:spPr>
        <p:txBody>
          <a:bodyPr lIns="45719" rIns="45719"/>
          <a:lstStyle/>
          <a:p>
            <a:pPr/>
          </a:p>
        </p:txBody>
      </p:sp>
      <p:sp>
        <p:nvSpPr>
          <p:cNvPr id="566" name="Text 4"/>
          <p:cNvSpPr txBox="1"/>
          <p:nvPr/>
        </p:nvSpPr>
        <p:spPr>
          <a:xfrm>
            <a:off x="849272" y="3209687"/>
            <a:ext cx="1795655" cy="121731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700"/>
              </a:lnSpc>
              <a:defRPr sz="7800">
                <a:solidFill>
                  <a:srgbClr val="FFFFFF"/>
                </a:solidFill>
                <a:latin typeface="Raleway Thin Regular"/>
                <a:ea typeface="Raleway Thin Regular"/>
                <a:cs typeface="Raleway Thin Regular"/>
                <a:sym typeface="Raleway Thin Regular"/>
              </a:defRPr>
            </a:lvl1pPr>
          </a:lstStyle>
          <a:p>
            <a:pPr/>
            <a:r>
              <a:t>50K</a:t>
            </a:r>
          </a:p>
        </p:txBody>
      </p:sp>
      <p:sp>
        <p:nvSpPr>
          <p:cNvPr id="567" name="Text 5"/>
          <p:cNvSpPr txBox="1"/>
          <p:nvPr/>
        </p:nvSpPr>
        <p:spPr>
          <a:xfrm>
            <a:off x="849272" y="4648437"/>
            <a:ext cx="4815604"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FFFFFF"/>
                </a:solidFill>
                <a:latin typeface="Roboto Regular Regular"/>
                <a:ea typeface="Roboto Regular Regular"/>
                <a:cs typeface="Roboto Regular Regular"/>
                <a:sym typeface="Roboto Regular Regular"/>
              </a:defRPr>
            </a:lvl1pPr>
          </a:lstStyle>
          <a:p>
            <a:pPr/>
            <a:r>
              <a:t>emails processed monthly — automatically, with no additional headcount</a:t>
            </a:r>
          </a:p>
        </p:txBody>
      </p:sp>
      <p:sp>
        <p:nvSpPr>
          <p:cNvPr id="568" name="Shape 6"/>
          <p:cNvSpPr/>
          <p:nvPr/>
        </p:nvSpPr>
        <p:spPr>
          <a:xfrm>
            <a:off x="6212085" y="3234570"/>
            <a:ext cx="446485" cy="446485"/>
          </a:xfrm>
          <a:prstGeom prst="roundRect">
            <a:avLst>
              <a:gd name="adj" fmla="val 18670"/>
            </a:avLst>
          </a:prstGeom>
          <a:solidFill>
            <a:srgbClr val="E1E1EA"/>
          </a:solidFill>
          <a:ln w="7620">
            <a:solidFill>
              <a:srgbClr val="C7C7D0"/>
            </a:solidFill>
          </a:ln>
        </p:spPr>
        <p:txBody>
          <a:bodyPr lIns="45719" rIns="45719"/>
          <a:lstStyle/>
          <a:p>
            <a:pPr/>
          </a:p>
        </p:txBody>
      </p:sp>
      <p:sp>
        <p:nvSpPr>
          <p:cNvPr id="569" name="Text 7"/>
          <p:cNvSpPr txBox="1"/>
          <p:nvPr/>
        </p:nvSpPr>
        <p:spPr>
          <a:xfrm>
            <a:off x="6856927" y="3302794"/>
            <a:ext cx="3047169" cy="6051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Massive operational savings</a:t>
            </a:r>
          </a:p>
        </p:txBody>
      </p:sp>
      <p:sp>
        <p:nvSpPr>
          <p:cNvPr id="570" name="Text 8"/>
          <p:cNvSpPr txBox="1"/>
          <p:nvPr/>
        </p:nvSpPr>
        <p:spPr>
          <a:xfrm>
            <a:off x="6856927" y="4121467"/>
            <a:ext cx="3047169"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What once required a team of agents now runs on a few hundred lines of Python</a:t>
            </a:r>
          </a:p>
        </p:txBody>
      </p:sp>
      <p:sp>
        <p:nvSpPr>
          <p:cNvPr id="571" name="Shape 9"/>
          <p:cNvSpPr/>
          <p:nvPr/>
        </p:nvSpPr>
        <p:spPr>
          <a:xfrm>
            <a:off x="10152102" y="3234570"/>
            <a:ext cx="446485" cy="446485"/>
          </a:xfrm>
          <a:prstGeom prst="roundRect">
            <a:avLst>
              <a:gd name="adj" fmla="val 18670"/>
            </a:avLst>
          </a:prstGeom>
          <a:solidFill>
            <a:srgbClr val="E1E1EA"/>
          </a:solidFill>
          <a:ln w="7620">
            <a:solidFill>
              <a:srgbClr val="C7C7D0"/>
            </a:solidFill>
          </a:ln>
        </p:spPr>
        <p:txBody>
          <a:bodyPr lIns="45719" rIns="45719"/>
          <a:lstStyle/>
          <a:p>
            <a:pPr/>
          </a:p>
        </p:txBody>
      </p:sp>
      <p:sp>
        <p:nvSpPr>
          <p:cNvPr id="572" name="Text 10"/>
          <p:cNvSpPr txBox="1"/>
          <p:nvPr/>
        </p:nvSpPr>
        <p:spPr>
          <a:xfrm>
            <a:off x="10796944" y="3302794"/>
            <a:ext cx="2366871"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Faster support teams</a:t>
            </a:r>
          </a:p>
        </p:txBody>
      </p:sp>
      <p:sp>
        <p:nvSpPr>
          <p:cNvPr id="573" name="Text 11"/>
          <p:cNvSpPr txBox="1"/>
          <p:nvPr/>
        </p:nvSpPr>
        <p:spPr>
          <a:xfrm>
            <a:off x="10796944" y="3811310"/>
            <a:ext cx="3047168" cy="9355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Agents only see emails already matched to their expertise — no triage overhead</a:t>
            </a:r>
          </a:p>
        </p:txBody>
      </p:sp>
      <p:sp>
        <p:nvSpPr>
          <p:cNvPr id="574" name="Shape 12"/>
          <p:cNvSpPr/>
          <p:nvPr/>
        </p:nvSpPr>
        <p:spPr>
          <a:xfrm>
            <a:off x="6212085" y="5470921"/>
            <a:ext cx="446485" cy="446485"/>
          </a:xfrm>
          <a:prstGeom prst="roundRect">
            <a:avLst>
              <a:gd name="adj" fmla="val 18670"/>
            </a:avLst>
          </a:prstGeom>
          <a:solidFill>
            <a:srgbClr val="E1E1EA"/>
          </a:solidFill>
          <a:ln w="7620">
            <a:solidFill>
              <a:srgbClr val="C7C7D0"/>
            </a:solidFill>
          </a:ln>
        </p:spPr>
        <p:txBody>
          <a:bodyPr lIns="45719" rIns="45719"/>
          <a:lstStyle/>
          <a:p>
            <a:pPr/>
          </a:p>
        </p:txBody>
      </p:sp>
      <p:sp>
        <p:nvSpPr>
          <p:cNvPr id="575" name="Text 13"/>
          <p:cNvSpPr txBox="1"/>
          <p:nvPr/>
        </p:nvSpPr>
        <p:spPr>
          <a:xfrm>
            <a:off x="6856927" y="5539144"/>
            <a:ext cx="1772445"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24/7 availability</a:t>
            </a:r>
          </a:p>
        </p:txBody>
      </p:sp>
      <p:sp>
        <p:nvSpPr>
          <p:cNvPr id="576" name="Text 14"/>
          <p:cNvSpPr txBox="1"/>
          <p:nvPr/>
        </p:nvSpPr>
        <p:spPr>
          <a:xfrm>
            <a:off x="6856928" y="6047661"/>
            <a:ext cx="5903318" cy="3005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The system never sleeps, takes breaks, or misclassifies due to fatigue</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0" name="Shape 0"/>
          <p:cNvSpPr/>
          <p:nvPr/>
        </p:nvSpPr>
        <p:spPr>
          <a:xfrm>
            <a:off x="793790" y="1767601"/>
            <a:ext cx="1876069" cy="373143"/>
          </a:xfrm>
          <a:prstGeom prst="roundRect">
            <a:avLst>
              <a:gd name="adj" fmla="val 17872"/>
            </a:avLst>
          </a:prstGeom>
          <a:solidFill>
            <a:srgbClr val="E1E1EA"/>
          </a:solidFill>
          <a:ln w="12700">
            <a:miter lim="400000"/>
          </a:ln>
        </p:spPr>
        <p:txBody>
          <a:bodyPr lIns="45719" rIns="45719"/>
          <a:lstStyle/>
          <a:p>
            <a:pPr/>
          </a:p>
        </p:txBody>
      </p:sp>
      <p:sp>
        <p:nvSpPr>
          <p:cNvPr id="581" name="Text 1"/>
          <p:cNvSpPr txBox="1"/>
          <p:nvPr/>
        </p:nvSpPr>
        <p:spPr>
          <a:xfrm>
            <a:off x="912852" y="1827133"/>
            <a:ext cx="1585516"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3C3939"/>
                </a:solidFill>
                <a:latin typeface="Roboto Regular Regular"/>
                <a:ea typeface="Roboto Regular Regular"/>
                <a:cs typeface="Roboto Regular Regular"/>
                <a:sym typeface="Roboto Regular Regular"/>
              </a:defRPr>
            </a:lvl1pPr>
          </a:lstStyle>
          <a:p>
            <a:pPr/>
            <a:r>
              <a:t>15 · TRANSFERABILITY</a:t>
            </a:r>
          </a:p>
        </p:txBody>
      </p:sp>
      <p:sp>
        <p:nvSpPr>
          <p:cNvPr id="582" name="Text 2"/>
          <p:cNvSpPr txBox="1"/>
          <p:nvPr/>
        </p:nvSpPr>
        <p:spPr>
          <a:xfrm>
            <a:off x="793790" y="2220038"/>
            <a:ext cx="5413017"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Reuse This Architecture</a:t>
            </a:r>
          </a:p>
        </p:txBody>
      </p:sp>
      <p:sp>
        <p:nvSpPr>
          <p:cNvPr id="583" name="Text 3"/>
          <p:cNvSpPr txBox="1"/>
          <p:nvPr/>
        </p:nvSpPr>
        <p:spPr>
          <a:xfrm>
            <a:off x="793790" y="3137773"/>
            <a:ext cx="13042821"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The pattern you built today — ingest, classify, route — is one of the most reusable patterns in enterprise AI. Swap the data source and the categories, and you have a new product.</a:t>
            </a:r>
          </a:p>
        </p:txBody>
      </p:sp>
      <p:pic>
        <p:nvPicPr>
          <p:cNvPr id="584" name="Image 0" descr="Image 0"/>
          <p:cNvPicPr>
            <a:picLocks noChangeAspect="1"/>
          </p:cNvPicPr>
          <p:nvPr/>
        </p:nvPicPr>
        <p:blipFill>
          <a:blip r:embed="rId3">
            <a:extLst/>
          </a:blip>
          <a:stretch>
            <a:fillRect/>
          </a:stretch>
        </p:blipFill>
        <p:spPr>
          <a:xfrm>
            <a:off x="793790" y="3996094"/>
            <a:ext cx="1352788" cy="836058"/>
          </a:xfrm>
          <a:prstGeom prst="rect">
            <a:avLst/>
          </a:prstGeom>
          <a:ln w="12700">
            <a:miter lim="400000"/>
          </a:ln>
        </p:spPr>
      </p:pic>
      <p:sp>
        <p:nvSpPr>
          <p:cNvPr id="585" name="Text 4"/>
          <p:cNvSpPr txBox="1"/>
          <p:nvPr/>
        </p:nvSpPr>
        <p:spPr>
          <a:xfrm>
            <a:off x="793790" y="5080158"/>
            <a:ext cx="1855977"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Resume Routing</a:t>
            </a:r>
          </a:p>
        </p:txBody>
      </p:sp>
      <p:sp>
        <p:nvSpPr>
          <p:cNvPr id="586" name="Text 5"/>
          <p:cNvSpPr txBox="1"/>
          <p:nvPr/>
        </p:nvSpPr>
        <p:spPr>
          <a:xfrm>
            <a:off x="793789" y="5509378"/>
            <a:ext cx="3074672"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Classify candidates by role and route to the right hiring manager automatically</a:t>
            </a:r>
          </a:p>
        </p:txBody>
      </p:sp>
      <p:pic>
        <p:nvPicPr>
          <p:cNvPr id="587" name="Image 1" descr="Image 1"/>
          <p:cNvPicPr>
            <a:picLocks noChangeAspect="1"/>
          </p:cNvPicPr>
          <p:nvPr/>
        </p:nvPicPr>
        <p:blipFill>
          <a:blip r:embed="rId4">
            <a:extLst/>
          </a:blip>
          <a:stretch>
            <a:fillRect/>
          </a:stretch>
        </p:blipFill>
        <p:spPr>
          <a:xfrm>
            <a:off x="4116466" y="3996094"/>
            <a:ext cx="1352789" cy="836058"/>
          </a:xfrm>
          <a:prstGeom prst="rect">
            <a:avLst/>
          </a:prstGeom>
          <a:ln w="12700">
            <a:miter lim="400000"/>
          </a:ln>
        </p:spPr>
      </p:pic>
      <p:sp>
        <p:nvSpPr>
          <p:cNvPr id="588" name="Text 6"/>
          <p:cNvSpPr txBox="1"/>
          <p:nvPr/>
        </p:nvSpPr>
        <p:spPr>
          <a:xfrm>
            <a:off x="4116466" y="5080158"/>
            <a:ext cx="1917406"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Insurance Claims</a:t>
            </a:r>
          </a:p>
        </p:txBody>
      </p:sp>
      <p:sp>
        <p:nvSpPr>
          <p:cNvPr id="589" name="Text 7"/>
          <p:cNvSpPr txBox="1"/>
          <p:nvPr/>
        </p:nvSpPr>
        <p:spPr>
          <a:xfrm>
            <a:off x="4116466" y="5509378"/>
            <a:ext cx="3074671"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Triage incoming claims by type — auto, medical, home — before a human reviews</a:t>
            </a:r>
          </a:p>
        </p:txBody>
      </p:sp>
      <p:pic>
        <p:nvPicPr>
          <p:cNvPr id="590" name="Image 2" descr="Image 2"/>
          <p:cNvPicPr>
            <a:picLocks noChangeAspect="1"/>
          </p:cNvPicPr>
          <p:nvPr/>
        </p:nvPicPr>
        <p:blipFill>
          <a:blip r:embed="rId5">
            <a:extLst/>
          </a:blip>
          <a:stretch>
            <a:fillRect/>
          </a:stretch>
        </p:blipFill>
        <p:spPr>
          <a:xfrm>
            <a:off x="7439144" y="3996094"/>
            <a:ext cx="1352789" cy="836058"/>
          </a:xfrm>
          <a:prstGeom prst="rect">
            <a:avLst/>
          </a:prstGeom>
          <a:ln w="12700">
            <a:miter lim="400000"/>
          </a:ln>
        </p:spPr>
      </p:pic>
      <p:sp>
        <p:nvSpPr>
          <p:cNvPr id="591" name="Text 8"/>
          <p:cNvSpPr txBox="1"/>
          <p:nvPr/>
        </p:nvSpPr>
        <p:spPr>
          <a:xfrm>
            <a:off x="7439144" y="5080158"/>
            <a:ext cx="1984674"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Legal Documents</a:t>
            </a:r>
          </a:p>
        </p:txBody>
      </p:sp>
      <p:sp>
        <p:nvSpPr>
          <p:cNvPr id="592" name="Text 9"/>
          <p:cNvSpPr txBox="1"/>
          <p:nvPr/>
        </p:nvSpPr>
        <p:spPr>
          <a:xfrm>
            <a:off x="7439144" y="5509378"/>
            <a:ext cx="3074671"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Classify contracts and filings by category and assign to the correct legal team</a:t>
            </a:r>
          </a:p>
        </p:txBody>
      </p:sp>
      <p:pic>
        <p:nvPicPr>
          <p:cNvPr id="593" name="Image 3" descr="Image 3"/>
          <p:cNvPicPr>
            <a:picLocks noChangeAspect="1"/>
          </p:cNvPicPr>
          <p:nvPr/>
        </p:nvPicPr>
        <p:blipFill>
          <a:blip r:embed="rId6">
            <a:extLst/>
          </a:blip>
          <a:stretch>
            <a:fillRect/>
          </a:stretch>
        </p:blipFill>
        <p:spPr>
          <a:xfrm>
            <a:off x="10761820" y="3996094"/>
            <a:ext cx="1352908" cy="836058"/>
          </a:xfrm>
          <a:prstGeom prst="rect">
            <a:avLst/>
          </a:prstGeom>
          <a:ln w="12700">
            <a:miter lim="400000"/>
          </a:ln>
        </p:spPr>
      </p:pic>
      <p:sp>
        <p:nvSpPr>
          <p:cNvPr id="594" name="Text 10"/>
          <p:cNvSpPr txBox="1"/>
          <p:nvPr/>
        </p:nvSpPr>
        <p:spPr>
          <a:xfrm>
            <a:off x="10761820" y="5080158"/>
            <a:ext cx="1498740"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Lead Routing</a:t>
            </a:r>
          </a:p>
        </p:txBody>
      </p:sp>
      <p:sp>
        <p:nvSpPr>
          <p:cNvPr id="595" name="Text 11"/>
          <p:cNvSpPr txBox="1"/>
          <p:nvPr/>
        </p:nvSpPr>
        <p:spPr>
          <a:xfrm>
            <a:off x="10761820" y="5509378"/>
            <a:ext cx="3074790"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Score and route inbound sales leads to the right rep based on intent signals</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9" name="Shape 0"/>
          <p:cNvSpPr/>
          <p:nvPr/>
        </p:nvSpPr>
        <p:spPr>
          <a:xfrm>
            <a:off x="793790" y="672583"/>
            <a:ext cx="1385769" cy="324327"/>
          </a:xfrm>
          <a:prstGeom prst="roundRect">
            <a:avLst>
              <a:gd name="adj" fmla="val 18506"/>
            </a:avLst>
          </a:prstGeom>
          <a:solidFill>
            <a:srgbClr val="E1E1EA"/>
          </a:solidFill>
          <a:ln w="12700">
            <a:miter lim="400000"/>
          </a:ln>
        </p:spPr>
        <p:txBody>
          <a:bodyPr lIns="45719" rIns="45719"/>
          <a:lstStyle/>
          <a:p>
            <a:pPr/>
          </a:p>
        </p:txBody>
      </p:sp>
      <p:sp>
        <p:nvSpPr>
          <p:cNvPr id="600" name="Text 1"/>
          <p:cNvSpPr txBox="1"/>
          <p:nvPr/>
        </p:nvSpPr>
        <p:spPr>
          <a:xfrm>
            <a:off x="900945" y="726162"/>
            <a:ext cx="1158064" cy="20682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700"/>
              </a:lnSpc>
              <a:defRPr sz="1100">
                <a:solidFill>
                  <a:srgbClr val="3C3939"/>
                </a:solidFill>
                <a:latin typeface="Roboto Regular Regular"/>
                <a:ea typeface="Roboto Regular Regular"/>
                <a:cs typeface="Roboto Regular Regular"/>
                <a:sym typeface="Roboto Regular Regular"/>
              </a:defRPr>
            </a:lvl1pPr>
          </a:lstStyle>
          <a:p>
            <a:pPr/>
            <a:r>
              <a:t>16 · WHAT'S NEXT</a:t>
            </a:r>
          </a:p>
        </p:txBody>
      </p:sp>
      <p:sp>
        <p:nvSpPr>
          <p:cNvPr id="601" name="Text 2"/>
          <p:cNvSpPr txBox="1"/>
          <p:nvPr/>
        </p:nvSpPr>
        <p:spPr>
          <a:xfrm>
            <a:off x="793789" y="1061204"/>
            <a:ext cx="3582538" cy="54089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300"/>
              </a:lnSpc>
              <a:defRPr sz="3500">
                <a:solidFill>
                  <a:srgbClr val="1B1B27"/>
                </a:solidFill>
                <a:latin typeface="Raleway Thin Regular"/>
                <a:ea typeface="Raleway Thin Regular"/>
                <a:cs typeface="Raleway Thin Regular"/>
                <a:sym typeface="Raleway Thin Regular"/>
              </a:defRPr>
            </a:lvl1pPr>
          </a:lstStyle>
          <a:p>
            <a:pPr/>
            <a:r>
              <a:t>Course Roadmap</a:t>
            </a:r>
          </a:p>
        </p:txBody>
      </p:sp>
      <p:sp>
        <p:nvSpPr>
          <p:cNvPr id="602" name="Text 3"/>
          <p:cNvSpPr txBox="1"/>
          <p:nvPr/>
        </p:nvSpPr>
        <p:spPr>
          <a:xfrm>
            <a:off x="793790" y="1860470"/>
            <a:ext cx="12519212" cy="2567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400">
                <a:solidFill>
                  <a:srgbClr val="3C3939"/>
                </a:solidFill>
                <a:latin typeface="Roboto Regular Regular"/>
                <a:ea typeface="Roboto Regular Regular"/>
                <a:cs typeface="Roboto Regular Regular"/>
                <a:sym typeface="Roboto Regular Regular"/>
              </a:defRPr>
            </a:lvl1pPr>
          </a:lstStyle>
          <a:p>
            <a:pPr/>
            <a:r>
              <a:t>Today's session is one milestone in a complete FDE curriculum. Each module builds on the last — from core thinking, to AI-powered APIs, to deployed products.</a:t>
            </a:r>
          </a:p>
        </p:txBody>
      </p:sp>
      <p:sp>
        <p:nvSpPr>
          <p:cNvPr id="603" name="Shape 4"/>
          <p:cNvSpPr/>
          <p:nvPr/>
        </p:nvSpPr>
        <p:spPr>
          <a:xfrm>
            <a:off x="7303769" y="2312789"/>
            <a:ext cx="22861" cy="5244108"/>
          </a:xfrm>
          <a:prstGeom prst="roundRect">
            <a:avLst>
              <a:gd name="adj" fmla="val 50000"/>
            </a:avLst>
          </a:prstGeom>
          <a:solidFill>
            <a:srgbClr val="C7C7D0"/>
          </a:solidFill>
          <a:ln w="12700">
            <a:miter lim="400000"/>
          </a:ln>
        </p:spPr>
        <p:txBody>
          <a:bodyPr lIns="45719" rIns="45719"/>
          <a:lstStyle/>
          <a:p>
            <a:pPr/>
          </a:p>
        </p:txBody>
      </p:sp>
      <p:sp>
        <p:nvSpPr>
          <p:cNvPr id="604" name="Shape 5"/>
          <p:cNvSpPr/>
          <p:nvPr/>
        </p:nvSpPr>
        <p:spPr>
          <a:xfrm>
            <a:off x="6601360" y="2502218"/>
            <a:ext cx="535782" cy="22861"/>
          </a:xfrm>
          <a:prstGeom prst="roundRect">
            <a:avLst>
              <a:gd name="adj" fmla="val 50000"/>
            </a:avLst>
          </a:prstGeom>
          <a:solidFill>
            <a:srgbClr val="C7C7D0"/>
          </a:solidFill>
          <a:ln w="12700">
            <a:miter lim="400000"/>
          </a:ln>
        </p:spPr>
        <p:txBody>
          <a:bodyPr lIns="45719" rIns="45719"/>
          <a:lstStyle/>
          <a:p>
            <a:pPr/>
          </a:p>
        </p:txBody>
      </p:sp>
      <p:sp>
        <p:nvSpPr>
          <p:cNvPr id="605" name="Shape 6"/>
          <p:cNvSpPr/>
          <p:nvPr/>
        </p:nvSpPr>
        <p:spPr>
          <a:xfrm>
            <a:off x="7114282" y="2312789"/>
            <a:ext cx="401837" cy="401837"/>
          </a:xfrm>
          <a:prstGeom prst="roundRect">
            <a:avLst>
              <a:gd name="adj" fmla="val 18670"/>
            </a:avLst>
          </a:prstGeom>
          <a:solidFill>
            <a:srgbClr val="E1E1EA"/>
          </a:solidFill>
          <a:ln w="7620">
            <a:solidFill>
              <a:srgbClr val="C7C7D0"/>
            </a:solidFill>
          </a:ln>
        </p:spPr>
        <p:txBody>
          <a:bodyPr lIns="45719" rIns="45719"/>
          <a:lstStyle/>
          <a:p>
            <a:pPr/>
          </a:p>
        </p:txBody>
      </p:sp>
      <p:sp>
        <p:nvSpPr>
          <p:cNvPr id="606" name="Text 7"/>
          <p:cNvSpPr txBox="1"/>
          <p:nvPr/>
        </p:nvSpPr>
        <p:spPr>
          <a:xfrm>
            <a:off x="7251640" y="2375764"/>
            <a:ext cx="127001" cy="27576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2100"/>
              </a:lnSpc>
              <a:defRPr sz="2100">
                <a:solidFill>
                  <a:srgbClr val="3C3939"/>
                </a:solidFill>
                <a:latin typeface="Raleway Thin Regular"/>
                <a:ea typeface="Raleway Thin Regular"/>
                <a:cs typeface="Raleway Thin Regular"/>
                <a:sym typeface="Raleway Thin Regular"/>
              </a:defRPr>
            </a:lvl1pPr>
          </a:lstStyle>
          <a:p>
            <a:pPr/>
            <a:r>
              <a:t>1</a:t>
            </a:r>
          </a:p>
        </p:txBody>
      </p:sp>
      <p:sp>
        <p:nvSpPr>
          <p:cNvPr id="607" name="Text 8"/>
          <p:cNvSpPr txBox="1"/>
          <p:nvPr/>
        </p:nvSpPr>
        <p:spPr>
          <a:xfrm>
            <a:off x="4766313" y="2374106"/>
            <a:ext cx="1655800" cy="26388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2100"/>
              </a:lnSpc>
              <a:defRPr sz="1700">
                <a:solidFill>
                  <a:srgbClr val="3C3939"/>
                </a:solidFill>
                <a:latin typeface="Raleway Thin Regular"/>
                <a:ea typeface="Raleway Thin Regular"/>
                <a:cs typeface="Raleway Thin Regular"/>
                <a:sym typeface="Raleway Thin Regular"/>
              </a:defRPr>
            </a:lvl1pPr>
          </a:lstStyle>
          <a:p>
            <a:pPr/>
            <a:r>
              <a:t>Problem Solving</a:t>
            </a:r>
          </a:p>
        </p:txBody>
      </p:sp>
      <p:sp>
        <p:nvSpPr>
          <p:cNvPr id="608" name="Text 9"/>
          <p:cNvSpPr txBox="1"/>
          <p:nvPr/>
        </p:nvSpPr>
        <p:spPr>
          <a:xfrm>
            <a:off x="1636160" y="2749510"/>
            <a:ext cx="4785954" cy="2567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2100"/>
              </a:lnSpc>
              <a:defRPr sz="1400">
                <a:solidFill>
                  <a:srgbClr val="3C3939"/>
                </a:solidFill>
                <a:latin typeface="Roboto Regular Regular"/>
                <a:ea typeface="Roboto Regular Regular"/>
                <a:cs typeface="Roboto Regular Regular"/>
                <a:sym typeface="Roboto Regular Regular"/>
              </a:defRPr>
            </a:lvl1pPr>
          </a:lstStyle>
          <a:p>
            <a:pPr/>
            <a:r>
              <a:t>Think like an engineer — break problems into solvable pieces</a:t>
            </a:r>
          </a:p>
        </p:txBody>
      </p:sp>
      <p:sp>
        <p:nvSpPr>
          <p:cNvPr id="609" name="Shape 10"/>
          <p:cNvSpPr/>
          <p:nvPr/>
        </p:nvSpPr>
        <p:spPr>
          <a:xfrm>
            <a:off x="7493258" y="3538180"/>
            <a:ext cx="535782" cy="22861"/>
          </a:xfrm>
          <a:prstGeom prst="roundRect">
            <a:avLst>
              <a:gd name="adj" fmla="val 50000"/>
            </a:avLst>
          </a:prstGeom>
          <a:solidFill>
            <a:srgbClr val="C7C7D0"/>
          </a:solidFill>
          <a:ln w="12700">
            <a:miter lim="400000"/>
          </a:ln>
        </p:spPr>
        <p:txBody>
          <a:bodyPr lIns="45719" rIns="45719"/>
          <a:lstStyle/>
          <a:p>
            <a:pPr/>
          </a:p>
        </p:txBody>
      </p:sp>
      <p:sp>
        <p:nvSpPr>
          <p:cNvPr id="610" name="Shape 11"/>
          <p:cNvSpPr/>
          <p:nvPr/>
        </p:nvSpPr>
        <p:spPr>
          <a:xfrm>
            <a:off x="7114282" y="3348752"/>
            <a:ext cx="401837" cy="401837"/>
          </a:xfrm>
          <a:prstGeom prst="roundRect">
            <a:avLst>
              <a:gd name="adj" fmla="val 18670"/>
            </a:avLst>
          </a:prstGeom>
          <a:solidFill>
            <a:srgbClr val="E1E1EA"/>
          </a:solidFill>
          <a:ln w="7620">
            <a:solidFill>
              <a:srgbClr val="C7C7D0"/>
            </a:solidFill>
          </a:ln>
        </p:spPr>
        <p:txBody>
          <a:bodyPr lIns="45719" rIns="45719"/>
          <a:lstStyle/>
          <a:p>
            <a:pPr/>
          </a:p>
        </p:txBody>
      </p:sp>
      <p:sp>
        <p:nvSpPr>
          <p:cNvPr id="611" name="Text 12"/>
          <p:cNvSpPr txBox="1"/>
          <p:nvPr/>
        </p:nvSpPr>
        <p:spPr>
          <a:xfrm>
            <a:off x="7239371" y="3411727"/>
            <a:ext cx="151539" cy="27576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2100"/>
              </a:lnSpc>
              <a:defRPr sz="2100">
                <a:solidFill>
                  <a:srgbClr val="3C3939"/>
                </a:solidFill>
                <a:latin typeface="Raleway Thin Regular"/>
                <a:ea typeface="Raleway Thin Regular"/>
                <a:cs typeface="Raleway Thin Regular"/>
                <a:sym typeface="Raleway Thin Regular"/>
              </a:defRPr>
            </a:lvl1pPr>
          </a:lstStyle>
          <a:p>
            <a:pPr/>
            <a:r>
              <a:t>2</a:t>
            </a:r>
          </a:p>
        </p:txBody>
      </p:sp>
      <p:sp>
        <p:nvSpPr>
          <p:cNvPr id="612" name="Text 13"/>
          <p:cNvSpPr txBox="1"/>
          <p:nvPr/>
        </p:nvSpPr>
        <p:spPr>
          <a:xfrm>
            <a:off x="8208288" y="3410068"/>
            <a:ext cx="716503" cy="26388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700">
                <a:solidFill>
                  <a:srgbClr val="3C3939"/>
                </a:solidFill>
                <a:latin typeface="Raleway Thin Regular"/>
                <a:ea typeface="Raleway Thin Regular"/>
                <a:cs typeface="Raleway Thin Regular"/>
                <a:sym typeface="Raleway Thin Regular"/>
              </a:defRPr>
            </a:lvl1pPr>
          </a:lstStyle>
          <a:p>
            <a:pPr/>
            <a:r>
              <a:t>Python</a:t>
            </a:r>
          </a:p>
        </p:txBody>
      </p:sp>
      <p:sp>
        <p:nvSpPr>
          <p:cNvPr id="613" name="Text 14"/>
          <p:cNvSpPr txBox="1"/>
          <p:nvPr/>
        </p:nvSpPr>
        <p:spPr>
          <a:xfrm>
            <a:off x="8208288" y="3785472"/>
            <a:ext cx="4707124" cy="2567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400">
                <a:solidFill>
                  <a:srgbClr val="3C3939"/>
                </a:solidFill>
                <a:latin typeface="Roboto Regular Regular"/>
                <a:ea typeface="Roboto Regular Regular"/>
                <a:cs typeface="Roboto Regular Regular"/>
                <a:sym typeface="Roboto Regular Regular"/>
              </a:defRPr>
            </a:lvl1pPr>
          </a:lstStyle>
          <a:p>
            <a:pPr/>
            <a:r>
              <a:t>Build backend logic and connect systems programmatically</a:t>
            </a:r>
          </a:p>
        </p:txBody>
      </p:sp>
      <p:sp>
        <p:nvSpPr>
          <p:cNvPr id="614" name="Shape 15"/>
          <p:cNvSpPr/>
          <p:nvPr/>
        </p:nvSpPr>
        <p:spPr>
          <a:xfrm>
            <a:off x="6601360" y="4444007"/>
            <a:ext cx="535782" cy="22861"/>
          </a:xfrm>
          <a:prstGeom prst="roundRect">
            <a:avLst>
              <a:gd name="adj" fmla="val 50000"/>
            </a:avLst>
          </a:prstGeom>
          <a:solidFill>
            <a:srgbClr val="C7C7D0"/>
          </a:solidFill>
          <a:ln w="12700">
            <a:miter lim="400000"/>
          </a:ln>
        </p:spPr>
        <p:txBody>
          <a:bodyPr lIns="45719" rIns="45719"/>
          <a:lstStyle/>
          <a:p>
            <a:pPr/>
          </a:p>
        </p:txBody>
      </p:sp>
      <p:sp>
        <p:nvSpPr>
          <p:cNvPr id="615" name="Shape 16"/>
          <p:cNvSpPr/>
          <p:nvPr/>
        </p:nvSpPr>
        <p:spPr>
          <a:xfrm>
            <a:off x="7114282" y="4254579"/>
            <a:ext cx="401837" cy="401837"/>
          </a:xfrm>
          <a:prstGeom prst="roundRect">
            <a:avLst>
              <a:gd name="adj" fmla="val 18670"/>
            </a:avLst>
          </a:prstGeom>
          <a:solidFill>
            <a:srgbClr val="E1E1EA"/>
          </a:solidFill>
          <a:ln w="7620">
            <a:solidFill>
              <a:srgbClr val="C7C7D0"/>
            </a:solidFill>
          </a:ln>
        </p:spPr>
        <p:txBody>
          <a:bodyPr lIns="45719" rIns="45719"/>
          <a:lstStyle/>
          <a:p>
            <a:pPr/>
          </a:p>
        </p:txBody>
      </p:sp>
      <p:sp>
        <p:nvSpPr>
          <p:cNvPr id="616" name="Text 17"/>
          <p:cNvSpPr txBox="1"/>
          <p:nvPr/>
        </p:nvSpPr>
        <p:spPr>
          <a:xfrm>
            <a:off x="7237527" y="4317554"/>
            <a:ext cx="155227" cy="27576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2100"/>
              </a:lnSpc>
              <a:defRPr sz="2100">
                <a:solidFill>
                  <a:srgbClr val="3C3939"/>
                </a:solidFill>
                <a:latin typeface="Raleway Thin Regular"/>
                <a:ea typeface="Raleway Thin Regular"/>
                <a:cs typeface="Raleway Thin Regular"/>
                <a:sym typeface="Raleway Thin Regular"/>
              </a:defRPr>
            </a:lvl1pPr>
          </a:lstStyle>
          <a:p>
            <a:pPr/>
            <a:r>
              <a:t>3</a:t>
            </a:r>
          </a:p>
        </p:txBody>
      </p:sp>
      <p:sp>
        <p:nvSpPr>
          <p:cNvPr id="617" name="Text 18"/>
          <p:cNvSpPr txBox="1"/>
          <p:nvPr/>
        </p:nvSpPr>
        <p:spPr>
          <a:xfrm>
            <a:off x="5525409" y="4315897"/>
            <a:ext cx="896704" cy="26388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2100"/>
              </a:lnSpc>
              <a:defRPr sz="1700">
                <a:solidFill>
                  <a:srgbClr val="3C3939"/>
                </a:solidFill>
                <a:latin typeface="Raleway Thin Regular"/>
                <a:ea typeface="Raleway Thin Regular"/>
                <a:cs typeface="Raleway Thin Regular"/>
                <a:sym typeface="Raleway Thin Regular"/>
              </a:defRPr>
            </a:lvl1pPr>
          </a:lstStyle>
          <a:p>
            <a:pPr/>
            <a:r>
              <a:t>APIs &amp; AI</a:t>
            </a:r>
          </a:p>
        </p:txBody>
      </p:sp>
      <p:sp>
        <p:nvSpPr>
          <p:cNvPr id="618" name="Text 19"/>
          <p:cNvSpPr txBox="1"/>
          <p:nvPr/>
        </p:nvSpPr>
        <p:spPr>
          <a:xfrm>
            <a:off x="2365938" y="4691300"/>
            <a:ext cx="4056175" cy="2567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2100"/>
              </a:lnSpc>
              <a:defRPr sz="1400">
                <a:solidFill>
                  <a:srgbClr val="3C3939"/>
                </a:solidFill>
                <a:latin typeface="Roboto Regular Regular"/>
                <a:ea typeface="Roboto Regular Regular"/>
                <a:cs typeface="Roboto Regular Regular"/>
                <a:sym typeface="Roboto Regular Regular"/>
              </a:defRPr>
            </a:lvl1pPr>
          </a:lstStyle>
          <a:p>
            <a:pPr/>
            <a:r>
              <a:t>Integrate LLMs, external services, and data sources</a:t>
            </a:r>
          </a:p>
        </p:txBody>
      </p:sp>
      <p:sp>
        <p:nvSpPr>
          <p:cNvPr id="619" name="Shape 20"/>
          <p:cNvSpPr/>
          <p:nvPr/>
        </p:nvSpPr>
        <p:spPr>
          <a:xfrm>
            <a:off x="7493258" y="5349954"/>
            <a:ext cx="535782" cy="22861"/>
          </a:xfrm>
          <a:prstGeom prst="roundRect">
            <a:avLst>
              <a:gd name="adj" fmla="val 50000"/>
            </a:avLst>
          </a:prstGeom>
          <a:solidFill>
            <a:srgbClr val="C7C7D0"/>
          </a:solidFill>
          <a:ln w="12700">
            <a:miter lim="400000"/>
          </a:ln>
        </p:spPr>
        <p:txBody>
          <a:bodyPr lIns="45719" rIns="45719"/>
          <a:lstStyle/>
          <a:p>
            <a:pPr/>
          </a:p>
        </p:txBody>
      </p:sp>
      <p:sp>
        <p:nvSpPr>
          <p:cNvPr id="620" name="Shape 21"/>
          <p:cNvSpPr/>
          <p:nvPr/>
        </p:nvSpPr>
        <p:spPr>
          <a:xfrm>
            <a:off x="7114282" y="5160526"/>
            <a:ext cx="401837" cy="401837"/>
          </a:xfrm>
          <a:prstGeom prst="roundRect">
            <a:avLst>
              <a:gd name="adj" fmla="val 18670"/>
            </a:avLst>
          </a:prstGeom>
          <a:solidFill>
            <a:srgbClr val="E1E1EA"/>
          </a:solidFill>
          <a:ln w="7620">
            <a:solidFill>
              <a:srgbClr val="C7C7D0"/>
            </a:solidFill>
          </a:ln>
        </p:spPr>
        <p:txBody>
          <a:bodyPr lIns="45719" rIns="45719"/>
          <a:lstStyle/>
          <a:p>
            <a:pPr/>
          </a:p>
        </p:txBody>
      </p:sp>
      <p:sp>
        <p:nvSpPr>
          <p:cNvPr id="621" name="Text 22"/>
          <p:cNvSpPr txBox="1"/>
          <p:nvPr/>
        </p:nvSpPr>
        <p:spPr>
          <a:xfrm>
            <a:off x="7235951" y="5223501"/>
            <a:ext cx="158379" cy="27576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2100"/>
              </a:lnSpc>
              <a:defRPr sz="2100">
                <a:solidFill>
                  <a:srgbClr val="3C3939"/>
                </a:solidFill>
                <a:latin typeface="Raleway Thin Regular"/>
                <a:ea typeface="Raleway Thin Regular"/>
                <a:cs typeface="Raleway Thin Regular"/>
                <a:sym typeface="Raleway Thin Regular"/>
              </a:defRPr>
            </a:lvl1pPr>
          </a:lstStyle>
          <a:p>
            <a:pPr/>
            <a:r>
              <a:t>4</a:t>
            </a:r>
          </a:p>
        </p:txBody>
      </p:sp>
      <p:sp>
        <p:nvSpPr>
          <p:cNvPr id="622" name="Text 23"/>
          <p:cNvSpPr txBox="1"/>
          <p:nvPr/>
        </p:nvSpPr>
        <p:spPr>
          <a:xfrm>
            <a:off x="8208288" y="5221842"/>
            <a:ext cx="1348581" cy="26388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700">
                <a:solidFill>
                  <a:srgbClr val="3C3939"/>
                </a:solidFill>
                <a:latin typeface="Raleway Thin Regular"/>
                <a:ea typeface="Raleway Thin Regular"/>
                <a:cs typeface="Raleway Thin Regular"/>
                <a:sym typeface="Raleway Thin Regular"/>
              </a:defRPr>
            </a:lvl1pPr>
          </a:lstStyle>
          <a:p>
            <a:pPr/>
            <a:r>
              <a:t>RAG Systems</a:t>
            </a:r>
          </a:p>
        </p:txBody>
      </p:sp>
      <p:sp>
        <p:nvSpPr>
          <p:cNvPr id="623" name="Text 24"/>
          <p:cNvSpPr txBox="1"/>
          <p:nvPr/>
        </p:nvSpPr>
        <p:spPr>
          <a:xfrm>
            <a:off x="8208288" y="5597247"/>
            <a:ext cx="4556237" cy="2567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400">
                <a:solidFill>
                  <a:srgbClr val="3C3939"/>
                </a:solidFill>
                <a:latin typeface="Roboto Regular Regular"/>
                <a:ea typeface="Roboto Regular Regular"/>
                <a:cs typeface="Roboto Regular Regular"/>
                <a:sym typeface="Roboto Regular Regular"/>
              </a:defRPr>
            </a:lvl1pPr>
          </a:lstStyle>
          <a:p>
            <a:pPr/>
            <a:r>
              <a:t>Ground AI in real company data using retrieval techniques</a:t>
            </a:r>
          </a:p>
        </p:txBody>
      </p:sp>
      <p:sp>
        <p:nvSpPr>
          <p:cNvPr id="624" name="Shape 25"/>
          <p:cNvSpPr/>
          <p:nvPr/>
        </p:nvSpPr>
        <p:spPr>
          <a:xfrm>
            <a:off x="6601360" y="6255901"/>
            <a:ext cx="535782" cy="22861"/>
          </a:xfrm>
          <a:prstGeom prst="roundRect">
            <a:avLst>
              <a:gd name="adj" fmla="val 50000"/>
            </a:avLst>
          </a:prstGeom>
          <a:solidFill>
            <a:srgbClr val="C7C7D0"/>
          </a:solidFill>
          <a:ln w="12700">
            <a:miter lim="400000"/>
          </a:ln>
        </p:spPr>
        <p:txBody>
          <a:bodyPr lIns="45719" rIns="45719"/>
          <a:lstStyle/>
          <a:p>
            <a:pPr/>
          </a:p>
        </p:txBody>
      </p:sp>
      <p:sp>
        <p:nvSpPr>
          <p:cNvPr id="625" name="Shape 26"/>
          <p:cNvSpPr/>
          <p:nvPr/>
        </p:nvSpPr>
        <p:spPr>
          <a:xfrm>
            <a:off x="7114282" y="6066473"/>
            <a:ext cx="401837" cy="401837"/>
          </a:xfrm>
          <a:prstGeom prst="roundRect">
            <a:avLst>
              <a:gd name="adj" fmla="val 18670"/>
            </a:avLst>
          </a:prstGeom>
          <a:solidFill>
            <a:srgbClr val="E1E1EA"/>
          </a:solidFill>
          <a:ln w="7620">
            <a:solidFill>
              <a:srgbClr val="C7C7D0"/>
            </a:solidFill>
          </a:ln>
        </p:spPr>
        <p:txBody>
          <a:bodyPr lIns="45719" rIns="45719"/>
          <a:lstStyle/>
          <a:p>
            <a:pPr/>
          </a:p>
        </p:txBody>
      </p:sp>
      <p:sp>
        <p:nvSpPr>
          <p:cNvPr id="626" name="Text 27"/>
          <p:cNvSpPr txBox="1"/>
          <p:nvPr/>
        </p:nvSpPr>
        <p:spPr>
          <a:xfrm>
            <a:off x="7236146" y="6129448"/>
            <a:ext cx="157989" cy="27576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2100"/>
              </a:lnSpc>
              <a:defRPr sz="2100">
                <a:solidFill>
                  <a:srgbClr val="3C3939"/>
                </a:solidFill>
                <a:latin typeface="Raleway Thin Regular"/>
                <a:ea typeface="Raleway Thin Regular"/>
                <a:cs typeface="Raleway Thin Regular"/>
                <a:sym typeface="Raleway Thin Regular"/>
              </a:defRPr>
            </a:lvl1pPr>
          </a:lstStyle>
          <a:p>
            <a:pPr/>
            <a:r>
              <a:t>5</a:t>
            </a:r>
          </a:p>
        </p:txBody>
      </p:sp>
      <p:sp>
        <p:nvSpPr>
          <p:cNvPr id="627" name="Text 28"/>
          <p:cNvSpPr txBox="1"/>
          <p:nvPr/>
        </p:nvSpPr>
        <p:spPr>
          <a:xfrm>
            <a:off x="4701910" y="6127789"/>
            <a:ext cx="1720202" cy="26388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2100"/>
              </a:lnSpc>
              <a:defRPr sz="1700">
                <a:solidFill>
                  <a:srgbClr val="3C3939"/>
                </a:solidFill>
                <a:latin typeface="Raleway Thin Regular"/>
                <a:ea typeface="Raleway Thin Regular"/>
                <a:cs typeface="Raleway Thin Regular"/>
                <a:sym typeface="Raleway Thin Regular"/>
              </a:defRPr>
            </a:lvl1pPr>
          </a:lstStyle>
          <a:p>
            <a:pPr/>
            <a:r>
              <a:t>UI &amp; Deployment</a:t>
            </a:r>
          </a:p>
        </p:txBody>
      </p:sp>
      <p:sp>
        <p:nvSpPr>
          <p:cNvPr id="628" name="Text 29"/>
          <p:cNvSpPr txBox="1"/>
          <p:nvPr/>
        </p:nvSpPr>
        <p:spPr>
          <a:xfrm>
            <a:off x="1725147" y="6503193"/>
            <a:ext cx="4696967" cy="2567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2100"/>
              </a:lnSpc>
              <a:defRPr sz="1400">
                <a:solidFill>
                  <a:srgbClr val="3C3939"/>
                </a:solidFill>
                <a:latin typeface="Roboto Regular Regular"/>
                <a:ea typeface="Roboto Regular Regular"/>
                <a:cs typeface="Roboto Regular Regular"/>
                <a:sym typeface="Roboto Regular Regular"/>
              </a:defRPr>
            </a:lvl1pPr>
          </a:lstStyle>
          <a:p>
            <a:pPr/>
            <a:r>
              <a:t>Ship a real interface and deploy to production infrastructure</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2" name="Shape 0"/>
          <p:cNvSpPr/>
          <p:nvPr/>
        </p:nvSpPr>
        <p:spPr>
          <a:xfrm>
            <a:off x="9144000" y="0"/>
            <a:ext cx="5486400" cy="8229600"/>
          </a:xfrm>
          <a:prstGeom prst="rect">
            <a:avLst/>
          </a:prstGeom>
          <a:solidFill>
            <a:srgbClr val="E1E1EA"/>
          </a:solidFill>
          <a:ln w="12700">
            <a:miter lim="400000"/>
          </a:ln>
        </p:spPr>
        <p:txBody>
          <a:bodyPr lIns="45719" rIns="45719"/>
          <a:lstStyle/>
          <a:p>
            <a:pPr/>
          </a:p>
        </p:txBody>
      </p:sp>
      <p:pic>
        <p:nvPicPr>
          <p:cNvPr id="633" name="Image 0" descr="Image 0"/>
          <p:cNvPicPr>
            <a:picLocks noChangeAspect="1"/>
          </p:cNvPicPr>
          <p:nvPr/>
        </p:nvPicPr>
        <p:blipFill>
          <a:blip r:embed="rId3">
            <a:extLst/>
          </a:blip>
          <a:stretch>
            <a:fillRect/>
          </a:stretch>
        </p:blipFill>
        <p:spPr>
          <a:xfrm>
            <a:off x="9243179" y="148708"/>
            <a:ext cx="5288043" cy="7932065"/>
          </a:xfrm>
          <a:prstGeom prst="rect">
            <a:avLst/>
          </a:prstGeom>
          <a:ln w="12700">
            <a:miter lim="400000"/>
          </a:ln>
        </p:spPr>
      </p:pic>
      <p:sp>
        <p:nvSpPr>
          <p:cNvPr id="634" name="Shape 1"/>
          <p:cNvSpPr/>
          <p:nvPr/>
        </p:nvSpPr>
        <p:spPr>
          <a:xfrm>
            <a:off x="793790" y="1566504"/>
            <a:ext cx="1728908" cy="373143"/>
          </a:xfrm>
          <a:prstGeom prst="roundRect">
            <a:avLst>
              <a:gd name="adj" fmla="val 17872"/>
            </a:avLst>
          </a:prstGeom>
          <a:solidFill>
            <a:srgbClr val="E1E1EA"/>
          </a:solidFill>
          <a:ln w="12700">
            <a:miter lim="400000"/>
          </a:ln>
        </p:spPr>
        <p:txBody>
          <a:bodyPr lIns="45719" rIns="45719"/>
          <a:lstStyle/>
          <a:p>
            <a:pPr/>
          </a:p>
        </p:txBody>
      </p:sp>
      <p:sp>
        <p:nvSpPr>
          <p:cNvPr id="635" name="Text 2"/>
          <p:cNvSpPr txBox="1"/>
          <p:nvPr/>
        </p:nvSpPr>
        <p:spPr>
          <a:xfrm>
            <a:off x="912851" y="1626036"/>
            <a:ext cx="1444130" cy="2404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3C3939"/>
                </a:solidFill>
                <a:latin typeface="Roboto Regular Regular"/>
                <a:ea typeface="Roboto Regular Regular"/>
                <a:cs typeface="Roboto Regular Regular"/>
                <a:sym typeface="Roboto Regular Regular"/>
              </a:defRPr>
            </a:lvl1pPr>
          </a:lstStyle>
          <a:p>
            <a:pPr/>
            <a:r>
              <a:t>17 · FINAL MESSAGE</a:t>
            </a:r>
          </a:p>
        </p:txBody>
      </p:sp>
      <p:sp>
        <p:nvSpPr>
          <p:cNvPr id="636" name="Text 3"/>
          <p:cNvSpPr txBox="1"/>
          <p:nvPr/>
        </p:nvSpPr>
        <p:spPr>
          <a:xfrm>
            <a:off x="793789" y="2018943"/>
            <a:ext cx="3282504"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Final Message</a:t>
            </a:r>
          </a:p>
        </p:txBody>
      </p:sp>
      <p:sp>
        <p:nvSpPr>
          <p:cNvPr id="637" name="Text 4"/>
          <p:cNvSpPr txBox="1"/>
          <p:nvPr/>
        </p:nvSpPr>
        <p:spPr>
          <a:xfrm>
            <a:off x="1091446" y="3159918"/>
            <a:ext cx="6589415" cy="3005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Most people learn tools. Few people build products. The world needs builders.</a:t>
            </a:r>
          </a:p>
        </p:txBody>
      </p:sp>
      <p:sp>
        <p:nvSpPr>
          <p:cNvPr id="638" name="Shape 5"/>
          <p:cNvSpPr/>
          <p:nvPr/>
        </p:nvSpPr>
        <p:spPr>
          <a:xfrm>
            <a:off x="793790" y="2936676"/>
            <a:ext cx="22861" cy="764025"/>
          </a:xfrm>
          <a:prstGeom prst="rect">
            <a:avLst/>
          </a:prstGeom>
          <a:solidFill>
            <a:srgbClr val="1B1B27"/>
          </a:solidFill>
          <a:ln w="12700">
            <a:miter lim="400000"/>
          </a:ln>
        </p:spPr>
        <p:txBody>
          <a:bodyPr lIns="45719" rIns="45719"/>
          <a:lstStyle/>
          <a:p>
            <a:pPr/>
          </a:p>
        </p:txBody>
      </p:sp>
      <p:sp>
        <p:nvSpPr>
          <p:cNvPr id="639" name="Shape 6"/>
          <p:cNvSpPr/>
          <p:nvPr/>
        </p:nvSpPr>
        <p:spPr>
          <a:xfrm>
            <a:off x="793790" y="3923943"/>
            <a:ext cx="2386490" cy="2739034"/>
          </a:xfrm>
          <a:prstGeom prst="roundRect">
            <a:avLst>
              <a:gd name="adj" fmla="val 3493"/>
            </a:avLst>
          </a:prstGeom>
          <a:solidFill>
            <a:srgbClr val="E1E1EA"/>
          </a:solidFill>
          <a:ln w="7620">
            <a:solidFill>
              <a:srgbClr val="C7C7D0"/>
            </a:solidFill>
          </a:ln>
        </p:spPr>
        <p:txBody>
          <a:bodyPr lIns="45719" rIns="45719"/>
          <a:lstStyle/>
          <a:p>
            <a:pPr/>
          </a:p>
        </p:txBody>
      </p:sp>
      <p:sp>
        <p:nvSpPr>
          <p:cNvPr id="640" name="Text 7"/>
          <p:cNvSpPr txBox="1"/>
          <p:nvPr/>
        </p:nvSpPr>
        <p:spPr>
          <a:xfrm>
            <a:off x="999768" y="4129921"/>
            <a:ext cx="1974533" cy="6051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Most learn tools</a:t>
            </a:r>
          </a:p>
        </p:txBody>
      </p:sp>
      <p:sp>
        <p:nvSpPr>
          <p:cNvPr id="641" name="Text 8"/>
          <p:cNvSpPr txBox="1"/>
          <p:nvPr/>
        </p:nvSpPr>
        <p:spPr>
          <a:xfrm>
            <a:off x="999768" y="4869298"/>
            <a:ext cx="1974533" cy="1253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They follow tutorials and copy examples without understanding the system</a:t>
            </a:r>
          </a:p>
        </p:txBody>
      </p:sp>
      <p:sp>
        <p:nvSpPr>
          <p:cNvPr id="642" name="Shape 9"/>
          <p:cNvSpPr/>
          <p:nvPr/>
        </p:nvSpPr>
        <p:spPr>
          <a:xfrm>
            <a:off x="3378637" y="3923943"/>
            <a:ext cx="2386609" cy="2739034"/>
          </a:xfrm>
          <a:prstGeom prst="roundRect">
            <a:avLst>
              <a:gd name="adj" fmla="val 3493"/>
            </a:avLst>
          </a:prstGeom>
          <a:solidFill>
            <a:srgbClr val="E1E1EA"/>
          </a:solidFill>
          <a:ln w="7620">
            <a:solidFill>
              <a:srgbClr val="C7C7D0"/>
            </a:solidFill>
          </a:ln>
        </p:spPr>
        <p:txBody>
          <a:bodyPr lIns="45719" rIns="45719"/>
          <a:lstStyle/>
          <a:p>
            <a:pPr/>
          </a:p>
        </p:txBody>
      </p:sp>
      <p:sp>
        <p:nvSpPr>
          <p:cNvPr id="643" name="Text 10"/>
          <p:cNvSpPr txBox="1"/>
          <p:nvPr/>
        </p:nvSpPr>
        <p:spPr>
          <a:xfrm>
            <a:off x="3584614" y="4129921"/>
            <a:ext cx="1974653" cy="6051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Few build products</a:t>
            </a:r>
          </a:p>
        </p:txBody>
      </p:sp>
      <p:sp>
        <p:nvSpPr>
          <p:cNvPr id="644" name="Text 11"/>
          <p:cNvSpPr txBox="1"/>
          <p:nvPr/>
        </p:nvSpPr>
        <p:spPr>
          <a:xfrm>
            <a:off x="3584614" y="4869298"/>
            <a:ext cx="1974653" cy="1253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They connect the pieces, handle edge cases, and ship something real</a:t>
            </a:r>
          </a:p>
        </p:txBody>
      </p:sp>
      <p:sp>
        <p:nvSpPr>
          <p:cNvPr id="645" name="Shape 12"/>
          <p:cNvSpPr/>
          <p:nvPr/>
        </p:nvSpPr>
        <p:spPr>
          <a:xfrm>
            <a:off x="5963603" y="3923943"/>
            <a:ext cx="2386609" cy="2739034"/>
          </a:xfrm>
          <a:prstGeom prst="roundRect">
            <a:avLst>
              <a:gd name="adj" fmla="val 3493"/>
            </a:avLst>
          </a:prstGeom>
          <a:solidFill>
            <a:srgbClr val="E1E1EA"/>
          </a:solidFill>
          <a:ln w="7620">
            <a:solidFill>
              <a:srgbClr val="C7C7D0"/>
            </a:solidFill>
          </a:ln>
        </p:spPr>
        <p:txBody>
          <a:bodyPr lIns="45719" rIns="45719"/>
          <a:lstStyle/>
          <a:p>
            <a:pPr/>
          </a:p>
        </p:txBody>
      </p:sp>
      <p:sp>
        <p:nvSpPr>
          <p:cNvPr id="646" name="Text 13"/>
          <p:cNvSpPr txBox="1"/>
          <p:nvPr/>
        </p:nvSpPr>
        <p:spPr>
          <a:xfrm>
            <a:off x="6169581" y="4129921"/>
            <a:ext cx="1974653" cy="6051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Become a builder</a:t>
            </a:r>
          </a:p>
        </p:txBody>
      </p:sp>
      <p:sp>
        <p:nvSpPr>
          <p:cNvPr id="647" name="Text 14"/>
          <p:cNvSpPr txBox="1"/>
          <p:nvPr/>
        </p:nvSpPr>
        <p:spPr>
          <a:xfrm>
            <a:off x="6169581" y="4869298"/>
            <a:ext cx="1974653" cy="1253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That is what this course trains you to do — and what companies pay for</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000000"/>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