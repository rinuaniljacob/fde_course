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4630400" cy="8229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78" name="Shape 278"/>
          <p:cNvSpPr/>
          <p:nvPr>
            <p:ph type="sldImg"/>
          </p:nvPr>
        </p:nvSpPr>
        <p:spPr>
          <a:xfrm>
            <a:off x="1143000" y="685800"/>
            <a:ext cx="4572000" cy="3429000"/>
          </a:xfrm>
          <a:prstGeom prst="rect">
            <a:avLst/>
          </a:prstGeom>
        </p:spPr>
        <p:txBody>
          <a:bodyPr/>
          <a:lstStyle/>
          <a:p>
            <a:pPr/>
          </a:p>
        </p:txBody>
      </p:sp>
      <p:sp>
        <p:nvSpPr>
          <p:cNvPr id="279" name="Shape 27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7.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8.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Shape 287"/>
          <p:cNvSpPr/>
          <p:nvPr>
            <p:ph type="sldImg"/>
          </p:nvPr>
        </p:nvSpPr>
        <p:spPr>
          <a:prstGeom prst="rect">
            <a:avLst/>
          </a:prstGeom>
        </p:spPr>
        <p:txBody>
          <a:bodyPr/>
          <a:lstStyle/>
          <a:p>
            <a:pPr/>
          </a:p>
        </p:txBody>
      </p:sp>
      <p:sp>
        <p:nvSpPr>
          <p:cNvPr id="288" name="Shape 288"/>
          <p:cNvSpPr/>
          <p:nvPr>
            <p:ph type="body" sz="quarter" idx="1"/>
          </p:nvPr>
        </p:nvSpPr>
        <p:spPr>
          <a:prstGeom prst="rect">
            <a:avLst/>
          </a:prstGeom>
        </p:spPr>
        <p:txBody>
          <a:bodyPr/>
          <a:lstStyle/>
          <a:p>
            <a:pPr/>
            <a:r>
              <a:t>“Welcome everyone.</a:t>
            </a:r>
          </a:p>
          <a:p>
            <a:pPr/>
          </a:p>
          <a:p>
            <a:pPr/>
            <a:r>
              <a:t>Before we start—this course is very different from traditional AI courses.</a:t>
            </a:r>
          </a:p>
          <a:p>
            <a:pPr/>
          </a:p>
          <a:p>
            <a:pPr/>
            <a:r>
              <a:t>This is not a course where we only learn machine learning algorithms.</a:t>
            </a:r>
          </a:p>
          <a:p>
            <a:pPr/>
            <a:r>
              <a:t>This is not a course where we only build APIs.</a:t>
            </a:r>
          </a:p>
          <a:p>
            <a:pPr/>
            <a:r>
              <a:t>This is not a course where we only call ChatGPT APIs.</a:t>
            </a:r>
          </a:p>
          <a:p>
            <a:pPr/>
          </a:p>
          <a:p>
            <a:pPr/>
            <a:r>
              <a:t>This course is about solving real business problems using technology.</a:t>
            </a:r>
          </a:p>
          <a:p>
            <a:pPr/>
          </a:p>
          <a:p>
            <a:pPr/>
            <a:r>
              <a:t>In real companies, nobody gives you a clean dataset and says train a model.</a:t>
            </a:r>
          </a:p>
          <a:p>
            <a:pPr/>
          </a:p>
          <a:p>
            <a:pPr/>
            <a:r>
              <a:t>Instead they say things like:</a:t>
            </a:r>
          </a:p>
          <a:p>
            <a:pPr/>
            <a:r>
              <a:t>‘Customer complaints are increasing’</a:t>
            </a:r>
          </a:p>
          <a:p>
            <a:pPr/>
            <a:r>
              <a:t>‘We are spending too much on support’</a:t>
            </a:r>
          </a:p>
          <a:p>
            <a:pPr/>
            <a:r>
              <a:t>‘Can we automate this process?’</a:t>
            </a:r>
          </a:p>
          <a:p>
            <a:pPr/>
          </a:p>
          <a:p>
            <a:pPr/>
            <a:r>
              <a:t>Your job as an engineer is to convert messy business problems into working technical systems.</a:t>
            </a:r>
          </a:p>
          <a:p>
            <a:pPr/>
          </a:p>
          <a:p>
            <a:pPr/>
            <a:r>
              <a:t>That’s what Forward Deployed Engineers do.”</a:t>
            </a:r>
          </a:p>
          <a:p>
            <a:pPr/>
          </a:p>
          <a:p>
            <a:pPr/>
            <a:r>
              <a:t>⸻</a:t>
            </a:r>
          </a:p>
          <a:p>
            <a:pPr/>
          </a:p>
          <a:p>
            <a:pPr/>
            <a:r>
              <a:t>Key Points:</a:t>
            </a:r>
          </a:p>
          <a:p>
            <a:pPr/>
          </a:p>
          <a:p>
            <a:pPr/>
            <a:r>
              <a:t>* Course = problem solving</a:t>
            </a:r>
          </a:p>
          <a:p>
            <a:pPr/>
            <a:r>
              <a:t>* Real-world ambiguity</a:t>
            </a:r>
          </a:p>
          <a:p>
            <a:pPr/>
            <a:r>
              <a:t>* End-to-end ownership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2" name="Shape 302"/>
          <p:cNvSpPr/>
          <p:nvPr>
            <p:ph type="sldImg"/>
          </p:nvPr>
        </p:nvSpPr>
        <p:spPr>
          <a:prstGeom prst="rect">
            <a:avLst/>
          </a:prstGeom>
        </p:spPr>
        <p:txBody>
          <a:bodyPr/>
          <a:lstStyle/>
          <a:p>
            <a:pPr/>
          </a:p>
        </p:txBody>
      </p:sp>
      <p:sp>
        <p:nvSpPr>
          <p:cNvPr id="303" name="Shape 303"/>
          <p:cNvSpPr/>
          <p:nvPr>
            <p:ph type="body" sz="quarter" idx="1"/>
          </p:nvPr>
        </p:nvSpPr>
        <p:spPr>
          <a:prstGeom prst="rect">
            <a:avLst/>
          </a:prstGeom>
        </p:spPr>
        <p:txBody>
          <a:bodyPr/>
          <a:lstStyle/>
          <a:p>
            <a:pPr/>
            <a:r>
              <a:t>“Many people learn technologies separately.</a:t>
            </a:r>
          </a:p>
          <a:p>
            <a:pPr/>
          </a:p>
          <a:p>
            <a:pPr/>
            <a:r>
              <a:t>They learn:</a:t>
            </a:r>
          </a:p>
          <a:p>
            <a:pPr/>
            <a:r>
              <a:t>Python</a:t>
            </a:r>
          </a:p>
          <a:p>
            <a:pPr/>
            <a:r>
              <a:t>Machine learning</a:t>
            </a:r>
          </a:p>
          <a:p>
            <a:pPr/>
            <a:r>
              <a:t>APIs</a:t>
            </a:r>
          </a:p>
          <a:p>
            <a:pPr/>
            <a:r>
              <a:t>LLMs</a:t>
            </a:r>
          </a:p>
          <a:p>
            <a:pPr/>
            <a:r>
              <a:t>Frontend tools</a:t>
            </a:r>
          </a:p>
          <a:p>
            <a:pPr/>
          </a:p>
          <a:p>
            <a:pPr/>
            <a:r>
              <a:t>But when asked to combine everything into one real solution—they struggle.</a:t>
            </a:r>
          </a:p>
          <a:p>
            <a:pPr/>
          </a:p>
          <a:p>
            <a:pPr/>
            <a:r>
              <a:t>Why?</a:t>
            </a:r>
          </a:p>
          <a:p>
            <a:pPr/>
          </a:p>
          <a:p>
            <a:pPr/>
            <a:r>
              <a:t>Because knowing tools is different from solving problems.</a:t>
            </a:r>
          </a:p>
          <a:p>
            <a:pPr/>
          </a:p>
          <a:p>
            <a:pPr/>
            <a:r>
              <a:t>Throughout this course, we’ll combine backend, AI, data flow, and UI.”</a:t>
            </a:r>
          </a:p>
          <a:p>
            <a:pPr/>
          </a:p>
          <a:p>
            <a:pPr/>
            <a:r>
              <a:t>⸻</a:t>
            </a:r>
          </a:p>
          <a:p>
            <a:pPr/>
          </a:p>
          <a:p>
            <a:pPr/>
            <a:r>
              <a:t>Key Points:</a:t>
            </a:r>
          </a:p>
          <a:p>
            <a:pPr/>
          </a:p>
          <a:p>
            <a:pPr/>
            <a:r>
              <a:t>* Tools ≠ solutions</a:t>
            </a:r>
          </a:p>
          <a:p>
            <a:pPr/>
            <a:r>
              <a:t>* Integration matters</a:t>
            </a:r>
          </a:p>
          <a:p>
            <a:pPr/>
            <a:r>
              <a:t>* End-to-end thinking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2" name="Shape 312"/>
          <p:cNvSpPr/>
          <p:nvPr>
            <p:ph type="sldImg"/>
          </p:nvPr>
        </p:nvSpPr>
        <p:spPr>
          <a:prstGeom prst="rect">
            <a:avLst/>
          </a:prstGeom>
        </p:spPr>
        <p:txBody>
          <a:bodyPr/>
          <a:lstStyle/>
          <a:p>
            <a:pPr/>
          </a:p>
        </p:txBody>
      </p:sp>
      <p:sp>
        <p:nvSpPr>
          <p:cNvPr id="313" name="Shape 313"/>
          <p:cNvSpPr/>
          <p:nvPr>
            <p:ph type="body" sz="quarter" idx="1"/>
          </p:nvPr>
        </p:nvSpPr>
        <p:spPr>
          <a:prstGeom prst="rect">
            <a:avLst/>
          </a:prstGeom>
        </p:spPr>
        <p:txBody>
          <a:bodyPr/>
          <a:lstStyle/>
          <a:p>
            <a:pPr/>
            <a:r>
              <a:t>“Let’s test your instinct.</a:t>
            </a:r>
          </a:p>
          <a:p>
            <a:pPr/>
          </a:p>
          <a:p>
            <a:pPr/>
            <a:r>
              <a:t>A company says:</a:t>
            </a:r>
          </a:p>
          <a:p>
            <a:pPr/>
            <a:r>
              <a:t>‘We receive 1000 emails daily. Can AI help us?’</a:t>
            </a:r>
          </a:p>
          <a:p>
            <a:pPr/>
          </a:p>
          <a:p>
            <a:pPr/>
            <a:r>
              <a:t>What would you do?”</a:t>
            </a:r>
          </a:p>
          <a:p>
            <a:pPr/>
          </a:p>
          <a:p>
            <a:pPr/>
            <a:r>
              <a:t>(Pause)</a:t>
            </a:r>
          </a:p>
          <a:p>
            <a:pPr/>
          </a:p>
          <a:p>
            <a:pPr/>
            <a:r>
              <a:t>Take student answers.</a:t>
            </a:r>
          </a:p>
          <a:p>
            <a:pPr/>
          </a:p>
          <a:p>
            <a:pPr/>
            <a:r>
              <a:t>⸻</a:t>
            </a:r>
          </a:p>
          <a:p>
            <a:pPr/>
          </a:p>
          <a:p>
            <a:pPr/>
            <a:r>
              <a:t>After students answer:</a:t>
            </a:r>
          </a:p>
          <a:p>
            <a:pPr/>
          </a:p>
          <a:p>
            <a:pPr/>
            <a:r>
              <a:t>“Notice how many of us immediately started discussing technology.</a:t>
            </a:r>
          </a:p>
          <a:p>
            <a:pPr/>
          </a:p>
          <a:p>
            <a:pPr/>
            <a:r>
              <a:t>That’s the trap.”</a:t>
            </a:r>
          </a:p>
          <a:p>
            <a:pPr/>
          </a:p>
          <a:p>
            <a:pPr/>
            <a:r>
              <a:t>⸻</a:t>
            </a:r>
          </a:p>
          <a:p>
            <a:pPr/>
          </a:p>
          <a:p>
            <a:pPr/>
            <a:r>
              <a:t>Key Points:</a:t>
            </a:r>
          </a:p>
          <a:p>
            <a:pPr/>
          </a:p>
          <a:p>
            <a:pPr/>
            <a:r>
              <a:t>* Pause before solving</a:t>
            </a:r>
          </a:p>
          <a:p>
            <a:pPr/>
            <a:r>
              <a:t>* Gather requirements first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1" name="Shape 331"/>
          <p:cNvSpPr/>
          <p:nvPr>
            <p:ph type="sldImg"/>
          </p:nvPr>
        </p:nvSpPr>
        <p:spPr>
          <a:prstGeom prst="rect">
            <a:avLst/>
          </a:prstGeom>
        </p:spPr>
        <p:txBody>
          <a:bodyPr/>
          <a:lstStyle/>
          <a:p>
            <a:pPr/>
          </a:p>
        </p:txBody>
      </p:sp>
      <p:sp>
        <p:nvSpPr>
          <p:cNvPr id="332" name="Shape 332"/>
          <p:cNvSpPr/>
          <p:nvPr>
            <p:ph type="body" sz="quarter" idx="1"/>
          </p:nvPr>
        </p:nvSpPr>
        <p:spPr>
          <a:prstGeom prst="rect">
            <a:avLst/>
          </a:prstGeom>
        </p:spPr>
        <p:txBody>
          <a:bodyPr/>
          <a:lstStyle/>
          <a:p>
            <a:pPr/>
            <a:r>
              <a:t>“What does email handling actually mean?</a:t>
            </a:r>
          </a:p>
          <a:p>
            <a:pPr/>
          </a:p>
          <a:p>
            <a:pPr/>
            <a:r>
              <a:t>Are we trying to:</a:t>
            </a:r>
          </a:p>
          <a:p>
            <a:pPr/>
            <a:r>
              <a:t>Categorize emails?</a:t>
            </a:r>
          </a:p>
          <a:p>
            <a:pPr/>
            <a:r>
              <a:t>Auto-reply?</a:t>
            </a:r>
          </a:p>
          <a:p>
            <a:pPr/>
            <a:r>
              <a:t>Detect spam?</a:t>
            </a:r>
          </a:p>
          <a:p>
            <a:pPr/>
            <a:r>
              <a:t>Route emails to departments?</a:t>
            </a:r>
          </a:p>
          <a:p>
            <a:pPr/>
          </a:p>
          <a:p>
            <a:pPr/>
            <a:r>
              <a:t>Same sentence.</a:t>
            </a:r>
          </a:p>
          <a:p>
            <a:pPr/>
            <a:r>
              <a:t>Completely different solutions.”</a:t>
            </a:r>
          </a:p>
          <a:p>
            <a:pPr/>
          </a:p>
          <a:p>
            <a:pPr/>
            <a:r>
              <a:t>⸻</a:t>
            </a:r>
          </a:p>
          <a:p>
            <a:pPr/>
          </a:p>
          <a:p>
            <a:pPr/>
            <a:r>
              <a:t>Key Points:</a:t>
            </a:r>
          </a:p>
          <a:p>
            <a:pPr/>
          </a:p>
          <a:p>
            <a:pPr/>
            <a:r>
              <a:t>* Clarify problem</a:t>
            </a:r>
          </a:p>
          <a:p>
            <a:pPr/>
            <a:r>
              <a:t>* Avoid assumptions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1" name="Shape 351"/>
          <p:cNvSpPr/>
          <p:nvPr>
            <p:ph type="sldImg"/>
          </p:nvPr>
        </p:nvSpPr>
        <p:spPr>
          <a:prstGeom prst="rect">
            <a:avLst/>
          </a:prstGeom>
        </p:spPr>
        <p:txBody>
          <a:bodyPr/>
          <a:lstStyle/>
          <a:p>
            <a:pPr/>
          </a:p>
        </p:txBody>
      </p:sp>
      <p:sp>
        <p:nvSpPr>
          <p:cNvPr id="352" name="Shape 352"/>
          <p:cNvSpPr/>
          <p:nvPr>
            <p:ph type="body" sz="quarter" idx="1"/>
          </p:nvPr>
        </p:nvSpPr>
        <p:spPr>
          <a:prstGeom prst="rect">
            <a:avLst/>
          </a:prstGeom>
        </p:spPr>
        <p:txBody>
          <a:bodyPr/>
          <a:lstStyle/>
          <a:p>
            <a:pPr/>
            <a:r>
              <a:t>“Most beginners do this:</a:t>
            </a:r>
          </a:p>
          <a:p>
            <a:pPr/>
          </a:p>
          <a:p>
            <a:pPr/>
            <a:r>
              <a:t>Let’s use GPT</a:t>
            </a:r>
          </a:p>
          <a:p>
            <a:pPr/>
            <a:r>
              <a:t>Let’s train a model</a:t>
            </a:r>
          </a:p>
          <a:p>
            <a:pPr/>
            <a:r>
              <a:t>Let’s build a chatbot</a:t>
            </a:r>
          </a:p>
          <a:p>
            <a:pPr/>
          </a:p>
          <a:p>
            <a:pPr/>
            <a:r>
              <a:t>Without understanding the actual business issue.”</a:t>
            </a:r>
          </a:p>
          <a:p>
            <a:pPr/>
          </a:p>
          <a:p>
            <a:pPr/>
            <a:r>
              <a:t>⸻</a:t>
            </a:r>
          </a:p>
          <a:p>
            <a:pPr/>
          </a:p>
          <a:p>
            <a:pPr/>
            <a:r>
              <a:t>Key Points:</a:t>
            </a:r>
          </a:p>
          <a:p>
            <a:pPr/>
          </a:p>
          <a:p>
            <a:pPr/>
            <a:r>
              <a:t>* Tool-first mindset is dangerous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2" name="Shape 372"/>
          <p:cNvSpPr/>
          <p:nvPr>
            <p:ph type="sldImg"/>
          </p:nvPr>
        </p:nvSpPr>
        <p:spPr>
          <a:prstGeom prst="rect">
            <a:avLst/>
          </a:prstGeom>
        </p:spPr>
        <p:txBody>
          <a:bodyPr/>
          <a:lstStyle/>
          <a:p>
            <a:pPr/>
          </a:p>
        </p:txBody>
      </p:sp>
      <p:sp>
        <p:nvSpPr>
          <p:cNvPr id="373" name="Shape 373"/>
          <p:cNvSpPr/>
          <p:nvPr>
            <p:ph type="body" sz="quarter" idx="1"/>
          </p:nvPr>
        </p:nvSpPr>
        <p:spPr>
          <a:prstGeom prst="rect">
            <a:avLst/>
          </a:prstGeom>
        </p:spPr>
        <p:txBody>
          <a:bodyPr/>
          <a:lstStyle/>
          <a:p>
            <a:pPr/>
            <a:r>
              <a:t>“Imagine using GPT for every email classification task.</a:t>
            </a:r>
          </a:p>
          <a:p>
            <a:pPr/>
          </a:p>
          <a:p>
            <a:pPr/>
            <a:r>
              <a:t>If a company processes millions of emails:</a:t>
            </a:r>
          </a:p>
          <a:p>
            <a:pPr/>
            <a:r>
              <a:t>Cost becomes huge.</a:t>
            </a:r>
          </a:p>
          <a:p>
            <a:pPr/>
          </a:p>
          <a:p>
            <a:pPr/>
            <a:r>
              <a:t>Sometimes:</a:t>
            </a:r>
          </a:p>
          <a:p>
            <a:pPr/>
            <a:r>
              <a:t>simple rules &gt; expensive AI”</a:t>
            </a:r>
          </a:p>
          <a:p>
            <a:pPr/>
          </a:p>
          <a:p>
            <a:pPr/>
            <a:r>
              <a:t>⸻</a:t>
            </a:r>
          </a:p>
          <a:p>
            <a:pPr/>
          </a:p>
          <a:p>
            <a:pPr/>
            <a:r>
              <a:t>Key Points:</a:t>
            </a:r>
          </a:p>
          <a:p>
            <a:pPr/>
          </a:p>
          <a:p>
            <a:pPr/>
            <a:r>
              <a:t>* Wrong architecture</a:t>
            </a:r>
          </a:p>
          <a:p>
            <a:pPr/>
            <a:r>
              <a:t>* Higher cost</a:t>
            </a:r>
          </a:p>
          <a:p>
            <a:pPr/>
            <a:r>
              <a:t>* Overengineering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8" name="Shape 388"/>
          <p:cNvSpPr/>
          <p:nvPr>
            <p:ph type="sldImg"/>
          </p:nvPr>
        </p:nvSpPr>
        <p:spPr>
          <a:prstGeom prst="rect">
            <a:avLst/>
          </a:prstGeom>
        </p:spPr>
        <p:txBody>
          <a:bodyPr/>
          <a:lstStyle/>
          <a:p>
            <a:pPr/>
          </a:p>
        </p:txBody>
      </p:sp>
      <p:sp>
        <p:nvSpPr>
          <p:cNvPr id="389" name="Shape 389"/>
          <p:cNvSpPr/>
          <p:nvPr>
            <p:ph type="body" sz="quarter" idx="1"/>
          </p:nvPr>
        </p:nvSpPr>
        <p:spPr>
          <a:prstGeom prst="rect">
            <a:avLst/>
          </a:prstGeom>
        </p:spPr>
        <p:txBody>
          <a:bodyPr/>
          <a:lstStyle/>
          <a:p>
            <a:pPr/>
            <a:r>
              <a:t>What to say:</a:t>
            </a:r>
          </a:p>
          <a:p>
            <a:pPr/>
          </a:p>
          <a:p>
            <a:pPr/>
            <a:r>
              <a:t>“An FDE understands:</a:t>
            </a:r>
          </a:p>
          <a:p>
            <a:pPr/>
            <a:r>
              <a:t>Business</a:t>
            </a:r>
          </a:p>
          <a:p>
            <a:pPr/>
            <a:r>
              <a:t>Technology</a:t>
            </a:r>
          </a:p>
          <a:p>
            <a:pPr/>
            <a:r>
              <a:t>Execution</a:t>
            </a:r>
          </a:p>
          <a:p>
            <a:pPr/>
          </a:p>
          <a:p>
            <a:pPr/>
            <a:r>
              <a:t>So traditionally, Companies used to have coders who knows how to build solutions using technology and also another person who would be a business consultant.</a:t>
            </a:r>
          </a:p>
          <a:p>
            <a:pPr/>
          </a:p>
          <a:p>
            <a:pPr/>
            <a:r>
              <a:t>An FDE is a combination of both Business consultant and solution builder who understands technology.</a:t>
            </a:r>
          </a:p>
          <a:p>
            <a:pPr/>
          </a:p>
          <a:p>
            <a:pPr/>
            <a:r>
              <a:t>They ask:</a:t>
            </a:r>
          </a:p>
          <a:p>
            <a:pPr/>
            <a:r>
              <a:t>What problem exists?</a:t>
            </a:r>
          </a:p>
          <a:p>
            <a:pPr/>
            <a:r>
              <a:t>What system solves it?</a:t>
            </a:r>
          </a:p>
          <a:p>
            <a:pPr/>
            <a:r>
              <a:t>How quickly can we ship?”</a:t>
            </a:r>
          </a:p>
          <a:p>
            <a:pPr/>
          </a:p>
          <a:p>
            <a:pPr/>
            <a:r>
              <a:t>⸻</a:t>
            </a:r>
          </a:p>
          <a:p>
            <a:pPr/>
          </a:p>
          <a:p>
            <a:pPr/>
            <a:r>
              <a:t>Key Points:</a:t>
            </a:r>
          </a:p>
          <a:p>
            <a:pPr/>
          </a:p>
          <a:p>
            <a:pPr/>
            <a:r>
              <a:t>* Ownership mindset</a:t>
            </a:r>
          </a:p>
          <a:p>
            <a:pPr/>
            <a:r>
              <a:t>* Business + technical thinking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3" name="Shape 413"/>
          <p:cNvSpPr/>
          <p:nvPr>
            <p:ph type="sldImg"/>
          </p:nvPr>
        </p:nvSpPr>
        <p:spPr>
          <a:prstGeom prst="rect">
            <a:avLst/>
          </a:prstGeom>
        </p:spPr>
        <p:txBody>
          <a:bodyPr/>
          <a:lstStyle/>
          <a:p>
            <a:pPr/>
          </a:p>
        </p:txBody>
      </p:sp>
      <p:sp>
        <p:nvSpPr>
          <p:cNvPr id="414" name="Shape 414"/>
          <p:cNvSpPr/>
          <p:nvPr>
            <p:ph type="body" sz="quarter" idx="1"/>
          </p:nvPr>
        </p:nvSpPr>
        <p:spPr>
          <a:prstGeom prst="rect">
            <a:avLst/>
          </a:prstGeom>
        </p:spPr>
        <p:txBody>
          <a:bodyPr/>
          <a:lstStyle/>
          <a:p>
            <a:pPr/>
            <a:r>
              <a:t>“This is your framework:</a:t>
            </a:r>
          </a:p>
          <a:p>
            <a:pPr/>
          </a:p>
          <a:p>
            <a:pPr/>
            <a:r>
              <a:t>Think → Design → Build → Improve</a:t>
            </a:r>
          </a:p>
          <a:p>
            <a:pPr/>
          </a:p>
          <a:p>
            <a:pPr/>
            <a:r>
              <a:t>This applies throughout the course.”</a:t>
            </a:r>
          </a:p>
          <a:p>
            <a:pPr/>
          </a:p>
          <a:p>
            <a:pPr/>
            <a:r>
              <a:t>⸻</a:t>
            </a:r>
          </a:p>
          <a:p>
            <a:pPr/>
          </a:p>
          <a:p>
            <a:pPr/>
            <a:r>
              <a:t>Key Points:</a:t>
            </a:r>
          </a:p>
          <a:p>
            <a:pPr/>
          </a:p>
          <a:p>
            <a:pPr/>
            <a:r>
              <a:t>* Repeatable framework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5" name="Shape 425"/>
          <p:cNvSpPr/>
          <p:nvPr>
            <p:ph type="sldImg"/>
          </p:nvPr>
        </p:nvSpPr>
        <p:spPr>
          <a:prstGeom prst="rect">
            <a:avLst/>
          </a:prstGeom>
        </p:spPr>
        <p:txBody>
          <a:bodyPr/>
          <a:lstStyle/>
          <a:p>
            <a:pPr/>
          </a:p>
        </p:txBody>
      </p:sp>
      <p:sp>
        <p:nvSpPr>
          <p:cNvPr id="426" name="Shape 426"/>
          <p:cNvSpPr/>
          <p:nvPr>
            <p:ph type="body" sz="quarter" idx="1"/>
          </p:nvPr>
        </p:nvSpPr>
        <p:spPr>
          <a:prstGeom prst="rect">
            <a:avLst/>
          </a:prstGeom>
        </p:spPr>
        <p:txBody>
          <a:bodyPr/>
          <a:lstStyle/>
          <a:p>
            <a:pPr/>
            <a:r>
              <a:t>“Build a customer support chatbot.</a:t>
            </a:r>
          </a:p>
          <a:p>
            <a:pPr/>
          </a:p>
          <a:p>
            <a:pPr/>
            <a:r>
              <a:t>Sounds simple right?</a:t>
            </a:r>
          </a:p>
          <a:p>
            <a:pPr/>
          </a:p>
          <a:p>
            <a:pPr/>
            <a:r>
              <a:t>But what does chatbot actually mean?”</a:t>
            </a:r>
          </a:p>
          <a:p>
            <a:pPr/>
          </a:p>
          <a:p>
            <a:pPr/>
            <a:r>
              <a:t>Ask students.</a:t>
            </a:r>
          </a:p>
          <a:p>
            <a:pPr/>
          </a:p>
          <a:p>
            <a:pPr/>
            <a:r>
              <a:t>⸻</a:t>
            </a:r>
          </a:p>
          <a:p>
            <a:pPr/>
          </a:p>
          <a:p>
            <a:pPr/>
            <a:r>
              <a:t>Key Points:</a:t>
            </a:r>
          </a:p>
          <a:p>
            <a:pPr/>
          </a:p>
          <a:p>
            <a:pPr/>
            <a:r>
              <a:t>* Problem ambiguity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3" name="Shape 443"/>
          <p:cNvSpPr/>
          <p:nvPr>
            <p:ph type="sldImg"/>
          </p:nvPr>
        </p:nvSpPr>
        <p:spPr>
          <a:prstGeom prst="rect">
            <a:avLst/>
          </a:prstGeom>
        </p:spPr>
        <p:txBody>
          <a:bodyPr/>
          <a:lstStyle/>
          <a:p>
            <a:pPr/>
          </a:p>
        </p:txBody>
      </p:sp>
      <p:sp>
        <p:nvSpPr>
          <p:cNvPr id="444" name="Shape 444"/>
          <p:cNvSpPr/>
          <p:nvPr>
            <p:ph type="body" sz="quarter" idx="1"/>
          </p:nvPr>
        </p:nvSpPr>
        <p:spPr>
          <a:prstGeom prst="rect">
            <a:avLst/>
          </a:prstGeom>
        </p:spPr>
        <p:txBody>
          <a:bodyPr/>
          <a:lstStyle/>
          <a:p>
            <a:pPr/>
            <a:r>
              <a:t>“One company may need FAQ automation.</a:t>
            </a:r>
          </a:p>
          <a:p>
            <a:pPr/>
          </a:p>
          <a:p>
            <a:pPr/>
            <a:r>
              <a:t>Another may need complaint escalation.</a:t>
            </a:r>
          </a:p>
          <a:p>
            <a:pPr/>
          </a:p>
          <a:p>
            <a:pPr/>
            <a:r>
              <a:t>Another may need agent support.</a:t>
            </a:r>
          </a:p>
          <a:p>
            <a:pPr/>
          </a:p>
          <a:p>
            <a:pPr/>
            <a:r>
              <a:t>Same label.</a:t>
            </a:r>
          </a:p>
          <a:p>
            <a:pPr/>
            <a:r>
              <a:t>Different systems.”</a:t>
            </a:r>
          </a:p>
          <a:p>
            <a:pPr/>
          </a:p>
          <a:p>
            <a:pPr/>
            <a:r>
              <a:t>⸻</a:t>
            </a:r>
          </a:p>
          <a:p>
            <a:pPr/>
          </a:p>
          <a:p>
            <a:pPr/>
            <a:r>
              <a:t>Key Points:</a:t>
            </a:r>
          </a:p>
          <a:p>
            <a:pPr/>
          </a:p>
          <a:p>
            <a:pPr/>
            <a:r>
              <a:t>* Context matters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8" name="Shape 458"/>
          <p:cNvSpPr/>
          <p:nvPr>
            <p:ph type="sldImg"/>
          </p:nvPr>
        </p:nvSpPr>
        <p:spPr>
          <a:prstGeom prst="rect">
            <a:avLst/>
          </a:prstGeom>
        </p:spPr>
        <p:txBody>
          <a:bodyPr/>
          <a:lstStyle/>
          <a:p>
            <a:pPr/>
          </a:p>
        </p:txBody>
      </p:sp>
      <p:sp>
        <p:nvSpPr>
          <p:cNvPr id="459" name="Shape 459"/>
          <p:cNvSpPr/>
          <p:nvPr>
            <p:ph type="body" sz="quarter" idx="1"/>
          </p:nvPr>
        </p:nvSpPr>
        <p:spPr>
          <a:prstGeom prst="rect">
            <a:avLst/>
          </a:prstGeom>
        </p:spPr>
        <p:txBody>
          <a:bodyPr/>
          <a:lstStyle/>
          <a:p>
            <a:pPr/>
            <a:r>
              <a:t>“Before building anything ask:</a:t>
            </a:r>
          </a:p>
          <a:p>
            <a:pPr/>
          </a:p>
          <a:p>
            <a:pPr/>
            <a:r>
              <a:t>What goes in?</a:t>
            </a:r>
          </a:p>
          <a:p>
            <a:pPr/>
            <a:r>
              <a:t>What comes out?</a:t>
            </a:r>
          </a:p>
          <a:p>
            <a:pPr/>
            <a:r>
              <a:t>What data do we have?”</a:t>
            </a:r>
          </a:p>
          <a:p>
            <a:pPr/>
          </a:p>
          <a:p>
            <a:pPr/>
            <a:r>
              <a:t>⸻</a:t>
            </a:r>
          </a:p>
          <a:p>
            <a:pPr/>
          </a:p>
          <a:p>
            <a:pPr/>
            <a:r>
              <a:t>Key Points:</a:t>
            </a:r>
          </a:p>
          <a:p>
            <a:pPr/>
          </a:p>
          <a:p>
            <a:pPr/>
            <a:r>
              <a:t>* Input</a:t>
            </a:r>
          </a:p>
          <a:p>
            <a:pPr/>
            <a:r>
              <a:t>* Output</a:t>
            </a:r>
          </a:p>
          <a:p>
            <a:pPr/>
            <a:r>
              <a:t>* Data</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4" name="Shape 484"/>
          <p:cNvSpPr/>
          <p:nvPr>
            <p:ph type="sldImg"/>
          </p:nvPr>
        </p:nvSpPr>
        <p:spPr>
          <a:prstGeom prst="rect">
            <a:avLst/>
          </a:prstGeom>
        </p:spPr>
        <p:txBody>
          <a:bodyPr/>
          <a:lstStyle/>
          <a:p>
            <a:pPr/>
          </a:p>
        </p:txBody>
      </p:sp>
      <p:sp>
        <p:nvSpPr>
          <p:cNvPr id="485" name="Shape 485"/>
          <p:cNvSpPr/>
          <p:nvPr>
            <p:ph type="body" sz="quarter" idx="1"/>
          </p:nvPr>
        </p:nvSpPr>
        <p:spPr>
          <a:prstGeom prst="rect">
            <a:avLst/>
          </a:prstGeom>
        </p:spPr>
        <p:txBody>
          <a:bodyPr/>
          <a:lstStyle/>
          <a:p>
            <a:pPr/>
            <a:r>
              <a:t>“Input could be:</a:t>
            </a:r>
          </a:p>
          <a:p>
            <a:pPr/>
            <a:r>
              <a:t>Text</a:t>
            </a:r>
          </a:p>
          <a:p>
            <a:pPr/>
            <a:r>
              <a:t>Images</a:t>
            </a:r>
          </a:p>
          <a:p>
            <a:pPr/>
            <a:r>
              <a:t>Audio</a:t>
            </a:r>
          </a:p>
          <a:p>
            <a:pPr/>
            <a:r>
              <a:t>Documents”</a:t>
            </a:r>
          </a:p>
          <a:p>
            <a:pPr/>
          </a:p>
          <a:p>
            <a:pPr/>
            <a:r>
              <a:t>⸻</a:t>
            </a:r>
          </a:p>
          <a:p>
            <a:pPr/>
          </a:p>
          <a:p>
            <a:pPr/>
            <a:r>
              <a:t>Key Points:</a:t>
            </a:r>
          </a:p>
          <a:p>
            <a:pPr/>
          </a:p>
          <a:p>
            <a:pPr/>
            <a:r>
              <a:t>* Identify raw input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9" name="Shape 499"/>
          <p:cNvSpPr/>
          <p:nvPr>
            <p:ph type="sldImg"/>
          </p:nvPr>
        </p:nvSpPr>
        <p:spPr>
          <a:prstGeom prst="rect">
            <a:avLst/>
          </a:prstGeom>
        </p:spPr>
        <p:txBody>
          <a:bodyPr/>
          <a:lstStyle/>
          <a:p>
            <a:pPr/>
          </a:p>
        </p:txBody>
      </p:sp>
      <p:sp>
        <p:nvSpPr>
          <p:cNvPr id="500" name="Shape 500"/>
          <p:cNvSpPr/>
          <p:nvPr>
            <p:ph type="body" sz="quarter" idx="1"/>
          </p:nvPr>
        </p:nvSpPr>
        <p:spPr>
          <a:prstGeom prst="rect">
            <a:avLst/>
          </a:prstGeom>
        </p:spPr>
        <p:txBody>
          <a:bodyPr/>
          <a:lstStyle/>
          <a:p>
            <a:pPr/>
            <a:r>
              <a:t>“Output may be:</a:t>
            </a:r>
          </a:p>
          <a:p>
            <a:pPr/>
            <a:r>
              <a:t>Prediction</a:t>
            </a:r>
          </a:p>
          <a:p>
            <a:pPr/>
            <a:r>
              <a:t>Response</a:t>
            </a:r>
          </a:p>
          <a:p>
            <a:pPr/>
            <a:r>
              <a:t>Recommendation</a:t>
            </a:r>
          </a:p>
          <a:p>
            <a:pPr/>
            <a:r>
              <a:t>Decision”</a:t>
            </a:r>
          </a:p>
          <a:p>
            <a:pPr/>
          </a:p>
          <a:p>
            <a:pPr/>
            <a:r>
              <a:t>⸻</a:t>
            </a:r>
          </a:p>
          <a:p>
            <a:pPr/>
          </a:p>
          <a:p>
            <a:pPr/>
            <a:r>
              <a:t>Key Points:</a:t>
            </a:r>
          </a:p>
          <a:p>
            <a:pPr/>
          </a:p>
          <a:p>
            <a:pPr/>
            <a:r>
              <a:t>* Define success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7" name="Shape 517"/>
          <p:cNvSpPr/>
          <p:nvPr>
            <p:ph type="sldImg"/>
          </p:nvPr>
        </p:nvSpPr>
        <p:spPr>
          <a:prstGeom prst="rect">
            <a:avLst/>
          </a:prstGeom>
        </p:spPr>
        <p:txBody>
          <a:bodyPr/>
          <a:lstStyle/>
          <a:p>
            <a:pPr/>
          </a:p>
        </p:txBody>
      </p:sp>
      <p:sp>
        <p:nvSpPr>
          <p:cNvPr id="518" name="Shape 518"/>
          <p:cNvSpPr/>
          <p:nvPr>
            <p:ph type="body" sz="quarter" idx="1"/>
          </p:nvPr>
        </p:nvSpPr>
        <p:spPr>
          <a:prstGeom prst="rect">
            <a:avLst/>
          </a:prstGeom>
        </p:spPr>
        <p:txBody>
          <a:bodyPr/>
          <a:lstStyle/>
          <a:p>
            <a:pPr/>
          </a:p>
          <a:p>
            <a:pPr/>
          </a:p>
          <a:p>
            <a:pPr/>
          </a:p>
          <a:p>
            <a:pPr/>
          </a:p>
          <a:p>
            <a:pPr/>
            <a:r>
              <a:t>“No data = no system.</a:t>
            </a:r>
          </a:p>
          <a:p>
            <a:pPr/>
          </a:p>
          <a:p>
            <a:pPr/>
            <a:r>
              <a:t>Or bad data = bad system.”</a:t>
            </a:r>
          </a:p>
          <a:p>
            <a:pPr/>
          </a:p>
          <a:p>
            <a:pPr/>
            <a:r>
              <a:t>⸻</a:t>
            </a:r>
          </a:p>
          <a:p>
            <a:pPr/>
          </a:p>
          <a:p>
            <a:pPr/>
            <a:r>
              <a:t>Key Points:</a:t>
            </a:r>
          </a:p>
          <a:p>
            <a:pPr/>
          </a:p>
          <a:p>
            <a:pPr/>
            <a:r>
              <a:t>* Data quality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8" name="Shape 528"/>
          <p:cNvSpPr/>
          <p:nvPr>
            <p:ph type="sldImg"/>
          </p:nvPr>
        </p:nvSpPr>
        <p:spPr>
          <a:prstGeom prst="rect">
            <a:avLst/>
          </a:prstGeom>
        </p:spPr>
        <p:txBody>
          <a:bodyPr/>
          <a:lstStyle/>
          <a:p>
            <a:pPr/>
          </a:p>
        </p:txBody>
      </p:sp>
      <p:sp>
        <p:nvSpPr>
          <p:cNvPr id="529" name="Shape 529"/>
          <p:cNvSpPr/>
          <p:nvPr>
            <p:ph type="body" sz="quarter" idx="1"/>
          </p:nvPr>
        </p:nvSpPr>
        <p:spPr>
          <a:prstGeom prst="rect">
            <a:avLst/>
          </a:prstGeom>
        </p:spPr>
        <p:txBody>
          <a:bodyPr/>
          <a:lstStyle/>
          <a:p>
            <a:pPr/>
            <a:r>
              <a:t>“This is probably the most important slide today.</a:t>
            </a:r>
          </a:p>
          <a:p>
            <a:pPr/>
          </a:p>
          <a:p>
            <a:pPr/>
            <a:r>
              <a:t>Every system can be simplified into:</a:t>
            </a:r>
          </a:p>
          <a:p>
            <a:pPr/>
          </a:p>
          <a:p>
            <a:pPr/>
            <a:r>
              <a:t>Input → Processing → Output”</a:t>
            </a:r>
          </a:p>
          <a:p>
            <a:pPr/>
          </a:p>
          <a:p>
            <a:pPr/>
            <a:r>
              <a:t>⸻</a:t>
            </a:r>
          </a:p>
          <a:p>
            <a:pPr/>
          </a:p>
          <a:p>
            <a:pPr/>
            <a:r>
              <a:t>Key Points:</a:t>
            </a:r>
          </a:p>
          <a:p>
            <a:pPr/>
          </a:p>
          <a:p>
            <a:pPr/>
            <a:r>
              <a:t>* Core mental model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9" name="Shape 549"/>
          <p:cNvSpPr/>
          <p:nvPr>
            <p:ph type="sldImg"/>
          </p:nvPr>
        </p:nvSpPr>
        <p:spPr>
          <a:prstGeom prst="rect">
            <a:avLst/>
          </a:prstGeom>
        </p:spPr>
        <p:txBody>
          <a:bodyPr/>
          <a:lstStyle/>
          <a:p>
            <a:pPr/>
          </a:p>
        </p:txBody>
      </p:sp>
      <p:sp>
        <p:nvSpPr>
          <p:cNvPr id="550" name="Shape 550"/>
          <p:cNvSpPr/>
          <p:nvPr>
            <p:ph type="body" sz="quarter" idx="1"/>
          </p:nvPr>
        </p:nvSpPr>
        <p:spPr>
          <a:prstGeom prst="rect">
            <a:avLst/>
          </a:prstGeom>
        </p:spPr>
        <p:txBody>
          <a:bodyPr/>
          <a:lstStyle/>
          <a:p>
            <a:pPr/>
            <a:r>
              <a:t>“Inside processing:</a:t>
            </a:r>
          </a:p>
          <a:p>
            <a:pPr/>
            <a:r>
              <a:t>Rules</a:t>
            </a:r>
          </a:p>
          <a:p>
            <a:pPr/>
            <a:r>
              <a:t>Machine learning</a:t>
            </a:r>
          </a:p>
          <a:p>
            <a:pPr/>
            <a:r>
              <a:t>LLMs</a:t>
            </a:r>
          </a:p>
          <a:p>
            <a:pPr/>
            <a:r>
              <a:t>Databases</a:t>
            </a:r>
          </a:p>
          <a:p>
            <a:pPr/>
            <a:r>
              <a:t>Decision logic”</a:t>
            </a:r>
          </a:p>
          <a:p>
            <a:pPr/>
          </a:p>
          <a:p>
            <a:pPr/>
            <a:r>
              <a:t>⸻</a:t>
            </a:r>
          </a:p>
          <a:p>
            <a:pPr/>
          </a:p>
          <a:p>
            <a:pPr/>
            <a:r>
              <a:t>Key Points:</a:t>
            </a:r>
          </a:p>
          <a:p>
            <a:pPr/>
          </a:p>
          <a:p>
            <a:pPr/>
            <a:r>
              <a:t>* AI is optional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0" name="Shape 570"/>
          <p:cNvSpPr/>
          <p:nvPr>
            <p:ph type="sldImg"/>
          </p:nvPr>
        </p:nvSpPr>
        <p:spPr>
          <a:prstGeom prst="rect">
            <a:avLst/>
          </a:prstGeom>
        </p:spPr>
        <p:txBody>
          <a:bodyPr/>
          <a:lstStyle/>
          <a:p>
            <a:pPr/>
          </a:p>
        </p:txBody>
      </p:sp>
      <p:sp>
        <p:nvSpPr>
          <p:cNvPr id="571" name="Shape 571"/>
          <p:cNvSpPr/>
          <p:nvPr>
            <p:ph type="body" sz="quarter" idx="1"/>
          </p:nvPr>
        </p:nvSpPr>
        <p:spPr>
          <a:prstGeom prst="rect">
            <a:avLst/>
          </a:prstGeom>
        </p:spPr>
        <p:txBody>
          <a:bodyPr/>
          <a:lstStyle/>
          <a:p>
            <a:pPr/>
            <a:r>
              <a:t>“In companies:</a:t>
            </a:r>
          </a:p>
          <a:p>
            <a:pPr/>
            <a:r>
              <a:t>Time matters</a:t>
            </a:r>
          </a:p>
          <a:p>
            <a:pPr/>
            <a:r>
              <a:t>Budget matters</a:t>
            </a:r>
          </a:p>
          <a:p>
            <a:pPr/>
            <a:r>
              <a:t>Accuracy matters”</a:t>
            </a:r>
          </a:p>
          <a:p>
            <a:pPr/>
          </a:p>
          <a:p>
            <a:pPr/>
            <a:r>
              <a:t>⸻</a:t>
            </a:r>
          </a:p>
          <a:p>
            <a:pPr/>
            <a:r>
              <a:t>Let the students answer</a:t>
            </a:r>
          </a:p>
          <a:p>
            <a:pPr/>
            <a:r>
              <a:t>Example:</a:t>
            </a:r>
          </a:p>
          <a:p>
            <a:pPr/>
          </a:p>
          <a:p>
            <a:pPr/>
            <a:r>
              <a:t>Medical AI needs accuracy.</a:t>
            </a:r>
          </a:p>
          <a:p>
            <a:pPr/>
            <a:r>
              <a:t>Startup MVP needs speed.</a:t>
            </a:r>
          </a:p>
          <a:p>
            <a:pPr/>
          </a:p>
          <a:p>
            <a:pPr/>
            <a:r>
              <a:t>⸻</a:t>
            </a:r>
          </a:p>
          <a:p>
            <a:pPr/>
          </a:p>
          <a:p>
            <a:pPr/>
            <a:r>
              <a:t>Key Points:</a:t>
            </a:r>
          </a:p>
          <a:p>
            <a:pPr/>
          </a:p>
          <a:p>
            <a:pPr/>
            <a:r>
              <a:t>* Constraints shape architecture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9" name="Shape 579"/>
          <p:cNvSpPr/>
          <p:nvPr>
            <p:ph type="sldImg"/>
          </p:nvPr>
        </p:nvSpPr>
        <p:spPr>
          <a:prstGeom prst="rect">
            <a:avLst/>
          </a:prstGeom>
        </p:spPr>
        <p:txBody>
          <a:bodyPr/>
          <a:lstStyle/>
          <a:p>
            <a:pPr/>
          </a:p>
        </p:txBody>
      </p:sp>
      <p:sp>
        <p:nvSpPr>
          <p:cNvPr id="580" name="Shape 580"/>
          <p:cNvSpPr/>
          <p:nvPr>
            <p:ph type="body" sz="quarter" idx="1"/>
          </p:nvPr>
        </p:nvSpPr>
        <p:spPr>
          <a:prstGeom prst="rect">
            <a:avLst/>
          </a:prstGeom>
        </p:spPr>
        <p:txBody>
          <a:bodyPr/>
          <a:lstStyle/>
          <a:p>
            <a:pPr/>
            <a:r>
              <a:t>“There’s no perfect solution.</a:t>
            </a:r>
          </a:p>
          <a:p>
            <a:pPr/>
          </a:p>
          <a:p>
            <a:pPr/>
            <a:r>
              <a:t>Every decision sacrifices something.”</a:t>
            </a:r>
          </a:p>
          <a:p>
            <a:pPr/>
          </a:p>
          <a:p>
            <a:pPr/>
            <a:r>
              <a:t>⸻</a:t>
            </a:r>
          </a:p>
          <a:p>
            <a:pPr/>
          </a:p>
          <a:p>
            <a:pPr/>
            <a:r>
              <a:t>Key Points:</a:t>
            </a:r>
          </a:p>
          <a:p>
            <a:pPr/>
          </a:p>
          <a:p>
            <a:pPr/>
            <a:r>
              <a:t>* Trade-offs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4" name="Shape 594"/>
          <p:cNvSpPr/>
          <p:nvPr>
            <p:ph type="sldImg"/>
          </p:nvPr>
        </p:nvSpPr>
        <p:spPr>
          <a:prstGeom prst="rect">
            <a:avLst/>
          </a:prstGeom>
        </p:spPr>
        <p:txBody>
          <a:bodyPr/>
          <a:lstStyle/>
          <a:p>
            <a:pPr/>
          </a:p>
        </p:txBody>
      </p:sp>
      <p:sp>
        <p:nvSpPr>
          <p:cNvPr id="595" name="Shape 595"/>
          <p:cNvSpPr/>
          <p:nvPr>
            <p:ph type="body" sz="quarter" idx="1"/>
          </p:nvPr>
        </p:nvSpPr>
        <p:spPr>
          <a:prstGeom prst="rect">
            <a:avLst/>
          </a:prstGeom>
        </p:spPr>
        <p:txBody>
          <a:bodyPr/>
          <a:lstStyle/>
          <a:p>
            <a:pPr/>
            <a:r>
              <a:t>“Your goal is not building impressive systems.</a:t>
            </a:r>
          </a:p>
          <a:p>
            <a:pPr/>
          </a:p>
          <a:p>
            <a:pPr/>
            <a:r>
              <a:t>Your goal is solving business problems.”</a:t>
            </a:r>
          </a:p>
          <a:p>
            <a:pPr/>
          </a:p>
          <a:p>
            <a:pPr/>
            <a:r>
              <a:t>⸻</a:t>
            </a:r>
          </a:p>
          <a:p>
            <a:pPr/>
          </a:p>
          <a:p>
            <a:pPr/>
            <a:r>
              <a:t>Key Points:</a:t>
            </a:r>
          </a:p>
          <a:p>
            <a:pPr/>
          </a:p>
          <a:p>
            <a:pPr/>
            <a:r>
              <a:t>* Solve &gt; impress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7" name="Shape 607"/>
          <p:cNvSpPr/>
          <p:nvPr>
            <p:ph type="sldImg"/>
          </p:nvPr>
        </p:nvSpPr>
        <p:spPr>
          <a:prstGeom prst="rect">
            <a:avLst/>
          </a:prstGeom>
        </p:spPr>
        <p:txBody>
          <a:bodyPr/>
          <a:lstStyle/>
          <a:p>
            <a:pPr/>
          </a:p>
        </p:txBody>
      </p:sp>
      <p:sp>
        <p:nvSpPr>
          <p:cNvPr id="608" name="Shape 608"/>
          <p:cNvSpPr/>
          <p:nvPr>
            <p:ph type="body" sz="quarter" idx="1"/>
          </p:nvPr>
        </p:nvSpPr>
        <p:spPr>
          <a:prstGeom prst="rect">
            <a:avLst/>
          </a:prstGeom>
        </p:spPr>
        <p:txBody>
          <a:bodyPr/>
          <a:lstStyle/>
          <a:p>
            <a:pPr/>
            <a:r>
              <a:t>“Food delivery app?</a:t>
            </a:r>
          </a:p>
          <a:p>
            <a:pPr/>
            <a:r>
              <a:t>Same framework.</a:t>
            </a:r>
          </a:p>
          <a:p>
            <a:pPr/>
          </a:p>
          <a:p>
            <a:pPr/>
            <a:r>
              <a:t>Netflix recommendation?</a:t>
            </a:r>
          </a:p>
          <a:p>
            <a:pPr/>
            <a:r>
              <a:t>Same framework.</a:t>
            </a:r>
          </a:p>
          <a:p>
            <a:pPr/>
          </a:p>
          <a:p>
            <a:pPr/>
            <a:r>
              <a:t>Everything follows input → processing → output.”</a:t>
            </a:r>
          </a:p>
          <a:p>
            <a:pPr/>
          </a:p>
          <a:p>
            <a:pPr/>
            <a:r>
              <a:t>Key Points:</a:t>
            </a:r>
          </a:p>
          <a:p>
            <a:pPr/>
          </a:p>
          <a:p>
            <a:pPr/>
            <a:r>
              <a:t>* Universal pattern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9" name="Shape 619"/>
          <p:cNvSpPr/>
          <p:nvPr>
            <p:ph type="sldImg"/>
          </p:nvPr>
        </p:nvSpPr>
        <p:spPr>
          <a:prstGeom prst="rect">
            <a:avLst/>
          </a:prstGeom>
        </p:spPr>
        <p:txBody>
          <a:bodyPr/>
          <a:lstStyle/>
          <a:p>
            <a:pPr/>
          </a:p>
        </p:txBody>
      </p:sp>
      <p:sp>
        <p:nvSpPr>
          <p:cNvPr id="620" name="Shape 620"/>
          <p:cNvSpPr/>
          <p:nvPr>
            <p:ph type="body" sz="quarter" idx="1"/>
          </p:nvPr>
        </p:nvSpPr>
        <p:spPr>
          <a:prstGeom prst="rect">
            <a:avLst/>
          </a:prstGeom>
        </p:spPr>
        <p:txBody>
          <a:bodyPr/>
          <a:lstStyle/>
          <a:p>
            <a:pPr/>
            <a:r>
              <a:t>“This is what we’ll build in this course:</a:t>
            </a:r>
          </a:p>
          <a:p>
            <a:pPr/>
          </a:p>
          <a:p>
            <a:pPr/>
            <a:r>
              <a:t>User → Backend → AI → Response”</a:t>
            </a:r>
          </a:p>
          <a:p>
            <a:pPr/>
          </a:p>
          <a:p>
            <a:pPr/>
            <a:r>
              <a:t>Key Points:</a:t>
            </a:r>
          </a:p>
          <a:p>
            <a:pPr/>
          </a:p>
          <a:p>
            <a:pPr/>
            <a:r>
              <a:t>* Course roadmap</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7" name="Shape 637"/>
          <p:cNvSpPr/>
          <p:nvPr>
            <p:ph type="sldImg"/>
          </p:nvPr>
        </p:nvSpPr>
        <p:spPr>
          <a:prstGeom prst="rect">
            <a:avLst/>
          </a:prstGeom>
        </p:spPr>
        <p:txBody>
          <a:bodyPr/>
          <a:lstStyle/>
          <a:p>
            <a:pPr/>
          </a:p>
        </p:txBody>
      </p:sp>
      <p:sp>
        <p:nvSpPr>
          <p:cNvPr id="638" name="Shape 638"/>
          <p:cNvSpPr/>
          <p:nvPr>
            <p:ph type="body" sz="quarter" idx="1"/>
          </p:nvPr>
        </p:nvSpPr>
        <p:spPr>
          <a:prstGeom prst="rect">
            <a:avLst/>
          </a:prstGeom>
        </p:spPr>
        <p:txBody>
          <a:bodyPr/>
          <a:lstStyle/>
          <a:p>
            <a:pPr/>
            <a:r>
              <a:t>“Backend handles requests</a:t>
            </a:r>
          </a:p>
          <a:p>
            <a:pPr/>
          </a:p>
          <a:p>
            <a:pPr/>
            <a:r>
              <a:t>Logic makes decisions</a:t>
            </a:r>
          </a:p>
          <a:p>
            <a:pPr/>
          </a:p>
          <a:p>
            <a:pPr/>
            <a:r>
              <a:t>Data stores information</a:t>
            </a:r>
          </a:p>
          <a:p>
            <a:pPr/>
          </a:p>
          <a:p>
            <a:pPr/>
            <a:r>
              <a:t>UI interacts with users”</a:t>
            </a:r>
          </a:p>
          <a:p>
            <a:pPr/>
          </a:p>
          <a:p>
            <a:pPr/>
            <a:r>
              <a:t>⸻</a:t>
            </a:r>
          </a:p>
          <a:p>
            <a:pPr/>
          </a:p>
          <a:p>
            <a:pPr/>
            <a:r>
              <a:t>Key Points:</a:t>
            </a:r>
          </a:p>
          <a:p>
            <a:pPr/>
          </a:p>
          <a:p>
            <a:pPr/>
            <a:r>
              <a:t>* Full stack view</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8" name="Shape 658"/>
          <p:cNvSpPr/>
          <p:nvPr>
            <p:ph type="sldImg"/>
          </p:nvPr>
        </p:nvSpPr>
        <p:spPr>
          <a:prstGeom prst="rect">
            <a:avLst/>
          </a:prstGeom>
        </p:spPr>
        <p:txBody>
          <a:bodyPr/>
          <a:lstStyle/>
          <a:p>
            <a:pPr/>
          </a:p>
        </p:txBody>
      </p:sp>
      <p:sp>
        <p:nvSpPr>
          <p:cNvPr id="659" name="Shape 659"/>
          <p:cNvSpPr/>
          <p:nvPr>
            <p:ph type="body" sz="quarter" idx="1"/>
          </p:nvPr>
        </p:nvSpPr>
        <p:spPr>
          <a:prstGeom prst="rect">
            <a:avLst/>
          </a:prstGeom>
        </p:spPr>
        <p:txBody>
          <a:bodyPr/>
          <a:lstStyle/>
          <a:p>
            <a:pPr/>
            <a:r>
              <a:t>“AI is one layer—not the entire product.”</a:t>
            </a:r>
          </a:p>
          <a:p>
            <a:pPr/>
            <a:r>
              <a:t>AI does not replace your system — it enhances the processing layer. The rest of the system is still your responsibility as an engineer.</a:t>
            </a:r>
          </a:p>
          <a:p>
            <a:pPr/>
          </a:p>
          <a:p>
            <a:pPr/>
            <a:r>
              <a:t>⸻</a:t>
            </a:r>
          </a:p>
          <a:p>
            <a:pPr/>
          </a:p>
          <a:p>
            <a:pPr/>
            <a:r>
              <a:t>Key Points:</a:t>
            </a:r>
          </a:p>
          <a:p>
            <a:pPr/>
          </a:p>
          <a:p>
            <a:pPr/>
            <a:r>
              <a:t>* AI is just a component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6" name="Shape 676"/>
          <p:cNvSpPr/>
          <p:nvPr>
            <p:ph type="sldImg"/>
          </p:nvPr>
        </p:nvSpPr>
        <p:spPr>
          <a:prstGeom prst="rect">
            <a:avLst/>
          </a:prstGeom>
        </p:spPr>
        <p:txBody>
          <a:bodyPr/>
          <a:lstStyle/>
          <a:p>
            <a:pPr/>
          </a:p>
        </p:txBody>
      </p:sp>
      <p:sp>
        <p:nvSpPr>
          <p:cNvPr id="677" name="Shape 677"/>
          <p:cNvSpPr/>
          <p:nvPr>
            <p:ph type="body" sz="quarter" idx="1"/>
          </p:nvPr>
        </p:nvSpPr>
        <p:spPr>
          <a:prstGeom prst="rect">
            <a:avLst/>
          </a:prstGeom>
        </p:spPr>
        <p:txBody>
          <a:bodyPr/>
          <a:lstStyle/>
          <a:p>
            <a:pPr/>
            <a:r>
              <a:t>“Many startups say:</a:t>
            </a:r>
          </a:p>
          <a:p>
            <a:pPr/>
            <a:r>
              <a:t>‘Let’s use AI’</a:t>
            </a:r>
          </a:p>
          <a:p>
            <a:pPr/>
          </a:p>
          <a:p>
            <a:pPr/>
            <a:r>
              <a:t>That’s not strategy.”</a:t>
            </a:r>
          </a:p>
          <a:p>
            <a:pPr/>
          </a:p>
          <a:p>
            <a:pPr/>
            <a:r>
              <a:t>⸻</a:t>
            </a:r>
          </a:p>
          <a:p>
            <a:pPr/>
          </a:p>
          <a:p>
            <a:pPr/>
            <a:r>
              <a:t>Key Points:</a:t>
            </a:r>
          </a:p>
          <a:p>
            <a:pPr/>
          </a:p>
          <a:p>
            <a:pPr/>
            <a:r>
              <a:t>* AI hype trap</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6" name="Shape 696"/>
          <p:cNvSpPr/>
          <p:nvPr>
            <p:ph type="sldImg"/>
          </p:nvPr>
        </p:nvSpPr>
        <p:spPr>
          <a:prstGeom prst="rect">
            <a:avLst/>
          </a:prstGeom>
        </p:spPr>
        <p:txBody>
          <a:bodyPr/>
          <a:lstStyle/>
          <a:p>
            <a:pPr/>
          </a:p>
        </p:txBody>
      </p:sp>
      <p:sp>
        <p:nvSpPr>
          <p:cNvPr id="697" name="Shape 697"/>
          <p:cNvSpPr/>
          <p:nvPr>
            <p:ph type="body" sz="quarter" idx="1"/>
          </p:nvPr>
        </p:nvSpPr>
        <p:spPr>
          <a:prstGeom prst="rect">
            <a:avLst/>
          </a:prstGeom>
        </p:spPr>
        <p:txBody>
          <a:bodyPr/>
          <a:lstStyle/>
          <a:p>
            <a:pPr/>
            <a:r>
              <a:t>“Choose tools based on business needs.”</a:t>
            </a:r>
          </a:p>
          <a:p>
            <a:pPr/>
          </a:p>
          <a:p>
            <a:pPr/>
            <a:r>
              <a:t>⸻</a:t>
            </a:r>
          </a:p>
          <a:p>
            <a:pPr/>
          </a:p>
          <a:p>
            <a:pPr/>
            <a:r>
              <a:t>Key Points:</a:t>
            </a:r>
          </a:p>
          <a:p>
            <a:pPr/>
          </a:p>
          <a:p>
            <a:pPr marL="120315" indent="-120315">
              <a:buSzPct val="100000"/>
              <a:buChar char="*"/>
            </a:pPr>
            <a:r>
              <a:t>Right tool selection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9" name="Shape 709"/>
          <p:cNvSpPr/>
          <p:nvPr>
            <p:ph type="sldImg"/>
          </p:nvPr>
        </p:nvSpPr>
        <p:spPr>
          <a:prstGeom prst="rect">
            <a:avLst/>
          </a:prstGeom>
        </p:spPr>
        <p:txBody>
          <a:bodyPr/>
          <a:lstStyle/>
          <a:p>
            <a:pPr/>
          </a:p>
        </p:txBody>
      </p:sp>
      <p:sp>
        <p:nvSpPr>
          <p:cNvPr id="710" name="Shape 710"/>
          <p:cNvSpPr/>
          <p:nvPr>
            <p:ph type="body" sz="quarter" idx="1"/>
          </p:nvPr>
        </p:nvSpPr>
        <p:spPr>
          <a:prstGeom prst="rect">
            <a:avLst/>
          </a:prstGeom>
        </p:spPr>
        <p:txBody>
          <a:bodyPr/>
          <a:lstStyle/>
          <a:p>
            <a:pPr/>
            <a:r>
              <a:t>“Let’s solve something together.</a:t>
            </a:r>
          </a:p>
          <a:p>
            <a:pPr/>
          </a:p>
          <a:p>
            <a:pPr/>
            <a:r>
              <a:t>Build a waste recycling classification system.</a:t>
            </a:r>
          </a:p>
          <a:p>
            <a:pPr/>
            <a:r>
              <a:t>This is a real-world problem that touches image recognition, user experience, data availability, and deployment constraints. Before discussing any technology, let's apply the FDE mindset and break it down systematically.</a:t>
            </a:r>
          </a:p>
          <a:p>
            <a:pPr/>
          </a:p>
          <a:p>
            <a:pPr/>
            <a:r>
              <a:t>⸻</a:t>
            </a:r>
          </a:p>
          <a:p>
            <a:pPr/>
          </a:p>
          <a:p>
            <a:pPr/>
            <a:r>
              <a:t>Ask:</a:t>
            </a:r>
          </a:p>
          <a:p>
            <a:pPr/>
          </a:p>
          <a:p>
            <a:pPr/>
            <a:r>
              <a:t>“What happens first?”</a:t>
            </a:r>
          </a:p>
          <a:p>
            <a:pPr/>
          </a:p>
          <a:p>
            <a:pPr/>
            <a:r>
              <a:t>“What’s the input?</a:t>
            </a:r>
          </a:p>
          <a:p>
            <a:pPr/>
          </a:p>
          <a:p>
            <a:pPr/>
            <a:r>
              <a:t>What’s processing?</a:t>
            </a:r>
          </a:p>
          <a:p>
            <a:pPr/>
          </a:p>
          <a:p>
            <a:pPr/>
            <a:r>
              <a:t>What’s output?”</a:t>
            </a:r>
          </a:p>
          <a:p>
            <a:pPr/>
          </a:p>
          <a:p>
            <a:pPr/>
            <a:r>
              <a:t>Let students think.</a:t>
            </a:r>
          </a:p>
          <a:p>
            <a:pPr/>
          </a:p>
          <a:p>
            <a:pPr/>
            <a:r>
              <a:t>⸻</a:t>
            </a:r>
          </a:p>
          <a:p>
            <a:pPr/>
          </a:p>
          <a:p>
            <a:pPr/>
            <a:r>
              <a:t>Key Points:</a:t>
            </a:r>
          </a:p>
          <a:p>
            <a:pPr/>
          </a:p>
          <a:p>
            <a:pPr/>
            <a:r>
              <a:t>* Apply concepts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6" name="Shape 736"/>
          <p:cNvSpPr/>
          <p:nvPr>
            <p:ph type="sldImg"/>
          </p:nvPr>
        </p:nvSpPr>
        <p:spPr>
          <a:prstGeom prst="rect">
            <a:avLst/>
          </a:prstGeom>
        </p:spPr>
        <p:txBody>
          <a:bodyPr/>
          <a:lstStyle/>
          <a:p>
            <a:pPr/>
          </a:p>
        </p:txBody>
      </p:sp>
      <p:sp>
        <p:nvSpPr>
          <p:cNvPr id="737" name="Shape 737"/>
          <p:cNvSpPr/>
          <p:nvPr>
            <p:ph type="body" sz="quarter" idx="1"/>
          </p:nvPr>
        </p:nvSpPr>
        <p:spPr>
          <a:prstGeom prst="rect">
            <a:avLst/>
          </a:prstGeom>
        </p:spPr>
        <p:txBody>
          <a:bodyPr/>
          <a:lstStyle/>
          <a:p>
            <a:pPr/>
            <a:r>
              <a:t>Talk about the slides</a:t>
            </a:r>
          </a:p>
          <a:p>
            <a:pPr/>
          </a:p>
          <a:p>
            <a:pPr/>
            <a:r>
              <a:t>Key Points:</a:t>
            </a:r>
          </a:p>
          <a:p>
            <a:pPr/>
          </a:p>
          <a:p>
            <a:pPr/>
            <a:r>
              <a:t>* Structured thinking</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2" name="Shape 752"/>
          <p:cNvSpPr/>
          <p:nvPr>
            <p:ph type="sldImg"/>
          </p:nvPr>
        </p:nvSpPr>
        <p:spPr>
          <a:prstGeom prst="rect">
            <a:avLst/>
          </a:prstGeom>
        </p:spPr>
        <p:txBody>
          <a:bodyPr/>
          <a:lstStyle/>
          <a:p>
            <a:pPr/>
          </a:p>
        </p:txBody>
      </p:sp>
      <p:sp>
        <p:nvSpPr>
          <p:cNvPr id="753" name="Shape 753"/>
          <p:cNvSpPr/>
          <p:nvPr>
            <p:ph type="body" sz="quarter" idx="1"/>
          </p:nvPr>
        </p:nvSpPr>
        <p:spPr>
          <a:prstGeom prst="rect">
            <a:avLst/>
          </a:prstGeom>
        </p:spPr>
        <p:txBody>
          <a:bodyPr/>
          <a:lstStyle/>
          <a:p>
            <a:pPr/>
            <a:r>
              <a:t>“If you remember one thing from today:</a:t>
            </a:r>
          </a:p>
          <a:p>
            <a:pPr/>
          </a:p>
          <a:p>
            <a:pPr/>
            <a:r>
              <a:t>Think first.</a:t>
            </a:r>
          </a:p>
          <a:p>
            <a:pPr/>
            <a:r>
              <a:t>Build next.”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 master">
    <p:bg>
      <p:bgPr>
        <a:solidFill>
          <a:srgbClr val="000000"/>
        </a:solidFill>
      </p:bgPr>
    </p:bg>
    <p:spTree>
      <p:nvGrpSpPr>
        <p:cNvPr id="1" name=""/>
        <p:cNvGrpSpPr/>
        <p:nvPr/>
      </p:nvGrpSpPr>
      <p:grpSpPr>
        <a:xfrm>
          <a:off x="0" y="0"/>
          <a:ext cx="0" cy="0"/>
          <a:chOff x="0" y="0"/>
          <a:chExt cx="0" cy="0"/>
        </a:xfrm>
      </p:grpSpPr>
      <p:sp>
        <p:nvSpPr>
          <p:cNvPr id="18"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9"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 master">
    <p:bg>
      <p:bgPr>
        <a:solidFill>
          <a:srgbClr val="000000"/>
        </a:solidFill>
      </p:bgPr>
    </p:bg>
    <p:spTree>
      <p:nvGrpSpPr>
        <p:cNvPr id="1" name=""/>
        <p:cNvGrpSpPr/>
        <p:nvPr/>
      </p:nvGrpSpPr>
      <p:grpSpPr>
        <a:xfrm>
          <a:off x="0" y="0"/>
          <a:ext cx="0" cy="0"/>
          <a:chOff x="0" y="0"/>
          <a:chExt cx="0" cy="0"/>
        </a:xfrm>
      </p:grpSpPr>
      <p:sp>
        <p:nvSpPr>
          <p:cNvPr id="27"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28"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3 master">
    <p:bg>
      <p:bgPr>
        <a:solidFill>
          <a:srgbClr val="000000"/>
        </a:solidFill>
      </p:bgPr>
    </p:bg>
    <p:spTree>
      <p:nvGrpSpPr>
        <p:cNvPr id="1" name=""/>
        <p:cNvGrpSpPr/>
        <p:nvPr/>
      </p:nvGrpSpPr>
      <p:grpSpPr>
        <a:xfrm>
          <a:off x="0" y="0"/>
          <a:ext cx="0" cy="0"/>
          <a:chOff x="0" y="0"/>
          <a:chExt cx="0" cy="0"/>
        </a:xfrm>
      </p:grpSpPr>
      <p:sp>
        <p:nvSpPr>
          <p:cNvPr id="36"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37"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4 master">
    <p:bg>
      <p:bgPr>
        <a:solidFill>
          <a:srgbClr val="000000"/>
        </a:solidFill>
      </p:bgPr>
    </p:bg>
    <p:spTree>
      <p:nvGrpSpPr>
        <p:cNvPr id="1" name=""/>
        <p:cNvGrpSpPr/>
        <p:nvPr/>
      </p:nvGrpSpPr>
      <p:grpSpPr>
        <a:xfrm>
          <a:off x="0" y="0"/>
          <a:ext cx="0" cy="0"/>
          <a:chOff x="0" y="0"/>
          <a:chExt cx="0" cy="0"/>
        </a:xfrm>
      </p:grpSpPr>
      <p:sp>
        <p:nvSpPr>
          <p:cNvPr id="45"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46"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5 master">
    <p:bg>
      <p:bgPr>
        <a:solidFill>
          <a:srgbClr val="000000"/>
        </a:solidFill>
      </p:bgPr>
    </p:bg>
    <p:spTree>
      <p:nvGrpSpPr>
        <p:cNvPr id="1" name=""/>
        <p:cNvGrpSpPr/>
        <p:nvPr/>
      </p:nvGrpSpPr>
      <p:grpSpPr>
        <a:xfrm>
          <a:off x="0" y="0"/>
          <a:ext cx="0" cy="0"/>
          <a:chOff x="0" y="0"/>
          <a:chExt cx="0" cy="0"/>
        </a:xfrm>
      </p:grpSpPr>
      <p:sp>
        <p:nvSpPr>
          <p:cNvPr id="54"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55"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5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6 master">
    <p:bg>
      <p:bgPr>
        <a:solidFill>
          <a:srgbClr val="000000"/>
        </a:solidFill>
      </p:bgPr>
    </p:bg>
    <p:spTree>
      <p:nvGrpSpPr>
        <p:cNvPr id="1" name=""/>
        <p:cNvGrpSpPr/>
        <p:nvPr/>
      </p:nvGrpSpPr>
      <p:grpSpPr>
        <a:xfrm>
          <a:off x="0" y="0"/>
          <a:ext cx="0" cy="0"/>
          <a:chOff x="0" y="0"/>
          <a:chExt cx="0" cy="0"/>
        </a:xfrm>
      </p:grpSpPr>
      <p:sp>
        <p:nvSpPr>
          <p:cNvPr id="63"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64"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7 master">
    <p:bg>
      <p:bgPr>
        <a:solidFill>
          <a:srgbClr val="000000"/>
        </a:solidFill>
      </p:bgPr>
    </p:bg>
    <p:spTree>
      <p:nvGrpSpPr>
        <p:cNvPr id="1" name=""/>
        <p:cNvGrpSpPr/>
        <p:nvPr/>
      </p:nvGrpSpPr>
      <p:grpSpPr>
        <a:xfrm>
          <a:off x="0" y="0"/>
          <a:ext cx="0" cy="0"/>
          <a:chOff x="0" y="0"/>
          <a:chExt cx="0" cy="0"/>
        </a:xfrm>
      </p:grpSpPr>
      <p:sp>
        <p:nvSpPr>
          <p:cNvPr id="72"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73"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8 master">
    <p:bg>
      <p:bgPr>
        <a:solidFill>
          <a:srgbClr val="000000"/>
        </a:solidFill>
      </p:bgPr>
    </p:bg>
    <p:spTree>
      <p:nvGrpSpPr>
        <p:cNvPr id="1" name=""/>
        <p:cNvGrpSpPr/>
        <p:nvPr/>
      </p:nvGrpSpPr>
      <p:grpSpPr>
        <a:xfrm>
          <a:off x="0" y="0"/>
          <a:ext cx="0" cy="0"/>
          <a:chOff x="0" y="0"/>
          <a:chExt cx="0" cy="0"/>
        </a:xfrm>
      </p:grpSpPr>
      <p:sp>
        <p:nvSpPr>
          <p:cNvPr id="81"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82"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9 master">
    <p:bg>
      <p:bgPr>
        <a:solidFill>
          <a:srgbClr val="000000"/>
        </a:solidFill>
      </p:bgPr>
    </p:bg>
    <p:spTree>
      <p:nvGrpSpPr>
        <p:cNvPr id="1" name=""/>
        <p:cNvGrpSpPr/>
        <p:nvPr/>
      </p:nvGrpSpPr>
      <p:grpSpPr>
        <a:xfrm>
          <a:off x="0" y="0"/>
          <a:ext cx="0" cy="0"/>
          <a:chOff x="0" y="0"/>
          <a:chExt cx="0" cy="0"/>
        </a:xfrm>
      </p:grpSpPr>
      <p:sp>
        <p:nvSpPr>
          <p:cNvPr id="90"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91"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0 master">
    <p:bg>
      <p:bgPr>
        <a:solidFill>
          <a:srgbClr val="000000"/>
        </a:solidFill>
      </p:bgPr>
    </p:bg>
    <p:spTree>
      <p:nvGrpSpPr>
        <p:cNvPr id="1" name=""/>
        <p:cNvGrpSpPr/>
        <p:nvPr/>
      </p:nvGrpSpPr>
      <p:grpSpPr>
        <a:xfrm>
          <a:off x="0" y="0"/>
          <a:ext cx="0" cy="0"/>
          <a:chOff x="0" y="0"/>
          <a:chExt cx="0" cy="0"/>
        </a:xfrm>
      </p:grpSpPr>
      <p:sp>
        <p:nvSpPr>
          <p:cNvPr id="99"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00"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1 master">
    <p:bg>
      <p:bgPr>
        <a:solidFill>
          <a:srgbClr val="000000"/>
        </a:solidFill>
      </p:bgPr>
    </p:bg>
    <p:spTree>
      <p:nvGrpSpPr>
        <p:cNvPr id="1" name=""/>
        <p:cNvGrpSpPr/>
        <p:nvPr/>
      </p:nvGrpSpPr>
      <p:grpSpPr>
        <a:xfrm>
          <a:off x="0" y="0"/>
          <a:ext cx="0" cy="0"/>
          <a:chOff x="0" y="0"/>
          <a:chExt cx="0" cy="0"/>
        </a:xfrm>
      </p:grpSpPr>
      <p:sp>
        <p:nvSpPr>
          <p:cNvPr id="108"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09"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2 master">
    <p:bg>
      <p:bgPr>
        <a:solidFill>
          <a:srgbClr val="000000"/>
        </a:solidFill>
      </p:bgPr>
    </p:bg>
    <p:spTree>
      <p:nvGrpSpPr>
        <p:cNvPr id="1" name=""/>
        <p:cNvGrpSpPr/>
        <p:nvPr/>
      </p:nvGrpSpPr>
      <p:grpSpPr>
        <a:xfrm>
          <a:off x="0" y="0"/>
          <a:ext cx="0" cy="0"/>
          <a:chOff x="0" y="0"/>
          <a:chExt cx="0" cy="0"/>
        </a:xfrm>
      </p:grpSpPr>
      <p:sp>
        <p:nvSpPr>
          <p:cNvPr id="117"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18"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3 master">
    <p:bg>
      <p:bgPr>
        <a:solidFill>
          <a:srgbClr val="000000"/>
        </a:solidFill>
      </p:bgPr>
    </p:bg>
    <p:spTree>
      <p:nvGrpSpPr>
        <p:cNvPr id="1" name=""/>
        <p:cNvGrpSpPr/>
        <p:nvPr/>
      </p:nvGrpSpPr>
      <p:grpSpPr>
        <a:xfrm>
          <a:off x="0" y="0"/>
          <a:ext cx="0" cy="0"/>
          <a:chOff x="0" y="0"/>
          <a:chExt cx="0" cy="0"/>
        </a:xfrm>
      </p:grpSpPr>
      <p:sp>
        <p:nvSpPr>
          <p:cNvPr id="126"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27"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4 master">
    <p:bg>
      <p:bgPr>
        <a:solidFill>
          <a:srgbClr val="000000"/>
        </a:solidFill>
      </p:bgPr>
    </p:bg>
    <p:spTree>
      <p:nvGrpSpPr>
        <p:cNvPr id="1" name=""/>
        <p:cNvGrpSpPr/>
        <p:nvPr/>
      </p:nvGrpSpPr>
      <p:grpSpPr>
        <a:xfrm>
          <a:off x="0" y="0"/>
          <a:ext cx="0" cy="0"/>
          <a:chOff x="0" y="0"/>
          <a:chExt cx="0" cy="0"/>
        </a:xfrm>
      </p:grpSpPr>
      <p:sp>
        <p:nvSpPr>
          <p:cNvPr id="135"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36"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5 master">
    <p:bg>
      <p:bgPr>
        <a:solidFill>
          <a:srgbClr val="000000"/>
        </a:solidFill>
      </p:bgPr>
    </p:bg>
    <p:spTree>
      <p:nvGrpSpPr>
        <p:cNvPr id="1" name=""/>
        <p:cNvGrpSpPr/>
        <p:nvPr/>
      </p:nvGrpSpPr>
      <p:grpSpPr>
        <a:xfrm>
          <a:off x="0" y="0"/>
          <a:ext cx="0" cy="0"/>
          <a:chOff x="0" y="0"/>
          <a:chExt cx="0" cy="0"/>
        </a:xfrm>
      </p:grpSpPr>
      <p:sp>
        <p:nvSpPr>
          <p:cNvPr id="144"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45"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4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6 master">
    <p:bg>
      <p:bgPr>
        <a:solidFill>
          <a:srgbClr val="000000"/>
        </a:solidFill>
      </p:bgPr>
    </p:bg>
    <p:spTree>
      <p:nvGrpSpPr>
        <p:cNvPr id="1" name=""/>
        <p:cNvGrpSpPr/>
        <p:nvPr/>
      </p:nvGrpSpPr>
      <p:grpSpPr>
        <a:xfrm>
          <a:off x="0" y="0"/>
          <a:ext cx="0" cy="0"/>
          <a:chOff x="0" y="0"/>
          <a:chExt cx="0" cy="0"/>
        </a:xfrm>
      </p:grpSpPr>
      <p:sp>
        <p:nvSpPr>
          <p:cNvPr id="153"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54"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7 master">
    <p:bg>
      <p:bgPr>
        <a:solidFill>
          <a:srgbClr val="000000"/>
        </a:solidFill>
      </p:bgPr>
    </p:bg>
    <p:spTree>
      <p:nvGrpSpPr>
        <p:cNvPr id="1" name=""/>
        <p:cNvGrpSpPr/>
        <p:nvPr/>
      </p:nvGrpSpPr>
      <p:grpSpPr>
        <a:xfrm>
          <a:off x="0" y="0"/>
          <a:ext cx="0" cy="0"/>
          <a:chOff x="0" y="0"/>
          <a:chExt cx="0" cy="0"/>
        </a:xfrm>
      </p:grpSpPr>
      <p:sp>
        <p:nvSpPr>
          <p:cNvPr id="162"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63"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8 master">
    <p:bg>
      <p:bgPr>
        <a:solidFill>
          <a:srgbClr val="000000"/>
        </a:solidFill>
      </p:bgPr>
    </p:bg>
    <p:spTree>
      <p:nvGrpSpPr>
        <p:cNvPr id="1" name=""/>
        <p:cNvGrpSpPr/>
        <p:nvPr/>
      </p:nvGrpSpPr>
      <p:grpSpPr>
        <a:xfrm>
          <a:off x="0" y="0"/>
          <a:ext cx="0" cy="0"/>
          <a:chOff x="0" y="0"/>
          <a:chExt cx="0" cy="0"/>
        </a:xfrm>
      </p:grpSpPr>
      <p:sp>
        <p:nvSpPr>
          <p:cNvPr id="171"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72"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7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9 master">
    <p:bg>
      <p:bgPr>
        <a:solidFill>
          <a:srgbClr val="000000"/>
        </a:solidFill>
      </p:bgPr>
    </p:bg>
    <p:spTree>
      <p:nvGrpSpPr>
        <p:cNvPr id="1" name=""/>
        <p:cNvGrpSpPr/>
        <p:nvPr/>
      </p:nvGrpSpPr>
      <p:grpSpPr>
        <a:xfrm>
          <a:off x="0" y="0"/>
          <a:ext cx="0" cy="0"/>
          <a:chOff x="0" y="0"/>
          <a:chExt cx="0" cy="0"/>
        </a:xfrm>
      </p:grpSpPr>
      <p:sp>
        <p:nvSpPr>
          <p:cNvPr id="180"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81"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8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0 master">
    <p:bg>
      <p:bgPr>
        <a:solidFill>
          <a:srgbClr val="000000"/>
        </a:solidFill>
      </p:bgPr>
    </p:bg>
    <p:spTree>
      <p:nvGrpSpPr>
        <p:cNvPr id="1" name=""/>
        <p:cNvGrpSpPr/>
        <p:nvPr/>
      </p:nvGrpSpPr>
      <p:grpSpPr>
        <a:xfrm>
          <a:off x="0" y="0"/>
          <a:ext cx="0" cy="0"/>
          <a:chOff x="0" y="0"/>
          <a:chExt cx="0" cy="0"/>
        </a:xfrm>
      </p:grpSpPr>
      <p:sp>
        <p:nvSpPr>
          <p:cNvPr id="189"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90"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1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1 master">
    <p:bg>
      <p:bgPr>
        <a:solidFill>
          <a:srgbClr val="000000"/>
        </a:solidFill>
      </p:bgPr>
    </p:bg>
    <p:spTree>
      <p:nvGrpSpPr>
        <p:cNvPr id="1" name=""/>
        <p:cNvGrpSpPr/>
        <p:nvPr/>
      </p:nvGrpSpPr>
      <p:grpSpPr>
        <a:xfrm>
          <a:off x="0" y="0"/>
          <a:ext cx="0" cy="0"/>
          <a:chOff x="0" y="0"/>
          <a:chExt cx="0" cy="0"/>
        </a:xfrm>
      </p:grpSpPr>
      <p:sp>
        <p:nvSpPr>
          <p:cNvPr id="198"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199"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20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2 master">
    <p:bg>
      <p:bgPr>
        <a:solidFill>
          <a:srgbClr val="000000"/>
        </a:solidFill>
      </p:bgPr>
    </p:bg>
    <p:spTree>
      <p:nvGrpSpPr>
        <p:cNvPr id="1" name=""/>
        <p:cNvGrpSpPr/>
        <p:nvPr/>
      </p:nvGrpSpPr>
      <p:grpSpPr>
        <a:xfrm>
          <a:off x="0" y="0"/>
          <a:ext cx="0" cy="0"/>
          <a:chOff x="0" y="0"/>
          <a:chExt cx="0" cy="0"/>
        </a:xfrm>
      </p:grpSpPr>
      <p:sp>
        <p:nvSpPr>
          <p:cNvPr id="207"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208"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20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3 master">
    <p:bg>
      <p:bgPr>
        <a:solidFill>
          <a:srgbClr val="000000"/>
        </a:solidFill>
      </p:bgPr>
    </p:bg>
    <p:spTree>
      <p:nvGrpSpPr>
        <p:cNvPr id="1" name=""/>
        <p:cNvGrpSpPr/>
        <p:nvPr/>
      </p:nvGrpSpPr>
      <p:grpSpPr>
        <a:xfrm>
          <a:off x="0" y="0"/>
          <a:ext cx="0" cy="0"/>
          <a:chOff x="0" y="0"/>
          <a:chExt cx="0" cy="0"/>
        </a:xfrm>
      </p:grpSpPr>
      <p:sp>
        <p:nvSpPr>
          <p:cNvPr id="216"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217"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2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4 master">
    <p:bg>
      <p:bgPr>
        <a:solidFill>
          <a:srgbClr val="000000"/>
        </a:solidFill>
      </p:bgPr>
    </p:bg>
    <p:spTree>
      <p:nvGrpSpPr>
        <p:cNvPr id="1" name=""/>
        <p:cNvGrpSpPr/>
        <p:nvPr/>
      </p:nvGrpSpPr>
      <p:grpSpPr>
        <a:xfrm>
          <a:off x="0" y="0"/>
          <a:ext cx="0" cy="0"/>
          <a:chOff x="0" y="0"/>
          <a:chExt cx="0" cy="0"/>
        </a:xfrm>
      </p:grpSpPr>
      <p:sp>
        <p:nvSpPr>
          <p:cNvPr id="225"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226"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2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5 master">
    <p:bg>
      <p:bgPr>
        <a:solidFill>
          <a:srgbClr val="000000"/>
        </a:solidFill>
      </p:bgPr>
    </p:bg>
    <p:spTree>
      <p:nvGrpSpPr>
        <p:cNvPr id="1" name=""/>
        <p:cNvGrpSpPr/>
        <p:nvPr/>
      </p:nvGrpSpPr>
      <p:grpSpPr>
        <a:xfrm>
          <a:off x="0" y="0"/>
          <a:ext cx="0" cy="0"/>
          <a:chOff x="0" y="0"/>
          <a:chExt cx="0" cy="0"/>
        </a:xfrm>
      </p:grpSpPr>
      <p:sp>
        <p:nvSpPr>
          <p:cNvPr id="234"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235"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23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6 master">
    <p:bg>
      <p:bgPr>
        <a:solidFill>
          <a:srgbClr val="000000"/>
        </a:solidFill>
      </p:bgPr>
    </p:bg>
    <p:spTree>
      <p:nvGrpSpPr>
        <p:cNvPr id="1" name=""/>
        <p:cNvGrpSpPr/>
        <p:nvPr/>
      </p:nvGrpSpPr>
      <p:grpSpPr>
        <a:xfrm>
          <a:off x="0" y="0"/>
          <a:ext cx="0" cy="0"/>
          <a:chOff x="0" y="0"/>
          <a:chExt cx="0" cy="0"/>
        </a:xfrm>
      </p:grpSpPr>
      <p:sp>
        <p:nvSpPr>
          <p:cNvPr id="243"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244"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2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7 master">
    <p:bg>
      <p:bgPr>
        <a:solidFill>
          <a:srgbClr val="000000"/>
        </a:solidFill>
      </p:bgPr>
    </p:bg>
    <p:spTree>
      <p:nvGrpSpPr>
        <p:cNvPr id="1" name=""/>
        <p:cNvGrpSpPr/>
        <p:nvPr/>
      </p:nvGrpSpPr>
      <p:grpSpPr>
        <a:xfrm>
          <a:off x="0" y="0"/>
          <a:ext cx="0" cy="0"/>
          <a:chOff x="0" y="0"/>
          <a:chExt cx="0" cy="0"/>
        </a:xfrm>
      </p:grpSpPr>
      <p:sp>
        <p:nvSpPr>
          <p:cNvPr id="252"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253"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25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8 master">
    <p:bg>
      <p:bgPr>
        <a:solidFill>
          <a:srgbClr val="000000"/>
        </a:solidFill>
      </p:bgPr>
    </p:bg>
    <p:spTree>
      <p:nvGrpSpPr>
        <p:cNvPr id="1" name=""/>
        <p:cNvGrpSpPr/>
        <p:nvPr/>
      </p:nvGrpSpPr>
      <p:grpSpPr>
        <a:xfrm>
          <a:off x="0" y="0"/>
          <a:ext cx="0" cy="0"/>
          <a:chOff x="0" y="0"/>
          <a:chExt cx="0" cy="0"/>
        </a:xfrm>
      </p:grpSpPr>
      <p:sp>
        <p:nvSpPr>
          <p:cNvPr id="261"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262"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2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9 master">
    <p:bg>
      <p:bgPr>
        <a:solidFill>
          <a:srgbClr val="000000"/>
        </a:solidFill>
      </p:bgPr>
    </p:bg>
    <p:spTree>
      <p:nvGrpSpPr>
        <p:cNvPr id="1" name=""/>
        <p:cNvGrpSpPr/>
        <p:nvPr/>
      </p:nvGrpSpPr>
      <p:grpSpPr>
        <a:xfrm>
          <a:off x="0" y="0"/>
          <a:ext cx="0" cy="0"/>
          <a:chOff x="0" y="0"/>
          <a:chExt cx="0" cy="0"/>
        </a:xfrm>
      </p:grpSpPr>
      <p:sp>
        <p:nvSpPr>
          <p:cNvPr id="270" name="Shape 0"/>
          <p:cNvSpPr/>
          <p:nvPr/>
        </p:nvSpPr>
        <p:spPr>
          <a:xfrm>
            <a:off x="0" y="0"/>
            <a:ext cx="14630400" cy="8229600"/>
          </a:xfrm>
          <a:prstGeom prst="rect">
            <a:avLst/>
          </a:prstGeom>
          <a:solidFill>
            <a:srgbClr val="ECECF3"/>
          </a:solidFill>
          <a:ln w="12700">
            <a:miter lim="400000"/>
          </a:ln>
        </p:spPr>
        <p:txBody>
          <a:bodyPr lIns="45719" rIns="45719"/>
          <a:lstStyle/>
          <a:p>
            <a:pPr/>
          </a:p>
        </p:txBody>
      </p:sp>
      <p:sp>
        <p:nvSpPr>
          <p:cNvPr id="271" name="Shape 1"/>
          <p:cNvSpPr/>
          <p:nvPr/>
        </p:nvSpPr>
        <p:spPr>
          <a:xfrm>
            <a:off x="0" y="0"/>
            <a:ext cx="14630400" cy="8229600"/>
          </a:xfrm>
          <a:prstGeom prst="rect">
            <a:avLst/>
          </a:prstGeom>
          <a:solidFill>
            <a:srgbClr val="FFFFFF">
              <a:alpha val="95000"/>
            </a:srgbClr>
          </a:solidFill>
          <a:ln w="12700">
            <a:miter lim="400000"/>
          </a:ln>
        </p:spPr>
        <p:txBody>
          <a:bodyPr lIns="45719" rIns="45719"/>
          <a:lstStyle/>
          <a:p>
            <a:pPr/>
          </a:p>
        </p:txBody>
      </p:sp>
      <p:sp>
        <p:nvSpPr>
          <p:cNvPr id="27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731519" y="110489"/>
            <a:ext cx="13167362" cy="180975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731519" y="1920239"/>
            <a:ext cx="13167362" cy="6309362"/>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7071359" y="7408544"/>
            <a:ext cx="3413761" cy="438151"/>
          </a:xfrm>
          <a:prstGeom prst="rect">
            <a:avLst/>
          </a:prstGeom>
          <a:ln w="12700">
            <a:miter lim="400000"/>
          </a:ln>
        </p:spPr>
        <p:txBody>
          <a:bodyPr wrap="none" lIns="45719" rIns="45719" anchor="ctr">
            <a:spAutoFit/>
          </a:bodyPr>
          <a:lstStyle>
            <a:lvl1pPr algn="r">
              <a:defRPr sz="1200">
                <a:latin typeface="+mj-lt"/>
                <a:ea typeface="+mj-ea"/>
                <a:cs typeface="+mj-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9.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5.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5.xml"/><Relationship Id="rId3" Type="http://schemas.openxmlformats.org/officeDocument/2006/relationships/image" Target="../media/image18.png"/><Relationship Id="rId4" Type="http://schemas.openxmlformats.org/officeDocument/2006/relationships/image" Target="../media/image8.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20.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Shape 0"/>
          <p:cNvSpPr/>
          <p:nvPr/>
        </p:nvSpPr>
        <p:spPr>
          <a:xfrm>
            <a:off x="9144000" y="0"/>
            <a:ext cx="5486400" cy="8229600"/>
          </a:xfrm>
          <a:prstGeom prst="rect">
            <a:avLst/>
          </a:prstGeom>
          <a:solidFill>
            <a:srgbClr val="E1E1EA"/>
          </a:solidFill>
          <a:ln w="12700">
            <a:miter lim="400000"/>
          </a:ln>
        </p:spPr>
        <p:txBody>
          <a:bodyPr lIns="45719" rIns="45719"/>
          <a:lstStyle/>
          <a:p>
            <a:pPr/>
          </a:p>
        </p:txBody>
      </p:sp>
      <p:pic>
        <p:nvPicPr>
          <p:cNvPr id="282" name="Image 0" descr="Image 0"/>
          <p:cNvPicPr>
            <a:picLocks noChangeAspect="1"/>
          </p:cNvPicPr>
          <p:nvPr/>
        </p:nvPicPr>
        <p:blipFill>
          <a:blip r:embed="rId3">
            <a:extLst/>
          </a:blip>
          <a:stretch>
            <a:fillRect/>
          </a:stretch>
        </p:blipFill>
        <p:spPr>
          <a:xfrm>
            <a:off x="9243179" y="1470779"/>
            <a:ext cx="5288043" cy="5288042"/>
          </a:xfrm>
          <a:prstGeom prst="rect">
            <a:avLst/>
          </a:prstGeom>
          <a:ln w="12700">
            <a:miter lim="400000"/>
          </a:ln>
        </p:spPr>
      </p:pic>
      <p:sp>
        <p:nvSpPr>
          <p:cNvPr id="283" name="Text 1"/>
          <p:cNvSpPr txBox="1"/>
          <p:nvPr/>
        </p:nvSpPr>
        <p:spPr>
          <a:xfrm>
            <a:off x="793790" y="2881313"/>
            <a:ext cx="7556422" cy="12131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Forward Deployed Engineering (FDE)</a:t>
            </a:r>
          </a:p>
        </p:txBody>
      </p:sp>
      <p:sp>
        <p:nvSpPr>
          <p:cNvPr id="284" name="Text 2"/>
          <p:cNvSpPr txBox="1"/>
          <p:nvPr/>
        </p:nvSpPr>
        <p:spPr>
          <a:xfrm>
            <a:off x="793790" y="4419124"/>
            <a:ext cx="2720814"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Building Real-World AI Solutions</a:t>
            </a:r>
          </a:p>
        </p:txBody>
      </p:sp>
      <p:sp>
        <p:nvSpPr>
          <p:cNvPr id="285" name="Shape 3"/>
          <p:cNvSpPr/>
          <p:nvPr/>
        </p:nvSpPr>
        <p:spPr>
          <a:xfrm>
            <a:off x="793790" y="4959906"/>
            <a:ext cx="1962032" cy="388383"/>
          </a:xfrm>
          <a:prstGeom prst="roundRect">
            <a:avLst>
              <a:gd name="adj" fmla="val 17171"/>
            </a:avLst>
          </a:prstGeom>
          <a:ln w="7620">
            <a:solidFill>
              <a:srgbClr val="1B1B27"/>
            </a:solidFill>
          </a:ln>
        </p:spPr>
        <p:txBody>
          <a:bodyPr lIns="45719" rIns="45719"/>
          <a:lstStyle/>
          <a:p>
            <a:pPr/>
          </a:p>
        </p:txBody>
      </p:sp>
      <p:sp>
        <p:nvSpPr>
          <p:cNvPr id="286" name="Text 4"/>
          <p:cNvSpPr txBox="1"/>
          <p:nvPr/>
        </p:nvSpPr>
        <p:spPr>
          <a:xfrm>
            <a:off x="920472" y="5027057"/>
            <a:ext cx="1653382"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PART 1 — FDE MINDSET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Text 0"/>
          <p:cNvSpPr txBox="1"/>
          <p:nvPr/>
        </p:nvSpPr>
        <p:spPr>
          <a:xfrm>
            <a:off x="793790" y="2163128"/>
            <a:ext cx="972791"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2 OF 28</a:t>
            </a:r>
          </a:p>
        </p:txBody>
      </p:sp>
      <p:sp>
        <p:nvSpPr>
          <p:cNvPr id="291" name="Text 1"/>
          <p:cNvSpPr txBox="1"/>
          <p:nvPr/>
        </p:nvSpPr>
        <p:spPr>
          <a:xfrm>
            <a:off x="793789" y="2556033"/>
            <a:ext cx="6054324"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What This Course Is About</a:t>
            </a:r>
          </a:p>
        </p:txBody>
      </p:sp>
      <p:sp>
        <p:nvSpPr>
          <p:cNvPr id="292" name="Text 2"/>
          <p:cNvSpPr txBox="1"/>
          <p:nvPr/>
        </p:nvSpPr>
        <p:spPr>
          <a:xfrm>
            <a:off x="793790" y="3473767"/>
            <a:ext cx="13042822"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500"/>
              </a:lnSpc>
              <a:defRPr sz="1500">
                <a:solidFill>
                  <a:srgbClr val="3C3939"/>
                </a:solidFill>
                <a:latin typeface="Roboto Regular Regular"/>
                <a:ea typeface="Roboto Regular Regular"/>
                <a:cs typeface="Roboto Regular Regular"/>
                <a:sym typeface="Roboto Regular Regular"/>
              </a:defRPr>
            </a:pPr>
            <a:r>
              <a:t>This is not a traditional coding course, and it is not a machine learning theory class. FDE is about solving </a:t>
            </a:r>
            <a:r>
              <a:rPr>
                <a:latin typeface="Roboto Regular Bold"/>
                <a:ea typeface="Roboto Regular Bold"/>
                <a:cs typeface="Roboto Regular Bold"/>
                <a:sym typeface="Roboto Regular Bold"/>
              </a:rPr>
              <a:t>real problems end-to-end</a:t>
            </a:r>
            <a:r>
              <a:t> — combining engineering, design thinking, and AI to deliver working solutions in the real world.</a:t>
            </a:r>
          </a:p>
        </p:txBody>
      </p:sp>
      <p:sp>
        <p:nvSpPr>
          <p:cNvPr id="293" name="Shape 3"/>
          <p:cNvSpPr/>
          <p:nvPr/>
        </p:nvSpPr>
        <p:spPr>
          <a:xfrm>
            <a:off x="793790" y="4332089"/>
            <a:ext cx="4215289" cy="1793796"/>
          </a:xfrm>
          <a:prstGeom prst="roundRect">
            <a:avLst>
              <a:gd name="adj" fmla="val 4647"/>
            </a:avLst>
          </a:prstGeom>
          <a:solidFill>
            <a:srgbClr val="E1E1EA"/>
          </a:solidFill>
          <a:ln w="7620">
            <a:solidFill>
              <a:srgbClr val="C7C7D0"/>
            </a:solidFill>
          </a:ln>
        </p:spPr>
        <p:txBody>
          <a:bodyPr lIns="45719" rIns="45719"/>
          <a:lstStyle/>
          <a:p>
            <a:pPr/>
          </a:p>
        </p:txBody>
      </p:sp>
      <p:sp>
        <p:nvSpPr>
          <p:cNvPr id="294" name="Text 4"/>
          <p:cNvSpPr txBox="1"/>
          <p:nvPr/>
        </p:nvSpPr>
        <p:spPr>
          <a:xfrm>
            <a:off x="999768" y="4538067"/>
            <a:ext cx="2147085"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Not Just Coding</a:t>
            </a:r>
          </a:p>
        </p:txBody>
      </p:sp>
      <p:sp>
        <p:nvSpPr>
          <p:cNvPr id="295" name="Text 5"/>
          <p:cNvSpPr txBox="1"/>
          <p:nvPr/>
        </p:nvSpPr>
        <p:spPr>
          <a:xfrm>
            <a:off x="999768" y="4967287"/>
            <a:ext cx="3803334"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500"/>
              </a:lnSpc>
              <a:defRPr sz="1500">
                <a:solidFill>
                  <a:srgbClr val="3C3939"/>
                </a:solidFill>
                <a:latin typeface="Roboto Regular Regular"/>
                <a:ea typeface="Roboto Regular Regular"/>
                <a:cs typeface="Roboto Regular Regular"/>
                <a:sym typeface="Roboto Regular Regular"/>
              </a:defRPr>
            </a:pPr>
            <a:r>
              <a:t>Syntax and algorithms are only part of the picture. The bigger challenge is knowing </a:t>
            </a:r>
            <a:r>
              <a:rPr i="1"/>
              <a:t>what</a:t>
            </a:r>
            <a:r>
              <a:t> to build.</a:t>
            </a:r>
          </a:p>
        </p:txBody>
      </p:sp>
      <p:sp>
        <p:nvSpPr>
          <p:cNvPr id="296" name="Shape 6"/>
          <p:cNvSpPr/>
          <p:nvPr/>
        </p:nvSpPr>
        <p:spPr>
          <a:xfrm>
            <a:off x="5207437" y="4332089"/>
            <a:ext cx="4215408" cy="1793796"/>
          </a:xfrm>
          <a:prstGeom prst="roundRect">
            <a:avLst>
              <a:gd name="adj" fmla="val 4647"/>
            </a:avLst>
          </a:prstGeom>
          <a:solidFill>
            <a:srgbClr val="E1E1EA"/>
          </a:solidFill>
          <a:ln w="7620">
            <a:solidFill>
              <a:srgbClr val="C7C7D0"/>
            </a:solidFill>
          </a:ln>
        </p:spPr>
        <p:txBody>
          <a:bodyPr lIns="45719" rIns="45719"/>
          <a:lstStyle/>
          <a:p>
            <a:pPr/>
          </a:p>
        </p:txBody>
      </p:sp>
      <p:sp>
        <p:nvSpPr>
          <p:cNvPr id="297" name="Text 7"/>
          <p:cNvSpPr txBox="1"/>
          <p:nvPr/>
        </p:nvSpPr>
        <p:spPr>
          <a:xfrm>
            <a:off x="5413414" y="4538067"/>
            <a:ext cx="2579298"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Not Just ML Models</a:t>
            </a:r>
          </a:p>
        </p:txBody>
      </p:sp>
      <p:sp>
        <p:nvSpPr>
          <p:cNvPr id="298" name="Text 8"/>
          <p:cNvSpPr txBox="1"/>
          <p:nvPr/>
        </p:nvSpPr>
        <p:spPr>
          <a:xfrm>
            <a:off x="5413414" y="4967287"/>
            <a:ext cx="3803453"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A trained model is not a solution. Deploying it in context — that's the actual work.</a:t>
            </a:r>
          </a:p>
        </p:txBody>
      </p:sp>
      <p:sp>
        <p:nvSpPr>
          <p:cNvPr id="299" name="Shape 9"/>
          <p:cNvSpPr/>
          <p:nvPr/>
        </p:nvSpPr>
        <p:spPr>
          <a:xfrm>
            <a:off x="9621202" y="4332089"/>
            <a:ext cx="4215290" cy="1793796"/>
          </a:xfrm>
          <a:prstGeom prst="roundRect">
            <a:avLst>
              <a:gd name="adj" fmla="val 4647"/>
            </a:avLst>
          </a:prstGeom>
          <a:solidFill>
            <a:srgbClr val="E1E1EA"/>
          </a:solidFill>
          <a:ln w="7620">
            <a:solidFill>
              <a:srgbClr val="C7C7D0"/>
            </a:solidFill>
          </a:ln>
        </p:spPr>
        <p:txBody>
          <a:bodyPr lIns="45719" rIns="45719"/>
          <a:lstStyle/>
          <a:p>
            <a:pPr/>
          </a:p>
        </p:txBody>
      </p:sp>
      <p:sp>
        <p:nvSpPr>
          <p:cNvPr id="300" name="Text 10"/>
          <p:cNvSpPr txBox="1"/>
          <p:nvPr/>
        </p:nvSpPr>
        <p:spPr>
          <a:xfrm>
            <a:off x="9827180" y="4538067"/>
            <a:ext cx="3562995"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End-to-End Problem Solving</a:t>
            </a:r>
          </a:p>
        </p:txBody>
      </p:sp>
      <p:sp>
        <p:nvSpPr>
          <p:cNvPr id="301" name="Text 11"/>
          <p:cNvSpPr txBox="1"/>
          <p:nvPr/>
        </p:nvSpPr>
        <p:spPr>
          <a:xfrm>
            <a:off x="9827180" y="4967287"/>
            <a:ext cx="3803334"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From understanding the business need to shipping a working system — FDE covers the full arc.</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Shape 0"/>
          <p:cNvSpPr/>
          <p:nvPr/>
        </p:nvSpPr>
        <p:spPr>
          <a:xfrm>
            <a:off x="0" y="0"/>
            <a:ext cx="5486400" cy="8229600"/>
          </a:xfrm>
          <a:prstGeom prst="rect">
            <a:avLst/>
          </a:prstGeom>
          <a:solidFill>
            <a:srgbClr val="E1E1EA"/>
          </a:solidFill>
          <a:ln w="12700">
            <a:miter lim="400000"/>
          </a:ln>
        </p:spPr>
        <p:txBody>
          <a:bodyPr lIns="45719" rIns="45719"/>
          <a:lstStyle/>
          <a:p>
            <a:pPr/>
          </a:p>
        </p:txBody>
      </p:sp>
      <p:pic>
        <p:nvPicPr>
          <p:cNvPr id="306" name="Image 0" descr="Image 0"/>
          <p:cNvPicPr>
            <a:picLocks noChangeAspect="1"/>
          </p:cNvPicPr>
          <p:nvPr/>
        </p:nvPicPr>
        <p:blipFill>
          <a:blip r:embed="rId3">
            <a:extLst/>
          </a:blip>
          <a:stretch>
            <a:fillRect/>
          </a:stretch>
        </p:blipFill>
        <p:spPr>
          <a:xfrm>
            <a:off x="99178" y="1470779"/>
            <a:ext cx="5288043" cy="5288042"/>
          </a:xfrm>
          <a:prstGeom prst="rect">
            <a:avLst/>
          </a:prstGeom>
          <a:ln w="12700">
            <a:miter lim="400000"/>
          </a:ln>
        </p:spPr>
      </p:pic>
      <p:sp>
        <p:nvSpPr>
          <p:cNvPr id="307" name="Text 1"/>
          <p:cNvSpPr txBox="1"/>
          <p:nvPr/>
        </p:nvSpPr>
        <p:spPr>
          <a:xfrm>
            <a:off x="6280189" y="2360533"/>
            <a:ext cx="972792"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3 OF 28</a:t>
            </a:r>
          </a:p>
        </p:txBody>
      </p:sp>
      <p:sp>
        <p:nvSpPr>
          <p:cNvPr id="308" name="Text 2"/>
          <p:cNvSpPr txBox="1"/>
          <p:nvPr/>
        </p:nvSpPr>
        <p:spPr>
          <a:xfrm>
            <a:off x="6280189" y="2753438"/>
            <a:ext cx="5128875"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A Real-World Problem</a:t>
            </a:r>
          </a:p>
        </p:txBody>
      </p:sp>
      <p:sp>
        <p:nvSpPr>
          <p:cNvPr id="309" name="Text 3"/>
          <p:cNvSpPr txBox="1"/>
          <p:nvPr/>
        </p:nvSpPr>
        <p:spPr>
          <a:xfrm>
            <a:off x="6577845" y="3894415"/>
            <a:ext cx="7258765" cy="3005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"We receive over 1,000 emails every day. Our team is overwhelmed. Can AI help us?"</a:t>
            </a:r>
          </a:p>
        </p:txBody>
      </p:sp>
      <p:sp>
        <p:nvSpPr>
          <p:cNvPr id="310" name="Shape 4"/>
          <p:cNvSpPr/>
          <p:nvPr/>
        </p:nvSpPr>
        <p:spPr>
          <a:xfrm>
            <a:off x="6280189" y="3671172"/>
            <a:ext cx="22861" cy="1081565"/>
          </a:xfrm>
          <a:prstGeom prst="rect">
            <a:avLst/>
          </a:prstGeom>
          <a:solidFill>
            <a:srgbClr val="1B1B27"/>
          </a:solidFill>
          <a:ln w="12700">
            <a:miter lim="400000"/>
          </a:ln>
        </p:spPr>
        <p:txBody>
          <a:bodyPr lIns="45719" rIns="45719"/>
          <a:lstStyle/>
          <a:p>
            <a:pPr/>
          </a:p>
        </p:txBody>
      </p:sp>
      <p:sp>
        <p:nvSpPr>
          <p:cNvPr id="311" name="Text 5"/>
          <p:cNvSpPr txBox="1"/>
          <p:nvPr/>
        </p:nvSpPr>
        <p:spPr>
          <a:xfrm>
            <a:off x="6280189" y="4975978"/>
            <a:ext cx="7556422"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This is the kind of question a Forward Deployed Engineer hears constantly. It sounds simple — but it hides enormous complexity. Before reaching for any tool or technology, you must first understand exactly what is being asked.</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5" name="Text 0"/>
          <p:cNvSpPr txBox="1"/>
          <p:nvPr/>
        </p:nvSpPr>
        <p:spPr>
          <a:xfrm>
            <a:off x="793790" y="1750456"/>
            <a:ext cx="972791"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4 OF 28</a:t>
            </a:r>
          </a:p>
        </p:txBody>
      </p:sp>
      <p:sp>
        <p:nvSpPr>
          <p:cNvPr id="316" name="Text 1"/>
          <p:cNvSpPr txBox="1"/>
          <p:nvPr/>
        </p:nvSpPr>
        <p:spPr>
          <a:xfrm>
            <a:off x="793790" y="2143362"/>
            <a:ext cx="6480004"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What Is the Actual Problem?</a:t>
            </a:r>
          </a:p>
        </p:txBody>
      </p:sp>
      <p:sp>
        <p:nvSpPr>
          <p:cNvPr id="317" name="Text 2"/>
          <p:cNvSpPr txBox="1"/>
          <p:nvPr/>
        </p:nvSpPr>
        <p:spPr>
          <a:xfrm>
            <a:off x="793790" y="3061097"/>
            <a:ext cx="13042822"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500"/>
              </a:lnSpc>
              <a:defRPr sz="1500">
                <a:solidFill>
                  <a:srgbClr val="3C3939"/>
                </a:solidFill>
                <a:latin typeface="Roboto Regular Regular"/>
                <a:ea typeface="Roboto Regular Regular"/>
                <a:cs typeface="Roboto Regular Regular"/>
                <a:sym typeface="Roboto Regular Regular"/>
              </a:defRPr>
            </a:pPr>
            <a:r>
              <a:t>The client said "AI for emails" — but that phrase means nothing until you dig deeper. One problem statement can hide three completely different engineering challenges. Your first job is to </a:t>
            </a:r>
            <a:r>
              <a:rPr>
                <a:latin typeface="Roboto Regular Bold"/>
                <a:ea typeface="Roboto Regular Bold"/>
                <a:cs typeface="Roboto Regular Bold"/>
                <a:sym typeface="Roboto Regular Bold"/>
              </a:rPr>
              <a:t>clarify before you build.</a:t>
            </a:r>
          </a:p>
        </p:txBody>
      </p:sp>
      <p:sp>
        <p:nvSpPr>
          <p:cNvPr id="318" name="Shape 3"/>
          <p:cNvSpPr/>
          <p:nvPr/>
        </p:nvSpPr>
        <p:spPr>
          <a:xfrm>
            <a:off x="793790" y="3919418"/>
            <a:ext cx="4215289" cy="2141816"/>
          </a:xfrm>
          <a:prstGeom prst="roundRect">
            <a:avLst>
              <a:gd name="adj" fmla="val 5123"/>
            </a:avLst>
          </a:prstGeom>
          <a:solidFill>
            <a:srgbClr val="FFFFFF">
              <a:alpha val="95000"/>
            </a:srgbClr>
          </a:solidFill>
          <a:ln w="22860">
            <a:solidFill>
              <a:srgbClr val="C7C7D0"/>
            </a:solidFill>
          </a:ln>
        </p:spPr>
        <p:txBody>
          <a:bodyPr lIns="45719" rIns="45719"/>
          <a:lstStyle/>
          <a:p>
            <a:pPr/>
          </a:p>
        </p:txBody>
      </p:sp>
      <p:sp>
        <p:nvSpPr>
          <p:cNvPr id="319" name="Shape 4"/>
          <p:cNvSpPr/>
          <p:nvPr/>
        </p:nvSpPr>
        <p:spPr>
          <a:xfrm>
            <a:off x="770929" y="3919418"/>
            <a:ext cx="91441" cy="2141816"/>
          </a:xfrm>
          <a:prstGeom prst="roundRect">
            <a:avLst>
              <a:gd name="adj" fmla="val 50000"/>
            </a:avLst>
          </a:prstGeom>
          <a:solidFill>
            <a:srgbClr val="1B1B27"/>
          </a:solidFill>
          <a:ln w="12700">
            <a:miter lim="400000"/>
          </a:ln>
        </p:spPr>
        <p:txBody>
          <a:bodyPr lIns="45719" rIns="45719"/>
          <a:lstStyle/>
          <a:p>
            <a:pPr/>
          </a:p>
        </p:txBody>
      </p:sp>
      <p:sp>
        <p:nvSpPr>
          <p:cNvPr id="320" name="Text 5"/>
          <p:cNvSpPr txBox="1"/>
          <p:nvPr/>
        </p:nvSpPr>
        <p:spPr>
          <a:xfrm>
            <a:off x="1083588" y="4140637"/>
            <a:ext cx="2370315"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Is it Classification?</a:t>
            </a:r>
          </a:p>
        </p:txBody>
      </p:sp>
      <p:sp>
        <p:nvSpPr>
          <p:cNvPr id="321" name="Text 6"/>
          <p:cNvSpPr txBox="1"/>
          <p:nvPr/>
        </p:nvSpPr>
        <p:spPr>
          <a:xfrm>
            <a:off x="1083587" y="4569857"/>
            <a:ext cx="3704275" cy="9355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Route emails to the right team or department based on content type — billing, support, complaints, general inquiries.</a:t>
            </a:r>
          </a:p>
        </p:txBody>
      </p:sp>
      <p:sp>
        <p:nvSpPr>
          <p:cNvPr id="322" name="Shape 7"/>
          <p:cNvSpPr/>
          <p:nvPr/>
        </p:nvSpPr>
        <p:spPr>
          <a:xfrm>
            <a:off x="5207437" y="3919418"/>
            <a:ext cx="4215408" cy="2141816"/>
          </a:xfrm>
          <a:prstGeom prst="roundRect">
            <a:avLst>
              <a:gd name="adj" fmla="val 5123"/>
            </a:avLst>
          </a:prstGeom>
          <a:solidFill>
            <a:srgbClr val="FFFFFF">
              <a:alpha val="95000"/>
            </a:srgbClr>
          </a:solidFill>
          <a:ln w="22860">
            <a:solidFill>
              <a:srgbClr val="C7C7D0"/>
            </a:solidFill>
          </a:ln>
        </p:spPr>
        <p:txBody>
          <a:bodyPr lIns="45719" rIns="45719"/>
          <a:lstStyle/>
          <a:p>
            <a:pPr/>
          </a:p>
        </p:txBody>
      </p:sp>
      <p:sp>
        <p:nvSpPr>
          <p:cNvPr id="323" name="Shape 8"/>
          <p:cNvSpPr/>
          <p:nvPr/>
        </p:nvSpPr>
        <p:spPr>
          <a:xfrm>
            <a:off x="5184576" y="3919418"/>
            <a:ext cx="91441" cy="2141816"/>
          </a:xfrm>
          <a:prstGeom prst="roundRect">
            <a:avLst>
              <a:gd name="adj" fmla="val 50000"/>
            </a:avLst>
          </a:prstGeom>
          <a:solidFill>
            <a:srgbClr val="1B1B27"/>
          </a:solidFill>
          <a:ln w="12700">
            <a:miter lim="400000"/>
          </a:ln>
        </p:spPr>
        <p:txBody>
          <a:bodyPr lIns="45719" rIns="45719"/>
          <a:lstStyle/>
          <a:p>
            <a:pPr/>
          </a:p>
        </p:txBody>
      </p:sp>
      <p:sp>
        <p:nvSpPr>
          <p:cNvPr id="324" name="Text 9"/>
          <p:cNvSpPr txBox="1"/>
          <p:nvPr/>
        </p:nvSpPr>
        <p:spPr>
          <a:xfrm>
            <a:off x="5497234" y="4140637"/>
            <a:ext cx="1891560"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Is it Replying?</a:t>
            </a:r>
          </a:p>
        </p:txBody>
      </p:sp>
      <p:sp>
        <p:nvSpPr>
          <p:cNvPr id="325" name="Text 10"/>
          <p:cNvSpPr txBox="1"/>
          <p:nvPr/>
        </p:nvSpPr>
        <p:spPr>
          <a:xfrm>
            <a:off x="5497234" y="4569857"/>
            <a:ext cx="3704394" cy="9355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Generate draft responses automatically, letting agents review and send — reducing manual effort per ticket.</a:t>
            </a:r>
          </a:p>
        </p:txBody>
      </p:sp>
      <p:sp>
        <p:nvSpPr>
          <p:cNvPr id="326" name="Shape 11"/>
          <p:cNvSpPr/>
          <p:nvPr/>
        </p:nvSpPr>
        <p:spPr>
          <a:xfrm>
            <a:off x="9621202" y="3919418"/>
            <a:ext cx="4215290" cy="2141816"/>
          </a:xfrm>
          <a:prstGeom prst="roundRect">
            <a:avLst>
              <a:gd name="adj" fmla="val 5123"/>
            </a:avLst>
          </a:prstGeom>
          <a:solidFill>
            <a:srgbClr val="FFFFFF">
              <a:alpha val="95000"/>
            </a:srgbClr>
          </a:solidFill>
          <a:ln w="22860">
            <a:solidFill>
              <a:srgbClr val="C7C7D0"/>
            </a:solidFill>
          </a:ln>
        </p:spPr>
        <p:txBody>
          <a:bodyPr lIns="45719" rIns="45719"/>
          <a:lstStyle/>
          <a:p>
            <a:pPr/>
          </a:p>
        </p:txBody>
      </p:sp>
      <p:sp>
        <p:nvSpPr>
          <p:cNvPr id="327" name="Shape 12"/>
          <p:cNvSpPr/>
          <p:nvPr/>
        </p:nvSpPr>
        <p:spPr>
          <a:xfrm>
            <a:off x="9598342" y="3919418"/>
            <a:ext cx="91441" cy="2141816"/>
          </a:xfrm>
          <a:prstGeom prst="roundRect">
            <a:avLst>
              <a:gd name="adj" fmla="val 50000"/>
            </a:avLst>
          </a:prstGeom>
          <a:solidFill>
            <a:srgbClr val="1B1B27"/>
          </a:solidFill>
          <a:ln w="12700">
            <a:miter lim="400000"/>
          </a:ln>
        </p:spPr>
        <p:txBody>
          <a:bodyPr lIns="45719" rIns="45719"/>
          <a:lstStyle/>
          <a:p>
            <a:pPr/>
          </a:p>
        </p:txBody>
      </p:sp>
      <p:sp>
        <p:nvSpPr>
          <p:cNvPr id="328" name="Text 13"/>
          <p:cNvSpPr txBox="1"/>
          <p:nvPr/>
        </p:nvSpPr>
        <p:spPr>
          <a:xfrm>
            <a:off x="9911001" y="4140637"/>
            <a:ext cx="1820357"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Is it Filtering?</a:t>
            </a:r>
          </a:p>
        </p:txBody>
      </p:sp>
      <p:sp>
        <p:nvSpPr>
          <p:cNvPr id="329" name="Text 14"/>
          <p:cNvSpPr txBox="1"/>
          <p:nvPr/>
        </p:nvSpPr>
        <p:spPr>
          <a:xfrm>
            <a:off x="9911001" y="4569857"/>
            <a:ext cx="3704274" cy="9355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Remove spam, duplicates, or low-priority noise so the team focuses only on what truly needs attention.</a:t>
            </a:r>
          </a:p>
        </p:txBody>
      </p:sp>
      <p:sp>
        <p:nvSpPr>
          <p:cNvPr id="330" name="Text 15"/>
          <p:cNvSpPr txBox="1"/>
          <p:nvPr/>
        </p:nvSpPr>
        <p:spPr>
          <a:xfrm>
            <a:off x="793790" y="6284476"/>
            <a:ext cx="5854725"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C3939"/>
                </a:solidFill>
                <a:latin typeface="Roboto Regular Regular"/>
                <a:ea typeface="Roboto Regular Regular"/>
                <a:cs typeface="Roboto Regular Regular"/>
                <a:sym typeface="Roboto Regular Regular"/>
              </a:defRPr>
            </a:lvl1pPr>
          </a:lstStyle>
          <a:p>
            <a:pPr/>
            <a:r>
              <a:t>Each path leads to a fundamentally different architecture, dataset, and success metric.</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Text 0"/>
          <p:cNvSpPr txBox="1"/>
          <p:nvPr/>
        </p:nvSpPr>
        <p:spPr>
          <a:xfrm>
            <a:off x="793790" y="1101209"/>
            <a:ext cx="972791"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5 OF 28</a:t>
            </a:r>
          </a:p>
        </p:txBody>
      </p:sp>
      <p:sp>
        <p:nvSpPr>
          <p:cNvPr id="335" name="Shape 1"/>
          <p:cNvSpPr/>
          <p:nvPr/>
        </p:nvSpPr>
        <p:spPr>
          <a:xfrm>
            <a:off x="793790" y="1638062"/>
            <a:ext cx="1647469" cy="373143"/>
          </a:xfrm>
          <a:prstGeom prst="roundRect">
            <a:avLst>
              <a:gd name="adj" fmla="val 17872"/>
            </a:avLst>
          </a:prstGeom>
          <a:solidFill>
            <a:srgbClr val="E1E1EA"/>
          </a:solidFill>
          <a:ln w="12700">
            <a:miter lim="400000"/>
          </a:ln>
        </p:spPr>
        <p:txBody>
          <a:bodyPr lIns="45719" rIns="45719"/>
          <a:lstStyle/>
          <a:p>
            <a:pPr/>
          </a:p>
        </p:txBody>
      </p:sp>
      <p:sp>
        <p:nvSpPr>
          <p:cNvPr id="336" name="Text 2"/>
          <p:cNvSpPr txBox="1"/>
          <p:nvPr/>
        </p:nvSpPr>
        <p:spPr>
          <a:xfrm>
            <a:off x="912852" y="1697593"/>
            <a:ext cx="1365920"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C3939"/>
                </a:solidFill>
                <a:latin typeface="Roboto Regular Regular"/>
                <a:ea typeface="Roboto Regular Regular"/>
                <a:cs typeface="Roboto Regular Regular"/>
                <a:sym typeface="Roboto Regular Regular"/>
              </a:defRPr>
            </a:lvl1pPr>
          </a:lstStyle>
          <a:p>
            <a:pPr/>
            <a:r>
              <a:t>COMMON MISTAKE</a:t>
            </a:r>
          </a:p>
        </p:txBody>
      </p:sp>
      <p:sp>
        <p:nvSpPr>
          <p:cNvPr id="337" name="Text 3"/>
          <p:cNvSpPr txBox="1"/>
          <p:nvPr/>
        </p:nvSpPr>
        <p:spPr>
          <a:xfrm>
            <a:off x="793789" y="2090498"/>
            <a:ext cx="4604064"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The Jump-First Trap</a:t>
            </a:r>
          </a:p>
        </p:txBody>
      </p:sp>
      <p:sp>
        <p:nvSpPr>
          <p:cNvPr id="338" name="Text 4"/>
          <p:cNvSpPr txBox="1"/>
          <p:nvPr/>
        </p:nvSpPr>
        <p:spPr>
          <a:xfrm>
            <a:off x="793790" y="3008233"/>
            <a:ext cx="13042822"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When engineers hear an interesting problem, the instinct is to start building immediately. This is one of the most common — and costly — mistakes in applied AI work.</a:t>
            </a:r>
          </a:p>
        </p:txBody>
      </p:sp>
      <p:pic>
        <p:nvPicPr>
          <p:cNvPr id="339" name="Image 0" descr="Image 0"/>
          <p:cNvPicPr>
            <a:picLocks noChangeAspect="1"/>
          </p:cNvPicPr>
          <p:nvPr/>
        </p:nvPicPr>
        <p:blipFill>
          <a:blip r:embed="rId3">
            <a:extLst/>
          </a:blip>
          <a:stretch>
            <a:fillRect/>
          </a:stretch>
        </p:blipFill>
        <p:spPr>
          <a:xfrm>
            <a:off x="793790" y="3866555"/>
            <a:ext cx="4347568" cy="793791"/>
          </a:xfrm>
          <a:prstGeom prst="rect">
            <a:avLst/>
          </a:prstGeom>
          <a:ln w="12700">
            <a:miter lim="400000"/>
          </a:ln>
        </p:spPr>
      </p:pic>
      <p:sp>
        <p:nvSpPr>
          <p:cNvPr id="340" name="Text 5"/>
          <p:cNvSpPr txBox="1"/>
          <p:nvPr/>
        </p:nvSpPr>
        <p:spPr>
          <a:xfrm>
            <a:off x="992147" y="4858703"/>
            <a:ext cx="1916944"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Jump to Tools</a:t>
            </a:r>
          </a:p>
        </p:txBody>
      </p:sp>
      <p:sp>
        <p:nvSpPr>
          <p:cNvPr id="341" name="Text 6"/>
          <p:cNvSpPr txBox="1"/>
          <p:nvPr/>
        </p:nvSpPr>
        <p:spPr>
          <a:xfrm>
            <a:off x="992147" y="5287922"/>
            <a:ext cx="3950853"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Picking a framework or LLM before understanding the problem.</a:t>
            </a:r>
          </a:p>
        </p:txBody>
      </p:sp>
      <p:pic>
        <p:nvPicPr>
          <p:cNvPr id="342" name="Image 1" descr="Image 1"/>
          <p:cNvPicPr>
            <a:picLocks noChangeAspect="1"/>
          </p:cNvPicPr>
          <p:nvPr/>
        </p:nvPicPr>
        <p:blipFill>
          <a:blip r:embed="rId4">
            <a:extLst/>
          </a:blip>
          <a:stretch>
            <a:fillRect/>
          </a:stretch>
        </p:blipFill>
        <p:spPr>
          <a:xfrm>
            <a:off x="5141357" y="3866555"/>
            <a:ext cx="4347568" cy="793791"/>
          </a:xfrm>
          <a:prstGeom prst="rect">
            <a:avLst/>
          </a:prstGeom>
          <a:ln w="12700">
            <a:miter lim="400000"/>
          </a:ln>
        </p:spPr>
      </p:pic>
      <p:sp>
        <p:nvSpPr>
          <p:cNvPr id="343" name="Text 7"/>
          <p:cNvSpPr txBox="1"/>
          <p:nvPr/>
        </p:nvSpPr>
        <p:spPr>
          <a:xfrm>
            <a:off x="5339715" y="4858703"/>
            <a:ext cx="1751877"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Start Coding</a:t>
            </a:r>
          </a:p>
        </p:txBody>
      </p:sp>
      <p:sp>
        <p:nvSpPr>
          <p:cNvPr id="344" name="Text 8"/>
          <p:cNvSpPr txBox="1"/>
          <p:nvPr/>
        </p:nvSpPr>
        <p:spPr>
          <a:xfrm>
            <a:off x="5339715" y="5287922"/>
            <a:ext cx="3950852"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Writing implementation before defining requirements or success criteria.</a:t>
            </a:r>
          </a:p>
        </p:txBody>
      </p:sp>
      <p:pic>
        <p:nvPicPr>
          <p:cNvPr id="345" name="Image 2" descr="Image 2"/>
          <p:cNvPicPr>
            <a:picLocks noChangeAspect="1"/>
          </p:cNvPicPr>
          <p:nvPr/>
        </p:nvPicPr>
        <p:blipFill>
          <a:blip r:embed="rId5">
            <a:extLst/>
          </a:blip>
          <a:stretch>
            <a:fillRect/>
          </a:stretch>
        </p:blipFill>
        <p:spPr>
          <a:xfrm>
            <a:off x="9488923" y="3866555"/>
            <a:ext cx="4347569" cy="793791"/>
          </a:xfrm>
          <a:prstGeom prst="rect">
            <a:avLst/>
          </a:prstGeom>
          <a:ln w="12700">
            <a:miter lim="400000"/>
          </a:ln>
        </p:spPr>
      </p:pic>
      <p:sp>
        <p:nvSpPr>
          <p:cNvPr id="346" name="Text 9"/>
          <p:cNvSpPr txBox="1"/>
          <p:nvPr/>
        </p:nvSpPr>
        <p:spPr>
          <a:xfrm>
            <a:off x="9687282" y="4858703"/>
            <a:ext cx="1904295"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Use AI Blindly</a:t>
            </a:r>
          </a:p>
        </p:txBody>
      </p:sp>
      <p:sp>
        <p:nvSpPr>
          <p:cNvPr id="347" name="Text 10"/>
          <p:cNvSpPr txBox="1"/>
          <p:nvPr/>
        </p:nvSpPr>
        <p:spPr>
          <a:xfrm>
            <a:off x="9687282" y="5287922"/>
            <a:ext cx="3950852"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Assuming AI is the right solution without validating that assumption first.</a:t>
            </a:r>
          </a:p>
        </p:txBody>
      </p:sp>
      <p:sp>
        <p:nvSpPr>
          <p:cNvPr id="348" name="Shape 11"/>
          <p:cNvSpPr/>
          <p:nvPr/>
        </p:nvSpPr>
        <p:spPr>
          <a:xfrm>
            <a:off x="793790" y="6344603"/>
            <a:ext cx="13042821" cy="843201"/>
          </a:xfrm>
          <a:prstGeom prst="roundRect">
            <a:avLst>
              <a:gd name="adj" fmla="val 9886"/>
            </a:avLst>
          </a:prstGeom>
          <a:solidFill>
            <a:srgbClr val="FCF2B5"/>
          </a:solidFill>
          <a:ln w="12700">
            <a:miter lim="400000"/>
          </a:ln>
        </p:spPr>
        <p:txBody>
          <a:bodyPr lIns="45719" rIns="45719"/>
          <a:lstStyle/>
          <a:p>
            <a:pPr/>
          </a:p>
        </p:txBody>
      </p:sp>
      <p:pic>
        <p:nvPicPr>
          <p:cNvPr id="349" name="Image 3" descr="Image 3"/>
          <p:cNvPicPr>
            <a:picLocks noChangeAspect="1"/>
          </p:cNvPicPr>
          <p:nvPr/>
        </p:nvPicPr>
        <p:blipFill>
          <a:blip r:embed="rId6">
            <a:extLst/>
          </a:blip>
          <a:stretch>
            <a:fillRect/>
          </a:stretch>
        </p:blipFill>
        <p:spPr>
          <a:xfrm>
            <a:off x="992147" y="6639876"/>
            <a:ext cx="248008" cy="198359"/>
          </a:xfrm>
          <a:prstGeom prst="rect">
            <a:avLst/>
          </a:prstGeom>
          <a:ln w="12700">
            <a:miter lim="400000"/>
          </a:ln>
        </p:spPr>
      </p:pic>
      <p:sp>
        <p:nvSpPr>
          <p:cNvPr id="350" name="Text 12"/>
          <p:cNvSpPr txBox="1"/>
          <p:nvPr/>
        </p:nvSpPr>
        <p:spPr>
          <a:xfrm>
            <a:off x="1438512" y="6592490"/>
            <a:ext cx="7134964"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latin typeface="Roboto Regular Regular"/>
                <a:ea typeface="Roboto Regular Regular"/>
                <a:cs typeface="Roboto Regular Regular"/>
                <a:sym typeface="Roboto Regular Regular"/>
              </a:defRPr>
            </a:lvl1pPr>
          </a:lstStyle>
          <a:p>
            <a:pPr/>
            <a:r>
              <a:t>Momentum without direction wastes time, money, and trust. Slow down to speed up.</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4" name="Text 0"/>
          <p:cNvSpPr txBox="1"/>
          <p:nvPr/>
        </p:nvSpPr>
        <p:spPr>
          <a:xfrm>
            <a:off x="793790" y="622220"/>
            <a:ext cx="972791" cy="2404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6 OF 28</a:t>
            </a:r>
          </a:p>
        </p:txBody>
      </p:sp>
      <p:sp>
        <p:nvSpPr>
          <p:cNvPr id="355" name="Text 1"/>
          <p:cNvSpPr txBox="1"/>
          <p:nvPr/>
        </p:nvSpPr>
        <p:spPr>
          <a:xfrm>
            <a:off x="793789" y="1015126"/>
            <a:ext cx="5915236"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Why Jumping Ahead Fails</a:t>
            </a:r>
          </a:p>
        </p:txBody>
      </p:sp>
      <p:sp>
        <p:nvSpPr>
          <p:cNvPr id="356" name="Text 2"/>
          <p:cNvSpPr txBox="1"/>
          <p:nvPr/>
        </p:nvSpPr>
        <p:spPr>
          <a:xfrm>
            <a:off x="793790" y="1932861"/>
            <a:ext cx="13042822"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Skipping the problem-definition phase does not just slow you down — it sends you confidently in the wrong direction. Teams that skip this step typically encounter three compounding failures.</a:t>
            </a:r>
          </a:p>
        </p:txBody>
      </p:sp>
      <p:sp>
        <p:nvSpPr>
          <p:cNvPr id="357" name="Shape 3"/>
          <p:cNvSpPr/>
          <p:nvPr/>
        </p:nvSpPr>
        <p:spPr>
          <a:xfrm>
            <a:off x="650915" y="2791181"/>
            <a:ext cx="6565107" cy="4875610"/>
          </a:xfrm>
          <a:prstGeom prst="roundRect">
            <a:avLst>
              <a:gd name="adj" fmla="val 2931"/>
            </a:avLst>
          </a:prstGeom>
          <a:solidFill>
            <a:srgbClr val="1B1B27">
              <a:alpha val="95000"/>
            </a:srgbClr>
          </a:solidFill>
          <a:ln w="12700">
            <a:miter lim="400000"/>
          </a:ln>
        </p:spPr>
        <p:txBody>
          <a:bodyPr lIns="45719" rIns="45719"/>
          <a:lstStyle/>
          <a:p>
            <a:pPr/>
          </a:p>
        </p:txBody>
      </p:sp>
      <p:sp>
        <p:nvSpPr>
          <p:cNvPr id="358" name="Text 4"/>
          <p:cNvSpPr txBox="1"/>
          <p:nvPr/>
        </p:nvSpPr>
        <p:spPr>
          <a:xfrm>
            <a:off x="849272" y="2989540"/>
            <a:ext cx="2774344"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FFFFFF"/>
                </a:solidFill>
                <a:latin typeface="Raleway Thin Regular"/>
                <a:ea typeface="Raleway Thin Regular"/>
                <a:cs typeface="Raleway Thin Regular"/>
                <a:sym typeface="Raleway Thin Regular"/>
              </a:defRPr>
            </a:lvl1pPr>
          </a:lstStyle>
          <a:p>
            <a:pPr/>
            <a:r>
              <a:t>The Three Failure Modes</a:t>
            </a:r>
          </a:p>
        </p:txBody>
      </p:sp>
      <p:sp>
        <p:nvSpPr>
          <p:cNvPr id="359" name="Text 5"/>
          <p:cNvSpPr txBox="1"/>
          <p:nvPr/>
        </p:nvSpPr>
        <p:spPr>
          <a:xfrm>
            <a:off x="849272" y="3498055"/>
            <a:ext cx="6168392"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FFFFFF"/>
                </a:solidFill>
                <a:latin typeface="Roboto Regular Regular"/>
                <a:ea typeface="Roboto Regular Regular"/>
                <a:cs typeface="Roboto Regular Regular"/>
                <a:sym typeface="Roboto Regular Regular"/>
              </a:defRPr>
            </a:lvl1pPr>
          </a:lstStyle>
          <a:p>
            <a:pPr/>
            <a:r>
              <a:t>These are not edge cases. They are the default outcome when engineers begin with a solution rather than a problem.</a:t>
            </a:r>
          </a:p>
        </p:txBody>
      </p:sp>
      <p:sp>
        <p:nvSpPr>
          <p:cNvPr id="360" name="Shape 6"/>
          <p:cNvSpPr/>
          <p:nvPr/>
        </p:nvSpPr>
        <p:spPr>
          <a:xfrm>
            <a:off x="7564873" y="3014423"/>
            <a:ext cx="446485" cy="446485"/>
          </a:xfrm>
          <a:prstGeom prst="roundRect">
            <a:avLst>
              <a:gd name="adj" fmla="val 18670"/>
            </a:avLst>
          </a:prstGeom>
          <a:solidFill>
            <a:srgbClr val="E1E1EA"/>
          </a:solidFill>
          <a:ln w="7620">
            <a:solidFill>
              <a:srgbClr val="C7C7D0"/>
            </a:solidFill>
          </a:ln>
        </p:spPr>
        <p:txBody>
          <a:bodyPr lIns="45719" rIns="45719"/>
          <a:lstStyle/>
          <a:p>
            <a:pPr/>
          </a:p>
        </p:txBody>
      </p:sp>
      <p:sp>
        <p:nvSpPr>
          <p:cNvPr id="361" name="Text 7"/>
          <p:cNvSpPr txBox="1"/>
          <p:nvPr/>
        </p:nvSpPr>
        <p:spPr>
          <a:xfrm>
            <a:off x="7719267" y="3051630"/>
            <a:ext cx="137698" cy="30203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300"/>
              </a:lnSpc>
              <a:defRPr sz="2300">
                <a:solidFill>
                  <a:srgbClr val="3C3939"/>
                </a:solidFill>
                <a:latin typeface="Raleway Thin Regular"/>
                <a:ea typeface="Raleway Thin Regular"/>
                <a:cs typeface="Raleway Thin Regular"/>
                <a:sym typeface="Raleway Thin Regular"/>
              </a:defRPr>
            </a:lvl1pPr>
          </a:lstStyle>
          <a:p>
            <a:pPr/>
            <a:r>
              <a:t>1</a:t>
            </a:r>
          </a:p>
        </p:txBody>
      </p:sp>
      <p:sp>
        <p:nvSpPr>
          <p:cNvPr id="362" name="Text 8"/>
          <p:cNvSpPr txBox="1"/>
          <p:nvPr/>
        </p:nvSpPr>
        <p:spPr>
          <a:xfrm>
            <a:off x="8209716" y="3082646"/>
            <a:ext cx="1113941"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No Clarity</a:t>
            </a:r>
          </a:p>
        </p:txBody>
      </p:sp>
      <p:sp>
        <p:nvSpPr>
          <p:cNvPr id="363" name="Text 9"/>
          <p:cNvSpPr txBox="1"/>
          <p:nvPr/>
        </p:nvSpPr>
        <p:spPr>
          <a:xfrm>
            <a:off x="8209716" y="3591162"/>
            <a:ext cx="5634515"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The team builds toward a vague target. Different stakeholders have different expectations, and none are met.</a:t>
            </a:r>
          </a:p>
        </p:txBody>
      </p:sp>
      <p:sp>
        <p:nvSpPr>
          <p:cNvPr id="364" name="Shape 10"/>
          <p:cNvSpPr/>
          <p:nvPr/>
        </p:nvSpPr>
        <p:spPr>
          <a:xfrm>
            <a:off x="7564873" y="4623077"/>
            <a:ext cx="446485" cy="446485"/>
          </a:xfrm>
          <a:prstGeom prst="roundRect">
            <a:avLst>
              <a:gd name="adj" fmla="val 18670"/>
            </a:avLst>
          </a:prstGeom>
          <a:solidFill>
            <a:srgbClr val="E1E1EA"/>
          </a:solidFill>
          <a:ln w="7620">
            <a:solidFill>
              <a:srgbClr val="C7C7D0"/>
            </a:solidFill>
          </a:ln>
        </p:spPr>
        <p:txBody>
          <a:bodyPr lIns="45719" rIns="45719"/>
          <a:lstStyle/>
          <a:p>
            <a:pPr/>
          </a:p>
        </p:txBody>
      </p:sp>
      <p:sp>
        <p:nvSpPr>
          <p:cNvPr id="365" name="Text 11"/>
          <p:cNvSpPr txBox="1"/>
          <p:nvPr/>
        </p:nvSpPr>
        <p:spPr>
          <a:xfrm>
            <a:off x="7705735" y="4660284"/>
            <a:ext cx="164762" cy="30203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300"/>
              </a:lnSpc>
              <a:defRPr sz="2300">
                <a:solidFill>
                  <a:srgbClr val="3C3939"/>
                </a:solidFill>
                <a:latin typeface="Raleway Thin Regular"/>
                <a:ea typeface="Raleway Thin Regular"/>
                <a:cs typeface="Raleway Thin Regular"/>
                <a:sym typeface="Raleway Thin Regular"/>
              </a:defRPr>
            </a:lvl1pPr>
          </a:lstStyle>
          <a:p>
            <a:pPr/>
            <a:r>
              <a:t>2</a:t>
            </a:r>
          </a:p>
        </p:txBody>
      </p:sp>
      <p:sp>
        <p:nvSpPr>
          <p:cNvPr id="366" name="Text 12"/>
          <p:cNvSpPr txBox="1"/>
          <p:nvPr/>
        </p:nvSpPr>
        <p:spPr>
          <a:xfrm>
            <a:off x="8209716" y="4691300"/>
            <a:ext cx="1747390"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Wrong Solution</a:t>
            </a:r>
          </a:p>
        </p:txBody>
      </p:sp>
      <p:sp>
        <p:nvSpPr>
          <p:cNvPr id="367" name="Text 13"/>
          <p:cNvSpPr txBox="1"/>
          <p:nvPr/>
        </p:nvSpPr>
        <p:spPr>
          <a:xfrm>
            <a:off x="8209716" y="5199817"/>
            <a:ext cx="5634515"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A technically correct system that solves the wrong problem. High effort, zero business value.</a:t>
            </a:r>
          </a:p>
        </p:txBody>
      </p:sp>
      <p:sp>
        <p:nvSpPr>
          <p:cNvPr id="368" name="Shape 14"/>
          <p:cNvSpPr/>
          <p:nvPr/>
        </p:nvSpPr>
        <p:spPr>
          <a:xfrm>
            <a:off x="7564873" y="6231730"/>
            <a:ext cx="446485" cy="446485"/>
          </a:xfrm>
          <a:prstGeom prst="roundRect">
            <a:avLst>
              <a:gd name="adj" fmla="val 18670"/>
            </a:avLst>
          </a:prstGeom>
          <a:solidFill>
            <a:srgbClr val="E1E1EA"/>
          </a:solidFill>
          <a:ln w="7620">
            <a:solidFill>
              <a:srgbClr val="C7C7D0"/>
            </a:solidFill>
          </a:ln>
        </p:spPr>
        <p:txBody>
          <a:bodyPr lIns="45719" rIns="45719"/>
          <a:lstStyle/>
          <a:p>
            <a:pPr/>
          </a:p>
        </p:txBody>
      </p:sp>
      <p:sp>
        <p:nvSpPr>
          <p:cNvPr id="369" name="Text 15"/>
          <p:cNvSpPr txBox="1"/>
          <p:nvPr/>
        </p:nvSpPr>
        <p:spPr>
          <a:xfrm>
            <a:off x="7703715" y="6268937"/>
            <a:ext cx="168802" cy="30203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300"/>
              </a:lnSpc>
              <a:defRPr sz="2300">
                <a:solidFill>
                  <a:srgbClr val="3C3939"/>
                </a:solidFill>
                <a:latin typeface="Raleway Thin Regular"/>
                <a:ea typeface="Raleway Thin Regular"/>
                <a:cs typeface="Raleway Thin Regular"/>
                <a:sym typeface="Raleway Thin Regular"/>
              </a:defRPr>
            </a:lvl1pPr>
          </a:lstStyle>
          <a:p>
            <a:pPr/>
            <a:r>
              <a:t>3</a:t>
            </a:r>
          </a:p>
        </p:txBody>
      </p:sp>
      <p:sp>
        <p:nvSpPr>
          <p:cNvPr id="370" name="Text 16"/>
          <p:cNvSpPr txBox="1"/>
          <p:nvPr/>
        </p:nvSpPr>
        <p:spPr>
          <a:xfrm>
            <a:off x="8209716" y="6299953"/>
            <a:ext cx="1101283"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High Cost</a:t>
            </a:r>
          </a:p>
        </p:txBody>
      </p:sp>
      <p:sp>
        <p:nvSpPr>
          <p:cNvPr id="371" name="Text 17"/>
          <p:cNvSpPr txBox="1"/>
          <p:nvPr/>
        </p:nvSpPr>
        <p:spPr>
          <a:xfrm>
            <a:off x="8209716" y="6808469"/>
            <a:ext cx="5634515"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Rework, wasted compute, lost engineering hours — and damaged stakeholder confidence.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5" name="Text 0"/>
          <p:cNvSpPr txBox="1"/>
          <p:nvPr/>
        </p:nvSpPr>
        <p:spPr>
          <a:xfrm>
            <a:off x="793790" y="707706"/>
            <a:ext cx="812776" cy="17324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400"/>
              </a:lnSpc>
              <a:defRPr sz="1000">
                <a:solidFill>
                  <a:srgbClr val="1B1B27"/>
                </a:solidFill>
                <a:latin typeface="Roboto Regular Regular"/>
                <a:ea typeface="Roboto Regular Regular"/>
                <a:cs typeface="Roboto Regular Regular"/>
                <a:sym typeface="Roboto Regular Regular"/>
              </a:defRPr>
            </a:lvl1pPr>
          </a:lstStyle>
          <a:p>
            <a:pPr/>
            <a:r>
              <a:t>SLIDE 7 OF 28</a:t>
            </a:r>
          </a:p>
        </p:txBody>
      </p:sp>
      <p:sp>
        <p:nvSpPr>
          <p:cNvPr id="376" name="Text 1"/>
          <p:cNvSpPr txBox="1"/>
          <p:nvPr/>
        </p:nvSpPr>
        <p:spPr>
          <a:xfrm>
            <a:off x="793789" y="988933"/>
            <a:ext cx="7084124" cy="48836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900"/>
              </a:lnSpc>
              <a:defRPr sz="3100">
                <a:solidFill>
                  <a:srgbClr val="1B1B27"/>
                </a:solidFill>
                <a:latin typeface="Raleway Thin Regular"/>
                <a:ea typeface="Raleway Thin Regular"/>
                <a:cs typeface="Raleway Thin Regular"/>
                <a:sym typeface="Raleway Thin Regular"/>
              </a:defRPr>
            </a:lvl1pPr>
          </a:lstStyle>
          <a:p>
            <a:pPr/>
            <a:r>
              <a:t>What Is a Forward Deployed Engineer?</a:t>
            </a:r>
          </a:p>
        </p:txBody>
      </p:sp>
      <p:sp>
        <p:nvSpPr>
          <p:cNvPr id="377" name="Text 2"/>
          <p:cNvSpPr txBox="1"/>
          <p:nvPr/>
        </p:nvSpPr>
        <p:spPr>
          <a:xfrm>
            <a:off x="793790" y="1675566"/>
            <a:ext cx="13042822" cy="4486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800"/>
              </a:lnSpc>
              <a:defRPr sz="1200">
                <a:solidFill>
                  <a:srgbClr val="3C3939"/>
                </a:solidFill>
                <a:latin typeface="Roboto Regular Regular"/>
                <a:ea typeface="Roboto Regular Regular"/>
                <a:cs typeface="Roboto Regular Regular"/>
                <a:sym typeface="Roboto Regular Regular"/>
              </a:defRPr>
            </a:lvl1pPr>
          </a:lstStyle>
          <a:p>
            <a:pPr/>
            <a:r>
              <a:t>An FDE is not just a coder. They sit at the intersection of engineering, product thinking, and client collaboration. Their defining skill is the ability to move from a messy real-world problem to a working system — quickly and reliably.</a:t>
            </a:r>
          </a:p>
        </p:txBody>
      </p:sp>
      <p:pic>
        <p:nvPicPr>
          <p:cNvPr id="378" name="Image 0" descr="Image 0"/>
          <p:cNvPicPr>
            <a:picLocks noChangeAspect="1"/>
          </p:cNvPicPr>
          <p:nvPr/>
        </p:nvPicPr>
        <p:blipFill>
          <a:blip r:embed="rId3">
            <a:extLst/>
          </a:blip>
          <a:stretch>
            <a:fillRect/>
          </a:stretch>
        </p:blipFill>
        <p:spPr>
          <a:xfrm>
            <a:off x="2280047" y="2275641"/>
            <a:ext cx="10070187" cy="4922284"/>
          </a:xfrm>
          <a:prstGeom prst="rect">
            <a:avLst/>
          </a:prstGeom>
          <a:ln w="12700">
            <a:miter lim="400000"/>
          </a:ln>
        </p:spPr>
      </p:pic>
      <p:pic>
        <p:nvPicPr>
          <p:cNvPr id="379" name="Image 1" descr="Image 1"/>
          <p:cNvPicPr>
            <a:picLocks noChangeAspect="1"/>
          </p:cNvPicPr>
          <p:nvPr/>
        </p:nvPicPr>
        <p:blipFill>
          <a:blip r:embed="rId4">
            <a:extLst/>
          </a:blip>
          <a:stretch>
            <a:fillRect/>
          </a:stretch>
        </p:blipFill>
        <p:spPr>
          <a:xfrm>
            <a:off x="6668258" y="3432538"/>
            <a:ext cx="365188" cy="365189"/>
          </a:xfrm>
          <a:prstGeom prst="rect">
            <a:avLst/>
          </a:prstGeom>
          <a:ln w="12700">
            <a:miter lim="400000"/>
          </a:ln>
        </p:spPr>
      </p:pic>
      <p:sp>
        <p:nvSpPr>
          <p:cNvPr id="380" name="Text 3"/>
          <p:cNvSpPr txBox="1"/>
          <p:nvPr/>
        </p:nvSpPr>
        <p:spPr>
          <a:xfrm>
            <a:off x="3585922" y="3969234"/>
            <a:ext cx="1260724" cy="28717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300"/>
              </a:lnSpc>
              <a:defRPr>
                <a:solidFill>
                  <a:srgbClr val="3C3939"/>
                </a:solidFill>
                <a:latin typeface="Raleway Thin Regular"/>
                <a:ea typeface="Raleway Thin Regular"/>
                <a:cs typeface="Raleway Thin Regular"/>
                <a:sym typeface="Raleway Thin Regular"/>
              </a:defRPr>
            </a:lvl1pPr>
          </a:lstStyle>
          <a:p>
            <a:pPr/>
            <a:r>
              <a:t>Understand</a:t>
            </a:r>
          </a:p>
        </p:txBody>
      </p:sp>
      <p:pic>
        <p:nvPicPr>
          <p:cNvPr id="381" name="Image 2" descr="Image 2"/>
          <p:cNvPicPr>
            <a:picLocks noChangeAspect="1"/>
          </p:cNvPicPr>
          <p:nvPr/>
        </p:nvPicPr>
        <p:blipFill>
          <a:blip r:embed="rId4">
            <a:extLst/>
          </a:blip>
          <a:stretch>
            <a:fillRect/>
          </a:stretch>
        </p:blipFill>
        <p:spPr>
          <a:xfrm>
            <a:off x="8275083" y="4162912"/>
            <a:ext cx="365189" cy="365188"/>
          </a:xfrm>
          <a:prstGeom prst="rect">
            <a:avLst/>
          </a:prstGeom>
          <a:ln w="12700">
            <a:miter lim="400000"/>
          </a:ln>
        </p:spPr>
      </p:pic>
      <p:sp>
        <p:nvSpPr>
          <p:cNvPr id="382" name="Text 4"/>
          <p:cNvSpPr txBox="1"/>
          <p:nvPr/>
        </p:nvSpPr>
        <p:spPr>
          <a:xfrm>
            <a:off x="8883510" y="2842368"/>
            <a:ext cx="744726" cy="28717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300"/>
              </a:lnSpc>
              <a:defRPr>
                <a:solidFill>
                  <a:srgbClr val="3C3939"/>
                </a:solidFill>
                <a:latin typeface="Raleway Thin Regular"/>
                <a:ea typeface="Raleway Thin Regular"/>
                <a:cs typeface="Raleway Thin Regular"/>
                <a:sym typeface="Raleway Thin Regular"/>
              </a:defRPr>
            </a:lvl1pPr>
          </a:lstStyle>
          <a:p>
            <a:pPr/>
            <a:r>
              <a:t>Design</a:t>
            </a:r>
          </a:p>
        </p:txBody>
      </p:sp>
      <p:pic>
        <p:nvPicPr>
          <p:cNvPr id="383" name="Image 3" descr="Image 3"/>
          <p:cNvPicPr>
            <a:picLocks noChangeAspect="1"/>
          </p:cNvPicPr>
          <p:nvPr/>
        </p:nvPicPr>
        <p:blipFill>
          <a:blip r:embed="rId4">
            <a:extLst/>
          </a:blip>
          <a:stretch>
            <a:fillRect/>
          </a:stretch>
        </p:blipFill>
        <p:spPr>
          <a:xfrm>
            <a:off x="7586281" y="5696701"/>
            <a:ext cx="365188" cy="365189"/>
          </a:xfrm>
          <a:prstGeom prst="rect">
            <a:avLst/>
          </a:prstGeom>
          <a:ln w="12700">
            <a:miter lim="400000"/>
          </a:ln>
        </p:spPr>
      </p:pic>
      <p:sp>
        <p:nvSpPr>
          <p:cNvPr id="384" name="Text 5"/>
          <p:cNvSpPr txBox="1"/>
          <p:nvPr/>
        </p:nvSpPr>
        <p:spPr>
          <a:xfrm>
            <a:off x="10136509" y="5158701"/>
            <a:ext cx="554731" cy="28717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300"/>
              </a:lnSpc>
              <a:defRPr>
                <a:solidFill>
                  <a:srgbClr val="3C3939"/>
                </a:solidFill>
                <a:latin typeface="Raleway Thin Regular"/>
                <a:ea typeface="Raleway Thin Regular"/>
                <a:cs typeface="Raleway Thin Regular"/>
                <a:sym typeface="Raleway Thin Regular"/>
              </a:defRPr>
            </a:lvl1pPr>
          </a:lstStyle>
          <a:p>
            <a:pPr/>
            <a:r>
              <a:t>Build</a:t>
            </a:r>
          </a:p>
        </p:txBody>
      </p:sp>
      <p:pic>
        <p:nvPicPr>
          <p:cNvPr id="385" name="Image 4" descr="Image 4"/>
          <p:cNvPicPr>
            <a:picLocks noChangeAspect="1"/>
          </p:cNvPicPr>
          <p:nvPr/>
        </p:nvPicPr>
        <p:blipFill>
          <a:blip r:embed="rId4">
            <a:extLst/>
          </a:blip>
          <a:stretch>
            <a:fillRect/>
          </a:stretch>
        </p:blipFill>
        <p:spPr>
          <a:xfrm>
            <a:off x="5979617" y="5008062"/>
            <a:ext cx="365188" cy="365188"/>
          </a:xfrm>
          <a:prstGeom prst="rect">
            <a:avLst/>
          </a:prstGeom>
          <a:ln w="12700">
            <a:miter lim="400000"/>
          </a:ln>
        </p:spPr>
      </p:pic>
      <p:sp>
        <p:nvSpPr>
          <p:cNvPr id="386" name="Text 6"/>
          <p:cNvSpPr txBox="1"/>
          <p:nvPr/>
        </p:nvSpPr>
        <p:spPr>
          <a:xfrm>
            <a:off x="4923552" y="6306434"/>
            <a:ext cx="880928" cy="28717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300"/>
              </a:lnSpc>
              <a:defRPr>
                <a:solidFill>
                  <a:srgbClr val="3C3939"/>
                </a:solidFill>
                <a:latin typeface="Raleway Thin Regular"/>
                <a:ea typeface="Raleway Thin Regular"/>
                <a:cs typeface="Raleway Thin Regular"/>
                <a:sym typeface="Raleway Thin Regular"/>
              </a:defRPr>
            </a:lvl1pPr>
          </a:lstStyle>
          <a:p>
            <a:pPr/>
            <a:r>
              <a:t>Improve</a:t>
            </a:r>
          </a:p>
        </p:txBody>
      </p:sp>
      <p:sp>
        <p:nvSpPr>
          <p:cNvPr id="387" name="Text 7"/>
          <p:cNvSpPr txBox="1"/>
          <p:nvPr/>
        </p:nvSpPr>
        <p:spPr>
          <a:xfrm>
            <a:off x="793790" y="7340797"/>
            <a:ext cx="8431684" cy="2200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800"/>
              </a:lnSpc>
              <a:defRPr sz="1200">
                <a:solidFill>
                  <a:srgbClr val="3C3939"/>
                </a:solidFill>
                <a:latin typeface="Roboto Regular Regular"/>
                <a:ea typeface="Roboto Regular Regular"/>
                <a:cs typeface="Roboto Regular Regular"/>
                <a:sym typeface="Roboto Regular Regular"/>
              </a:defRPr>
            </a:lvl1pPr>
          </a:lstStyle>
          <a:p>
            <a:pPr/>
            <a:r>
              <a:t>This loop is not sequential — it is iterative. FDEs cycle through it continuously, compressing time between insight and impact.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91" name="Image 0" descr="Image 0"/>
          <p:cNvPicPr>
            <a:picLocks noChangeAspect="1"/>
          </p:cNvPicPr>
          <p:nvPr/>
        </p:nvPicPr>
        <p:blipFill>
          <a:blip r:embed="rId2">
            <a:extLst/>
          </a:blip>
          <a:stretch>
            <a:fillRect/>
          </a:stretch>
        </p:blipFill>
        <p:spPr>
          <a:xfrm>
            <a:off x="793790" y="1391841"/>
            <a:ext cx="13042584" cy="5445801"/>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3" name="Text 0"/>
          <p:cNvSpPr txBox="1"/>
          <p:nvPr/>
        </p:nvSpPr>
        <p:spPr>
          <a:xfrm>
            <a:off x="793790" y="1591389"/>
            <a:ext cx="972791"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8 OF 28</a:t>
            </a:r>
          </a:p>
        </p:txBody>
      </p:sp>
      <p:sp>
        <p:nvSpPr>
          <p:cNvPr id="394" name="Text 1"/>
          <p:cNvSpPr txBox="1"/>
          <p:nvPr/>
        </p:nvSpPr>
        <p:spPr>
          <a:xfrm>
            <a:off x="793789" y="1984295"/>
            <a:ext cx="3925786"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The FDE Mindset</a:t>
            </a:r>
          </a:p>
        </p:txBody>
      </p:sp>
      <p:sp>
        <p:nvSpPr>
          <p:cNvPr id="395" name="Text 2"/>
          <p:cNvSpPr txBox="1"/>
          <p:nvPr/>
        </p:nvSpPr>
        <p:spPr>
          <a:xfrm>
            <a:off x="793790" y="2902029"/>
            <a:ext cx="13042822"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500"/>
              </a:lnSpc>
              <a:defRPr sz="1500">
                <a:solidFill>
                  <a:srgbClr val="3C3939"/>
                </a:solidFill>
                <a:latin typeface="Roboto Regular Regular"/>
                <a:ea typeface="Roboto Regular Regular"/>
                <a:cs typeface="Roboto Regular Regular"/>
                <a:sym typeface="Roboto Regular Regular"/>
              </a:defRPr>
            </a:pPr>
            <a:r>
              <a:t>At its core, FDE is a </a:t>
            </a:r>
            <a:r>
              <a:rPr>
                <a:latin typeface="Roboto Regular Bold"/>
                <a:ea typeface="Roboto Regular Bold"/>
                <a:cs typeface="Roboto Regular Bold"/>
                <a:sym typeface="Roboto Regular Bold"/>
              </a:rPr>
              <a:t>thinking discipline</a:t>
            </a:r>
            <a:r>
              <a:t> as much as an engineering practice. The four-phase mindset below governs every project — from a 2-hour prototype to a 6-month production system.</a:t>
            </a:r>
          </a:p>
        </p:txBody>
      </p:sp>
      <p:sp>
        <p:nvSpPr>
          <p:cNvPr id="396" name="Shape 3"/>
          <p:cNvSpPr/>
          <p:nvPr/>
        </p:nvSpPr>
        <p:spPr>
          <a:xfrm>
            <a:off x="793790" y="3760351"/>
            <a:ext cx="13042821" cy="2937273"/>
          </a:xfrm>
          <a:prstGeom prst="roundRect">
            <a:avLst>
              <a:gd name="adj" fmla="val 2838"/>
            </a:avLst>
          </a:prstGeom>
          <a:solidFill>
            <a:srgbClr val="E1E1EA"/>
          </a:solidFill>
          <a:ln w="7620">
            <a:solidFill>
              <a:srgbClr val="C7C7D0"/>
            </a:solidFill>
          </a:ln>
        </p:spPr>
        <p:txBody>
          <a:bodyPr lIns="45719" rIns="45719"/>
          <a:lstStyle/>
          <a:p>
            <a:pPr/>
          </a:p>
        </p:txBody>
      </p:sp>
      <p:sp>
        <p:nvSpPr>
          <p:cNvPr id="397" name="Shape 4"/>
          <p:cNvSpPr/>
          <p:nvPr/>
        </p:nvSpPr>
        <p:spPr>
          <a:xfrm>
            <a:off x="801409" y="3767971"/>
            <a:ext cx="6513791" cy="1461017"/>
          </a:xfrm>
          <a:prstGeom prst="roundRect">
            <a:avLst>
              <a:gd name="adj" fmla="val 5706"/>
            </a:avLst>
          </a:prstGeom>
          <a:solidFill>
            <a:srgbClr val="E1E1EA"/>
          </a:solidFill>
          <a:ln w="12700">
            <a:miter lim="400000"/>
          </a:ln>
        </p:spPr>
        <p:txBody>
          <a:bodyPr lIns="45719" rIns="45719"/>
          <a:lstStyle/>
          <a:p>
            <a:pPr/>
          </a:p>
        </p:txBody>
      </p:sp>
      <p:sp>
        <p:nvSpPr>
          <p:cNvPr id="398" name="Text 5"/>
          <p:cNvSpPr txBox="1"/>
          <p:nvPr/>
        </p:nvSpPr>
        <p:spPr>
          <a:xfrm>
            <a:off x="999768" y="3966328"/>
            <a:ext cx="968043"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Think</a:t>
            </a:r>
          </a:p>
        </p:txBody>
      </p:sp>
      <p:sp>
        <p:nvSpPr>
          <p:cNvPr id="399" name="Text 6"/>
          <p:cNvSpPr txBox="1"/>
          <p:nvPr/>
        </p:nvSpPr>
        <p:spPr>
          <a:xfrm>
            <a:off x="999768" y="4395549"/>
            <a:ext cx="6117074" cy="3005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Define the problem. Identify the real need. Ask why before asking how.</a:t>
            </a:r>
          </a:p>
        </p:txBody>
      </p:sp>
      <p:sp>
        <p:nvSpPr>
          <p:cNvPr id="400" name="Shape 7"/>
          <p:cNvSpPr/>
          <p:nvPr/>
        </p:nvSpPr>
        <p:spPr>
          <a:xfrm>
            <a:off x="7315200" y="3767971"/>
            <a:ext cx="6513791" cy="1461017"/>
          </a:xfrm>
          <a:prstGeom prst="rect">
            <a:avLst/>
          </a:prstGeom>
          <a:solidFill>
            <a:srgbClr val="E1E1EA"/>
          </a:solidFill>
          <a:ln w="12700">
            <a:miter lim="400000"/>
          </a:ln>
        </p:spPr>
        <p:txBody>
          <a:bodyPr lIns="45719" rIns="45719"/>
          <a:lstStyle/>
          <a:p>
            <a:pPr/>
          </a:p>
        </p:txBody>
      </p:sp>
      <p:sp>
        <p:nvSpPr>
          <p:cNvPr id="401" name="Shape 8"/>
          <p:cNvSpPr/>
          <p:nvPr/>
        </p:nvSpPr>
        <p:spPr>
          <a:xfrm>
            <a:off x="7315200" y="3767971"/>
            <a:ext cx="22860" cy="1461017"/>
          </a:xfrm>
          <a:prstGeom prst="roundRect">
            <a:avLst>
              <a:gd name="adj" fmla="val 50000"/>
            </a:avLst>
          </a:prstGeom>
          <a:solidFill>
            <a:srgbClr val="C7C7D0"/>
          </a:solidFill>
          <a:ln w="12700">
            <a:miter lim="400000"/>
          </a:ln>
        </p:spPr>
        <p:txBody>
          <a:bodyPr lIns="45719" rIns="45719"/>
          <a:lstStyle/>
          <a:p>
            <a:pPr/>
          </a:p>
        </p:txBody>
      </p:sp>
      <p:sp>
        <p:nvSpPr>
          <p:cNvPr id="402" name="Text 9"/>
          <p:cNvSpPr txBox="1"/>
          <p:nvPr/>
        </p:nvSpPr>
        <p:spPr>
          <a:xfrm>
            <a:off x="7513557" y="3966328"/>
            <a:ext cx="1139111"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Design</a:t>
            </a:r>
          </a:p>
        </p:txBody>
      </p:sp>
      <p:sp>
        <p:nvSpPr>
          <p:cNvPr id="403" name="Text 10"/>
          <p:cNvSpPr txBox="1"/>
          <p:nvPr/>
        </p:nvSpPr>
        <p:spPr>
          <a:xfrm>
            <a:off x="7513557" y="4395549"/>
            <a:ext cx="6117075"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Map inputs, outputs, and constraints. Sketch the system before writing a line of code.</a:t>
            </a:r>
          </a:p>
        </p:txBody>
      </p:sp>
      <p:sp>
        <p:nvSpPr>
          <p:cNvPr id="404" name="Shape 11"/>
          <p:cNvSpPr/>
          <p:nvPr/>
        </p:nvSpPr>
        <p:spPr>
          <a:xfrm>
            <a:off x="801409" y="5228987"/>
            <a:ext cx="6513791" cy="1461017"/>
          </a:xfrm>
          <a:prstGeom prst="rect">
            <a:avLst/>
          </a:prstGeom>
          <a:solidFill>
            <a:srgbClr val="E1E1EA"/>
          </a:solidFill>
          <a:ln w="12700">
            <a:miter lim="400000"/>
          </a:ln>
        </p:spPr>
        <p:txBody>
          <a:bodyPr lIns="45719" rIns="45719"/>
          <a:lstStyle/>
          <a:p>
            <a:pPr/>
          </a:p>
        </p:txBody>
      </p:sp>
      <p:sp>
        <p:nvSpPr>
          <p:cNvPr id="405" name="Shape 12"/>
          <p:cNvSpPr/>
          <p:nvPr/>
        </p:nvSpPr>
        <p:spPr>
          <a:xfrm>
            <a:off x="801409" y="5228987"/>
            <a:ext cx="6513791" cy="22861"/>
          </a:xfrm>
          <a:prstGeom prst="roundRect">
            <a:avLst>
              <a:gd name="adj" fmla="val 50000"/>
            </a:avLst>
          </a:prstGeom>
          <a:solidFill>
            <a:srgbClr val="C7C7D0"/>
          </a:solidFill>
          <a:ln w="12700">
            <a:miter lim="400000"/>
          </a:ln>
        </p:spPr>
        <p:txBody>
          <a:bodyPr lIns="45719" rIns="45719"/>
          <a:lstStyle/>
          <a:p>
            <a:pPr/>
          </a:p>
        </p:txBody>
      </p:sp>
      <p:sp>
        <p:nvSpPr>
          <p:cNvPr id="406" name="Text 13"/>
          <p:cNvSpPr txBox="1"/>
          <p:nvPr/>
        </p:nvSpPr>
        <p:spPr>
          <a:xfrm>
            <a:off x="999768" y="5427345"/>
            <a:ext cx="938561"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Build</a:t>
            </a:r>
          </a:p>
        </p:txBody>
      </p:sp>
      <p:sp>
        <p:nvSpPr>
          <p:cNvPr id="407" name="Text 14"/>
          <p:cNvSpPr txBox="1"/>
          <p:nvPr/>
        </p:nvSpPr>
        <p:spPr>
          <a:xfrm>
            <a:off x="999768" y="5856565"/>
            <a:ext cx="6117074"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Build the simplest version that delivers value. Speed matters — perfection is the enemy of progress.</a:t>
            </a:r>
          </a:p>
        </p:txBody>
      </p:sp>
      <p:sp>
        <p:nvSpPr>
          <p:cNvPr id="408" name="Shape 15"/>
          <p:cNvSpPr/>
          <p:nvPr/>
        </p:nvSpPr>
        <p:spPr>
          <a:xfrm>
            <a:off x="7315200" y="5228987"/>
            <a:ext cx="6513791" cy="1461017"/>
          </a:xfrm>
          <a:prstGeom prst="rect">
            <a:avLst/>
          </a:prstGeom>
          <a:solidFill>
            <a:srgbClr val="E1E1EA"/>
          </a:solidFill>
          <a:ln w="12700">
            <a:miter lim="400000"/>
          </a:ln>
        </p:spPr>
        <p:txBody>
          <a:bodyPr lIns="45719" rIns="45719"/>
          <a:lstStyle/>
          <a:p>
            <a:pPr/>
          </a:p>
        </p:txBody>
      </p:sp>
      <p:sp>
        <p:nvSpPr>
          <p:cNvPr id="409" name="Shape 16"/>
          <p:cNvSpPr/>
          <p:nvPr/>
        </p:nvSpPr>
        <p:spPr>
          <a:xfrm>
            <a:off x="7315200" y="5228987"/>
            <a:ext cx="22860" cy="1461016"/>
          </a:xfrm>
          <a:prstGeom prst="roundRect">
            <a:avLst>
              <a:gd name="adj" fmla="val 50000"/>
            </a:avLst>
          </a:prstGeom>
          <a:solidFill>
            <a:srgbClr val="C7C7D0"/>
          </a:solidFill>
          <a:ln w="12700">
            <a:miter lim="400000"/>
          </a:ln>
        </p:spPr>
        <p:txBody>
          <a:bodyPr lIns="45719" rIns="45719"/>
          <a:lstStyle/>
          <a:p>
            <a:pPr/>
          </a:p>
        </p:txBody>
      </p:sp>
      <p:sp>
        <p:nvSpPr>
          <p:cNvPr id="410" name="Shape 17"/>
          <p:cNvSpPr/>
          <p:nvPr/>
        </p:nvSpPr>
        <p:spPr>
          <a:xfrm>
            <a:off x="7315200" y="5228987"/>
            <a:ext cx="6513791" cy="22861"/>
          </a:xfrm>
          <a:prstGeom prst="roundRect">
            <a:avLst>
              <a:gd name="adj" fmla="val 50000"/>
            </a:avLst>
          </a:prstGeom>
          <a:solidFill>
            <a:srgbClr val="C7C7D0"/>
          </a:solidFill>
          <a:ln w="12700">
            <a:miter lim="400000"/>
          </a:ln>
        </p:spPr>
        <p:txBody>
          <a:bodyPr lIns="45719" rIns="45719"/>
          <a:lstStyle/>
          <a:p>
            <a:pPr/>
          </a:p>
        </p:txBody>
      </p:sp>
      <p:sp>
        <p:nvSpPr>
          <p:cNvPr id="411" name="Text 18"/>
          <p:cNvSpPr txBox="1"/>
          <p:nvPr/>
        </p:nvSpPr>
        <p:spPr>
          <a:xfrm>
            <a:off x="7513557" y="5427345"/>
            <a:ext cx="1282881"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Improve</a:t>
            </a:r>
          </a:p>
        </p:txBody>
      </p:sp>
      <p:sp>
        <p:nvSpPr>
          <p:cNvPr id="412" name="Text 19"/>
          <p:cNvSpPr txBox="1"/>
          <p:nvPr/>
        </p:nvSpPr>
        <p:spPr>
          <a:xfrm>
            <a:off x="7513557" y="5856565"/>
            <a:ext cx="6117075"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Gather real feedback. Measure outcomes. Iterate with purpose, not assumption.</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6" name="Shape 0"/>
          <p:cNvSpPr/>
          <p:nvPr/>
        </p:nvSpPr>
        <p:spPr>
          <a:xfrm>
            <a:off x="0" y="0"/>
            <a:ext cx="5486400" cy="8229600"/>
          </a:xfrm>
          <a:prstGeom prst="rect">
            <a:avLst/>
          </a:prstGeom>
          <a:solidFill>
            <a:srgbClr val="E1E1EA"/>
          </a:solidFill>
          <a:ln w="12700">
            <a:miter lim="400000"/>
          </a:ln>
        </p:spPr>
        <p:txBody>
          <a:bodyPr lIns="45719" rIns="45719"/>
          <a:lstStyle/>
          <a:p>
            <a:pPr/>
          </a:p>
        </p:txBody>
      </p:sp>
      <p:pic>
        <p:nvPicPr>
          <p:cNvPr id="417" name="Image 0" descr="Image 0"/>
          <p:cNvPicPr>
            <a:picLocks noChangeAspect="1"/>
          </p:cNvPicPr>
          <p:nvPr/>
        </p:nvPicPr>
        <p:blipFill>
          <a:blip r:embed="rId3">
            <a:extLst/>
          </a:blip>
          <a:stretch>
            <a:fillRect/>
          </a:stretch>
        </p:blipFill>
        <p:spPr>
          <a:xfrm>
            <a:off x="99178" y="1470779"/>
            <a:ext cx="5288043" cy="5288042"/>
          </a:xfrm>
          <a:prstGeom prst="rect">
            <a:avLst/>
          </a:prstGeom>
          <a:ln w="12700">
            <a:miter lim="400000"/>
          </a:ln>
        </p:spPr>
      </p:pic>
      <p:sp>
        <p:nvSpPr>
          <p:cNvPr id="418" name="Shape 1"/>
          <p:cNvSpPr/>
          <p:nvPr/>
        </p:nvSpPr>
        <p:spPr>
          <a:xfrm>
            <a:off x="6280189" y="2153959"/>
            <a:ext cx="2677836" cy="388384"/>
          </a:xfrm>
          <a:prstGeom prst="roundRect">
            <a:avLst>
              <a:gd name="adj" fmla="val 17171"/>
            </a:avLst>
          </a:prstGeom>
          <a:ln w="7620">
            <a:solidFill>
              <a:srgbClr val="1B1B27"/>
            </a:solidFill>
          </a:ln>
        </p:spPr>
        <p:txBody>
          <a:bodyPr lIns="45719" rIns="45719"/>
          <a:lstStyle/>
          <a:p>
            <a:pPr/>
          </a:p>
        </p:txBody>
      </p:sp>
      <p:sp>
        <p:nvSpPr>
          <p:cNvPr id="419" name="Text 2"/>
          <p:cNvSpPr txBox="1"/>
          <p:nvPr/>
        </p:nvSpPr>
        <p:spPr>
          <a:xfrm>
            <a:off x="6406872" y="2221110"/>
            <a:ext cx="2340670"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PART 2 — PROBLEM BREAKDOWN</a:t>
            </a:r>
          </a:p>
        </p:txBody>
      </p:sp>
      <p:sp>
        <p:nvSpPr>
          <p:cNvPr id="420" name="Text 3"/>
          <p:cNvSpPr txBox="1"/>
          <p:nvPr/>
        </p:nvSpPr>
        <p:spPr>
          <a:xfrm>
            <a:off x="6280189" y="2825114"/>
            <a:ext cx="972792"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9 OF 28</a:t>
            </a:r>
          </a:p>
        </p:txBody>
      </p:sp>
      <p:sp>
        <p:nvSpPr>
          <p:cNvPr id="421" name="Text 4"/>
          <p:cNvSpPr txBox="1"/>
          <p:nvPr/>
        </p:nvSpPr>
        <p:spPr>
          <a:xfrm>
            <a:off x="6280189" y="3218021"/>
            <a:ext cx="4099011"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Example Problem</a:t>
            </a:r>
          </a:p>
        </p:txBody>
      </p:sp>
      <p:sp>
        <p:nvSpPr>
          <p:cNvPr id="422" name="Text 5"/>
          <p:cNvSpPr txBox="1"/>
          <p:nvPr/>
        </p:nvSpPr>
        <p:spPr>
          <a:xfrm>
            <a:off x="6577845" y="4358997"/>
            <a:ext cx="3533603"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"Build us a chatbot for customer support."</a:t>
            </a:r>
          </a:p>
        </p:txBody>
      </p:sp>
      <p:sp>
        <p:nvSpPr>
          <p:cNvPr id="423" name="Shape 6"/>
          <p:cNvSpPr/>
          <p:nvPr/>
        </p:nvSpPr>
        <p:spPr>
          <a:xfrm>
            <a:off x="6280189" y="4135754"/>
            <a:ext cx="22861" cy="764025"/>
          </a:xfrm>
          <a:prstGeom prst="rect">
            <a:avLst/>
          </a:prstGeom>
          <a:solidFill>
            <a:srgbClr val="1B1B27"/>
          </a:solidFill>
          <a:ln w="12700">
            <a:miter lim="400000"/>
          </a:ln>
        </p:spPr>
        <p:txBody>
          <a:bodyPr lIns="45719" rIns="45719"/>
          <a:lstStyle/>
          <a:p>
            <a:pPr/>
          </a:p>
        </p:txBody>
      </p:sp>
      <p:sp>
        <p:nvSpPr>
          <p:cNvPr id="424" name="Text 7"/>
          <p:cNvSpPr txBox="1"/>
          <p:nvPr/>
        </p:nvSpPr>
        <p:spPr>
          <a:xfrm>
            <a:off x="6280189" y="5123021"/>
            <a:ext cx="7556422" cy="9355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Simple request. Enormous ambiguity. This single sentence could describe dozens of different systems. The FDE's first move is always to resist the urge to build — and instead to ask better questions.</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8" name="Text 0"/>
          <p:cNvSpPr txBox="1"/>
          <p:nvPr/>
        </p:nvSpPr>
        <p:spPr>
          <a:xfrm>
            <a:off x="793790" y="1802606"/>
            <a:ext cx="1058441"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10 OF 28</a:t>
            </a:r>
          </a:p>
        </p:txBody>
      </p:sp>
      <p:sp>
        <p:nvSpPr>
          <p:cNvPr id="429" name="Text 1"/>
          <p:cNvSpPr txBox="1"/>
          <p:nvPr/>
        </p:nvSpPr>
        <p:spPr>
          <a:xfrm>
            <a:off x="793790" y="2195513"/>
            <a:ext cx="10654591"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Same Problem, Completely Different Solutions</a:t>
            </a:r>
          </a:p>
        </p:txBody>
      </p:sp>
      <p:sp>
        <p:nvSpPr>
          <p:cNvPr id="430" name="Text 2"/>
          <p:cNvSpPr txBox="1"/>
          <p:nvPr/>
        </p:nvSpPr>
        <p:spPr>
          <a:xfrm>
            <a:off x="793790" y="3113246"/>
            <a:ext cx="13042822"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"Customer support chatbot" is not one product — it is a family of products. The right solution depends entirely on who the user is, what pain they have, and what success looks like for the business.</a:t>
            </a:r>
          </a:p>
        </p:txBody>
      </p:sp>
      <p:sp>
        <p:nvSpPr>
          <p:cNvPr id="431" name="Shape 3"/>
          <p:cNvSpPr/>
          <p:nvPr/>
        </p:nvSpPr>
        <p:spPr>
          <a:xfrm>
            <a:off x="793790" y="3971568"/>
            <a:ext cx="4215289" cy="2514957"/>
          </a:xfrm>
          <a:prstGeom prst="roundRect">
            <a:avLst>
              <a:gd name="adj" fmla="val 3315"/>
            </a:avLst>
          </a:prstGeom>
          <a:solidFill>
            <a:srgbClr val="FFFFFF">
              <a:alpha val="95000"/>
            </a:srgbClr>
          </a:solidFill>
          <a:ln w="22860">
            <a:solidFill>
              <a:srgbClr val="C7C7D0"/>
            </a:solidFill>
          </a:ln>
        </p:spPr>
        <p:txBody>
          <a:bodyPr lIns="45719" rIns="45719"/>
          <a:lstStyle/>
          <a:p>
            <a:pPr/>
          </a:p>
        </p:txBody>
      </p:sp>
      <p:sp>
        <p:nvSpPr>
          <p:cNvPr id="432" name="Text 4"/>
          <p:cNvSpPr txBox="1"/>
          <p:nvPr/>
        </p:nvSpPr>
        <p:spPr>
          <a:xfrm>
            <a:off x="1015008" y="4192785"/>
            <a:ext cx="1276243" cy="3291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FAQ Bot</a:t>
            </a:r>
          </a:p>
        </p:txBody>
      </p:sp>
      <p:sp>
        <p:nvSpPr>
          <p:cNvPr id="433" name="Text 5"/>
          <p:cNvSpPr txBox="1"/>
          <p:nvPr/>
        </p:nvSpPr>
        <p:spPr>
          <a:xfrm>
            <a:off x="1015008" y="4622005"/>
            <a:ext cx="3772854"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Answers common questions using a knowledge base. Best for high-volume, repetitive queries with predictable answers.</a:t>
            </a:r>
          </a:p>
        </p:txBody>
      </p:sp>
      <p:sp>
        <p:nvSpPr>
          <p:cNvPr id="434" name="Text 6"/>
          <p:cNvSpPr txBox="1"/>
          <p:nvPr/>
        </p:nvSpPr>
        <p:spPr>
          <a:xfrm>
            <a:off x="1015008" y="6011228"/>
            <a:ext cx="2899743"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000"/>
              </a:lnSpc>
              <a:defRPr i="1" sz="1200">
                <a:solidFill>
                  <a:srgbClr val="3C3939"/>
                </a:solidFill>
                <a:latin typeface="Roboto Regular Regular"/>
                <a:ea typeface="Roboto Regular Regular"/>
                <a:cs typeface="Roboto Regular Regular"/>
                <a:sym typeface="Roboto Regular Regular"/>
              </a:defRPr>
            </a:pPr>
            <a:r>
              <a:t>User:</a:t>
            </a:r>
            <a:r>
              <a:rPr i="0"/>
              <a:t> End customer seeking quick answers</a:t>
            </a:r>
          </a:p>
        </p:txBody>
      </p:sp>
      <p:sp>
        <p:nvSpPr>
          <p:cNvPr id="435" name="Shape 7"/>
          <p:cNvSpPr/>
          <p:nvPr/>
        </p:nvSpPr>
        <p:spPr>
          <a:xfrm>
            <a:off x="5207437" y="3971568"/>
            <a:ext cx="4215408" cy="2514957"/>
          </a:xfrm>
          <a:prstGeom prst="roundRect">
            <a:avLst>
              <a:gd name="adj" fmla="val 3315"/>
            </a:avLst>
          </a:prstGeom>
          <a:solidFill>
            <a:srgbClr val="FFFFFF">
              <a:alpha val="95000"/>
            </a:srgbClr>
          </a:solidFill>
          <a:ln w="22860">
            <a:solidFill>
              <a:srgbClr val="C7C7D0"/>
            </a:solidFill>
          </a:ln>
        </p:spPr>
        <p:txBody>
          <a:bodyPr lIns="45719" rIns="45719"/>
          <a:lstStyle/>
          <a:p>
            <a:pPr/>
          </a:p>
        </p:txBody>
      </p:sp>
      <p:sp>
        <p:nvSpPr>
          <p:cNvPr id="436" name="Text 8"/>
          <p:cNvSpPr txBox="1"/>
          <p:nvPr/>
        </p:nvSpPr>
        <p:spPr>
          <a:xfrm>
            <a:off x="5428655" y="4192785"/>
            <a:ext cx="2584779" cy="3291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Complaint Handling</a:t>
            </a:r>
          </a:p>
        </p:txBody>
      </p:sp>
      <p:sp>
        <p:nvSpPr>
          <p:cNvPr id="437" name="Text 9"/>
          <p:cNvSpPr txBox="1"/>
          <p:nvPr/>
        </p:nvSpPr>
        <p:spPr>
          <a:xfrm>
            <a:off x="5428655" y="4622005"/>
            <a:ext cx="3772973"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Captures, categorizes, and escalates complaints. Requires tone detection and structured routing logic.</a:t>
            </a:r>
          </a:p>
        </p:txBody>
      </p:sp>
      <p:sp>
        <p:nvSpPr>
          <p:cNvPr id="438" name="Text 10"/>
          <p:cNvSpPr txBox="1"/>
          <p:nvPr/>
        </p:nvSpPr>
        <p:spPr>
          <a:xfrm>
            <a:off x="5428655" y="5693688"/>
            <a:ext cx="3053706"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000"/>
              </a:lnSpc>
              <a:defRPr i="1" sz="1200">
                <a:solidFill>
                  <a:srgbClr val="3C3939"/>
                </a:solidFill>
                <a:latin typeface="Roboto Regular Regular"/>
                <a:ea typeface="Roboto Regular Regular"/>
                <a:cs typeface="Roboto Regular Regular"/>
                <a:sym typeface="Roboto Regular Regular"/>
              </a:defRPr>
            </a:pPr>
            <a:r>
              <a:t>User:</a:t>
            </a:r>
            <a:r>
              <a:rPr i="0"/>
              <a:t> Frustrated customer needing resolution</a:t>
            </a:r>
          </a:p>
        </p:txBody>
      </p:sp>
      <p:sp>
        <p:nvSpPr>
          <p:cNvPr id="439" name="Shape 11"/>
          <p:cNvSpPr/>
          <p:nvPr/>
        </p:nvSpPr>
        <p:spPr>
          <a:xfrm>
            <a:off x="9621202" y="3971568"/>
            <a:ext cx="4215290" cy="2514957"/>
          </a:xfrm>
          <a:prstGeom prst="roundRect">
            <a:avLst>
              <a:gd name="adj" fmla="val 3315"/>
            </a:avLst>
          </a:prstGeom>
          <a:solidFill>
            <a:srgbClr val="FFFFFF">
              <a:alpha val="95000"/>
            </a:srgbClr>
          </a:solidFill>
          <a:ln w="22860">
            <a:solidFill>
              <a:srgbClr val="C7C7D0"/>
            </a:solidFill>
          </a:ln>
        </p:spPr>
        <p:txBody>
          <a:bodyPr lIns="45719" rIns="45719"/>
          <a:lstStyle/>
          <a:p>
            <a:pPr/>
          </a:p>
        </p:txBody>
      </p:sp>
      <p:sp>
        <p:nvSpPr>
          <p:cNvPr id="440" name="Text 12"/>
          <p:cNvSpPr txBox="1"/>
          <p:nvPr/>
        </p:nvSpPr>
        <p:spPr>
          <a:xfrm>
            <a:off x="9842420" y="4192785"/>
            <a:ext cx="1987755" cy="3291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Agent Support</a:t>
            </a:r>
          </a:p>
        </p:txBody>
      </p:sp>
      <p:sp>
        <p:nvSpPr>
          <p:cNvPr id="441" name="Text 13"/>
          <p:cNvSpPr txBox="1"/>
          <p:nvPr/>
        </p:nvSpPr>
        <p:spPr>
          <a:xfrm>
            <a:off x="9842420" y="4622005"/>
            <a:ext cx="3772854"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Assists human agents in real time — surfacing answers, suggesting responses, and summarizing history.</a:t>
            </a:r>
          </a:p>
        </p:txBody>
      </p:sp>
      <p:sp>
        <p:nvSpPr>
          <p:cNvPr id="442" name="Text 14"/>
          <p:cNvSpPr txBox="1"/>
          <p:nvPr/>
        </p:nvSpPr>
        <p:spPr>
          <a:xfrm>
            <a:off x="9842420" y="5693688"/>
            <a:ext cx="3396011"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000"/>
              </a:lnSpc>
              <a:defRPr i="1" sz="1200">
                <a:solidFill>
                  <a:srgbClr val="3C3939"/>
                </a:solidFill>
                <a:latin typeface="Roboto Regular Regular"/>
                <a:ea typeface="Roboto Regular Regular"/>
                <a:cs typeface="Roboto Regular Regular"/>
                <a:sym typeface="Roboto Regular Regular"/>
              </a:defRPr>
            </a:pPr>
            <a:r>
              <a:t>User:</a:t>
            </a:r>
            <a:r>
              <a:rPr i="0"/>
              <a:t> Internal support agent, not the end customer</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6" name="Text 0"/>
          <p:cNvSpPr txBox="1"/>
          <p:nvPr/>
        </p:nvSpPr>
        <p:spPr>
          <a:xfrm>
            <a:off x="793790" y="2065139"/>
            <a:ext cx="1058441"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11 OF 28</a:t>
            </a:r>
          </a:p>
        </p:txBody>
      </p:sp>
      <p:sp>
        <p:nvSpPr>
          <p:cNvPr id="447" name="Text 1"/>
          <p:cNvSpPr txBox="1"/>
          <p:nvPr/>
        </p:nvSpPr>
        <p:spPr>
          <a:xfrm>
            <a:off x="793790" y="2458044"/>
            <a:ext cx="8253023"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Before You Build — Three Questions</a:t>
            </a:r>
          </a:p>
        </p:txBody>
      </p:sp>
      <p:sp>
        <p:nvSpPr>
          <p:cNvPr id="448" name="Text 2"/>
          <p:cNvSpPr txBox="1"/>
          <p:nvPr/>
        </p:nvSpPr>
        <p:spPr>
          <a:xfrm>
            <a:off x="793790" y="3375778"/>
            <a:ext cx="13042822"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Every AI system, no matter how complex, can be understood by answering three foundational questions. These are not formalities — they are the blueprint. Skip any one of them and your system will be built on assumptions.</a:t>
            </a:r>
          </a:p>
        </p:txBody>
      </p:sp>
      <p:sp>
        <p:nvSpPr>
          <p:cNvPr id="449" name="Shape 3"/>
          <p:cNvSpPr/>
          <p:nvPr/>
        </p:nvSpPr>
        <p:spPr>
          <a:xfrm>
            <a:off x="793790" y="4548425"/>
            <a:ext cx="4215289" cy="22861"/>
          </a:xfrm>
          <a:prstGeom prst="rect">
            <a:avLst/>
          </a:prstGeom>
          <a:solidFill>
            <a:srgbClr val="1B1B27"/>
          </a:solidFill>
          <a:ln w="12700">
            <a:miter lim="400000"/>
          </a:ln>
        </p:spPr>
        <p:txBody>
          <a:bodyPr lIns="45719" rIns="45719"/>
          <a:lstStyle/>
          <a:p>
            <a:pPr/>
          </a:p>
        </p:txBody>
      </p:sp>
      <p:sp>
        <p:nvSpPr>
          <p:cNvPr id="450" name="Text 4"/>
          <p:cNvSpPr txBox="1"/>
          <p:nvPr/>
        </p:nvSpPr>
        <p:spPr>
          <a:xfrm>
            <a:off x="793790" y="4693325"/>
            <a:ext cx="586092"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Input</a:t>
            </a:r>
          </a:p>
        </p:txBody>
      </p:sp>
      <p:sp>
        <p:nvSpPr>
          <p:cNvPr id="451" name="Text 5"/>
          <p:cNvSpPr txBox="1"/>
          <p:nvPr/>
        </p:nvSpPr>
        <p:spPr>
          <a:xfrm>
            <a:off x="793790" y="5122545"/>
            <a:ext cx="4215289" cy="9355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500"/>
              </a:lnSpc>
              <a:defRPr sz="1500">
                <a:solidFill>
                  <a:srgbClr val="3C3939"/>
                </a:solidFill>
                <a:latin typeface="Roboto Regular Regular"/>
                <a:ea typeface="Roboto Regular Regular"/>
                <a:cs typeface="Roboto Regular Regular"/>
                <a:sym typeface="Roboto Regular Regular"/>
              </a:defRPr>
            </a:pPr>
            <a:r>
              <a:t>What comes </a:t>
            </a:r>
            <a:r>
              <a:rPr i="1"/>
              <a:t>into</a:t>
            </a:r>
            <a:r>
              <a:t> the system? Define the format, source, and volume of the data the system will receive.</a:t>
            </a:r>
          </a:p>
        </p:txBody>
      </p:sp>
      <p:sp>
        <p:nvSpPr>
          <p:cNvPr id="452" name="Shape 6"/>
          <p:cNvSpPr/>
          <p:nvPr/>
        </p:nvSpPr>
        <p:spPr>
          <a:xfrm>
            <a:off x="5207437" y="4548425"/>
            <a:ext cx="4215408" cy="22861"/>
          </a:xfrm>
          <a:prstGeom prst="rect">
            <a:avLst/>
          </a:prstGeom>
          <a:solidFill>
            <a:srgbClr val="1B1B27"/>
          </a:solidFill>
          <a:ln w="12700">
            <a:miter lim="400000"/>
          </a:ln>
        </p:spPr>
        <p:txBody>
          <a:bodyPr lIns="45719" rIns="45719"/>
          <a:lstStyle/>
          <a:p>
            <a:pPr/>
          </a:p>
        </p:txBody>
      </p:sp>
      <p:sp>
        <p:nvSpPr>
          <p:cNvPr id="453" name="Text 7"/>
          <p:cNvSpPr txBox="1"/>
          <p:nvPr/>
        </p:nvSpPr>
        <p:spPr>
          <a:xfrm>
            <a:off x="5207437" y="4693325"/>
            <a:ext cx="791012"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Output</a:t>
            </a:r>
          </a:p>
        </p:txBody>
      </p:sp>
      <p:sp>
        <p:nvSpPr>
          <p:cNvPr id="454" name="Text 8"/>
          <p:cNvSpPr txBox="1"/>
          <p:nvPr/>
        </p:nvSpPr>
        <p:spPr>
          <a:xfrm>
            <a:off x="5207437" y="5122545"/>
            <a:ext cx="4215408" cy="9355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500"/>
              </a:lnSpc>
              <a:defRPr sz="1500">
                <a:solidFill>
                  <a:srgbClr val="3C3939"/>
                </a:solidFill>
                <a:latin typeface="Roboto Regular Regular"/>
                <a:ea typeface="Roboto Regular Regular"/>
                <a:cs typeface="Roboto Regular Regular"/>
                <a:sym typeface="Roboto Regular Regular"/>
              </a:defRPr>
            </a:pPr>
            <a:r>
              <a:t>What should the system </a:t>
            </a:r>
            <a:r>
              <a:rPr i="1"/>
              <a:t>produce</a:t>
            </a:r>
            <a:r>
              <a:t>? A label, a response, an action, a score? Nail this before anything else.</a:t>
            </a:r>
          </a:p>
        </p:txBody>
      </p:sp>
      <p:sp>
        <p:nvSpPr>
          <p:cNvPr id="455" name="Shape 9"/>
          <p:cNvSpPr/>
          <p:nvPr/>
        </p:nvSpPr>
        <p:spPr>
          <a:xfrm>
            <a:off x="9621202" y="4548425"/>
            <a:ext cx="4215290" cy="22861"/>
          </a:xfrm>
          <a:prstGeom prst="rect">
            <a:avLst/>
          </a:prstGeom>
          <a:solidFill>
            <a:srgbClr val="1B1B27"/>
          </a:solidFill>
          <a:ln w="12700">
            <a:miter lim="400000"/>
          </a:ln>
        </p:spPr>
        <p:txBody>
          <a:bodyPr lIns="45719" rIns="45719"/>
          <a:lstStyle/>
          <a:p>
            <a:pPr/>
          </a:p>
        </p:txBody>
      </p:sp>
      <p:sp>
        <p:nvSpPr>
          <p:cNvPr id="456" name="Text 10"/>
          <p:cNvSpPr txBox="1"/>
          <p:nvPr/>
        </p:nvSpPr>
        <p:spPr>
          <a:xfrm>
            <a:off x="9621202" y="4693325"/>
            <a:ext cx="527289"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Data</a:t>
            </a:r>
          </a:p>
        </p:txBody>
      </p:sp>
      <p:sp>
        <p:nvSpPr>
          <p:cNvPr id="457" name="Text 11"/>
          <p:cNvSpPr txBox="1"/>
          <p:nvPr/>
        </p:nvSpPr>
        <p:spPr>
          <a:xfrm>
            <a:off x="9621202" y="5122545"/>
            <a:ext cx="4215290" cy="9355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What information do we already have? What is the quality, quantity, and structure of available training or retrieval data?</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1" name="Text 0"/>
          <p:cNvSpPr txBox="1"/>
          <p:nvPr/>
        </p:nvSpPr>
        <p:spPr>
          <a:xfrm>
            <a:off x="793790" y="1214914"/>
            <a:ext cx="1058441"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12 OF 28</a:t>
            </a:r>
          </a:p>
        </p:txBody>
      </p:sp>
      <p:sp>
        <p:nvSpPr>
          <p:cNvPr id="462" name="Text 1"/>
          <p:cNvSpPr txBox="1"/>
          <p:nvPr/>
        </p:nvSpPr>
        <p:spPr>
          <a:xfrm>
            <a:off x="793789" y="1607819"/>
            <a:ext cx="7615605"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Input — What Enters the System?</a:t>
            </a:r>
          </a:p>
        </p:txBody>
      </p:sp>
      <p:sp>
        <p:nvSpPr>
          <p:cNvPr id="463" name="Text 2"/>
          <p:cNvSpPr txBox="1"/>
          <p:nvPr/>
        </p:nvSpPr>
        <p:spPr>
          <a:xfrm>
            <a:off x="793790" y="2525553"/>
            <a:ext cx="13042822"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Before designing any processing logic, you must have absolute clarity about what the system receives. The input defines every architectural decision that follows — from preprocessing to model selection.</a:t>
            </a:r>
          </a:p>
        </p:txBody>
      </p:sp>
      <p:sp>
        <p:nvSpPr>
          <p:cNvPr id="464" name="Shape 3"/>
          <p:cNvSpPr/>
          <p:nvPr/>
        </p:nvSpPr>
        <p:spPr>
          <a:xfrm>
            <a:off x="650915" y="3383874"/>
            <a:ext cx="5212318" cy="3690344"/>
          </a:xfrm>
          <a:prstGeom prst="roundRect">
            <a:avLst>
              <a:gd name="adj" fmla="val 3872"/>
            </a:avLst>
          </a:prstGeom>
          <a:solidFill>
            <a:srgbClr val="1B1B27">
              <a:alpha val="95000"/>
            </a:srgbClr>
          </a:solidFill>
          <a:ln w="12700">
            <a:miter lim="400000"/>
          </a:ln>
        </p:spPr>
        <p:txBody>
          <a:bodyPr lIns="45719" rIns="45719"/>
          <a:lstStyle/>
          <a:p>
            <a:pPr/>
          </a:p>
        </p:txBody>
      </p:sp>
      <p:sp>
        <p:nvSpPr>
          <p:cNvPr id="465" name="Text 4"/>
          <p:cNvSpPr txBox="1"/>
          <p:nvPr/>
        </p:nvSpPr>
        <p:spPr>
          <a:xfrm>
            <a:off x="849272" y="3582232"/>
            <a:ext cx="1872896"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FFFFFF"/>
                </a:solidFill>
                <a:latin typeface="Raleway Thin Regular"/>
                <a:ea typeface="Raleway Thin Regular"/>
                <a:cs typeface="Raleway Thin Regular"/>
                <a:sym typeface="Raleway Thin Regular"/>
              </a:defRPr>
            </a:lvl1pPr>
          </a:lstStyle>
          <a:p>
            <a:pPr/>
            <a:r>
              <a:t>Questions to Ask</a:t>
            </a:r>
          </a:p>
        </p:txBody>
      </p:sp>
      <p:sp>
        <p:nvSpPr>
          <p:cNvPr id="466" name="Text 5"/>
          <p:cNvSpPr txBox="1"/>
          <p:nvPr/>
        </p:nvSpPr>
        <p:spPr>
          <a:xfrm>
            <a:off x="849272" y="4090749"/>
            <a:ext cx="4815604" cy="15705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2500"/>
              </a:lnSpc>
              <a:buSzPct val="100000"/>
              <a:buChar char="•"/>
              <a:defRPr sz="1500">
                <a:solidFill>
                  <a:srgbClr val="FFFFFF"/>
                </a:solidFill>
                <a:latin typeface="Roboto Regular Regular"/>
                <a:ea typeface="Roboto Regular Regular"/>
                <a:cs typeface="Roboto Regular Regular"/>
                <a:sym typeface="Roboto Regular Regular"/>
              </a:defRPr>
            </a:pPr>
            <a:r>
              <a:t>What format is the data in?</a:t>
            </a:r>
          </a:p>
          <a:p>
            <a:pPr marL="342900" indent="-342900">
              <a:lnSpc>
                <a:spcPts val="2500"/>
              </a:lnSpc>
              <a:buSzPct val="100000"/>
              <a:buChar char="•"/>
              <a:defRPr sz="1500">
                <a:solidFill>
                  <a:srgbClr val="FFFFFF"/>
                </a:solidFill>
                <a:latin typeface="Roboto Regular Regular"/>
                <a:ea typeface="Roboto Regular Regular"/>
                <a:cs typeface="Roboto Regular Regular"/>
                <a:sym typeface="Roboto Regular Regular"/>
              </a:defRPr>
            </a:pPr>
            <a:r>
              <a:t>Where does it come from?</a:t>
            </a:r>
          </a:p>
          <a:p>
            <a:pPr marL="342900" indent="-342900">
              <a:lnSpc>
                <a:spcPts val="2500"/>
              </a:lnSpc>
              <a:buSzPct val="100000"/>
              <a:buChar char="•"/>
              <a:defRPr sz="1500">
                <a:solidFill>
                  <a:srgbClr val="FFFFFF"/>
                </a:solidFill>
                <a:latin typeface="Roboto Regular Regular"/>
                <a:ea typeface="Roboto Regular Regular"/>
                <a:cs typeface="Roboto Regular Regular"/>
                <a:sym typeface="Roboto Regular Regular"/>
              </a:defRPr>
            </a:pPr>
            <a:r>
              <a:t>How much arrives, and how often?</a:t>
            </a:r>
          </a:p>
          <a:p>
            <a:pPr marL="342900" indent="-342900">
              <a:lnSpc>
                <a:spcPts val="2500"/>
              </a:lnSpc>
              <a:buSzPct val="100000"/>
              <a:buChar char="•"/>
              <a:defRPr sz="1500">
                <a:solidFill>
                  <a:srgbClr val="FFFFFF"/>
                </a:solidFill>
                <a:latin typeface="Roboto Regular Regular"/>
                <a:ea typeface="Roboto Regular Regular"/>
                <a:cs typeface="Roboto Regular Regular"/>
                <a:sym typeface="Roboto Regular Regular"/>
              </a:defRPr>
            </a:pPr>
            <a:r>
              <a:t>Is it structured or unstructured?</a:t>
            </a:r>
          </a:p>
          <a:p>
            <a:pPr marL="342900" indent="-342900">
              <a:lnSpc>
                <a:spcPts val="2500"/>
              </a:lnSpc>
              <a:buSzPct val="100000"/>
              <a:buChar char="•"/>
              <a:defRPr sz="1500">
                <a:solidFill>
                  <a:srgbClr val="FFFFFF"/>
                </a:solidFill>
                <a:latin typeface="Roboto Regular Regular"/>
                <a:ea typeface="Roboto Regular Regular"/>
                <a:cs typeface="Roboto Regular Regular"/>
                <a:sym typeface="Roboto Regular Regular"/>
              </a:defRPr>
            </a:pPr>
            <a:r>
              <a:t>Does it contain noise or inconsistencies?</a:t>
            </a:r>
          </a:p>
        </p:txBody>
      </p:sp>
      <p:sp>
        <p:nvSpPr>
          <p:cNvPr id="467" name="Text 6"/>
          <p:cNvSpPr txBox="1"/>
          <p:nvPr/>
        </p:nvSpPr>
        <p:spPr>
          <a:xfrm>
            <a:off x="6212085" y="3582232"/>
            <a:ext cx="2404793"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1B1B27"/>
                </a:solidFill>
                <a:latin typeface="Raleway Thin Regular"/>
                <a:ea typeface="Raleway Thin Regular"/>
                <a:cs typeface="Raleway Thin Regular"/>
                <a:sym typeface="Raleway Thin Regular"/>
              </a:defRPr>
            </a:lvl1pPr>
          </a:lstStyle>
          <a:p>
            <a:pPr/>
            <a:r>
              <a:t>Common Input Types</a:t>
            </a:r>
          </a:p>
        </p:txBody>
      </p:sp>
      <p:sp>
        <p:nvSpPr>
          <p:cNvPr id="468" name="Shape 7"/>
          <p:cNvSpPr/>
          <p:nvPr/>
        </p:nvSpPr>
        <p:spPr>
          <a:xfrm>
            <a:off x="6212085" y="4115632"/>
            <a:ext cx="3716775" cy="1268493"/>
          </a:xfrm>
          <a:prstGeom prst="roundRect">
            <a:avLst>
              <a:gd name="adj" fmla="val 8650"/>
            </a:avLst>
          </a:prstGeom>
          <a:solidFill>
            <a:srgbClr val="FFFFFF">
              <a:alpha val="95000"/>
            </a:srgbClr>
          </a:solidFill>
          <a:ln w="22860">
            <a:solidFill>
              <a:srgbClr val="C7C7D0"/>
            </a:solidFill>
          </a:ln>
        </p:spPr>
        <p:txBody>
          <a:bodyPr lIns="45719" rIns="45719"/>
          <a:lstStyle/>
          <a:p>
            <a:pPr/>
          </a:p>
        </p:txBody>
      </p:sp>
      <p:sp>
        <p:nvSpPr>
          <p:cNvPr id="469" name="Shape 8"/>
          <p:cNvSpPr/>
          <p:nvPr/>
        </p:nvSpPr>
        <p:spPr>
          <a:xfrm>
            <a:off x="6189226" y="4115632"/>
            <a:ext cx="91441" cy="1268493"/>
          </a:xfrm>
          <a:prstGeom prst="roundRect">
            <a:avLst>
              <a:gd name="adj" fmla="val 50000"/>
            </a:avLst>
          </a:prstGeom>
          <a:solidFill>
            <a:srgbClr val="1B1B27"/>
          </a:solidFill>
          <a:ln w="12700">
            <a:miter lim="400000"/>
          </a:ln>
        </p:spPr>
        <p:txBody>
          <a:bodyPr lIns="45719" rIns="45719"/>
          <a:lstStyle/>
          <a:p>
            <a:pPr/>
          </a:p>
        </p:txBody>
      </p:sp>
      <p:sp>
        <p:nvSpPr>
          <p:cNvPr id="470" name="Text 9"/>
          <p:cNvSpPr txBox="1"/>
          <p:nvPr/>
        </p:nvSpPr>
        <p:spPr>
          <a:xfrm>
            <a:off x="6501884" y="4336851"/>
            <a:ext cx="472130"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Text</a:t>
            </a:r>
          </a:p>
        </p:txBody>
      </p:sp>
      <p:sp>
        <p:nvSpPr>
          <p:cNvPr id="471" name="Text 10"/>
          <p:cNvSpPr txBox="1"/>
          <p:nvPr/>
        </p:nvSpPr>
        <p:spPr>
          <a:xfrm>
            <a:off x="6501884" y="4845367"/>
            <a:ext cx="2514129"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Emails, chats, reviews, tickets</a:t>
            </a:r>
          </a:p>
        </p:txBody>
      </p:sp>
      <p:sp>
        <p:nvSpPr>
          <p:cNvPr id="472" name="Shape 11"/>
          <p:cNvSpPr/>
          <p:nvPr/>
        </p:nvSpPr>
        <p:spPr>
          <a:xfrm>
            <a:off x="10127218" y="4115632"/>
            <a:ext cx="3716894" cy="1268493"/>
          </a:xfrm>
          <a:prstGeom prst="roundRect">
            <a:avLst>
              <a:gd name="adj" fmla="val 8650"/>
            </a:avLst>
          </a:prstGeom>
          <a:solidFill>
            <a:srgbClr val="FFFFFF">
              <a:alpha val="95000"/>
            </a:srgbClr>
          </a:solidFill>
          <a:ln w="22860">
            <a:solidFill>
              <a:srgbClr val="C7C7D0"/>
            </a:solidFill>
          </a:ln>
        </p:spPr>
        <p:txBody>
          <a:bodyPr lIns="45719" rIns="45719"/>
          <a:lstStyle/>
          <a:p>
            <a:pPr/>
          </a:p>
        </p:txBody>
      </p:sp>
      <p:sp>
        <p:nvSpPr>
          <p:cNvPr id="473" name="Shape 12"/>
          <p:cNvSpPr/>
          <p:nvPr/>
        </p:nvSpPr>
        <p:spPr>
          <a:xfrm>
            <a:off x="10104357" y="4115632"/>
            <a:ext cx="91441" cy="1268493"/>
          </a:xfrm>
          <a:prstGeom prst="roundRect">
            <a:avLst>
              <a:gd name="adj" fmla="val 50000"/>
            </a:avLst>
          </a:prstGeom>
          <a:solidFill>
            <a:srgbClr val="1B1B27"/>
          </a:solidFill>
          <a:ln w="12700">
            <a:miter lim="400000"/>
          </a:ln>
        </p:spPr>
        <p:txBody>
          <a:bodyPr lIns="45719" rIns="45719"/>
          <a:lstStyle/>
          <a:p>
            <a:pPr/>
          </a:p>
        </p:txBody>
      </p:sp>
      <p:sp>
        <p:nvSpPr>
          <p:cNvPr id="474" name="Text 13"/>
          <p:cNvSpPr txBox="1"/>
          <p:nvPr/>
        </p:nvSpPr>
        <p:spPr>
          <a:xfrm>
            <a:off x="10417016" y="4336851"/>
            <a:ext cx="716453"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Image</a:t>
            </a:r>
          </a:p>
        </p:txBody>
      </p:sp>
      <p:sp>
        <p:nvSpPr>
          <p:cNvPr id="475" name="Text 14"/>
          <p:cNvSpPr txBox="1"/>
          <p:nvPr/>
        </p:nvSpPr>
        <p:spPr>
          <a:xfrm>
            <a:off x="10417016" y="4845367"/>
            <a:ext cx="2243262"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Photos, scans, documents</a:t>
            </a:r>
          </a:p>
        </p:txBody>
      </p:sp>
      <p:sp>
        <p:nvSpPr>
          <p:cNvPr id="476" name="Shape 15"/>
          <p:cNvSpPr/>
          <p:nvPr/>
        </p:nvSpPr>
        <p:spPr>
          <a:xfrm>
            <a:off x="6212085" y="5582482"/>
            <a:ext cx="3716775" cy="1268493"/>
          </a:xfrm>
          <a:prstGeom prst="roundRect">
            <a:avLst>
              <a:gd name="adj" fmla="val 8650"/>
            </a:avLst>
          </a:prstGeom>
          <a:solidFill>
            <a:srgbClr val="FFFFFF">
              <a:alpha val="95000"/>
            </a:srgbClr>
          </a:solidFill>
          <a:ln w="22860">
            <a:solidFill>
              <a:srgbClr val="C7C7D0"/>
            </a:solidFill>
          </a:ln>
        </p:spPr>
        <p:txBody>
          <a:bodyPr lIns="45719" rIns="45719"/>
          <a:lstStyle/>
          <a:p>
            <a:pPr/>
          </a:p>
        </p:txBody>
      </p:sp>
      <p:sp>
        <p:nvSpPr>
          <p:cNvPr id="477" name="Shape 16"/>
          <p:cNvSpPr/>
          <p:nvPr/>
        </p:nvSpPr>
        <p:spPr>
          <a:xfrm>
            <a:off x="6189226" y="5582482"/>
            <a:ext cx="91441" cy="1268493"/>
          </a:xfrm>
          <a:prstGeom prst="roundRect">
            <a:avLst>
              <a:gd name="adj" fmla="val 50000"/>
            </a:avLst>
          </a:prstGeom>
          <a:solidFill>
            <a:srgbClr val="1B1B27"/>
          </a:solidFill>
          <a:ln w="12700">
            <a:miter lim="400000"/>
          </a:ln>
        </p:spPr>
        <p:txBody>
          <a:bodyPr lIns="45719" rIns="45719"/>
          <a:lstStyle/>
          <a:p>
            <a:pPr/>
          </a:p>
        </p:txBody>
      </p:sp>
      <p:sp>
        <p:nvSpPr>
          <p:cNvPr id="478" name="Text 17"/>
          <p:cNvSpPr txBox="1"/>
          <p:nvPr/>
        </p:nvSpPr>
        <p:spPr>
          <a:xfrm>
            <a:off x="6501884" y="5803701"/>
            <a:ext cx="662502"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Audio</a:t>
            </a:r>
          </a:p>
        </p:txBody>
      </p:sp>
      <p:sp>
        <p:nvSpPr>
          <p:cNvPr id="479" name="Text 18"/>
          <p:cNvSpPr txBox="1"/>
          <p:nvPr/>
        </p:nvSpPr>
        <p:spPr>
          <a:xfrm>
            <a:off x="6501884" y="6312217"/>
            <a:ext cx="2815041"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Call recordings, voice commands</a:t>
            </a:r>
          </a:p>
        </p:txBody>
      </p:sp>
      <p:sp>
        <p:nvSpPr>
          <p:cNvPr id="480" name="Shape 19"/>
          <p:cNvSpPr/>
          <p:nvPr/>
        </p:nvSpPr>
        <p:spPr>
          <a:xfrm>
            <a:off x="10127218" y="5582482"/>
            <a:ext cx="3716894" cy="1268493"/>
          </a:xfrm>
          <a:prstGeom prst="roundRect">
            <a:avLst>
              <a:gd name="adj" fmla="val 8650"/>
            </a:avLst>
          </a:prstGeom>
          <a:solidFill>
            <a:srgbClr val="FFFFFF">
              <a:alpha val="95000"/>
            </a:srgbClr>
          </a:solidFill>
          <a:ln w="22860">
            <a:solidFill>
              <a:srgbClr val="C7C7D0"/>
            </a:solidFill>
          </a:ln>
        </p:spPr>
        <p:txBody>
          <a:bodyPr lIns="45719" rIns="45719"/>
          <a:lstStyle/>
          <a:p>
            <a:pPr/>
          </a:p>
        </p:txBody>
      </p:sp>
      <p:sp>
        <p:nvSpPr>
          <p:cNvPr id="481" name="Shape 20"/>
          <p:cNvSpPr/>
          <p:nvPr/>
        </p:nvSpPr>
        <p:spPr>
          <a:xfrm>
            <a:off x="10104357" y="5582482"/>
            <a:ext cx="91441" cy="1268493"/>
          </a:xfrm>
          <a:prstGeom prst="roundRect">
            <a:avLst>
              <a:gd name="adj" fmla="val 50000"/>
            </a:avLst>
          </a:prstGeom>
          <a:solidFill>
            <a:srgbClr val="1B1B27"/>
          </a:solidFill>
          <a:ln w="12700">
            <a:miter lim="400000"/>
          </a:ln>
        </p:spPr>
        <p:txBody>
          <a:bodyPr lIns="45719" rIns="45719"/>
          <a:lstStyle/>
          <a:p>
            <a:pPr/>
          </a:p>
        </p:txBody>
      </p:sp>
      <p:sp>
        <p:nvSpPr>
          <p:cNvPr id="482" name="Text 21"/>
          <p:cNvSpPr txBox="1"/>
          <p:nvPr/>
        </p:nvSpPr>
        <p:spPr>
          <a:xfrm>
            <a:off x="10417016" y="5803701"/>
            <a:ext cx="1771203"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Structured Data</a:t>
            </a:r>
          </a:p>
        </p:txBody>
      </p:sp>
      <p:sp>
        <p:nvSpPr>
          <p:cNvPr id="483" name="Text 22"/>
          <p:cNvSpPr txBox="1"/>
          <p:nvPr/>
        </p:nvSpPr>
        <p:spPr>
          <a:xfrm>
            <a:off x="10417016" y="6312217"/>
            <a:ext cx="2466783"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Forms, tables, API responses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7" name="Text 0"/>
          <p:cNvSpPr txBox="1"/>
          <p:nvPr/>
        </p:nvSpPr>
        <p:spPr>
          <a:xfrm>
            <a:off x="793790" y="1835943"/>
            <a:ext cx="1058441"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13 OF 28</a:t>
            </a:r>
          </a:p>
        </p:txBody>
      </p:sp>
      <p:sp>
        <p:nvSpPr>
          <p:cNvPr id="488" name="Text 1"/>
          <p:cNvSpPr txBox="1"/>
          <p:nvPr/>
        </p:nvSpPr>
        <p:spPr>
          <a:xfrm>
            <a:off x="793790" y="2228850"/>
            <a:ext cx="10264628"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Output — What Should the System Produce?</a:t>
            </a:r>
          </a:p>
        </p:txBody>
      </p:sp>
      <p:sp>
        <p:nvSpPr>
          <p:cNvPr id="489" name="Text 2"/>
          <p:cNvSpPr txBox="1"/>
          <p:nvPr/>
        </p:nvSpPr>
        <p:spPr>
          <a:xfrm>
            <a:off x="793790" y="3146583"/>
            <a:ext cx="13042822"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Defining the output is arguably the most important step in system design. It determines success criteria, evaluation metrics, and the entire shape of your solution. Vague outputs lead to vague systems.</a:t>
            </a:r>
          </a:p>
        </p:txBody>
      </p:sp>
      <p:sp>
        <p:nvSpPr>
          <p:cNvPr id="490" name="Text 3"/>
          <p:cNvSpPr txBox="1"/>
          <p:nvPr/>
        </p:nvSpPr>
        <p:spPr>
          <a:xfrm>
            <a:off x="1537929" y="4004905"/>
            <a:ext cx="1115507"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Response</a:t>
            </a:r>
          </a:p>
        </p:txBody>
      </p:sp>
      <p:sp>
        <p:nvSpPr>
          <p:cNvPr id="491" name="Text 4"/>
          <p:cNvSpPr txBox="1"/>
          <p:nvPr/>
        </p:nvSpPr>
        <p:spPr>
          <a:xfrm>
            <a:off x="1537929" y="4434125"/>
            <a:ext cx="3438051"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A natural language reply generated for the user — common in chatbots and email drafting systems.</a:t>
            </a:r>
          </a:p>
        </p:txBody>
      </p:sp>
      <p:sp>
        <p:nvSpPr>
          <p:cNvPr id="492" name="Text 5"/>
          <p:cNvSpPr txBox="1"/>
          <p:nvPr/>
        </p:nvSpPr>
        <p:spPr>
          <a:xfrm>
            <a:off x="5968127" y="4004905"/>
            <a:ext cx="1927497"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Label / Category</a:t>
            </a:r>
          </a:p>
        </p:txBody>
      </p:sp>
      <p:sp>
        <p:nvSpPr>
          <p:cNvPr id="493" name="Text 6"/>
          <p:cNvSpPr txBox="1"/>
          <p:nvPr/>
        </p:nvSpPr>
        <p:spPr>
          <a:xfrm>
            <a:off x="5968127" y="4434125"/>
            <a:ext cx="3438169"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A classification decision — spam vs. not spam, urgent vs. routine, positive vs. negative sentiment.</a:t>
            </a:r>
          </a:p>
        </p:txBody>
      </p:sp>
      <p:sp>
        <p:nvSpPr>
          <p:cNvPr id="494" name="Text 7"/>
          <p:cNvSpPr txBox="1"/>
          <p:nvPr/>
        </p:nvSpPr>
        <p:spPr>
          <a:xfrm>
            <a:off x="10398442" y="4004905"/>
            <a:ext cx="722286"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Action</a:t>
            </a:r>
          </a:p>
        </p:txBody>
      </p:sp>
      <p:sp>
        <p:nvSpPr>
          <p:cNvPr id="495" name="Text 8"/>
          <p:cNvSpPr txBox="1"/>
          <p:nvPr/>
        </p:nvSpPr>
        <p:spPr>
          <a:xfrm>
            <a:off x="10398442" y="4434125"/>
            <a:ext cx="3438169"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A trigger or instruction — route to agent, send notification, escalate ticket, archive email.</a:t>
            </a:r>
          </a:p>
        </p:txBody>
      </p:sp>
      <p:sp>
        <p:nvSpPr>
          <p:cNvPr id="496" name="Shape 9"/>
          <p:cNvSpPr/>
          <p:nvPr/>
        </p:nvSpPr>
        <p:spPr>
          <a:xfrm>
            <a:off x="793790" y="5609987"/>
            <a:ext cx="13042821" cy="843201"/>
          </a:xfrm>
          <a:prstGeom prst="roundRect">
            <a:avLst>
              <a:gd name="adj" fmla="val 9886"/>
            </a:avLst>
          </a:prstGeom>
          <a:solidFill>
            <a:srgbClr val="B6D6FC"/>
          </a:solidFill>
          <a:ln w="12700">
            <a:miter lim="400000"/>
          </a:ln>
        </p:spPr>
        <p:txBody>
          <a:bodyPr lIns="45719" rIns="45719"/>
          <a:lstStyle/>
          <a:p>
            <a:pPr/>
          </a:p>
        </p:txBody>
      </p:sp>
      <p:pic>
        <p:nvPicPr>
          <p:cNvPr id="497" name="Image 3" descr="Image 3"/>
          <p:cNvPicPr>
            <a:picLocks noChangeAspect="1"/>
          </p:cNvPicPr>
          <p:nvPr/>
        </p:nvPicPr>
        <p:blipFill>
          <a:blip r:embed="rId3">
            <a:extLst/>
          </a:blip>
          <a:stretch>
            <a:fillRect/>
          </a:stretch>
        </p:blipFill>
        <p:spPr>
          <a:xfrm>
            <a:off x="992147" y="5905262"/>
            <a:ext cx="248008" cy="198359"/>
          </a:xfrm>
          <a:prstGeom prst="rect">
            <a:avLst/>
          </a:prstGeom>
          <a:ln w="12700">
            <a:miter lim="400000"/>
          </a:ln>
        </p:spPr>
      </p:pic>
      <p:sp>
        <p:nvSpPr>
          <p:cNvPr id="498" name="Text 10"/>
          <p:cNvSpPr txBox="1"/>
          <p:nvPr/>
        </p:nvSpPr>
        <p:spPr>
          <a:xfrm>
            <a:off x="1438512" y="5857875"/>
            <a:ext cx="8104022"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latin typeface="Roboto Regular Regular"/>
                <a:ea typeface="Roboto Regular Regular"/>
                <a:cs typeface="Roboto Regular Regular"/>
                <a:sym typeface="Roboto Regular Regular"/>
              </a:defRPr>
            </a:lvl1pPr>
          </a:lstStyle>
          <a:p>
            <a:pPr/>
            <a:r>
              <a:t>Pro tip: Write the output spec before designing the model. Work backwards from what you need.</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2" name="Text 0"/>
          <p:cNvSpPr txBox="1"/>
          <p:nvPr/>
        </p:nvSpPr>
        <p:spPr>
          <a:xfrm>
            <a:off x="793790" y="1484590"/>
            <a:ext cx="1058441"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14 OF 28</a:t>
            </a:r>
          </a:p>
        </p:txBody>
      </p:sp>
      <p:sp>
        <p:nvSpPr>
          <p:cNvPr id="503" name="Text 1"/>
          <p:cNvSpPr txBox="1"/>
          <p:nvPr/>
        </p:nvSpPr>
        <p:spPr>
          <a:xfrm>
            <a:off x="793789" y="1877497"/>
            <a:ext cx="9273319"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Data — What Do We Have to Work With?</a:t>
            </a:r>
          </a:p>
        </p:txBody>
      </p:sp>
      <p:sp>
        <p:nvSpPr>
          <p:cNvPr id="504" name="Text 2"/>
          <p:cNvSpPr txBox="1"/>
          <p:nvPr/>
        </p:nvSpPr>
        <p:spPr>
          <a:xfrm>
            <a:off x="793790" y="2795229"/>
            <a:ext cx="13042822"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Data is the raw material of every AI system. Even the most sophisticated model is only as good as the information it is trained on or retrieves from. Understanding your data early prevents expensive surprises later.</a:t>
            </a:r>
          </a:p>
        </p:txBody>
      </p:sp>
      <p:sp>
        <p:nvSpPr>
          <p:cNvPr id="505" name="Shape 3"/>
          <p:cNvSpPr/>
          <p:nvPr/>
        </p:nvSpPr>
        <p:spPr>
          <a:xfrm>
            <a:off x="793790" y="3653552"/>
            <a:ext cx="6422231" cy="1476257"/>
          </a:xfrm>
          <a:prstGeom prst="roundRect">
            <a:avLst>
              <a:gd name="adj" fmla="val 5647"/>
            </a:avLst>
          </a:prstGeom>
          <a:solidFill>
            <a:srgbClr val="E1E1EA"/>
          </a:solidFill>
          <a:ln w="7620">
            <a:solidFill>
              <a:srgbClr val="C7C7D0"/>
            </a:solidFill>
          </a:ln>
        </p:spPr>
        <p:txBody>
          <a:bodyPr lIns="45719" rIns="45719"/>
          <a:lstStyle/>
          <a:p>
            <a:pPr/>
          </a:p>
        </p:txBody>
      </p:sp>
      <p:sp>
        <p:nvSpPr>
          <p:cNvPr id="506" name="Text 4"/>
          <p:cNvSpPr txBox="1"/>
          <p:nvPr/>
        </p:nvSpPr>
        <p:spPr>
          <a:xfrm>
            <a:off x="999768" y="3859529"/>
            <a:ext cx="876350"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Volume</a:t>
            </a:r>
          </a:p>
        </p:txBody>
      </p:sp>
      <p:sp>
        <p:nvSpPr>
          <p:cNvPr id="507" name="Text 5"/>
          <p:cNvSpPr txBox="1"/>
          <p:nvPr/>
        </p:nvSpPr>
        <p:spPr>
          <a:xfrm>
            <a:off x="999768" y="4288749"/>
            <a:ext cx="6010276"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How many examples do you have? Is it enough to train, fine-tune, or retrieve from meaningfully?</a:t>
            </a:r>
          </a:p>
        </p:txBody>
      </p:sp>
      <p:sp>
        <p:nvSpPr>
          <p:cNvPr id="508" name="Shape 6"/>
          <p:cNvSpPr/>
          <p:nvPr/>
        </p:nvSpPr>
        <p:spPr>
          <a:xfrm>
            <a:off x="7414379" y="3653552"/>
            <a:ext cx="6422232" cy="1476257"/>
          </a:xfrm>
          <a:prstGeom prst="roundRect">
            <a:avLst>
              <a:gd name="adj" fmla="val 5647"/>
            </a:avLst>
          </a:prstGeom>
          <a:solidFill>
            <a:srgbClr val="E1E1EA"/>
          </a:solidFill>
          <a:ln w="7620">
            <a:solidFill>
              <a:srgbClr val="C7C7D0"/>
            </a:solidFill>
          </a:ln>
        </p:spPr>
        <p:txBody>
          <a:bodyPr lIns="45719" rIns="45719"/>
          <a:lstStyle/>
          <a:p>
            <a:pPr/>
          </a:p>
        </p:txBody>
      </p:sp>
      <p:sp>
        <p:nvSpPr>
          <p:cNvPr id="509" name="Text 7"/>
          <p:cNvSpPr txBox="1"/>
          <p:nvPr/>
        </p:nvSpPr>
        <p:spPr>
          <a:xfrm>
            <a:off x="7620357" y="3859529"/>
            <a:ext cx="798165"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Quality</a:t>
            </a:r>
          </a:p>
        </p:txBody>
      </p:sp>
      <p:sp>
        <p:nvSpPr>
          <p:cNvPr id="510" name="Text 8"/>
          <p:cNvSpPr txBox="1"/>
          <p:nvPr/>
        </p:nvSpPr>
        <p:spPr>
          <a:xfrm>
            <a:off x="7620357" y="4288749"/>
            <a:ext cx="6010276"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Is the data labeled? Is it clean, consistent, and representative of real-world conditions?</a:t>
            </a:r>
          </a:p>
        </p:txBody>
      </p:sp>
      <p:sp>
        <p:nvSpPr>
          <p:cNvPr id="511" name="Shape 9"/>
          <p:cNvSpPr/>
          <p:nvPr/>
        </p:nvSpPr>
        <p:spPr>
          <a:xfrm>
            <a:off x="793790" y="5328165"/>
            <a:ext cx="6422231" cy="1476257"/>
          </a:xfrm>
          <a:prstGeom prst="roundRect">
            <a:avLst>
              <a:gd name="adj" fmla="val 5647"/>
            </a:avLst>
          </a:prstGeom>
          <a:solidFill>
            <a:srgbClr val="E1E1EA"/>
          </a:solidFill>
          <a:ln w="7620">
            <a:solidFill>
              <a:srgbClr val="C7C7D0"/>
            </a:solidFill>
          </a:ln>
        </p:spPr>
        <p:txBody>
          <a:bodyPr lIns="45719" rIns="45719"/>
          <a:lstStyle/>
          <a:p>
            <a:pPr/>
          </a:p>
        </p:txBody>
      </p:sp>
      <p:sp>
        <p:nvSpPr>
          <p:cNvPr id="512" name="Text 10"/>
          <p:cNvSpPr txBox="1"/>
          <p:nvPr/>
        </p:nvSpPr>
        <p:spPr>
          <a:xfrm>
            <a:off x="999768" y="5534143"/>
            <a:ext cx="1205981"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Availability</a:t>
            </a:r>
          </a:p>
        </p:txBody>
      </p:sp>
      <p:sp>
        <p:nvSpPr>
          <p:cNvPr id="513" name="Text 11"/>
          <p:cNvSpPr txBox="1"/>
          <p:nvPr/>
        </p:nvSpPr>
        <p:spPr>
          <a:xfrm>
            <a:off x="999768" y="5963363"/>
            <a:ext cx="6010276"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Is the data accessible right now? Are there legal, privacy, or access restrictions to navigate?</a:t>
            </a:r>
          </a:p>
        </p:txBody>
      </p:sp>
      <p:sp>
        <p:nvSpPr>
          <p:cNvPr id="514" name="Shape 12"/>
          <p:cNvSpPr/>
          <p:nvPr/>
        </p:nvSpPr>
        <p:spPr>
          <a:xfrm>
            <a:off x="7414379" y="5328165"/>
            <a:ext cx="6422232" cy="1476257"/>
          </a:xfrm>
          <a:prstGeom prst="roundRect">
            <a:avLst>
              <a:gd name="adj" fmla="val 5647"/>
            </a:avLst>
          </a:prstGeom>
          <a:solidFill>
            <a:srgbClr val="E1E1EA"/>
          </a:solidFill>
          <a:ln w="7620">
            <a:solidFill>
              <a:srgbClr val="C7C7D0"/>
            </a:solidFill>
          </a:ln>
        </p:spPr>
        <p:txBody>
          <a:bodyPr lIns="45719" rIns="45719"/>
          <a:lstStyle/>
          <a:p>
            <a:pPr/>
          </a:p>
        </p:txBody>
      </p:sp>
      <p:sp>
        <p:nvSpPr>
          <p:cNvPr id="515" name="Text 13"/>
          <p:cNvSpPr txBox="1"/>
          <p:nvPr/>
        </p:nvSpPr>
        <p:spPr>
          <a:xfrm>
            <a:off x="7620357" y="5534143"/>
            <a:ext cx="1044996"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Structure</a:t>
            </a:r>
          </a:p>
        </p:txBody>
      </p:sp>
      <p:sp>
        <p:nvSpPr>
          <p:cNvPr id="516" name="Text 14"/>
          <p:cNvSpPr txBox="1"/>
          <p:nvPr/>
        </p:nvSpPr>
        <p:spPr>
          <a:xfrm>
            <a:off x="7620357" y="5963363"/>
            <a:ext cx="6010276"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Is it organized in a format your system can ingest, or does it require significant preprocessing work?</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0" name="Text 0"/>
          <p:cNvSpPr txBox="1"/>
          <p:nvPr/>
        </p:nvSpPr>
        <p:spPr>
          <a:xfrm>
            <a:off x="781407" y="611505"/>
            <a:ext cx="971296" cy="21698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800"/>
              </a:lnSpc>
              <a:defRPr sz="1100">
                <a:solidFill>
                  <a:srgbClr val="1B1B27"/>
                </a:solidFill>
                <a:latin typeface="Roboto Regular Regular"/>
                <a:ea typeface="Roboto Regular Regular"/>
                <a:cs typeface="Roboto Regular Regular"/>
                <a:sym typeface="Roboto Regular Regular"/>
              </a:defRPr>
            </a:lvl1pPr>
          </a:lstStyle>
          <a:p>
            <a:pPr/>
            <a:r>
              <a:t>SLIDE 15 OF 28</a:t>
            </a:r>
          </a:p>
        </p:txBody>
      </p:sp>
      <p:sp>
        <p:nvSpPr>
          <p:cNvPr id="521" name="Text 1"/>
          <p:cNvSpPr txBox="1"/>
          <p:nvPr/>
        </p:nvSpPr>
        <p:spPr>
          <a:xfrm>
            <a:off x="781406" y="966310"/>
            <a:ext cx="6520449" cy="56418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500"/>
              </a:lnSpc>
              <a:defRPr sz="3600">
                <a:solidFill>
                  <a:srgbClr val="1B1B27"/>
                </a:solidFill>
                <a:latin typeface="Raleway Thin Regular"/>
                <a:ea typeface="Raleway Thin Regular"/>
                <a:cs typeface="Raleway Thin Regular"/>
                <a:sym typeface="Raleway Thin Regular"/>
              </a:defRPr>
            </a:lvl1pPr>
          </a:lstStyle>
          <a:p>
            <a:pPr/>
            <a:r>
              <a:t>The Core Model of Any System</a:t>
            </a:r>
          </a:p>
        </p:txBody>
      </p:sp>
      <p:sp>
        <p:nvSpPr>
          <p:cNvPr id="522" name="Text 2"/>
          <p:cNvSpPr txBox="1"/>
          <p:nvPr/>
        </p:nvSpPr>
        <p:spPr>
          <a:xfrm>
            <a:off x="781406" y="1806535"/>
            <a:ext cx="13067587" cy="5463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z="1400">
                <a:solidFill>
                  <a:srgbClr val="3C3939"/>
                </a:solidFill>
                <a:latin typeface="Roboto Regular Regular"/>
                <a:ea typeface="Roboto Regular Regular"/>
                <a:cs typeface="Roboto Regular Regular"/>
                <a:sym typeface="Roboto Regular Regular"/>
              </a:defRPr>
            </a:lvl1pPr>
          </a:lstStyle>
          <a:p>
            <a:pPr/>
            <a:r>
              <a:t>Strip away the complexity of any AI system and you will find the same fundamental structure underneath. This three-part model is the universal framework for thinking about what a system does and how it works.</a:t>
            </a:r>
          </a:p>
        </p:txBody>
      </p:sp>
      <p:pic>
        <p:nvPicPr>
          <p:cNvPr id="523" name="Image 0" descr="Image 0"/>
          <p:cNvPicPr>
            <a:picLocks noChangeAspect="1"/>
          </p:cNvPicPr>
          <p:nvPr/>
        </p:nvPicPr>
        <p:blipFill>
          <a:blip r:embed="rId3">
            <a:extLst/>
          </a:blip>
          <a:stretch>
            <a:fillRect/>
          </a:stretch>
        </p:blipFill>
        <p:spPr>
          <a:xfrm>
            <a:off x="3669505" y="2576392"/>
            <a:ext cx="7291269" cy="4327447"/>
          </a:xfrm>
          <a:prstGeom prst="rect">
            <a:avLst/>
          </a:prstGeom>
          <a:ln w="12700">
            <a:miter lim="400000"/>
          </a:ln>
        </p:spPr>
      </p:pic>
      <p:sp>
        <p:nvSpPr>
          <p:cNvPr id="524" name="Text 3"/>
          <p:cNvSpPr txBox="1"/>
          <p:nvPr/>
        </p:nvSpPr>
        <p:spPr>
          <a:xfrm>
            <a:off x="9214119" y="5900063"/>
            <a:ext cx="872940" cy="33672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700"/>
              </a:lnSpc>
              <a:defRPr sz="2100">
                <a:solidFill>
                  <a:srgbClr val="3C3939"/>
                </a:solidFill>
                <a:latin typeface="Raleway Thin Regular"/>
                <a:ea typeface="Raleway Thin Regular"/>
                <a:cs typeface="Raleway Thin Regular"/>
                <a:sym typeface="Raleway Thin Regular"/>
              </a:defRPr>
            </a:lvl1pPr>
          </a:lstStyle>
          <a:p>
            <a:pPr/>
            <a:r>
              <a:t>Output</a:t>
            </a:r>
          </a:p>
        </p:txBody>
      </p:sp>
      <p:sp>
        <p:nvSpPr>
          <p:cNvPr id="525" name="Text 4"/>
          <p:cNvSpPr txBox="1"/>
          <p:nvPr/>
        </p:nvSpPr>
        <p:spPr>
          <a:xfrm>
            <a:off x="6684341" y="5900063"/>
            <a:ext cx="1364089" cy="33672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700"/>
              </a:lnSpc>
              <a:defRPr sz="2100">
                <a:solidFill>
                  <a:srgbClr val="3C3939"/>
                </a:solidFill>
                <a:latin typeface="Raleway Thin Regular"/>
                <a:ea typeface="Raleway Thin Regular"/>
                <a:cs typeface="Raleway Thin Regular"/>
                <a:sym typeface="Raleway Thin Regular"/>
              </a:defRPr>
            </a:lvl1pPr>
          </a:lstStyle>
          <a:p>
            <a:pPr/>
            <a:r>
              <a:t>Processing</a:t>
            </a:r>
          </a:p>
        </p:txBody>
      </p:sp>
      <p:sp>
        <p:nvSpPr>
          <p:cNvPr id="526" name="Text 5"/>
          <p:cNvSpPr txBox="1"/>
          <p:nvPr/>
        </p:nvSpPr>
        <p:spPr>
          <a:xfrm>
            <a:off x="4721715" y="5900063"/>
            <a:ext cx="646449" cy="33672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700"/>
              </a:lnSpc>
              <a:defRPr sz="2100">
                <a:solidFill>
                  <a:srgbClr val="3C3939"/>
                </a:solidFill>
                <a:latin typeface="Raleway Thin Regular"/>
                <a:ea typeface="Raleway Thin Regular"/>
                <a:cs typeface="Raleway Thin Regular"/>
                <a:sym typeface="Raleway Thin Regular"/>
              </a:defRPr>
            </a:lvl1pPr>
          </a:lstStyle>
          <a:p>
            <a:pPr/>
            <a:r>
              <a:t>Input</a:t>
            </a:r>
          </a:p>
        </p:txBody>
      </p:sp>
      <p:sp>
        <p:nvSpPr>
          <p:cNvPr id="527" name="Text 6"/>
          <p:cNvSpPr txBox="1"/>
          <p:nvPr/>
        </p:nvSpPr>
        <p:spPr>
          <a:xfrm>
            <a:off x="781406" y="7099102"/>
            <a:ext cx="13067587" cy="5463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z="1400">
                <a:solidFill>
                  <a:srgbClr val="3C3939"/>
                </a:solidFill>
                <a:latin typeface="Roboto Regular Regular"/>
                <a:ea typeface="Roboto Regular Regular"/>
                <a:cs typeface="Roboto Regular Regular"/>
                <a:sym typeface="Roboto Regular Regular"/>
              </a:defRPr>
            </a:lvl1pPr>
          </a:lstStyle>
          <a:p>
            <a:pPr/>
            <a:r>
              <a:t>Every design decision you make maps to one of these three layers. When something breaks, you trace it back to one of them. This mental model keeps complex systems manageable.</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1" name="Text 0"/>
          <p:cNvSpPr txBox="1"/>
          <p:nvPr/>
        </p:nvSpPr>
        <p:spPr>
          <a:xfrm>
            <a:off x="781407" y="607575"/>
            <a:ext cx="1058441" cy="23024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200">
                <a:solidFill>
                  <a:srgbClr val="1B1B27"/>
                </a:solidFill>
                <a:latin typeface="Roboto Regular Regular"/>
                <a:ea typeface="Roboto Regular Regular"/>
                <a:cs typeface="Roboto Regular Regular"/>
                <a:sym typeface="Roboto Regular Regular"/>
              </a:defRPr>
            </a:lvl1pPr>
          </a:lstStyle>
          <a:p>
            <a:pPr/>
            <a:r>
              <a:t>SLIDE 16 OF 28</a:t>
            </a:r>
          </a:p>
        </p:txBody>
      </p:sp>
      <p:sp>
        <p:nvSpPr>
          <p:cNvPr id="532" name="Text 1"/>
          <p:cNvSpPr txBox="1"/>
          <p:nvPr/>
        </p:nvSpPr>
        <p:spPr>
          <a:xfrm>
            <a:off x="781406" y="991195"/>
            <a:ext cx="9568992" cy="60060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800">
                <a:solidFill>
                  <a:srgbClr val="1B1B27"/>
                </a:solidFill>
                <a:latin typeface="Raleway Thin Regular"/>
                <a:ea typeface="Raleway Thin Regular"/>
                <a:cs typeface="Raleway Thin Regular"/>
                <a:sym typeface="Raleway Thin Regular"/>
              </a:defRPr>
            </a:lvl1pPr>
          </a:lstStyle>
          <a:p>
            <a:pPr/>
            <a:r>
              <a:t>The Processing Layer — Three Approaches</a:t>
            </a:r>
          </a:p>
        </p:txBody>
      </p:sp>
      <p:sp>
        <p:nvSpPr>
          <p:cNvPr id="533" name="Text 2"/>
          <p:cNvSpPr txBox="1"/>
          <p:nvPr/>
        </p:nvSpPr>
        <p:spPr>
          <a:xfrm>
            <a:off x="781406" y="1889998"/>
            <a:ext cx="13067587" cy="5951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400"/>
              </a:lnSpc>
              <a:defRPr sz="1500">
                <a:solidFill>
                  <a:srgbClr val="3C3939"/>
                </a:solidFill>
                <a:latin typeface="Roboto Regular Regular"/>
                <a:ea typeface="Roboto Regular Regular"/>
                <a:cs typeface="Roboto Regular Regular"/>
                <a:sym typeface="Roboto Regular Regular"/>
              </a:defRPr>
            </a:lvl1pPr>
          </a:lstStyle>
          <a:p>
            <a:pPr/>
            <a:r>
              <a:t>The processing layer is where the real engineering decisions live. Not every problem needs AI — and choosing the right approach for the right situation is a core FDE competency.</a:t>
            </a:r>
          </a:p>
        </p:txBody>
      </p:sp>
      <p:sp>
        <p:nvSpPr>
          <p:cNvPr id="534" name="Shape 3"/>
          <p:cNvSpPr/>
          <p:nvPr/>
        </p:nvSpPr>
        <p:spPr>
          <a:xfrm>
            <a:off x="781407" y="2726650"/>
            <a:ext cx="2177892" cy="1431370"/>
          </a:xfrm>
          <a:prstGeom prst="roundRect">
            <a:avLst>
              <a:gd name="adj" fmla="val 5733"/>
            </a:avLst>
          </a:prstGeom>
          <a:solidFill>
            <a:srgbClr val="E1E1EA"/>
          </a:solidFill>
          <a:ln w="7620">
            <a:solidFill>
              <a:srgbClr val="C7C7D0"/>
            </a:solidFill>
          </a:ln>
        </p:spPr>
        <p:txBody>
          <a:bodyPr lIns="45719" rIns="45719"/>
          <a:lstStyle/>
          <a:p>
            <a:pPr/>
          </a:p>
        </p:txBody>
      </p:sp>
      <p:sp>
        <p:nvSpPr>
          <p:cNvPr id="535" name="Text 4"/>
          <p:cNvSpPr txBox="1"/>
          <p:nvPr/>
        </p:nvSpPr>
        <p:spPr>
          <a:xfrm>
            <a:off x="1806793" y="3270646"/>
            <a:ext cx="127001" cy="40784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3400"/>
              </a:lnSpc>
              <a:defRPr sz="2100">
                <a:solidFill>
                  <a:srgbClr val="3C3939"/>
                </a:solidFill>
                <a:latin typeface="Raleway Thin Regular"/>
                <a:ea typeface="Raleway Thin Regular"/>
                <a:cs typeface="Raleway Thin Regular"/>
                <a:sym typeface="Raleway Thin Regular"/>
              </a:defRPr>
            </a:lvl1pPr>
          </a:lstStyle>
          <a:p>
            <a:pPr/>
            <a:r>
              <a:t>1</a:t>
            </a:r>
          </a:p>
        </p:txBody>
      </p:sp>
      <p:sp>
        <p:nvSpPr>
          <p:cNvPr id="536" name="Text 5"/>
          <p:cNvSpPr txBox="1"/>
          <p:nvPr/>
        </p:nvSpPr>
        <p:spPr>
          <a:xfrm>
            <a:off x="3154560" y="2921912"/>
            <a:ext cx="635250"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Rules</a:t>
            </a:r>
          </a:p>
        </p:txBody>
      </p:sp>
      <p:sp>
        <p:nvSpPr>
          <p:cNvPr id="537" name="Text 6"/>
          <p:cNvSpPr txBox="1"/>
          <p:nvPr/>
        </p:nvSpPr>
        <p:spPr>
          <a:xfrm>
            <a:off x="3154560" y="3342442"/>
            <a:ext cx="10499170" cy="5951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400"/>
              </a:lnSpc>
              <a:defRPr sz="1500">
                <a:solidFill>
                  <a:srgbClr val="3C3939"/>
                </a:solidFill>
                <a:latin typeface="Roboto Regular Regular"/>
                <a:ea typeface="Roboto Regular Regular"/>
                <a:cs typeface="Roboto Regular Regular"/>
                <a:sym typeface="Roboto Regular Regular"/>
              </a:defRPr>
            </a:lvl1pPr>
          </a:lstStyle>
          <a:p>
            <a:pPr/>
            <a:r>
              <a:t>Hand-coded logic — if/else conditions, keyword matching, regex. Fast, predictable, and fully explainable. Best for simple, stable problems.</a:t>
            </a:r>
          </a:p>
        </p:txBody>
      </p:sp>
      <p:sp>
        <p:nvSpPr>
          <p:cNvPr id="538" name="Shape 7"/>
          <p:cNvSpPr/>
          <p:nvPr/>
        </p:nvSpPr>
        <p:spPr>
          <a:xfrm>
            <a:off x="3056929" y="4147859"/>
            <a:ext cx="10694434"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5" y="0"/>
                  <a:pt x="12" y="0"/>
                </a:cubicBezTo>
                <a:lnTo>
                  <a:pt x="21588" y="0"/>
                </a:lnTo>
                <a:cubicBezTo>
                  <a:pt x="21595" y="0"/>
                  <a:pt x="21600" y="4835"/>
                  <a:pt x="21600" y="10800"/>
                </a:cubicBezTo>
                <a:cubicBezTo>
                  <a:pt x="21600" y="16765"/>
                  <a:pt x="21595" y="21600"/>
                  <a:pt x="21588" y="21600"/>
                </a:cubicBezTo>
                <a:lnTo>
                  <a:pt x="12" y="21600"/>
                </a:lnTo>
                <a:cubicBezTo>
                  <a:pt x="5" y="21600"/>
                  <a:pt x="0" y="16765"/>
                  <a:pt x="0" y="10800"/>
                </a:cubicBezTo>
                <a:close/>
              </a:path>
            </a:pathLst>
          </a:custGeom>
          <a:solidFill>
            <a:srgbClr val="C7C7D0"/>
          </a:solidFill>
          <a:ln w="12700">
            <a:miter lim="400000"/>
          </a:ln>
        </p:spPr>
        <p:txBody>
          <a:bodyPr lIns="45719" rIns="45719"/>
          <a:lstStyle/>
          <a:p>
            <a:pPr/>
          </a:p>
        </p:txBody>
      </p:sp>
      <p:sp>
        <p:nvSpPr>
          <p:cNvPr id="539" name="Shape 8"/>
          <p:cNvSpPr/>
          <p:nvPr/>
        </p:nvSpPr>
        <p:spPr>
          <a:xfrm>
            <a:off x="781407" y="4255651"/>
            <a:ext cx="4355783" cy="1431370"/>
          </a:xfrm>
          <a:prstGeom prst="roundRect">
            <a:avLst>
              <a:gd name="adj" fmla="val 5733"/>
            </a:avLst>
          </a:prstGeom>
          <a:solidFill>
            <a:srgbClr val="E1E1EA"/>
          </a:solidFill>
          <a:ln w="7620">
            <a:solidFill>
              <a:srgbClr val="C7C7D0"/>
            </a:solidFill>
          </a:ln>
        </p:spPr>
        <p:txBody>
          <a:bodyPr lIns="45719" rIns="45719"/>
          <a:lstStyle/>
          <a:p>
            <a:pPr/>
          </a:p>
        </p:txBody>
      </p:sp>
      <p:sp>
        <p:nvSpPr>
          <p:cNvPr id="540" name="Text 9"/>
          <p:cNvSpPr txBox="1"/>
          <p:nvPr/>
        </p:nvSpPr>
        <p:spPr>
          <a:xfrm>
            <a:off x="2883469" y="4799648"/>
            <a:ext cx="151539" cy="40784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3400"/>
              </a:lnSpc>
              <a:defRPr sz="2100">
                <a:solidFill>
                  <a:srgbClr val="3C3939"/>
                </a:solidFill>
                <a:latin typeface="Raleway Thin Regular"/>
                <a:ea typeface="Raleway Thin Regular"/>
                <a:cs typeface="Raleway Thin Regular"/>
                <a:sym typeface="Raleway Thin Regular"/>
              </a:defRPr>
            </a:lvl1pPr>
          </a:lstStyle>
          <a:p>
            <a:pPr/>
            <a:r>
              <a:t>2</a:t>
            </a:r>
          </a:p>
        </p:txBody>
      </p:sp>
      <p:sp>
        <p:nvSpPr>
          <p:cNvPr id="541" name="Text 10"/>
          <p:cNvSpPr txBox="1"/>
          <p:nvPr/>
        </p:nvSpPr>
        <p:spPr>
          <a:xfrm>
            <a:off x="5332452" y="4450912"/>
            <a:ext cx="1246349"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ML Models</a:t>
            </a:r>
          </a:p>
        </p:txBody>
      </p:sp>
      <p:sp>
        <p:nvSpPr>
          <p:cNvPr id="542" name="Text 11"/>
          <p:cNvSpPr txBox="1"/>
          <p:nvPr/>
        </p:nvSpPr>
        <p:spPr>
          <a:xfrm>
            <a:off x="5332452" y="4871442"/>
            <a:ext cx="8321279" cy="5951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400"/>
              </a:lnSpc>
              <a:defRPr sz="1500">
                <a:solidFill>
                  <a:srgbClr val="3C3939"/>
                </a:solidFill>
                <a:latin typeface="Roboto Regular Regular"/>
                <a:ea typeface="Roboto Regular Regular"/>
                <a:cs typeface="Roboto Regular Regular"/>
                <a:sym typeface="Roboto Regular Regular"/>
              </a:defRPr>
            </a:lvl1pPr>
          </a:lstStyle>
          <a:p>
            <a:pPr/>
            <a:r>
              <a:t>Trained on labeled data to generalize patterns. Handles complexity and scale that rules cannot — but requires data and tuning.</a:t>
            </a:r>
          </a:p>
        </p:txBody>
      </p:sp>
      <p:sp>
        <p:nvSpPr>
          <p:cNvPr id="543" name="Shape 12"/>
          <p:cNvSpPr/>
          <p:nvPr/>
        </p:nvSpPr>
        <p:spPr>
          <a:xfrm>
            <a:off x="5234821" y="5676860"/>
            <a:ext cx="851654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6" y="0"/>
                  <a:pt x="14" y="0"/>
                </a:cubicBezTo>
                <a:lnTo>
                  <a:pt x="21586" y="0"/>
                </a:lnTo>
                <a:cubicBezTo>
                  <a:pt x="21594" y="0"/>
                  <a:pt x="21600" y="4835"/>
                  <a:pt x="21600" y="10800"/>
                </a:cubicBezTo>
                <a:cubicBezTo>
                  <a:pt x="21600" y="16765"/>
                  <a:pt x="21594" y="21600"/>
                  <a:pt x="21586" y="21600"/>
                </a:cubicBezTo>
                <a:lnTo>
                  <a:pt x="14" y="21600"/>
                </a:lnTo>
                <a:cubicBezTo>
                  <a:pt x="6" y="21600"/>
                  <a:pt x="0" y="16765"/>
                  <a:pt x="0" y="10800"/>
                </a:cubicBezTo>
                <a:close/>
              </a:path>
            </a:pathLst>
          </a:custGeom>
          <a:solidFill>
            <a:srgbClr val="C7C7D0"/>
          </a:solidFill>
          <a:ln w="12700">
            <a:miter lim="400000"/>
          </a:ln>
        </p:spPr>
        <p:txBody>
          <a:bodyPr lIns="45719" rIns="45719"/>
          <a:lstStyle/>
          <a:p>
            <a:pPr/>
          </a:p>
        </p:txBody>
      </p:sp>
      <p:sp>
        <p:nvSpPr>
          <p:cNvPr id="544" name="Shape 13"/>
          <p:cNvSpPr/>
          <p:nvPr/>
        </p:nvSpPr>
        <p:spPr>
          <a:xfrm>
            <a:off x="781407" y="5784651"/>
            <a:ext cx="6533793" cy="1431370"/>
          </a:xfrm>
          <a:prstGeom prst="roundRect">
            <a:avLst>
              <a:gd name="adj" fmla="val 5733"/>
            </a:avLst>
          </a:prstGeom>
          <a:solidFill>
            <a:srgbClr val="E1E1EA"/>
          </a:solidFill>
          <a:ln w="7620">
            <a:solidFill>
              <a:srgbClr val="C7C7D0"/>
            </a:solidFill>
          </a:ln>
        </p:spPr>
        <p:txBody>
          <a:bodyPr lIns="45719" rIns="45719"/>
          <a:lstStyle/>
          <a:p>
            <a:pPr/>
          </a:p>
        </p:txBody>
      </p:sp>
      <p:sp>
        <p:nvSpPr>
          <p:cNvPr id="545" name="Text 14"/>
          <p:cNvSpPr txBox="1"/>
          <p:nvPr/>
        </p:nvSpPr>
        <p:spPr>
          <a:xfrm>
            <a:off x="3970690" y="6328647"/>
            <a:ext cx="155227" cy="40784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3400"/>
              </a:lnSpc>
              <a:defRPr sz="2100">
                <a:solidFill>
                  <a:srgbClr val="3C3939"/>
                </a:solidFill>
                <a:latin typeface="Raleway Thin Regular"/>
                <a:ea typeface="Raleway Thin Regular"/>
                <a:cs typeface="Raleway Thin Regular"/>
                <a:sym typeface="Raleway Thin Regular"/>
              </a:defRPr>
            </a:lvl1pPr>
          </a:lstStyle>
          <a:p>
            <a:pPr/>
            <a:r>
              <a:t>3</a:t>
            </a:r>
          </a:p>
        </p:txBody>
      </p:sp>
      <p:sp>
        <p:nvSpPr>
          <p:cNvPr id="546" name="Text 15"/>
          <p:cNvSpPr txBox="1"/>
          <p:nvPr/>
        </p:nvSpPr>
        <p:spPr>
          <a:xfrm>
            <a:off x="7510461" y="5979914"/>
            <a:ext cx="1112767"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AI / LLMs</a:t>
            </a:r>
          </a:p>
        </p:txBody>
      </p:sp>
      <p:sp>
        <p:nvSpPr>
          <p:cNvPr id="547" name="Text 16"/>
          <p:cNvSpPr txBox="1"/>
          <p:nvPr/>
        </p:nvSpPr>
        <p:spPr>
          <a:xfrm>
            <a:off x="7510461" y="6400443"/>
            <a:ext cx="6143269" cy="5951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400"/>
              </a:lnSpc>
              <a:defRPr sz="1500">
                <a:solidFill>
                  <a:srgbClr val="3C3939"/>
                </a:solidFill>
                <a:latin typeface="Roboto Regular Regular"/>
                <a:ea typeface="Roboto Regular Regular"/>
                <a:cs typeface="Roboto Regular Regular"/>
                <a:sym typeface="Roboto Regular Regular"/>
              </a:defRPr>
            </a:lvl1pPr>
          </a:lstStyle>
          <a:p>
            <a:pPr/>
            <a:r>
              <a:t>Large language models for open-ended tasks — generation, reasoning, summarization. Powerful, but costly and harder to control.</a:t>
            </a:r>
          </a:p>
        </p:txBody>
      </p:sp>
      <p:sp>
        <p:nvSpPr>
          <p:cNvPr id="548" name="Text 17"/>
          <p:cNvSpPr txBox="1"/>
          <p:nvPr/>
        </p:nvSpPr>
        <p:spPr>
          <a:xfrm>
            <a:off x="781406" y="7432357"/>
            <a:ext cx="8522321" cy="2302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200">
                <a:solidFill>
                  <a:srgbClr val="3C3939"/>
                </a:solidFill>
                <a:latin typeface="Roboto Regular Regular"/>
                <a:ea typeface="Roboto Regular Regular"/>
                <a:cs typeface="Roboto Regular Regular"/>
                <a:sym typeface="Roboto Regular Regular"/>
              </a:defRPr>
            </a:lvl1pPr>
          </a:lstStyle>
          <a:p>
            <a:pPr/>
            <a:r>
              <a:t>Start with the simplest approach that solves the problem. Add complexity only when the simpler approach provably falls short.</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2" name="Text 0"/>
          <p:cNvSpPr txBox="1"/>
          <p:nvPr/>
        </p:nvSpPr>
        <p:spPr>
          <a:xfrm>
            <a:off x="793790" y="1233129"/>
            <a:ext cx="1058441"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17 OF 28</a:t>
            </a:r>
          </a:p>
        </p:txBody>
      </p:sp>
      <p:sp>
        <p:nvSpPr>
          <p:cNvPr id="553" name="Text 1"/>
          <p:cNvSpPr txBox="1"/>
          <p:nvPr/>
        </p:nvSpPr>
        <p:spPr>
          <a:xfrm>
            <a:off x="793790" y="1626036"/>
            <a:ext cx="8865339"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Constraints — The Hidden Architecture</a:t>
            </a:r>
          </a:p>
        </p:txBody>
      </p:sp>
      <p:sp>
        <p:nvSpPr>
          <p:cNvPr id="554" name="Text 2"/>
          <p:cNvSpPr txBox="1"/>
          <p:nvPr/>
        </p:nvSpPr>
        <p:spPr>
          <a:xfrm>
            <a:off x="793790" y="2543769"/>
            <a:ext cx="13042822"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500"/>
              </a:lnSpc>
              <a:defRPr sz="1500">
                <a:solidFill>
                  <a:srgbClr val="3C3939"/>
                </a:solidFill>
                <a:latin typeface="Roboto Regular Regular"/>
                <a:ea typeface="Roboto Regular Regular"/>
                <a:cs typeface="Roboto Regular Regular"/>
                <a:sym typeface="Roboto Regular Regular"/>
              </a:defRPr>
            </a:pPr>
            <a:r>
              <a:t>Every system operates within real-world constraints. These are not obstacles to work around — they are </a:t>
            </a:r>
            <a:r>
              <a:rPr>
                <a:latin typeface="Roboto Regular Bold"/>
                <a:ea typeface="Roboto Regular Bold"/>
                <a:cs typeface="Roboto Regular Bold"/>
                <a:sym typeface="Roboto Regular Bold"/>
              </a:rPr>
              <a:t>inputs to your design</a:t>
            </a:r>
            <a:r>
              <a:t>. Ignoring them produces technically elegant systems that cannot be deployed or sustained.</a:t>
            </a:r>
          </a:p>
        </p:txBody>
      </p:sp>
      <p:sp>
        <p:nvSpPr>
          <p:cNvPr id="555" name="Shape 3"/>
          <p:cNvSpPr/>
          <p:nvPr/>
        </p:nvSpPr>
        <p:spPr>
          <a:xfrm>
            <a:off x="793790" y="3402091"/>
            <a:ext cx="4215289" cy="2587468"/>
          </a:xfrm>
          <a:prstGeom prst="roundRect">
            <a:avLst>
              <a:gd name="adj" fmla="val 3222"/>
            </a:avLst>
          </a:prstGeom>
          <a:solidFill>
            <a:srgbClr val="E1E1EA"/>
          </a:solidFill>
          <a:ln w="7620">
            <a:solidFill>
              <a:srgbClr val="C7C7D0"/>
            </a:solidFill>
          </a:ln>
        </p:spPr>
        <p:txBody>
          <a:bodyPr lIns="45719" rIns="45719"/>
          <a:lstStyle/>
          <a:p>
            <a:pPr/>
          </a:p>
        </p:txBody>
      </p:sp>
      <p:sp>
        <p:nvSpPr>
          <p:cNvPr id="556" name="Shape 4"/>
          <p:cNvSpPr/>
          <p:nvPr/>
        </p:nvSpPr>
        <p:spPr>
          <a:xfrm>
            <a:off x="999768" y="3608070"/>
            <a:ext cx="595314" cy="595314"/>
          </a:xfrm>
          <a:prstGeom prst="roundRect">
            <a:avLst>
              <a:gd name="adj" fmla="val 50000"/>
            </a:avLst>
          </a:prstGeom>
          <a:solidFill>
            <a:srgbClr val="1B1B27"/>
          </a:solidFill>
          <a:ln w="12700">
            <a:miter lim="400000"/>
          </a:ln>
        </p:spPr>
        <p:txBody>
          <a:bodyPr lIns="45719" rIns="45719"/>
          <a:lstStyle/>
          <a:p>
            <a:pPr/>
          </a:p>
        </p:txBody>
      </p:sp>
      <p:sp>
        <p:nvSpPr>
          <p:cNvPr id="557" name="Text 5"/>
          <p:cNvSpPr txBox="1"/>
          <p:nvPr/>
        </p:nvSpPr>
        <p:spPr>
          <a:xfrm>
            <a:off x="999768" y="4401741"/>
            <a:ext cx="575748"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Time</a:t>
            </a:r>
          </a:p>
        </p:txBody>
      </p:sp>
      <p:sp>
        <p:nvSpPr>
          <p:cNvPr id="558" name="Text 6"/>
          <p:cNvSpPr txBox="1"/>
          <p:nvPr/>
        </p:nvSpPr>
        <p:spPr>
          <a:xfrm>
            <a:off x="999768" y="4830960"/>
            <a:ext cx="3803334"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How fast must the system respond? Real-time inference has very different architecture needs than batch processing.</a:t>
            </a:r>
          </a:p>
        </p:txBody>
      </p:sp>
      <p:sp>
        <p:nvSpPr>
          <p:cNvPr id="559" name="Shape 7"/>
          <p:cNvSpPr/>
          <p:nvPr/>
        </p:nvSpPr>
        <p:spPr>
          <a:xfrm>
            <a:off x="5207437" y="3402091"/>
            <a:ext cx="4215408" cy="2587468"/>
          </a:xfrm>
          <a:prstGeom prst="roundRect">
            <a:avLst>
              <a:gd name="adj" fmla="val 3222"/>
            </a:avLst>
          </a:prstGeom>
          <a:solidFill>
            <a:srgbClr val="E1E1EA"/>
          </a:solidFill>
          <a:ln w="7620">
            <a:solidFill>
              <a:srgbClr val="C7C7D0"/>
            </a:solidFill>
          </a:ln>
        </p:spPr>
        <p:txBody>
          <a:bodyPr lIns="45719" rIns="45719"/>
          <a:lstStyle/>
          <a:p>
            <a:pPr/>
          </a:p>
        </p:txBody>
      </p:sp>
      <p:sp>
        <p:nvSpPr>
          <p:cNvPr id="560" name="Shape 8"/>
          <p:cNvSpPr/>
          <p:nvPr/>
        </p:nvSpPr>
        <p:spPr>
          <a:xfrm>
            <a:off x="5413414" y="3608070"/>
            <a:ext cx="595314" cy="595314"/>
          </a:xfrm>
          <a:prstGeom prst="roundRect">
            <a:avLst>
              <a:gd name="adj" fmla="val 50000"/>
            </a:avLst>
          </a:prstGeom>
          <a:solidFill>
            <a:srgbClr val="1B1B27"/>
          </a:solidFill>
          <a:ln w="12700">
            <a:miter lim="400000"/>
          </a:ln>
        </p:spPr>
        <p:txBody>
          <a:bodyPr lIns="45719" rIns="45719"/>
          <a:lstStyle/>
          <a:p>
            <a:pPr/>
          </a:p>
        </p:txBody>
      </p:sp>
      <p:sp>
        <p:nvSpPr>
          <p:cNvPr id="561" name="Text 9"/>
          <p:cNvSpPr txBox="1"/>
          <p:nvPr/>
        </p:nvSpPr>
        <p:spPr>
          <a:xfrm>
            <a:off x="5413414" y="4401741"/>
            <a:ext cx="519385"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Cost</a:t>
            </a:r>
          </a:p>
        </p:txBody>
      </p:sp>
      <p:sp>
        <p:nvSpPr>
          <p:cNvPr id="562" name="Text 10"/>
          <p:cNvSpPr txBox="1"/>
          <p:nvPr/>
        </p:nvSpPr>
        <p:spPr>
          <a:xfrm>
            <a:off x="5413414" y="4830960"/>
            <a:ext cx="3803453"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What is the per-query or per-month budget? API calls, compute, and storage all add up — often faster than expected.</a:t>
            </a:r>
          </a:p>
        </p:txBody>
      </p:sp>
      <p:sp>
        <p:nvSpPr>
          <p:cNvPr id="563" name="Shape 11"/>
          <p:cNvSpPr/>
          <p:nvPr/>
        </p:nvSpPr>
        <p:spPr>
          <a:xfrm>
            <a:off x="9621202" y="3402091"/>
            <a:ext cx="4215290" cy="2587468"/>
          </a:xfrm>
          <a:prstGeom prst="roundRect">
            <a:avLst>
              <a:gd name="adj" fmla="val 3222"/>
            </a:avLst>
          </a:prstGeom>
          <a:solidFill>
            <a:srgbClr val="E1E1EA"/>
          </a:solidFill>
          <a:ln w="7620">
            <a:solidFill>
              <a:srgbClr val="C7C7D0"/>
            </a:solidFill>
          </a:ln>
        </p:spPr>
        <p:txBody>
          <a:bodyPr lIns="45719" rIns="45719"/>
          <a:lstStyle/>
          <a:p>
            <a:pPr/>
          </a:p>
        </p:txBody>
      </p:sp>
      <p:sp>
        <p:nvSpPr>
          <p:cNvPr id="564" name="Shape 12"/>
          <p:cNvSpPr/>
          <p:nvPr/>
        </p:nvSpPr>
        <p:spPr>
          <a:xfrm>
            <a:off x="9827180" y="3608070"/>
            <a:ext cx="595314" cy="595314"/>
          </a:xfrm>
          <a:prstGeom prst="roundRect">
            <a:avLst>
              <a:gd name="adj" fmla="val 50000"/>
            </a:avLst>
          </a:prstGeom>
          <a:solidFill>
            <a:srgbClr val="1B1B27"/>
          </a:solidFill>
          <a:ln w="12700">
            <a:miter lim="400000"/>
          </a:ln>
        </p:spPr>
        <p:txBody>
          <a:bodyPr lIns="45719" rIns="45719"/>
          <a:lstStyle/>
          <a:p>
            <a:pPr/>
          </a:p>
        </p:txBody>
      </p:sp>
      <p:sp>
        <p:nvSpPr>
          <p:cNvPr id="565" name="Text 13"/>
          <p:cNvSpPr txBox="1"/>
          <p:nvPr/>
        </p:nvSpPr>
        <p:spPr>
          <a:xfrm>
            <a:off x="9827180" y="4401741"/>
            <a:ext cx="1056444"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Accuracy</a:t>
            </a:r>
          </a:p>
        </p:txBody>
      </p:sp>
      <p:sp>
        <p:nvSpPr>
          <p:cNvPr id="566" name="Text 14"/>
          <p:cNvSpPr txBox="1"/>
          <p:nvPr/>
        </p:nvSpPr>
        <p:spPr>
          <a:xfrm>
            <a:off x="9827180" y="4830960"/>
            <a:ext cx="3803334"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What error rate is acceptable? A medical diagnostic tool and a playlist recommender have very different tolerance thresholds.</a:t>
            </a:r>
          </a:p>
        </p:txBody>
      </p:sp>
      <p:sp>
        <p:nvSpPr>
          <p:cNvPr id="567" name="Shape 15"/>
          <p:cNvSpPr/>
          <p:nvPr/>
        </p:nvSpPr>
        <p:spPr>
          <a:xfrm>
            <a:off x="793790" y="6212799"/>
            <a:ext cx="13042821" cy="843202"/>
          </a:xfrm>
          <a:prstGeom prst="roundRect">
            <a:avLst>
              <a:gd name="adj" fmla="val 9886"/>
            </a:avLst>
          </a:prstGeom>
          <a:solidFill>
            <a:srgbClr val="D2D2E0"/>
          </a:solidFill>
          <a:ln w="12700">
            <a:miter lim="400000"/>
          </a:ln>
        </p:spPr>
        <p:txBody>
          <a:bodyPr lIns="45719" rIns="45719"/>
          <a:lstStyle/>
          <a:p>
            <a:pPr/>
          </a:p>
        </p:txBody>
      </p:sp>
      <p:pic>
        <p:nvPicPr>
          <p:cNvPr id="568" name="Image 3" descr="Image 3"/>
          <p:cNvPicPr>
            <a:picLocks noChangeAspect="1"/>
          </p:cNvPicPr>
          <p:nvPr/>
        </p:nvPicPr>
        <p:blipFill>
          <a:blip r:embed="rId3">
            <a:extLst/>
          </a:blip>
          <a:stretch>
            <a:fillRect/>
          </a:stretch>
        </p:blipFill>
        <p:spPr>
          <a:xfrm>
            <a:off x="992147" y="6508074"/>
            <a:ext cx="248008" cy="198359"/>
          </a:xfrm>
          <a:prstGeom prst="rect">
            <a:avLst/>
          </a:prstGeom>
          <a:ln w="12700">
            <a:miter lim="400000"/>
          </a:ln>
        </p:spPr>
      </p:pic>
      <p:sp>
        <p:nvSpPr>
          <p:cNvPr id="569" name="Text 16"/>
          <p:cNvSpPr txBox="1"/>
          <p:nvPr/>
        </p:nvSpPr>
        <p:spPr>
          <a:xfrm>
            <a:off x="1438512" y="6460687"/>
            <a:ext cx="10299608"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latin typeface="Roboto Regular Regular"/>
                <a:ea typeface="Roboto Regular Regular"/>
                <a:cs typeface="Roboto Regular Regular"/>
                <a:sym typeface="Roboto Regular Regular"/>
              </a:defRPr>
            </a:lvl1pPr>
          </a:lstStyle>
          <a:p>
            <a:pPr/>
            <a:r>
              <a:t>Map your constraints at the start of every project. They will save you from building the right solution for the wrong context.</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3" name="Text 0"/>
          <p:cNvSpPr txBox="1"/>
          <p:nvPr/>
        </p:nvSpPr>
        <p:spPr>
          <a:xfrm>
            <a:off x="769025" y="613885"/>
            <a:ext cx="884151" cy="18340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1B1B27"/>
                </a:solidFill>
                <a:latin typeface="Roboto Regular Regular"/>
                <a:ea typeface="Roboto Regular Regular"/>
                <a:cs typeface="Roboto Regular Regular"/>
                <a:sym typeface="Roboto Regular Regular"/>
              </a:defRPr>
            </a:lvl1pPr>
          </a:lstStyle>
          <a:p>
            <a:pPr/>
            <a:r>
              <a:t>SLIDE 18 OF 28</a:t>
            </a:r>
          </a:p>
        </p:txBody>
      </p:sp>
      <p:sp>
        <p:nvSpPr>
          <p:cNvPr id="574" name="Text 1"/>
          <p:cNvSpPr txBox="1"/>
          <p:nvPr/>
        </p:nvSpPr>
        <p:spPr>
          <a:xfrm>
            <a:off x="769025" y="907255"/>
            <a:ext cx="7625559" cy="50149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000"/>
              </a:lnSpc>
              <a:defRPr sz="3200">
                <a:solidFill>
                  <a:srgbClr val="1B1B27"/>
                </a:solidFill>
                <a:latin typeface="Raleway Thin Regular"/>
                <a:ea typeface="Raleway Thin Regular"/>
                <a:cs typeface="Raleway Thin Regular"/>
                <a:sym typeface="Raleway Thin Regular"/>
              </a:defRPr>
            </a:lvl1pPr>
          </a:lstStyle>
          <a:p>
            <a:pPr/>
            <a:r>
              <a:t>Trade-offs — There Is No Perfect System</a:t>
            </a:r>
          </a:p>
        </p:txBody>
      </p:sp>
      <p:sp>
        <p:nvSpPr>
          <p:cNvPr id="575" name="Text 2"/>
          <p:cNvSpPr txBox="1"/>
          <p:nvPr/>
        </p:nvSpPr>
        <p:spPr>
          <a:xfrm>
            <a:off x="769024" y="1619845"/>
            <a:ext cx="13092353" cy="4486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800"/>
              </a:lnSpc>
              <a:defRPr sz="1200">
                <a:solidFill>
                  <a:srgbClr val="3C3939"/>
                </a:solidFill>
                <a:latin typeface="Roboto Regular Regular"/>
                <a:ea typeface="Roboto Regular Regular"/>
                <a:cs typeface="Roboto Regular Regular"/>
                <a:sym typeface="Roboto Regular Regular"/>
              </a:defRPr>
            </a:lvl1pPr>
          </a:lstStyle>
          <a:p>
            <a:pPr/>
            <a:r>
              <a:t>Every design decision in AI engineering involves a trade-off. Understanding these tensions — and making conscious, justified choices — is what separates a skilled FDE from a junior engineer who optimizes blindly.</a:t>
            </a:r>
          </a:p>
        </p:txBody>
      </p:sp>
      <p:pic>
        <p:nvPicPr>
          <p:cNvPr id="576" name="Image 0" descr="Image 0"/>
          <p:cNvPicPr>
            <a:picLocks noChangeAspect="1"/>
          </p:cNvPicPr>
          <p:nvPr/>
        </p:nvPicPr>
        <p:blipFill>
          <a:blip r:embed="rId3">
            <a:extLst/>
          </a:blip>
          <a:stretch>
            <a:fillRect/>
          </a:stretch>
        </p:blipFill>
        <p:spPr>
          <a:xfrm>
            <a:off x="2811779" y="2247900"/>
            <a:ext cx="9006842" cy="5027058"/>
          </a:xfrm>
          <a:prstGeom prst="rect">
            <a:avLst/>
          </a:prstGeom>
          <a:ln w="12700">
            <a:miter lim="400000"/>
          </a:ln>
        </p:spPr>
      </p:pic>
      <p:pic>
        <p:nvPicPr>
          <p:cNvPr id="577" name="Image 1" descr="Image 1"/>
          <p:cNvPicPr>
            <a:picLocks noChangeAspect="1"/>
          </p:cNvPicPr>
          <p:nvPr/>
        </p:nvPicPr>
        <p:blipFill>
          <a:blip r:embed="rId4">
            <a:extLst/>
          </a:blip>
          <a:stretch>
            <a:fillRect/>
          </a:stretch>
        </p:blipFill>
        <p:spPr>
          <a:xfrm>
            <a:off x="2811779" y="2247900"/>
            <a:ext cx="9006842" cy="5027058"/>
          </a:xfrm>
          <a:prstGeom prst="rect">
            <a:avLst/>
          </a:prstGeom>
          <a:ln w="12700">
            <a:miter lim="400000"/>
          </a:ln>
        </p:spPr>
      </p:pic>
      <p:sp>
        <p:nvSpPr>
          <p:cNvPr id="578" name="Text 3"/>
          <p:cNvSpPr txBox="1"/>
          <p:nvPr/>
        </p:nvSpPr>
        <p:spPr>
          <a:xfrm>
            <a:off x="769024" y="7426284"/>
            <a:ext cx="8027891" cy="2200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1800"/>
              </a:lnSpc>
              <a:defRPr sz="1200">
                <a:solidFill>
                  <a:srgbClr val="3C3939"/>
                </a:solidFill>
                <a:latin typeface="Roboto Regular Regular"/>
                <a:ea typeface="Roboto Regular Regular"/>
                <a:cs typeface="Roboto Regular Regular"/>
                <a:sym typeface="Roboto Regular Regular"/>
              </a:defRPr>
            </a:pPr>
            <a:r>
              <a:t>The goal is not to win every trade-off — it is to make the </a:t>
            </a:r>
            <a:r>
              <a:rPr>
                <a:latin typeface="Roboto Regular Bold"/>
                <a:ea typeface="Roboto Regular Bold"/>
                <a:cs typeface="Roboto Regular Bold"/>
                <a:sym typeface="Roboto Regular Bold"/>
              </a:rPr>
              <a:t>right trade-off</a:t>
            </a:r>
            <a:r>
              <a:t> for your specific context, constraints, and users.</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2" name="Text 0"/>
          <p:cNvSpPr txBox="1"/>
          <p:nvPr/>
        </p:nvSpPr>
        <p:spPr>
          <a:xfrm>
            <a:off x="793790" y="1302068"/>
            <a:ext cx="1058441"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19 OF 28</a:t>
            </a:r>
          </a:p>
        </p:txBody>
      </p:sp>
      <p:sp>
        <p:nvSpPr>
          <p:cNvPr id="583" name="Text 1"/>
          <p:cNvSpPr txBox="1"/>
          <p:nvPr/>
        </p:nvSpPr>
        <p:spPr>
          <a:xfrm>
            <a:off x="793789" y="1694974"/>
            <a:ext cx="2497186"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Key Insight</a:t>
            </a:r>
          </a:p>
        </p:txBody>
      </p:sp>
      <p:sp>
        <p:nvSpPr>
          <p:cNvPr id="584" name="Text 2"/>
          <p:cNvSpPr txBox="1"/>
          <p:nvPr/>
        </p:nvSpPr>
        <p:spPr>
          <a:xfrm>
            <a:off x="793789" y="2612707"/>
            <a:ext cx="6847286" cy="16891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6700"/>
              </a:lnSpc>
              <a:defRPr sz="5300">
                <a:solidFill>
                  <a:srgbClr val="1B1B27"/>
                </a:solidFill>
                <a:latin typeface="Raleway Thin Regular"/>
                <a:ea typeface="Raleway Thin Regular"/>
                <a:cs typeface="Raleway Thin Regular"/>
                <a:sym typeface="Raleway Thin Regular"/>
              </a:defRPr>
            </a:pPr>
            <a:r>
              <a:t>Solve the problem.</a:t>
            </a:r>
          </a:p>
          <a:p>
            <a:pPr>
              <a:lnSpc>
                <a:spcPts val="6700"/>
              </a:lnSpc>
              <a:defRPr sz="5300">
                <a:solidFill>
                  <a:srgbClr val="1B1B27"/>
                </a:solidFill>
                <a:latin typeface="Raleway Thin Regular"/>
                <a:ea typeface="Raleway Thin Regular"/>
                <a:cs typeface="Raleway Thin Regular"/>
                <a:sym typeface="Raleway Thin Regular"/>
              </a:defRPr>
            </a:pPr>
            <a:r>
              <a:t>Don't over-engineer.</a:t>
            </a:r>
          </a:p>
        </p:txBody>
      </p:sp>
      <p:sp>
        <p:nvSpPr>
          <p:cNvPr id="585" name="Text 3"/>
          <p:cNvSpPr txBox="1"/>
          <p:nvPr/>
        </p:nvSpPr>
        <p:spPr>
          <a:xfrm>
            <a:off x="793790" y="4622005"/>
            <a:ext cx="13042822"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The most dangerous engineer is not the one who builds too little — it is the one who builds too much. Over-engineered systems are harder to maintain, harder to explain, and often no more effective than a simpler alternative.</a:t>
            </a:r>
          </a:p>
        </p:txBody>
      </p:sp>
      <p:sp>
        <p:nvSpPr>
          <p:cNvPr id="586" name="Shape 4"/>
          <p:cNvSpPr/>
          <p:nvPr/>
        </p:nvSpPr>
        <p:spPr>
          <a:xfrm>
            <a:off x="793790" y="5480327"/>
            <a:ext cx="6422231" cy="1506737"/>
          </a:xfrm>
          <a:prstGeom prst="roundRect">
            <a:avLst>
              <a:gd name="adj" fmla="val 7282"/>
            </a:avLst>
          </a:prstGeom>
          <a:solidFill>
            <a:srgbClr val="FFFFFF">
              <a:alpha val="95000"/>
            </a:srgbClr>
          </a:solidFill>
          <a:ln w="22860">
            <a:solidFill>
              <a:srgbClr val="C7C7D0"/>
            </a:solidFill>
          </a:ln>
        </p:spPr>
        <p:txBody>
          <a:bodyPr lIns="45719" rIns="45719"/>
          <a:lstStyle/>
          <a:p>
            <a:pPr/>
          </a:p>
        </p:txBody>
      </p:sp>
      <p:sp>
        <p:nvSpPr>
          <p:cNvPr id="587" name="Shape 5"/>
          <p:cNvSpPr/>
          <p:nvPr/>
        </p:nvSpPr>
        <p:spPr>
          <a:xfrm>
            <a:off x="770929" y="5480327"/>
            <a:ext cx="91441" cy="1506737"/>
          </a:xfrm>
          <a:prstGeom prst="roundRect">
            <a:avLst>
              <a:gd name="adj" fmla="val 50000"/>
            </a:avLst>
          </a:prstGeom>
          <a:solidFill>
            <a:srgbClr val="1B1B27"/>
          </a:solidFill>
          <a:ln w="12700">
            <a:miter lim="400000"/>
          </a:ln>
        </p:spPr>
        <p:txBody>
          <a:bodyPr lIns="45719" rIns="45719"/>
          <a:lstStyle/>
          <a:p>
            <a:pPr/>
          </a:p>
        </p:txBody>
      </p:sp>
      <p:sp>
        <p:nvSpPr>
          <p:cNvPr id="588" name="Text 6"/>
          <p:cNvSpPr txBox="1"/>
          <p:nvPr/>
        </p:nvSpPr>
        <p:spPr>
          <a:xfrm>
            <a:off x="1083588" y="5701546"/>
            <a:ext cx="2500268"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The Right Standard</a:t>
            </a:r>
          </a:p>
        </p:txBody>
      </p:sp>
      <p:sp>
        <p:nvSpPr>
          <p:cNvPr id="589" name="Text 7"/>
          <p:cNvSpPr txBox="1"/>
          <p:nvPr/>
        </p:nvSpPr>
        <p:spPr>
          <a:xfrm>
            <a:off x="1083587" y="6130766"/>
            <a:ext cx="5911217"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Does this system reliably solve the problem it was designed to solve? If yes, ship it.</a:t>
            </a:r>
          </a:p>
        </p:txBody>
      </p:sp>
      <p:sp>
        <p:nvSpPr>
          <p:cNvPr id="590" name="Shape 8"/>
          <p:cNvSpPr/>
          <p:nvPr/>
        </p:nvSpPr>
        <p:spPr>
          <a:xfrm>
            <a:off x="7414379" y="5480327"/>
            <a:ext cx="6422232" cy="1506737"/>
          </a:xfrm>
          <a:prstGeom prst="roundRect">
            <a:avLst>
              <a:gd name="adj" fmla="val 7282"/>
            </a:avLst>
          </a:prstGeom>
          <a:solidFill>
            <a:srgbClr val="FFFFFF">
              <a:alpha val="95000"/>
            </a:srgbClr>
          </a:solidFill>
          <a:ln w="22860">
            <a:solidFill>
              <a:srgbClr val="C7C7D0"/>
            </a:solidFill>
          </a:ln>
        </p:spPr>
        <p:txBody>
          <a:bodyPr lIns="45719" rIns="45719"/>
          <a:lstStyle/>
          <a:p>
            <a:pPr/>
          </a:p>
        </p:txBody>
      </p:sp>
      <p:sp>
        <p:nvSpPr>
          <p:cNvPr id="591" name="Shape 9"/>
          <p:cNvSpPr/>
          <p:nvPr/>
        </p:nvSpPr>
        <p:spPr>
          <a:xfrm>
            <a:off x="7391519" y="5480327"/>
            <a:ext cx="91441" cy="1506737"/>
          </a:xfrm>
          <a:prstGeom prst="roundRect">
            <a:avLst>
              <a:gd name="adj" fmla="val 50000"/>
            </a:avLst>
          </a:prstGeom>
          <a:solidFill>
            <a:srgbClr val="1B1B27"/>
          </a:solidFill>
          <a:ln w="12700">
            <a:miter lim="400000"/>
          </a:ln>
        </p:spPr>
        <p:txBody>
          <a:bodyPr lIns="45719" rIns="45719"/>
          <a:lstStyle/>
          <a:p>
            <a:pPr/>
          </a:p>
        </p:txBody>
      </p:sp>
      <p:sp>
        <p:nvSpPr>
          <p:cNvPr id="592" name="Text 10"/>
          <p:cNvSpPr txBox="1"/>
          <p:nvPr/>
        </p:nvSpPr>
        <p:spPr>
          <a:xfrm>
            <a:off x="7704177" y="5701546"/>
            <a:ext cx="2670301"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The Wrong Standard</a:t>
            </a:r>
          </a:p>
        </p:txBody>
      </p:sp>
      <p:sp>
        <p:nvSpPr>
          <p:cNvPr id="593" name="Text 11"/>
          <p:cNvSpPr txBox="1"/>
          <p:nvPr/>
        </p:nvSpPr>
        <p:spPr>
          <a:xfrm>
            <a:off x="7704177" y="6130766"/>
            <a:ext cx="5911216"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Is this technically impressive? Does it use the most advanced model available? These are vanity metrics — not success criteria.</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7" name="Shape 0"/>
          <p:cNvSpPr/>
          <p:nvPr/>
        </p:nvSpPr>
        <p:spPr>
          <a:xfrm>
            <a:off x="744259" y="518992"/>
            <a:ext cx="2077643" cy="335043"/>
          </a:xfrm>
          <a:prstGeom prst="roundRect">
            <a:avLst>
              <a:gd name="adj" fmla="val 17727"/>
            </a:avLst>
          </a:prstGeom>
          <a:ln w="7620">
            <a:solidFill>
              <a:srgbClr val="1B1B27"/>
            </a:solidFill>
          </a:ln>
        </p:spPr>
        <p:txBody>
          <a:bodyPr lIns="45719" rIns="45719"/>
          <a:lstStyle/>
          <a:p>
            <a:pPr/>
          </a:p>
        </p:txBody>
      </p:sp>
      <p:sp>
        <p:nvSpPr>
          <p:cNvPr id="598" name="Text 1"/>
          <p:cNvSpPr txBox="1"/>
          <p:nvPr/>
        </p:nvSpPr>
        <p:spPr>
          <a:xfrm>
            <a:off x="857845" y="579596"/>
            <a:ext cx="1841829" cy="19666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600"/>
              </a:lnSpc>
              <a:defRPr sz="1100">
                <a:solidFill>
                  <a:srgbClr val="1B1B27"/>
                </a:solidFill>
                <a:latin typeface="Roboto Regular Regular"/>
                <a:ea typeface="Roboto Regular Regular"/>
                <a:cs typeface="Roboto Regular Regular"/>
                <a:sym typeface="Roboto Regular Regular"/>
              </a:defRPr>
            </a:lvl1pPr>
          </a:lstStyle>
          <a:p>
            <a:pPr/>
            <a:r>
              <a:t>PART 3 — SYSTEM THINKING</a:t>
            </a:r>
          </a:p>
        </p:txBody>
      </p:sp>
      <p:sp>
        <p:nvSpPr>
          <p:cNvPr id="599" name="Text 2"/>
          <p:cNvSpPr txBox="1"/>
          <p:nvPr/>
        </p:nvSpPr>
        <p:spPr>
          <a:xfrm>
            <a:off x="744259" y="1084063"/>
            <a:ext cx="971297" cy="19666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600"/>
              </a:lnSpc>
              <a:defRPr sz="1100">
                <a:solidFill>
                  <a:srgbClr val="1B1B27"/>
                </a:solidFill>
                <a:latin typeface="Roboto Regular Regular"/>
                <a:ea typeface="Roboto Regular Regular"/>
                <a:cs typeface="Roboto Regular Regular"/>
                <a:sym typeface="Roboto Regular Regular"/>
              </a:defRPr>
            </a:lvl1pPr>
          </a:lstStyle>
          <a:p>
            <a:pPr/>
            <a:r>
              <a:t>SLIDE 20 OF 28</a:t>
            </a:r>
          </a:p>
        </p:txBody>
      </p:sp>
      <p:sp>
        <p:nvSpPr>
          <p:cNvPr id="600" name="Text 3"/>
          <p:cNvSpPr txBox="1"/>
          <p:nvPr/>
        </p:nvSpPr>
        <p:spPr>
          <a:xfrm>
            <a:off x="744260" y="1413748"/>
            <a:ext cx="5859587" cy="53791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sz="3400">
                <a:solidFill>
                  <a:srgbClr val="1B1B27"/>
                </a:solidFill>
                <a:latin typeface="Raleway Thin Regular"/>
                <a:ea typeface="Raleway Thin Regular"/>
                <a:cs typeface="Raleway Thin Regular"/>
                <a:sym typeface="Raleway Thin Regular"/>
              </a:defRPr>
            </a:lvl1pPr>
          </a:lstStyle>
          <a:p>
            <a:pPr/>
            <a:r>
              <a:t>Every System Looks Like This</a:t>
            </a:r>
          </a:p>
        </p:txBody>
      </p:sp>
      <p:sp>
        <p:nvSpPr>
          <p:cNvPr id="601" name="Text 4"/>
          <p:cNvSpPr txBox="1"/>
          <p:nvPr/>
        </p:nvSpPr>
        <p:spPr>
          <a:xfrm>
            <a:off x="744260" y="2202298"/>
            <a:ext cx="13141882" cy="5203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300">
                <a:solidFill>
                  <a:srgbClr val="3C3939"/>
                </a:solidFill>
                <a:latin typeface="Roboto Regular Regular"/>
                <a:ea typeface="Roboto Regular Regular"/>
                <a:cs typeface="Roboto Regular Regular"/>
                <a:sym typeface="Roboto Regular Regular"/>
              </a:defRPr>
            </a:lvl1pPr>
          </a:lstStyle>
          <a:p>
            <a:pPr/>
            <a:r>
              <a:t>Whether you are building a document classifier, a recommendation engine, or a real-time translation service — every AI system at its core follows the same universal pattern. Internalizing this model makes even the most complex systems approachable.</a:t>
            </a:r>
          </a:p>
        </p:txBody>
      </p:sp>
      <p:pic>
        <p:nvPicPr>
          <p:cNvPr id="602" name="Image 0" descr="Image 0"/>
          <p:cNvPicPr>
            <a:picLocks noChangeAspect="1"/>
          </p:cNvPicPr>
          <p:nvPr/>
        </p:nvPicPr>
        <p:blipFill>
          <a:blip r:embed="rId3">
            <a:extLst/>
          </a:blip>
          <a:stretch>
            <a:fillRect/>
          </a:stretch>
        </p:blipFill>
        <p:spPr>
          <a:xfrm>
            <a:off x="3648788" y="2914174"/>
            <a:ext cx="7332703" cy="4351974"/>
          </a:xfrm>
          <a:prstGeom prst="rect">
            <a:avLst/>
          </a:prstGeom>
          <a:ln w="12700">
            <a:miter lim="400000"/>
          </a:ln>
        </p:spPr>
      </p:pic>
      <p:sp>
        <p:nvSpPr>
          <p:cNvPr id="603" name="Text 5"/>
          <p:cNvSpPr txBox="1"/>
          <p:nvPr/>
        </p:nvSpPr>
        <p:spPr>
          <a:xfrm>
            <a:off x="9206875" y="6256680"/>
            <a:ext cx="913903" cy="33969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700"/>
              </a:lnSpc>
              <a:defRPr sz="2200">
                <a:solidFill>
                  <a:srgbClr val="3C3939"/>
                </a:solidFill>
                <a:latin typeface="Raleway Thin Regular"/>
                <a:ea typeface="Raleway Thin Regular"/>
                <a:cs typeface="Raleway Thin Regular"/>
                <a:sym typeface="Raleway Thin Regular"/>
              </a:defRPr>
            </a:lvl1pPr>
          </a:lstStyle>
          <a:p>
            <a:pPr/>
            <a:r>
              <a:t>Output</a:t>
            </a:r>
          </a:p>
        </p:txBody>
      </p:sp>
      <p:sp>
        <p:nvSpPr>
          <p:cNvPr id="604" name="Text 6"/>
          <p:cNvSpPr txBox="1"/>
          <p:nvPr/>
        </p:nvSpPr>
        <p:spPr>
          <a:xfrm>
            <a:off x="6652456" y="6256680"/>
            <a:ext cx="1428440" cy="33969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700"/>
              </a:lnSpc>
              <a:defRPr sz="2200">
                <a:solidFill>
                  <a:srgbClr val="3C3939"/>
                </a:solidFill>
                <a:latin typeface="Raleway Thin Regular"/>
                <a:ea typeface="Raleway Thin Regular"/>
                <a:cs typeface="Raleway Thin Regular"/>
                <a:sym typeface="Raleway Thin Regular"/>
              </a:defRPr>
            </a:lvl1pPr>
          </a:lstStyle>
          <a:p>
            <a:pPr/>
            <a:r>
              <a:t>Processing</a:t>
            </a:r>
          </a:p>
        </p:txBody>
      </p:sp>
      <p:sp>
        <p:nvSpPr>
          <p:cNvPr id="605" name="Text 7"/>
          <p:cNvSpPr txBox="1"/>
          <p:nvPr/>
        </p:nvSpPr>
        <p:spPr>
          <a:xfrm>
            <a:off x="4693759" y="6256680"/>
            <a:ext cx="676628" cy="33969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700"/>
              </a:lnSpc>
              <a:defRPr sz="2200">
                <a:solidFill>
                  <a:srgbClr val="3C3939"/>
                </a:solidFill>
                <a:latin typeface="Raleway Thin Regular"/>
                <a:ea typeface="Raleway Thin Regular"/>
                <a:cs typeface="Raleway Thin Regular"/>
                <a:sym typeface="Raleway Thin Regular"/>
              </a:defRPr>
            </a:lvl1pPr>
          </a:lstStyle>
          <a:p>
            <a:pPr/>
            <a:r>
              <a:t>Input</a:t>
            </a:r>
          </a:p>
        </p:txBody>
      </p:sp>
      <p:sp>
        <p:nvSpPr>
          <p:cNvPr id="606" name="Text 8"/>
          <p:cNvSpPr txBox="1"/>
          <p:nvPr/>
        </p:nvSpPr>
        <p:spPr>
          <a:xfrm>
            <a:off x="744260" y="7443192"/>
            <a:ext cx="9677581" cy="25366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300">
                <a:solidFill>
                  <a:srgbClr val="3C3939"/>
                </a:solidFill>
                <a:latin typeface="Roboto Regular Regular"/>
                <a:ea typeface="Roboto Regular Regular"/>
                <a:cs typeface="Roboto Regular Regular"/>
                <a:sym typeface="Roboto Regular Regular"/>
              </a:defRPr>
            </a:lvl1pPr>
          </a:lstStyle>
          <a:p>
            <a:pPr/>
            <a:r>
              <a:t>This is not a simplification — it is the foundational lens through which FDEs analyze, design, and debug every system they encounter.</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0" name="Text 0"/>
          <p:cNvSpPr txBox="1"/>
          <p:nvPr/>
        </p:nvSpPr>
        <p:spPr>
          <a:xfrm>
            <a:off x="793790" y="708779"/>
            <a:ext cx="884151" cy="18340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1B1B27"/>
                </a:solidFill>
                <a:latin typeface="Roboto Regular Regular"/>
                <a:ea typeface="Roboto Regular Regular"/>
                <a:cs typeface="Roboto Regular Regular"/>
                <a:sym typeface="Roboto Regular Regular"/>
              </a:defRPr>
            </a:lvl1pPr>
          </a:lstStyle>
          <a:p>
            <a:pPr/>
            <a:r>
              <a:t>SLIDE 21 OF 28</a:t>
            </a:r>
          </a:p>
        </p:txBody>
      </p:sp>
      <p:sp>
        <p:nvSpPr>
          <p:cNvPr id="611" name="Text 1"/>
          <p:cNvSpPr txBox="1"/>
          <p:nvPr/>
        </p:nvSpPr>
        <p:spPr>
          <a:xfrm>
            <a:off x="793790" y="1016436"/>
            <a:ext cx="7760842" cy="51462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100"/>
              </a:lnSpc>
              <a:defRPr sz="3300">
                <a:solidFill>
                  <a:srgbClr val="1B1B27"/>
                </a:solidFill>
                <a:latin typeface="Raleway Thin Regular"/>
                <a:ea typeface="Raleway Thin Regular"/>
                <a:cs typeface="Raleway Thin Regular"/>
                <a:sym typeface="Raleway Thin Regular"/>
              </a:defRPr>
            </a:lvl1pPr>
          </a:lstStyle>
          <a:p>
            <a:pPr/>
            <a:r>
              <a:t>Example System — End-to-End Pipeline</a:t>
            </a:r>
          </a:p>
        </p:txBody>
      </p:sp>
      <p:sp>
        <p:nvSpPr>
          <p:cNvPr id="612" name="Text 2"/>
          <p:cNvSpPr txBox="1"/>
          <p:nvPr/>
        </p:nvSpPr>
        <p:spPr>
          <a:xfrm>
            <a:off x="793790" y="1758552"/>
            <a:ext cx="12114176" cy="23334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C3939"/>
                </a:solidFill>
                <a:latin typeface="Roboto Regular Regular"/>
                <a:ea typeface="Roboto Regular Regular"/>
                <a:cs typeface="Roboto Regular Regular"/>
                <a:sym typeface="Roboto Regular Regular"/>
              </a:defRPr>
            </a:lvl1pPr>
          </a:lstStyle>
          <a:p>
            <a:pPr/>
            <a:r>
              <a:t>Let's make the abstract concrete. Here is how a real AI-powered support system maps to the universal model — four components, each with a clear role and interface.</a:t>
            </a:r>
          </a:p>
        </p:txBody>
      </p:sp>
      <p:pic>
        <p:nvPicPr>
          <p:cNvPr id="613" name="Image 0" descr="Image 0"/>
          <p:cNvPicPr>
            <a:picLocks noChangeAspect="1"/>
          </p:cNvPicPr>
          <p:nvPr/>
        </p:nvPicPr>
        <p:blipFill>
          <a:blip r:embed="rId3">
            <a:extLst/>
          </a:blip>
          <a:stretch>
            <a:fillRect/>
          </a:stretch>
        </p:blipFill>
        <p:spPr>
          <a:xfrm>
            <a:off x="1817727" y="2169437"/>
            <a:ext cx="10994946" cy="4741309"/>
          </a:xfrm>
          <a:prstGeom prst="rect">
            <a:avLst/>
          </a:prstGeom>
          <a:ln w="12700">
            <a:miter lim="400000"/>
          </a:ln>
        </p:spPr>
      </p:pic>
      <p:sp>
        <p:nvSpPr>
          <p:cNvPr id="614" name="Text 3"/>
          <p:cNvSpPr txBox="1"/>
          <p:nvPr/>
        </p:nvSpPr>
        <p:spPr>
          <a:xfrm>
            <a:off x="2557540" y="6011614"/>
            <a:ext cx="1693530"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FFFFFF"/>
                </a:solidFill>
                <a:latin typeface="Raleway Thin Regular"/>
                <a:ea typeface="Raleway Thin Regular"/>
                <a:cs typeface="Raleway Thin Regular"/>
                <a:sym typeface="Raleway Thin Regular"/>
              </a:defRPr>
            </a:lvl1pPr>
          </a:lstStyle>
          <a:p>
            <a:pPr/>
            <a:r>
              <a:t>User Response</a:t>
            </a:r>
          </a:p>
        </p:txBody>
      </p:sp>
      <p:sp>
        <p:nvSpPr>
          <p:cNvPr id="615" name="Text 4"/>
          <p:cNvSpPr txBox="1"/>
          <p:nvPr/>
        </p:nvSpPr>
        <p:spPr>
          <a:xfrm>
            <a:off x="2557540" y="4914079"/>
            <a:ext cx="1007560"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FFFFFF"/>
                </a:solidFill>
                <a:latin typeface="Raleway Thin Regular"/>
                <a:ea typeface="Raleway Thin Regular"/>
                <a:cs typeface="Raleway Thin Regular"/>
                <a:sym typeface="Raleway Thin Regular"/>
              </a:defRPr>
            </a:lvl1pPr>
          </a:lstStyle>
          <a:p>
            <a:pPr/>
            <a:r>
              <a:t>AI Model</a:t>
            </a:r>
          </a:p>
        </p:txBody>
      </p:sp>
      <p:sp>
        <p:nvSpPr>
          <p:cNvPr id="616" name="Text 5"/>
          <p:cNvSpPr txBox="1"/>
          <p:nvPr/>
        </p:nvSpPr>
        <p:spPr>
          <a:xfrm>
            <a:off x="2557540" y="3827629"/>
            <a:ext cx="991051"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FFFFFF"/>
                </a:solidFill>
                <a:latin typeface="Raleway Thin Regular"/>
                <a:ea typeface="Raleway Thin Regular"/>
                <a:cs typeface="Raleway Thin Regular"/>
                <a:sym typeface="Raleway Thin Regular"/>
              </a:defRPr>
            </a:lvl1pPr>
          </a:lstStyle>
          <a:p>
            <a:pPr/>
            <a:r>
              <a:t>Backend</a:t>
            </a:r>
          </a:p>
        </p:txBody>
      </p:sp>
      <p:sp>
        <p:nvSpPr>
          <p:cNvPr id="617" name="Text 6"/>
          <p:cNvSpPr txBox="1"/>
          <p:nvPr/>
        </p:nvSpPr>
        <p:spPr>
          <a:xfrm>
            <a:off x="2557540" y="2730094"/>
            <a:ext cx="1164116"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FFFFFF"/>
                </a:solidFill>
                <a:latin typeface="Raleway Thin Regular"/>
                <a:ea typeface="Raleway Thin Regular"/>
                <a:cs typeface="Raleway Thin Regular"/>
                <a:sym typeface="Raleway Thin Regular"/>
              </a:defRPr>
            </a:lvl1pPr>
          </a:lstStyle>
          <a:p>
            <a:pPr/>
            <a:r>
              <a:t>User Input</a:t>
            </a:r>
          </a:p>
        </p:txBody>
      </p:sp>
      <p:sp>
        <p:nvSpPr>
          <p:cNvPr id="618" name="Text 7"/>
          <p:cNvSpPr txBox="1"/>
          <p:nvPr/>
        </p:nvSpPr>
        <p:spPr>
          <a:xfrm>
            <a:off x="793790" y="7071955"/>
            <a:ext cx="13042822" cy="474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900"/>
              </a:lnSpc>
              <a:defRPr sz="1300">
                <a:solidFill>
                  <a:srgbClr val="3C3939"/>
                </a:solidFill>
                <a:latin typeface="Roboto Regular Regular"/>
                <a:ea typeface="Roboto Regular Regular"/>
                <a:cs typeface="Roboto Regular Regular"/>
                <a:sym typeface="Roboto Regular Regular"/>
              </a:defRPr>
            </a:lvl1pPr>
          </a:lstStyle>
          <a:p>
            <a:pPr/>
            <a:r>
              <a:t>Each arrow in this diagram represents an interface — a contract between components. FDEs think carefully about what flows across each boundary: format, latency, failure modes, and fallback behavior.</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2" name="Text 0"/>
          <p:cNvSpPr txBox="1"/>
          <p:nvPr/>
        </p:nvSpPr>
        <p:spPr>
          <a:xfrm>
            <a:off x="793790" y="1053226"/>
            <a:ext cx="1058441" cy="2404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22 OF 28</a:t>
            </a:r>
          </a:p>
        </p:txBody>
      </p:sp>
      <p:sp>
        <p:nvSpPr>
          <p:cNvPr id="623" name="Text 1"/>
          <p:cNvSpPr txBox="1"/>
          <p:nvPr/>
        </p:nvSpPr>
        <p:spPr>
          <a:xfrm>
            <a:off x="793790" y="1446133"/>
            <a:ext cx="10554686"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System Components — What Makes a System</a:t>
            </a:r>
          </a:p>
        </p:txBody>
      </p:sp>
      <p:sp>
        <p:nvSpPr>
          <p:cNvPr id="624" name="Text 2"/>
          <p:cNvSpPr txBox="1"/>
          <p:nvPr/>
        </p:nvSpPr>
        <p:spPr>
          <a:xfrm>
            <a:off x="793790" y="2363866"/>
            <a:ext cx="13042822"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A production AI system is never just a model. It is a collection of components that each play a specific role. Understanding this architecture prevents the "just call the API" misconception that causes most real-world deployment failures.</a:t>
            </a:r>
          </a:p>
        </p:txBody>
      </p:sp>
      <p:pic>
        <p:nvPicPr>
          <p:cNvPr id="625" name="Image 0" descr="Image 0"/>
          <p:cNvPicPr>
            <a:picLocks noChangeAspect="1"/>
          </p:cNvPicPr>
          <p:nvPr/>
        </p:nvPicPr>
        <p:blipFill>
          <a:blip r:embed="rId3">
            <a:extLst/>
          </a:blip>
          <a:stretch>
            <a:fillRect/>
          </a:stretch>
        </p:blipFill>
        <p:spPr>
          <a:xfrm>
            <a:off x="793790" y="3222188"/>
            <a:ext cx="496134" cy="496134"/>
          </a:xfrm>
          <a:prstGeom prst="rect">
            <a:avLst/>
          </a:prstGeom>
          <a:ln w="12700">
            <a:miter lim="400000"/>
          </a:ln>
        </p:spPr>
      </p:pic>
      <p:sp>
        <p:nvSpPr>
          <p:cNvPr id="626" name="Text 3"/>
          <p:cNvSpPr txBox="1"/>
          <p:nvPr/>
        </p:nvSpPr>
        <p:spPr>
          <a:xfrm>
            <a:off x="793790" y="3966328"/>
            <a:ext cx="991051"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Backend</a:t>
            </a:r>
          </a:p>
        </p:txBody>
      </p:sp>
      <p:sp>
        <p:nvSpPr>
          <p:cNvPr id="627" name="Text 4"/>
          <p:cNvSpPr txBox="1"/>
          <p:nvPr/>
        </p:nvSpPr>
        <p:spPr>
          <a:xfrm>
            <a:off x="793789" y="4395549"/>
            <a:ext cx="6397349"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Handles requests, authentication, routing, and orchestration. The backbone of the system.</a:t>
            </a:r>
          </a:p>
        </p:txBody>
      </p:sp>
      <p:pic>
        <p:nvPicPr>
          <p:cNvPr id="628" name="Image 1" descr="Image 1"/>
          <p:cNvPicPr>
            <a:picLocks noChangeAspect="1"/>
          </p:cNvPicPr>
          <p:nvPr/>
        </p:nvPicPr>
        <p:blipFill>
          <a:blip r:embed="rId3">
            <a:extLst/>
          </a:blip>
          <a:stretch>
            <a:fillRect/>
          </a:stretch>
        </p:blipFill>
        <p:spPr>
          <a:xfrm>
            <a:off x="7439144" y="3222188"/>
            <a:ext cx="496134" cy="496134"/>
          </a:xfrm>
          <a:prstGeom prst="rect">
            <a:avLst/>
          </a:prstGeom>
          <a:ln w="12700">
            <a:miter lim="400000"/>
          </a:ln>
        </p:spPr>
      </p:pic>
      <p:sp>
        <p:nvSpPr>
          <p:cNvPr id="629" name="Text 5"/>
          <p:cNvSpPr txBox="1"/>
          <p:nvPr/>
        </p:nvSpPr>
        <p:spPr>
          <a:xfrm>
            <a:off x="7439144" y="3966328"/>
            <a:ext cx="628337"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Logic</a:t>
            </a:r>
          </a:p>
        </p:txBody>
      </p:sp>
      <p:sp>
        <p:nvSpPr>
          <p:cNvPr id="630" name="Text 6"/>
          <p:cNvSpPr txBox="1"/>
          <p:nvPr/>
        </p:nvSpPr>
        <p:spPr>
          <a:xfrm>
            <a:off x="7439144" y="4395549"/>
            <a:ext cx="6397467"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Business rules, conditional processing, and decision trees that control system behavior.</a:t>
            </a:r>
          </a:p>
        </p:txBody>
      </p:sp>
      <p:pic>
        <p:nvPicPr>
          <p:cNvPr id="631" name="Image 2" descr="Image 2"/>
          <p:cNvPicPr>
            <a:picLocks noChangeAspect="1"/>
          </p:cNvPicPr>
          <p:nvPr/>
        </p:nvPicPr>
        <p:blipFill>
          <a:blip r:embed="rId3">
            <a:extLst/>
          </a:blip>
          <a:stretch>
            <a:fillRect/>
          </a:stretch>
        </p:blipFill>
        <p:spPr>
          <a:xfrm>
            <a:off x="793790" y="5427464"/>
            <a:ext cx="496134" cy="496134"/>
          </a:xfrm>
          <a:prstGeom prst="rect">
            <a:avLst/>
          </a:prstGeom>
          <a:ln w="12700">
            <a:miter lim="400000"/>
          </a:ln>
        </p:spPr>
      </p:pic>
      <p:sp>
        <p:nvSpPr>
          <p:cNvPr id="632" name="Text 7"/>
          <p:cNvSpPr txBox="1"/>
          <p:nvPr/>
        </p:nvSpPr>
        <p:spPr>
          <a:xfrm>
            <a:off x="793790" y="6171605"/>
            <a:ext cx="527288"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Data</a:t>
            </a:r>
          </a:p>
        </p:txBody>
      </p:sp>
      <p:sp>
        <p:nvSpPr>
          <p:cNvPr id="633" name="Text 8"/>
          <p:cNvSpPr txBox="1"/>
          <p:nvPr/>
        </p:nvSpPr>
        <p:spPr>
          <a:xfrm>
            <a:off x="793789" y="6600825"/>
            <a:ext cx="6397349"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Persistent storage, retrieval systems, knowledge bases, and training data pipelines.</a:t>
            </a:r>
          </a:p>
        </p:txBody>
      </p:sp>
      <p:pic>
        <p:nvPicPr>
          <p:cNvPr id="634" name="Image 3" descr="Image 3"/>
          <p:cNvPicPr>
            <a:picLocks noChangeAspect="1"/>
          </p:cNvPicPr>
          <p:nvPr/>
        </p:nvPicPr>
        <p:blipFill>
          <a:blip r:embed="rId3">
            <a:extLst/>
          </a:blip>
          <a:stretch>
            <a:fillRect/>
          </a:stretch>
        </p:blipFill>
        <p:spPr>
          <a:xfrm>
            <a:off x="7439144" y="5427464"/>
            <a:ext cx="496134" cy="496134"/>
          </a:xfrm>
          <a:prstGeom prst="rect">
            <a:avLst/>
          </a:prstGeom>
          <a:ln w="12700">
            <a:miter lim="400000"/>
          </a:ln>
        </p:spPr>
      </p:pic>
      <p:sp>
        <p:nvSpPr>
          <p:cNvPr id="635" name="Text 9"/>
          <p:cNvSpPr txBox="1"/>
          <p:nvPr/>
        </p:nvSpPr>
        <p:spPr>
          <a:xfrm>
            <a:off x="7439144" y="6171605"/>
            <a:ext cx="254709"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UI</a:t>
            </a:r>
          </a:p>
        </p:txBody>
      </p:sp>
      <p:sp>
        <p:nvSpPr>
          <p:cNvPr id="636" name="Text 10"/>
          <p:cNvSpPr txBox="1"/>
          <p:nvPr/>
        </p:nvSpPr>
        <p:spPr>
          <a:xfrm>
            <a:off x="7439144" y="6600825"/>
            <a:ext cx="6397467"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The surface through which users interact — web app, API, chat widget, or dashboard.</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0" name="Text 0"/>
          <p:cNvSpPr txBox="1"/>
          <p:nvPr/>
        </p:nvSpPr>
        <p:spPr>
          <a:xfrm>
            <a:off x="793790" y="824031"/>
            <a:ext cx="971296" cy="2169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800"/>
              </a:lnSpc>
              <a:defRPr sz="1100">
                <a:solidFill>
                  <a:srgbClr val="1B1B27"/>
                </a:solidFill>
                <a:latin typeface="Roboto Regular Regular"/>
                <a:ea typeface="Roboto Regular Regular"/>
                <a:cs typeface="Roboto Regular Regular"/>
                <a:sym typeface="Roboto Regular Regular"/>
              </a:defRPr>
            </a:lvl1pPr>
          </a:lstStyle>
          <a:p>
            <a:pPr/>
            <a:r>
              <a:t>SLIDE 23 OF 28</a:t>
            </a:r>
          </a:p>
        </p:txBody>
      </p:sp>
      <p:sp>
        <p:nvSpPr>
          <p:cNvPr id="641" name="Text 1"/>
          <p:cNvSpPr txBox="1"/>
          <p:nvPr/>
        </p:nvSpPr>
        <p:spPr>
          <a:xfrm>
            <a:off x="793790" y="1187409"/>
            <a:ext cx="5966007" cy="57731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600"/>
              </a:lnSpc>
              <a:defRPr sz="3700">
                <a:solidFill>
                  <a:srgbClr val="1B1B27"/>
                </a:solidFill>
                <a:latin typeface="Raleway Thin Regular"/>
                <a:ea typeface="Raleway Thin Regular"/>
                <a:cs typeface="Raleway Thin Regular"/>
                <a:sym typeface="Raleway Thin Regular"/>
              </a:defRPr>
            </a:lvl1pPr>
          </a:lstStyle>
          <a:p>
            <a:pPr/>
            <a:r>
              <a:t>Where AI Fits in the System</a:t>
            </a:r>
          </a:p>
        </p:txBody>
      </p:sp>
      <p:sp>
        <p:nvSpPr>
          <p:cNvPr id="642" name="Text 2"/>
          <p:cNvSpPr txBox="1"/>
          <p:nvPr/>
        </p:nvSpPr>
        <p:spPr>
          <a:xfrm>
            <a:off x="793790" y="2045136"/>
            <a:ext cx="13042822" cy="5691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300"/>
              </a:lnSpc>
              <a:defRPr sz="1400">
                <a:solidFill>
                  <a:srgbClr val="3C3939"/>
                </a:solidFill>
                <a:latin typeface="Roboto Regular Regular"/>
                <a:ea typeface="Roboto Regular Regular"/>
                <a:cs typeface="Roboto Regular Regular"/>
                <a:sym typeface="Roboto Regular Regular"/>
              </a:defRPr>
            </a:pPr>
            <a:r>
              <a:t>One of the most important mental shifts for engineers new to AI is this: </a:t>
            </a:r>
            <a:r>
              <a:rPr>
                <a:latin typeface="Roboto Regular Bold"/>
                <a:ea typeface="Roboto Regular Bold"/>
                <a:cs typeface="Roboto Regular Bold"/>
                <a:sym typeface="Roboto Regular Bold"/>
              </a:rPr>
              <a:t>AI is a component, not a system.</a:t>
            </a:r>
            <a:r>
              <a:t> It lives inside the processing layer — doing specific things that rules and logic cannot do well — but it is never the whole solution.</a:t>
            </a:r>
          </a:p>
        </p:txBody>
      </p:sp>
      <p:sp>
        <p:nvSpPr>
          <p:cNvPr id="643" name="Shape 3"/>
          <p:cNvSpPr/>
          <p:nvPr/>
        </p:nvSpPr>
        <p:spPr>
          <a:xfrm>
            <a:off x="793790" y="3036451"/>
            <a:ext cx="7641670" cy="1190626"/>
          </a:xfrm>
          <a:prstGeom prst="roundRect">
            <a:avLst>
              <a:gd name="adj" fmla="val 9216"/>
            </a:avLst>
          </a:prstGeom>
          <a:solidFill>
            <a:srgbClr val="FFFFFF">
              <a:alpha val="95000"/>
            </a:srgbClr>
          </a:solidFill>
          <a:ln w="22860">
            <a:solidFill>
              <a:srgbClr val="C7C7D0"/>
            </a:solidFill>
          </a:ln>
        </p:spPr>
        <p:txBody>
          <a:bodyPr lIns="45719" rIns="45719"/>
          <a:lstStyle/>
          <a:p>
            <a:pPr/>
          </a:p>
        </p:txBody>
      </p:sp>
      <p:sp>
        <p:nvSpPr>
          <p:cNvPr id="644" name="Shape 4"/>
          <p:cNvSpPr/>
          <p:nvPr/>
        </p:nvSpPr>
        <p:spPr>
          <a:xfrm>
            <a:off x="770929" y="3036451"/>
            <a:ext cx="91441" cy="1190626"/>
          </a:xfrm>
          <a:prstGeom prst="roundRect">
            <a:avLst>
              <a:gd name="adj" fmla="val 50000"/>
            </a:avLst>
          </a:prstGeom>
          <a:solidFill>
            <a:srgbClr val="1B1B27"/>
          </a:solidFill>
          <a:ln w="12700">
            <a:miter lim="400000"/>
          </a:ln>
        </p:spPr>
        <p:txBody>
          <a:bodyPr lIns="45719" rIns="45719"/>
          <a:lstStyle/>
          <a:p>
            <a:pPr/>
          </a:p>
        </p:txBody>
      </p:sp>
      <p:sp>
        <p:nvSpPr>
          <p:cNvPr id="645" name="Text 5"/>
          <p:cNvSpPr txBox="1"/>
          <p:nvPr/>
        </p:nvSpPr>
        <p:spPr>
          <a:xfrm>
            <a:off x="1073705" y="3247787"/>
            <a:ext cx="1202552" cy="28717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a:solidFill>
                  <a:srgbClr val="3C3939"/>
                </a:solidFill>
                <a:latin typeface="Raleway Thin Regular"/>
                <a:ea typeface="Raleway Thin Regular"/>
                <a:cs typeface="Raleway Thin Regular"/>
                <a:sym typeface="Raleway Thin Regular"/>
              </a:defRPr>
            </a:lvl1pPr>
          </a:lstStyle>
          <a:p>
            <a:pPr/>
            <a:r>
              <a:t>Input Layer</a:t>
            </a:r>
          </a:p>
        </p:txBody>
      </p:sp>
      <p:sp>
        <p:nvSpPr>
          <p:cNvPr id="646" name="Text 6"/>
          <p:cNvSpPr txBox="1"/>
          <p:nvPr/>
        </p:nvSpPr>
        <p:spPr>
          <a:xfrm>
            <a:off x="1073706" y="3721537"/>
            <a:ext cx="6719181" cy="2770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sz="1400">
                <a:solidFill>
                  <a:srgbClr val="3C3939"/>
                </a:solidFill>
                <a:latin typeface="Roboto Regular Regular"/>
                <a:ea typeface="Roboto Regular Regular"/>
                <a:cs typeface="Roboto Regular Regular"/>
                <a:sym typeface="Roboto Regular Regular"/>
              </a:defRPr>
            </a:lvl1pPr>
          </a:lstStyle>
          <a:p>
            <a:pPr/>
            <a:r>
              <a:t>Handles ingestion, validation, and formatting of raw data before it reaches the model.</a:t>
            </a:r>
          </a:p>
        </p:txBody>
      </p:sp>
      <p:sp>
        <p:nvSpPr>
          <p:cNvPr id="647" name="Shape 7"/>
          <p:cNvSpPr/>
          <p:nvPr/>
        </p:nvSpPr>
        <p:spPr>
          <a:xfrm>
            <a:off x="793790" y="4406146"/>
            <a:ext cx="7641670" cy="1484829"/>
          </a:xfrm>
          <a:prstGeom prst="roundRect">
            <a:avLst>
              <a:gd name="adj" fmla="val 7390"/>
            </a:avLst>
          </a:prstGeom>
          <a:solidFill>
            <a:srgbClr val="FFFFFF">
              <a:alpha val="95000"/>
            </a:srgbClr>
          </a:solidFill>
          <a:ln w="22860">
            <a:solidFill>
              <a:srgbClr val="C7C7D0"/>
            </a:solidFill>
          </a:ln>
        </p:spPr>
        <p:txBody>
          <a:bodyPr lIns="45719" rIns="45719"/>
          <a:lstStyle/>
          <a:p>
            <a:pPr/>
          </a:p>
        </p:txBody>
      </p:sp>
      <p:sp>
        <p:nvSpPr>
          <p:cNvPr id="648" name="Shape 8"/>
          <p:cNvSpPr/>
          <p:nvPr/>
        </p:nvSpPr>
        <p:spPr>
          <a:xfrm>
            <a:off x="770929" y="4406146"/>
            <a:ext cx="91441" cy="1484829"/>
          </a:xfrm>
          <a:prstGeom prst="roundRect">
            <a:avLst>
              <a:gd name="adj" fmla="val 50000"/>
            </a:avLst>
          </a:prstGeom>
          <a:solidFill>
            <a:srgbClr val="1B1B27"/>
          </a:solidFill>
          <a:ln w="12700">
            <a:miter lim="400000"/>
          </a:ln>
        </p:spPr>
        <p:txBody>
          <a:bodyPr lIns="45719" rIns="45719"/>
          <a:lstStyle/>
          <a:p>
            <a:pPr/>
          </a:p>
        </p:txBody>
      </p:sp>
      <p:sp>
        <p:nvSpPr>
          <p:cNvPr id="649" name="Text 9"/>
          <p:cNvSpPr txBox="1"/>
          <p:nvPr/>
        </p:nvSpPr>
        <p:spPr>
          <a:xfrm>
            <a:off x="1073705" y="4617482"/>
            <a:ext cx="1964317" cy="28717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a:solidFill>
                  <a:srgbClr val="1B1B27"/>
                </a:solidFill>
                <a:latin typeface="Raleway Thin Regular"/>
                <a:ea typeface="Raleway Thin Regular"/>
                <a:cs typeface="Raleway Thin Regular"/>
                <a:sym typeface="Raleway Thin Regular"/>
              </a:defRPr>
            </a:lvl1pPr>
          </a:lstStyle>
          <a:p>
            <a:pPr/>
            <a:r>
              <a:t>→ AI Lives Here ←</a:t>
            </a:r>
          </a:p>
        </p:txBody>
      </p:sp>
      <p:sp>
        <p:nvSpPr>
          <p:cNvPr id="650" name="Text 10"/>
          <p:cNvSpPr txBox="1"/>
          <p:nvPr/>
        </p:nvSpPr>
        <p:spPr>
          <a:xfrm>
            <a:off x="1073706" y="5091231"/>
            <a:ext cx="7150418" cy="5691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300"/>
              </a:lnSpc>
              <a:defRPr sz="1400">
                <a:solidFill>
                  <a:srgbClr val="3C3939"/>
                </a:solidFill>
                <a:latin typeface="Roboto Regular Regular"/>
                <a:ea typeface="Roboto Regular Regular"/>
                <a:cs typeface="Roboto Regular Regular"/>
                <a:sym typeface="Roboto Regular Regular"/>
              </a:defRPr>
            </a:lvl1pPr>
          </a:lstStyle>
          <a:p>
            <a:pPr/>
            <a:r>
              <a:t>The model processes transformed input and returns predictions, text, or structured outputs.</a:t>
            </a:r>
          </a:p>
        </p:txBody>
      </p:sp>
      <p:sp>
        <p:nvSpPr>
          <p:cNvPr id="651" name="Shape 11"/>
          <p:cNvSpPr/>
          <p:nvPr/>
        </p:nvSpPr>
        <p:spPr>
          <a:xfrm>
            <a:off x="793790" y="6070043"/>
            <a:ext cx="7641670" cy="1190626"/>
          </a:xfrm>
          <a:prstGeom prst="roundRect">
            <a:avLst>
              <a:gd name="adj" fmla="val 9216"/>
            </a:avLst>
          </a:prstGeom>
          <a:solidFill>
            <a:srgbClr val="FFFFFF">
              <a:alpha val="95000"/>
            </a:srgbClr>
          </a:solidFill>
          <a:ln w="22860">
            <a:solidFill>
              <a:srgbClr val="C7C7D0"/>
            </a:solidFill>
          </a:ln>
        </p:spPr>
        <p:txBody>
          <a:bodyPr lIns="45719" rIns="45719"/>
          <a:lstStyle/>
          <a:p>
            <a:pPr/>
          </a:p>
        </p:txBody>
      </p:sp>
      <p:sp>
        <p:nvSpPr>
          <p:cNvPr id="652" name="Shape 12"/>
          <p:cNvSpPr/>
          <p:nvPr/>
        </p:nvSpPr>
        <p:spPr>
          <a:xfrm>
            <a:off x="770929" y="6070043"/>
            <a:ext cx="91441" cy="1190626"/>
          </a:xfrm>
          <a:prstGeom prst="roundRect">
            <a:avLst>
              <a:gd name="adj" fmla="val 50000"/>
            </a:avLst>
          </a:prstGeom>
          <a:solidFill>
            <a:srgbClr val="1B1B27"/>
          </a:solidFill>
          <a:ln w="12700">
            <a:miter lim="400000"/>
          </a:ln>
        </p:spPr>
        <p:txBody>
          <a:bodyPr lIns="45719" rIns="45719"/>
          <a:lstStyle/>
          <a:p>
            <a:pPr/>
          </a:p>
        </p:txBody>
      </p:sp>
      <p:sp>
        <p:nvSpPr>
          <p:cNvPr id="653" name="Text 13"/>
          <p:cNvSpPr txBox="1"/>
          <p:nvPr/>
        </p:nvSpPr>
        <p:spPr>
          <a:xfrm>
            <a:off x="1073705" y="6281380"/>
            <a:ext cx="1396687" cy="28717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a:solidFill>
                  <a:srgbClr val="3C3939"/>
                </a:solidFill>
                <a:latin typeface="Raleway Thin Regular"/>
                <a:ea typeface="Raleway Thin Regular"/>
                <a:cs typeface="Raleway Thin Regular"/>
                <a:sym typeface="Raleway Thin Regular"/>
              </a:defRPr>
            </a:lvl1pPr>
          </a:lstStyle>
          <a:p>
            <a:pPr/>
            <a:r>
              <a:t>Output Layer</a:t>
            </a:r>
          </a:p>
        </p:txBody>
      </p:sp>
      <p:sp>
        <p:nvSpPr>
          <p:cNvPr id="654" name="Text 14"/>
          <p:cNvSpPr txBox="1"/>
          <p:nvPr/>
        </p:nvSpPr>
        <p:spPr>
          <a:xfrm>
            <a:off x="1073706" y="6755130"/>
            <a:ext cx="6742014" cy="2770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sz="1400">
                <a:solidFill>
                  <a:srgbClr val="3C3939"/>
                </a:solidFill>
                <a:latin typeface="Roboto Regular Regular"/>
                <a:ea typeface="Roboto Regular Regular"/>
                <a:cs typeface="Roboto Regular Regular"/>
                <a:sym typeface="Roboto Regular Regular"/>
              </a:defRPr>
            </a:lvl1pPr>
          </a:lstStyle>
          <a:p>
            <a:pPr/>
            <a:r>
              <a:t>Post-processing, formatting, safety filtering, and delivery of the final result to the user.</a:t>
            </a:r>
          </a:p>
        </p:txBody>
      </p:sp>
      <p:sp>
        <p:nvSpPr>
          <p:cNvPr id="655" name="Shape 15"/>
          <p:cNvSpPr/>
          <p:nvPr/>
        </p:nvSpPr>
        <p:spPr>
          <a:xfrm>
            <a:off x="8767285" y="2834996"/>
            <a:ext cx="5212795" cy="4627128"/>
          </a:xfrm>
          <a:prstGeom prst="roundRect">
            <a:avLst>
              <a:gd name="adj" fmla="val 2934"/>
            </a:avLst>
          </a:prstGeom>
          <a:solidFill>
            <a:srgbClr val="1B1B27">
              <a:alpha val="95000"/>
            </a:srgbClr>
          </a:solidFill>
          <a:ln w="12700">
            <a:miter lim="400000"/>
          </a:ln>
        </p:spPr>
        <p:txBody>
          <a:bodyPr lIns="45719" rIns="45719"/>
          <a:lstStyle/>
          <a:p>
            <a:pPr/>
          </a:p>
        </p:txBody>
      </p:sp>
      <p:sp>
        <p:nvSpPr>
          <p:cNvPr id="656" name="Text 16"/>
          <p:cNvSpPr txBox="1"/>
          <p:nvPr/>
        </p:nvSpPr>
        <p:spPr>
          <a:xfrm>
            <a:off x="8955761" y="3014066"/>
            <a:ext cx="1842602" cy="28717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a:solidFill>
                  <a:srgbClr val="FFFFFF"/>
                </a:solidFill>
                <a:latin typeface="Raleway Thin Regular"/>
                <a:ea typeface="Raleway Thin Regular"/>
                <a:cs typeface="Raleway Thin Regular"/>
                <a:sym typeface="Raleway Thin Regular"/>
              </a:defRPr>
            </a:lvl1pPr>
          </a:lstStyle>
          <a:p>
            <a:pPr/>
            <a:r>
              <a:t>The Key Principle</a:t>
            </a:r>
          </a:p>
        </p:txBody>
      </p:sp>
      <p:sp>
        <p:nvSpPr>
          <p:cNvPr id="657" name="Text 17"/>
          <p:cNvSpPr txBox="1"/>
          <p:nvPr/>
        </p:nvSpPr>
        <p:spPr>
          <a:xfrm>
            <a:off x="8955761" y="3487816"/>
            <a:ext cx="4835844" cy="8612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300"/>
              </a:lnSpc>
              <a:defRPr sz="1400">
                <a:solidFill>
                  <a:srgbClr val="FFFFFF"/>
                </a:solidFill>
                <a:latin typeface="Roboto Regular Regular"/>
                <a:ea typeface="Roboto Regular Regular"/>
                <a:cs typeface="Roboto Regular Regular"/>
                <a:sym typeface="Roboto Regular Regular"/>
              </a:defRPr>
            </a:pPr>
            <a:r>
              <a:t>AI does not replace your system — it </a:t>
            </a:r>
            <a:r>
              <a:rPr i="1"/>
              <a:t>enhances</a:t>
            </a:r>
            <a:r>
              <a:t> the processing layer. The rest of the system is still your responsibility as an engineer.</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1" name="Text 0"/>
          <p:cNvSpPr txBox="1"/>
          <p:nvPr/>
        </p:nvSpPr>
        <p:spPr>
          <a:xfrm>
            <a:off x="793790" y="898565"/>
            <a:ext cx="1058441"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24 OF 28</a:t>
            </a:r>
          </a:p>
        </p:txBody>
      </p:sp>
      <p:sp>
        <p:nvSpPr>
          <p:cNvPr id="662" name="Shape 1"/>
          <p:cNvSpPr/>
          <p:nvPr/>
        </p:nvSpPr>
        <p:spPr>
          <a:xfrm>
            <a:off x="793790" y="1435418"/>
            <a:ext cx="1647469" cy="373143"/>
          </a:xfrm>
          <a:prstGeom prst="roundRect">
            <a:avLst>
              <a:gd name="adj" fmla="val 17872"/>
            </a:avLst>
          </a:prstGeom>
          <a:solidFill>
            <a:srgbClr val="E1E1EA"/>
          </a:solidFill>
          <a:ln w="12700">
            <a:miter lim="400000"/>
          </a:ln>
        </p:spPr>
        <p:txBody>
          <a:bodyPr lIns="45719" rIns="45719"/>
          <a:lstStyle/>
          <a:p>
            <a:pPr/>
          </a:p>
        </p:txBody>
      </p:sp>
      <p:sp>
        <p:nvSpPr>
          <p:cNvPr id="663" name="Text 2"/>
          <p:cNvSpPr txBox="1"/>
          <p:nvPr/>
        </p:nvSpPr>
        <p:spPr>
          <a:xfrm>
            <a:off x="912852" y="1494948"/>
            <a:ext cx="1365920"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C3939"/>
                </a:solidFill>
                <a:latin typeface="Roboto Regular Regular"/>
                <a:ea typeface="Roboto Regular Regular"/>
                <a:cs typeface="Roboto Regular Regular"/>
                <a:sym typeface="Roboto Regular Regular"/>
              </a:defRPr>
            </a:lvl1pPr>
          </a:lstStyle>
          <a:p>
            <a:pPr/>
            <a:r>
              <a:t>COMMON MISTAKE</a:t>
            </a:r>
          </a:p>
        </p:txBody>
      </p:sp>
      <p:sp>
        <p:nvSpPr>
          <p:cNvPr id="664" name="Text 3"/>
          <p:cNvSpPr txBox="1"/>
          <p:nvPr/>
        </p:nvSpPr>
        <p:spPr>
          <a:xfrm>
            <a:off x="793790" y="1887854"/>
            <a:ext cx="5320031"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"Let's Use AI" ≠ Solution</a:t>
            </a:r>
          </a:p>
        </p:txBody>
      </p:sp>
      <p:sp>
        <p:nvSpPr>
          <p:cNvPr id="665" name="Text 4"/>
          <p:cNvSpPr txBox="1"/>
          <p:nvPr/>
        </p:nvSpPr>
        <p:spPr>
          <a:xfrm>
            <a:off x="793789" y="2805589"/>
            <a:ext cx="5408100" cy="83822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6700"/>
              </a:lnSpc>
              <a:defRPr sz="5300">
                <a:solidFill>
                  <a:srgbClr val="1B1B27"/>
                </a:solidFill>
                <a:latin typeface="Raleway Thin Regular"/>
                <a:ea typeface="Raleway Thin Regular"/>
                <a:cs typeface="Raleway Thin Regular"/>
                <a:sym typeface="Raleway Thin Regular"/>
              </a:defRPr>
            </a:lvl1pPr>
          </a:lstStyle>
          <a:p>
            <a:pPr/>
            <a:r>
              <a:t>"Let's add AI to it."</a:t>
            </a:r>
          </a:p>
        </p:txBody>
      </p:sp>
      <p:sp>
        <p:nvSpPr>
          <p:cNvPr id="666" name="Text 5"/>
          <p:cNvSpPr txBox="1"/>
          <p:nvPr/>
        </p:nvSpPr>
        <p:spPr>
          <a:xfrm>
            <a:off x="793790" y="3959066"/>
            <a:ext cx="13042822"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This is one of the most common — and most expensive — phrases in modern tech. AI is not a magic layer you add to make a product better. It is a specific tool for specific problems, with real costs, real failure modes, and real maintenance overhead.</a:t>
            </a:r>
          </a:p>
        </p:txBody>
      </p:sp>
      <p:sp>
        <p:nvSpPr>
          <p:cNvPr id="667" name="Shape 6"/>
          <p:cNvSpPr/>
          <p:nvPr/>
        </p:nvSpPr>
        <p:spPr>
          <a:xfrm>
            <a:off x="793790" y="4817388"/>
            <a:ext cx="6422231" cy="1506737"/>
          </a:xfrm>
          <a:prstGeom prst="roundRect">
            <a:avLst>
              <a:gd name="adj" fmla="val 5532"/>
            </a:avLst>
          </a:prstGeom>
          <a:solidFill>
            <a:srgbClr val="FFFFFF">
              <a:alpha val="95000"/>
            </a:srgbClr>
          </a:solidFill>
          <a:ln w="22860">
            <a:solidFill>
              <a:srgbClr val="C7C7D0"/>
            </a:solidFill>
          </a:ln>
        </p:spPr>
        <p:txBody>
          <a:bodyPr lIns="45719" rIns="45719"/>
          <a:lstStyle/>
          <a:p>
            <a:pPr/>
          </a:p>
        </p:txBody>
      </p:sp>
      <p:sp>
        <p:nvSpPr>
          <p:cNvPr id="668" name="Text 7"/>
          <p:cNvSpPr txBox="1"/>
          <p:nvPr/>
        </p:nvSpPr>
        <p:spPr>
          <a:xfrm>
            <a:off x="1015008" y="5038606"/>
            <a:ext cx="2175940"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Wrong Question</a:t>
            </a:r>
          </a:p>
        </p:txBody>
      </p:sp>
      <p:sp>
        <p:nvSpPr>
          <p:cNvPr id="669" name="Text 8"/>
          <p:cNvSpPr txBox="1"/>
          <p:nvPr/>
        </p:nvSpPr>
        <p:spPr>
          <a:xfrm>
            <a:off x="1015008" y="5467825"/>
            <a:ext cx="5979796"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"How can we use AI here?" — starts with the technology, not the problem.</a:t>
            </a:r>
          </a:p>
        </p:txBody>
      </p:sp>
      <p:sp>
        <p:nvSpPr>
          <p:cNvPr id="670" name="Shape 9"/>
          <p:cNvSpPr/>
          <p:nvPr/>
        </p:nvSpPr>
        <p:spPr>
          <a:xfrm>
            <a:off x="7414379" y="4817388"/>
            <a:ext cx="6422232" cy="1506737"/>
          </a:xfrm>
          <a:prstGeom prst="roundRect">
            <a:avLst>
              <a:gd name="adj" fmla="val 5532"/>
            </a:avLst>
          </a:prstGeom>
          <a:solidFill>
            <a:srgbClr val="FFFFFF">
              <a:alpha val="95000"/>
            </a:srgbClr>
          </a:solidFill>
          <a:ln w="22860">
            <a:solidFill>
              <a:srgbClr val="C7C7D0"/>
            </a:solidFill>
          </a:ln>
        </p:spPr>
        <p:txBody>
          <a:bodyPr lIns="45719" rIns="45719"/>
          <a:lstStyle/>
          <a:p>
            <a:pPr/>
          </a:p>
        </p:txBody>
      </p:sp>
      <p:sp>
        <p:nvSpPr>
          <p:cNvPr id="671" name="Text 10"/>
          <p:cNvSpPr txBox="1"/>
          <p:nvPr/>
        </p:nvSpPr>
        <p:spPr>
          <a:xfrm>
            <a:off x="7635596" y="5038606"/>
            <a:ext cx="2005907"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Right Question</a:t>
            </a:r>
          </a:p>
        </p:txBody>
      </p:sp>
      <p:sp>
        <p:nvSpPr>
          <p:cNvPr id="672" name="Text 11"/>
          <p:cNvSpPr txBox="1"/>
          <p:nvPr/>
        </p:nvSpPr>
        <p:spPr>
          <a:xfrm>
            <a:off x="7635596" y="5467825"/>
            <a:ext cx="5979796"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"What is the problem — and is AI the most appropriate tool to solve it?" — starts with the outcome.</a:t>
            </a:r>
          </a:p>
        </p:txBody>
      </p:sp>
      <p:sp>
        <p:nvSpPr>
          <p:cNvPr id="673" name="Shape 12"/>
          <p:cNvSpPr/>
          <p:nvPr/>
        </p:nvSpPr>
        <p:spPr>
          <a:xfrm>
            <a:off x="793790" y="6547366"/>
            <a:ext cx="13042821" cy="843202"/>
          </a:xfrm>
          <a:prstGeom prst="roundRect">
            <a:avLst>
              <a:gd name="adj" fmla="val 9886"/>
            </a:avLst>
          </a:prstGeom>
          <a:solidFill>
            <a:srgbClr val="FCF2B5"/>
          </a:solidFill>
          <a:ln w="12700">
            <a:miter lim="400000"/>
          </a:ln>
        </p:spPr>
        <p:txBody>
          <a:bodyPr lIns="45719" rIns="45719"/>
          <a:lstStyle/>
          <a:p>
            <a:pPr/>
          </a:p>
        </p:txBody>
      </p:sp>
      <p:pic>
        <p:nvPicPr>
          <p:cNvPr id="674" name="Image 0" descr="Image 0"/>
          <p:cNvPicPr>
            <a:picLocks noChangeAspect="1"/>
          </p:cNvPicPr>
          <p:nvPr/>
        </p:nvPicPr>
        <p:blipFill>
          <a:blip r:embed="rId3">
            <a:extLst/>
          </a:blip>
          <a:stretch>
            <a:fillRect/>
          </a:stretch>
        </p:blipFill>
        <p:spPr>
          <a:xfrm>
            <a:off x="992147" y="6842641"/>
            <a:ext cx="248008" cy="198359"/>
          </a:xfrm>
          <a:prstGeom prst="rect">
            <a:avLst/>
          </a:prstGeom>
          <a:ln w="12700">
            <a:miter lim="400000"/>
          </a:ln>
        </p:spPr>
      </p:pic>
      <p:sp>
        <p:nvSpPr>
          <p:cNvPr id="675" name="Text 13"/>
          <p:cNvSpPr txBox="1"/>
          <p:nvPr/>
        </p:nvSpPr>
        <p:spPr>
          <a:xfrm>
            <a:off x="1438512" y="6795254"/>
            <a:ext cx="10019346"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latin typeface="Roboto Regular Regular"/>
                <a:ea typeface="Roboto Regular Regular"/>
                <a:cs typeface="Roboto Regular Regular"/>
                <a:sym typeface="Roboto Regular Regular"/>
              </a:defRPr>
            </a:lvl1pPr>
          </a:lstStyle>
          <a:p>
            <a:pPr/>
            <a:r>
              <a:t>AI for its own sake produces impressive demos and expensive failures. Always justify the tool choice with the problem.</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9" name="Shape 0"/>
          <p:cNvSpPr/>
          <p:nvPr/>
        </p:nvSpPr>
        <p:spPr>
          <a:xfrm>
            <a:off x="0" y="0"/>
            <a:ext cx="3657600" cy="8229600"/>
          </a:xfrm>
          <a:prstGeom prst="rect">
            <a:avLst/>
          </a:prstGeom>
          <a:solidFill>
            <a:srgbClr val="E1E1EA"/>
          </a:solidFill>
          <a:ln w="12700">
            <a:miter lim="400000"/>
          </a:ln>
        </p:spPr>
        <p:txBody>
          <a:bodyPr lIns="45719" rIns="45719"/>
          <a:lstStyle/>
          <a:p>
            <a:pPr/>
          </a:p>
        </p:txBody>
      </p:sp>
      <p:pic>
        <p:nvPicPr>
          <p:cNvPr id="680" name="Image 0" descr="Image 0"/>
          <p:cNvPicPr>
            <a:picLocks noChangeAspect="1"/>
          </p:cNvPicPr>
          <p:nvPr/>
        </p:nvPicPr>
        <p:blipFill>
          <a:blip r:embed="rId3">
            <a:extLst/>
          </a:blip>
          <a:stretch>
            <a:fillRect/>
          </a:stretch>
        </p:blipFill>
        <p:spPr>
          <a:xfrm>
            <a:off x="99178" y="2385179"/>
            <a:ext cx="3459243" cy="3459242"/>
          </a:xfrm>
          <a:prstGeom prst="rect">
            <a:avLst/>
          </a:prstGeom>
          <a:ln w="12700">
            <a:miter lim="400000"/>
          </a:ln>
        </p:spPr>
      </p:pic>
      <p:sp>
        <p:nvSpPr>
          <p:cNvPr id="681" name="Text 1"/>
          <p:cNvSpPr txBox="1"/>
          <p:nvPr/>
        </p:nvSpPr>
        <p:spPr>
          <a:xfrm>
            <a:off x="4451389" y="1137285"/>
            <a:ext cx="1058442"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25 OF 28</a:t>
            </a:r>
          </a:p>
        </p:txBody>
      </p:sp>
      <p:sp>
        <p:nvSpPr>
          <p:cNvPr id="682" name="Text 2"/>
          <p:cNvSpPr txBox="1"/>
          <p:nvPr/>
        </p:nvSpPr>
        <p:spPr>
          <a:xfrm>
            <a:off x="4451389" y="1530190"/>
            <a:ext cx="9385222" cy="12131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The Right Approach — Use the Right Tool</a:t>
            </a:r>
          </a:p>
        </p:txBody>
      </p:sp>
      <p:sp>
        <p:nvSpPr>
          <p:cNvPr id="683" name="Text 3"/>
          <p:cNvSpPr txBox="1"/>
          <p:nvPr/>
        </p:nvSpPr>
        <p:spPr>
          <a:xfrm>
            <a:off x="4451389" y="3068003"/>
            <a:ext cx="9385222"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500"/>
              </a:lnSpc>
              <a:defRPr sz="1500">
                <a:solidFill>
                  <a:srgbClr val="3C3939"/>
                </a:solidFill>
                <a:latin typeface="Roboto Regular Regular"/>
                <a:ea typeface="Roboto Regular Regular"/>
                <a:cs typeface="Roboto Regular Regular"/>
                <a:sym typeface="Roboto Regular Regular"/>
              </a:defRPr>
            </a:pPr>
            <a:r>
              <a:t>A skilled FDE is not an AI maximalist. They are a pragmatist. Their job is to find the </a:t>
            </a:r>
            <a:r>
              <a:rPr>
                <a:latin typeface="Roboto Regular Bold"/>
                <a:ea typeface="Roboto Regular Bold"/>
                <a:cs typeface="Roboto Regular Bold"/>
                <a:sym typeface="Roboto Regular Bold"/>
              </a:rPr>
              <a:t>simplest, most reliable solution</a:t>
            </a:r>
            <a:r>
              <a:t> that solves the problem — even if that solution is a spreadsheet, a rule, or a simple lookup table.</a:t>
            </a:r>
          </a:p>
        </p:txBody>
      </p:sp>
      <p:pic>
        <p:nvPicPr>
          <p:cNvPr id="684" name="Image 1" descr="Image 1"/>
          <p:cNvPicPr>
            <a:picLocks noChangeAspect="1"/>
          </p:cNvPicPr>
          <p:nvPr/>
        </p:nvPicPr>
        <p:blipFill>
          <a:blip r:embed="rId4">
            <a:extLst/>
          </a:blip>
          <a:stretch>
            <a:fillRect/>
          </a:stretch>
        </p:blipFill>
        <p:spPr>
          <a:xfrm>
            <a:off x="4451389" y="3951089"/>
            <a:ext cx="198359" cy="198359"/>
          </a:xfrm>
          <a:prstGeom prst="rect">
            <a:avLst/>
          </a:prstGeom>
          <a:ln w="12700">
            <a:miter lim="400000"/>
          </a:ln>
        </p:spPr>
      </p:pic>
      <p:sp>
        <p:nvSpPr>
          <p:cNvPr id="685" name="Shape 4"/>
          <p:cNvSpPr/>
          <p:nvPr/>
        </p:nvSpPr>
        <p:spPr>
          <a:xfrm>
            <a:off x="4451389" y="4240648"/>
            <a:ext cx="4593433" cy="22861"/>
          </a:xfrm>
          <a:prstGeom prst="rect">
            <a:avLst/>
          </a:prstGeom>
          <a:solidFill>
            <a:srgbClr val="1B1B27"/>
          </a:solidFill>
          <a:ln w="12700">
            <a:miter lim="400000"/>
          </a:ln>
        </p:spPr>
        <p:txBody>
          <a:bodyPr lIns="45719" rIns="45719"/>
          <a:lstStyle/>
          <a:p>
            <a:pPr/>
          </a:p>
        </p:txBody>
      </p:sp>
      <p:sp>
        <p:nvSpPr>
          <p:cNvPr id="686" name="Text 5"/>
          <p:cNvSpPr txBox="1"/>
          <p:nvPr/>
        </p:nvSpPr>
        <p:spPr>
          <a:xfrm>
            <a:off x="4451389" y="4385547"/>
            <a:ext cx="3245636"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Define the problem precisely</a:t>
            </a:r>
          </a:p>
        </p:txBody>
      </p:sp>
      <p:sp>
        <p:nvSpPr>
          <p:cNvPr id="687" name="Text 6"/>
          <p:cNvSpPr txBox="1"/>
          <p:nvPr/>
        </p:nvSpPr>
        <p:spPr>
          <a:xfrm>
            <a:off x="4451389" y="4814768"/>
            <a:ext cx="4593433"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What exactly needs to happen? Who is the user? What does success look like?</a:t>
            </a:r>
          </a:p>
        </p:txBody>
      </p:sp>
      <p:pic>
        <p:nvPicPr>
          <p:cNvPr id="688" name="Image 2" descr="Image 2"/>
          <p:cNvPicPr>
            <a:picLocks noChangeAspect="1"/>
          </p:cNvPicPr>
          <p:nvPr/>
        </p:nvPicPr>
        <p:blipFill>
          <a:blip r:embed="rId4">
            <a:extLst/>
          </a:blip>
          <a:stretch>
            <a:fillRect/>
          </a:stretch>
        </p:blipFill>
        <p:spPr>
          <a:xfrm>
            <a:off x="9243179" y="3951089"/>
            <a:ext cx="198359" cy="198359"/>
          </a:xfrm>
          <a:prstGeom prst="rect">
            <a:avLst/>
          </a:prstGeom>
          <a:ln w="12700">
            <a:miter lim="400000"/>
          </a:ln>
        </p:spPr>
      </p:pic>
      <p:sp>
        <p:nvSpPr>
          <p:cNvPr id="689" name="Shape 7"/>
          <p:cNvSpPr/>
          <p:nvPr/>
        </p:nvSpPr>
        <p:spPr>
          <a:xfrm>
            <a:off x="9243179" y="4240648"/>
            <a:ext cx="4593432" cy="22861"/>
          </a:xfrm>
          <a:prstGeom prst="rect">
            <a:avLst/>
          </a:prstGeom>
          <a:solidFill>
            <a:srgbClr val="1B1B27"/>
          </a:solidFill>
          <a:ln w="12700">
            <a:miter lim="400000"/>
          </a:ln>
        </p:spPr>
        <p:txBody>
          <a:bodyPr lIns="45719" rIns="45719"/>
          <a:lstStyle/>
          <a:p>
            <a:pPr/>
          </a:p>
        </p:txBody>
      </p:sp>
      <p:sp>
        <p:nvSpPr>
          <p:cNvPr id="690" name="Text 8"/>
          <p:cNvSpPr txBox="1"/>
          <p:nvPr/>
        </p:nvSpPr>
        <p:spPr>
          <a:xfrm>
            <a:off x="9243179" y="4385547"/>
            <a:ext cx="2405478" cy="30030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Evaluate your options</a:t>
            </a:r>
          </a:p>
        </p:txBody>
      </p:sp>
      <p:sp>
        <p:nvSpPr>
          <p:cNvPr id="691" name="Text 9"/>
          <p:cNvSpPr txBox="1"/>
          <p:nvPr/>
        </p:nvSpPr>
        <p:spPr>
          <a:xfrm>
            <a:off x="9243179" y="4814768"/>
            <a:ext cx="4593432"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Rules, ML, LLM, or hybrid? Consider speed, cost, accuracy, and maintenance burden.</a:t>
            </a:r>
          </a:p>
        </p:txBody>
      </p:sp>
      <p:pic>
        <p:nvPicPr>
          <p:cNvPr id="692" name="Image 3" descr="Image 3"/>
          <p:cNvPicPr>
            <a:picLocks noChangeAspect="1"/>
          </p:cNvPicPr>
          <p:nvPr/>
        </p:nvPicPr>
        <p:blipFill>
          <a:blip r:embed="rId4">
            <a:extLst/>
          </a:blip>
          <a:stretch>
            <a:fillRect/>
          </a:stretch>
        </p:blipFill>
        <p:spPr>
          <a:xfrm>
            <a:off x="4451389" y="5821798"/>
            <a:ext cx="198359" cy="198359"/>
          </a:xfrm>
          <a:prstGeom prst="rect">
            <a:avLst/>
          </a:prstGeom>
          <a:ln w="12700">
            <a:miter lim="400000"/>
          </a:ln>
        </p:spPr>
      </p:pic>
      <p:sp>
        <p:nvSpPr>
          <p:cNvPr id="693" name="Shape 10"/>
          <p:cNvSpPr/>
          <p:nvPr/>
        </p:nvSpPr>
        <p:spPr>
          <a:xfrm>
            <a:off x="4451389" y="6111359"/>
            <a:ext cx="9385222" cy="22861"/>
          </a:xfrm>
          <a:prstGeom prst="rect">
            <a:avLst/>
          </a:prstGeom>
          <a:solidFill>
            <a:srgbClr val="1B1B27"/>
          </a:solidFill>
          <a:ln w="12700">
            <a:miter lim="400000"/>
          </a:ln>
        </p:spPr>
        <p:txBody>
          <a:bodyPr lIns="45719" rIns="45719"/>
          <a:lstStyle/>
          <a:p>
            <a:pPr/>
          </a:p>
        </p:txBody>
      </p:sp>
      <p:sp>
        <p:nvSpPr>
          <p:cNvPr id="694" name="Text 11"/>
          <p:cNvSpPr txBox="1"/>
          <p:nvPr/>
        </p:nvSpPr>
        <p:spPr>
          <a:xfrm>
            <a:off x="4451389" y="6256258"/>
            <a:ext cx="3967059"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Choose the simplest viable solution</a:t>
            </a:r>
          </a:p>
        </p:txBody>
      </p:sp>
      <p:sp>
        <p:nvSpPr>
          <p:cNvPr id="695" name="Text 12"/>
          <p:cNvSpPr txBox="1"/>
          <p:nvPr/>
        </p:nvSpPr>
        <p:spPr>
          <a:xfrm>
            <a:off x="4451389" y="6685477"/>
            <a:ext cx="8818490" cy="3005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Start there. Upgrade only when you have evidence — not assumptions — that more complexity is needed.</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9" name="Shape 0"/>
          <p:cNvSpPr/>
          <p:nvPr/>
        </p:nvSpPr>
        <p:spPr>
          <a:xfrm>
            <a:off x="9144000" y="0"/>
            <a:ext cx="5486400" cy="8229600"/>
          </a:xfrm>
          <a:prstGeom prst="rect">
            <a:avLst/>
          </a:prstGeom>
          <a:solidFill>
            <a:srgbClr val="E1E1EA"/>
          </a:solidFill>
          <a:ln w="12700">
            <a:miter lim="400000"/>
          </a:ln>
        </p:spPr>
        <p:txBody>
          <a:bodyPr lIns="45719" rIns="45719"/>
          <a:lstStyle/>
          <a:p>
            <a:pPr/>
          </a:p>
        </p:txBody>
      </p:sp>
      <p:pic>
        <p:nvPicPr>
          <p:cNvPr id="700" name="Image 0" descr="Image 0"/>
          <p:cNvPicPr>
            <a:picLocks noChangeAspect="1"/>
          </p:cNvPicPr>
          <p:nvPr/>
        </p:nvPicPr>
        <p:blipFill>
          <a:blip r:embed="rId3">
            <a:extLst/>
          </a:blip>
          <a:stretch>
            <a:fillRect/>
          </a:stretch>
        </p:blipFill>
        <p:spPr>
          <a:xfrm>
            <a:off x="9243179" y="148708"/>
            <a:ext cx="5288043" cy="7932065"/>
          </a:xfrm>
          <a:prstGeom prst="rect">
            <a:avLst/>
          </a:prstGeom>
          <a:ln w="12700">
            <a:miter lim="400000"/>
          </a:ln>
        </p:spPr>
      </p:pic>
      <p:sp>
        <p:nvSpPr>
          <p:cNvPr id="701" name="Shape 1"/>
          <p:cNvSpPr/>
          <p:nvPr/>
        </p:nvSpPr>
        <p:spPr>
          <a:xfrm>
            <a:off x="793790" y="1685091"/>
            <a:ext cx="2361128" cy="388383"/>
          </a:xfrm>
          <a:prstGeom prst="roundRect">
            <a:avLst>
              <a:gd name="adj" fmla="val 17171"/>
            </a:avLst>
          </a:prstGeom>
          <a:ln w="7620">
            <a:solidFill>
              <a:srgbClr val="1B1B27"/>
            </a:solidFill>
          </a:ln>
        </p:spPr>
        <p:txBody>
          <a:bodyPr lIns="45719" rIns="45719"/>
          <a:lstStyle/>
          <a:p>
            <a:pPr/>
          </a:p>
        </p:txBody>
      </p:sp>
      <p:sp>
        <p:nvSpPr>
          <p:cNvPr id="702" name="Text 2"/>
          <p:cNvSpPr txBox="1"/>
          <p:nvPr/>
        </p:nvSpPr>
        <p:spPr>
          <a:xfrm>
            <a:off x="920472" y="1752243"/>
            <a:ext cx="2036614"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PART 4 — INTERACTIVE CASE</a:t>
            </a:r>
          </a:p>
        </p:txBody>
      </p:sp>
      <p:sp>
        <p:nvSpPr>
          <p:cNvPr id="703" name="Text 3"/>
          <p:cNvSpPr txBox="1"/>
          <p:nvPr/>
        </p:nvSpPr>
        <p:spPr>
          <a:xfrm>
            <a:off x="793790" y="2356247"/>
            <a:ext cx="1058441"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26 OF 28</a:t>
            </a:r>
          </a:p>
        </p:txBody>
      </p:sp>
      <p:sp>
        <p:nvSpPr>
          <p:cNvPr id="704" name="Text 4"/>
          <p:cNvSpPr txBox="1"/>
          <p:nvPr/>
        </p:nvSpPr>
        <p:spPr>
          <a:xfrm>
            <a:off x="793790" y="2749152"/>
            <a:ext cx="7556422" cy="12131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Case Study — Electronic Waste Recycling Classification System</a:t>
            </a:r>
          </a:p>
        </p:txBody>
      </p:sp>
      <p:sp>
        <p:nvSpPr>
          <p:cNvPr id="705" name="Text 5"/>
          <p:cNvSpPr txBox="1"/>
          <p:nvPr/>
        </p:nvSpPr>
        <p:spPr>
          <a:xfrm>
            <a:off x="1091445" y="4510206"/>
            <a:ext cx="7258765"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“A company wants to build a solution that identifies the product in the image which is later used for recycling..”</a:t>
            </a:r>
          </a:p>
        </p:txBody>
      </p:sp>
      <p:sp>
        <p:nvSpPr>
          <p:cNvPr id="706" name="Shape 6"/>
          <p:cNvSpPr/>
          <p:nvPr/>
        </p:nvSpPr>
        <p:spPr>
          <a:xfrm>
            <a:off x="793790" y="4286963"/>
            <a:ext cx="22861" cy="1081565"/>
          </a:xfrm>
          <a:prstGeom prst="rect">
            <a:avLst/>
          </a:prstGeom>
          <a:solidFill>
            <a:srgbClr val="1B1B27"/>
          </a:solidFill>
          <a:ln w="12700">
            <a:miter lim="400000"/>
          </a:ln>
        </p:spPr>
        <p:txBody>
          <a:bodyPr lIns="45719" rIns="45719"/>
          <a:lstStyle/>
          <a:p>
            <a:pPr/>
          </a:p>
        </p:txBody>
      </p:sp>
      <p:sp>
        <p:nvSpPr>
          <p:cNvPr id="707" name="Text 7"/>
          <p:cNvSpPr txBox="1"/>
          <p:nvPr/>
        </p:nvSpPr>
        <p:spPr>
          <a:xfrm>
            <a:off x="793790" y="5591769"/>
            <a:ext cx="7556422"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This is a real-world problem that touches image recognition, user experience, data availability, and deployment constraints. Before discussing any technology, let's apply the FDE mindset and break it down systematically.</a:t>
            </a:r>
          </a:p>
        </p:txBody>
      </p:sp>
      <p:pic>
        <p:nvPicPr>
          <p:cNvPr id="708" name="pasted-movie.png" descr="pasted-movie.png"/>
          <p:cNvPicPr>
            <a:picLocks noChangeAspect="1"/>
          </p:cNvPicPr>
          <p:nvPr/>
        </p:nvPicPr>
        <p:blipFill>
          <a:blip r:embed="rId4">
            <a:extLst/>
          </a:blip>
          <a:stretch>
            <a:fillRect/>
          </a:stretch>
        </p:blipFill>
        <p:spPr>
          <a:xfrm>
            <a:off x="9617893" y="1399071"/>
            <a:ext cx="4538614" cy="5431458"/>
          </a:xfrm>
          <a:prstGeom prst="rect">
            <a:avLst/>
          </a:prstGeom>
          <a:ln w="12700">
            <a:miter lim="400000"/>
          </a:ln>
        </p:spPr>
      </p:pic>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2" name="Text 0"/>
          <p:cNvSpPr txBox="1"/>
          <p:nvPr/>
        </p:nvSpPr>
        <p:spPr>
          <a:xfrm>
            <a:off x="793790" y="1169669"/>
            <a:ext cx="1058441" cy="2404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27 OF 28</a:t>
            </a:r>
          </a:p>
        </p:txBody>
      </p:sp>
      <p:sp>
        <p:nvSpPr>
          <p:cNvPr id="713" name="Text 1"/>
          <p:cNvSpPr txBox="1"/>
          <p:nvPr/>
        </p:nvSpPr>
        <p:spPr>
          <a:xfrm>
            <a:off x="793789" y="1562576"/>
            <a:ext cx="7956343"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Think First — Apply the Framework</a:t>
            </a:r>
          </a:p>
        </p:txBody>
      </p:sp>
      <p:sp>
        <p:nvSpPr>
          <p:cNvPr id="714" name="Text 2"/>
          <p:cNvSpPr txBox="1"/>
          <p:nvPr/>
        </p:nvSpPr>
        <p:spPr>
          <a:xfrm>
            <a:off x="793790" y="2480310"/>
            <a:ext cx="13042822" cy="618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Using the waste classification case, work through the three core questions before writing a single line of code. This exercise builds the habit that separates good engineers from great ones.</a:t>
            </a:r>
          </a:p>
        </p:txBody>
      </p:sp>
      <p:sp>
        <p:nvSpPr>
          <p:cNvPr id="715" name="Shape 3"/>
          <p:cNvSpPr/>
          <p:nvPr/>
        </p:nvSpPr>
        <p:spPr>
          <a:xfrm>
            <a:off x="793790" y="3636288"/>
            <a:ext cx="4215289" cy="2416732"/>
          </a:xfrm>
          <a:prstGeom prst="roundRect">
            <a:avLst>
              <a:gd name="adj" fmla="val 4540"/>
            </a:avLst>
          </a:prstGeom>
          <a:solidFill>
            <a:srgbClr val="FFFFFF">
              <a:alpha val="95000"/>
            </a:srgbClr>
          </a:solidFill>
          <a:ln w="12700">
            <a:miter lim="400000"/>
          </a:ln>
        </p:spPr>
        <p:txBody>
          <a:bodyPr lIns="45719" rIns="45719"/>
          <a:lstStyle/>
          <a:p>
            <a:pPr/>
          </a:p>
        </p:txBody>
      </p:sp>
      <p:sp>
        <p:nvSpPr>
          <p:cNvPr id="716" name="Shape 4"/>
          <p:cNvSpPr/>
          <p:nvPr/>
        </p:nvSpPr>
        <p:spPr>
          <a:xfrm>
            <a:off x="793790" y="3613427"/>
            <a:ext cx="4215289" cy="91441"/>
          </a:xfrm>
          <a:prstGeom prst="roundRect">
            <a:avLst>
              <a:gd name="adj" fmla="val 50000"/>
            </a:avLst>
          </a:prstGeom>
          <a:solidFill>
            <a:srgbClr val="1B1B27"/>
          </a:solidFill>
          <a:ln w="12700">
            <a:miter lim="400000"/>
          </a:ln>
        </p:spPr>
        <p:txBody>
          <a:bodyPr lIns="45719" rIns="45719"/>
          <a:lstStyle/>
          <a:p>
            <a:pPr/>
          </a:p>
        </p:txBody>
      </p:sp>
      <p:sp>
        <p:nvSpPr>
          <p:cNvPr id="717" name="Shape 5"/>
          <p:cNvSpPr/>
          <p:nvPr/>
        </p:nvSpPr>
        <p:spPr>
          <a:xfrm>
            <a:off x="2603778" y="3338631"/>
            <a:ext cx="595314" cy="595314"/>
          </a:xfrm>
          <a:prstGeom prst="roundRect">
            <a:avLst>
              <a:gd name="adj" fmla="val 50000"/>
            </a:avLst>
          </a:prstGeom>
          <a:solidFill>
            <a:srgbClr val="1B1B27"/>
          </a:solidFill>
          <a:ln w="12700">
            <a:miter lim="400000"/>
          </a:ln>
        </p:spPr>
        <p:txBody>
          <a:bodyPr lIns="45719" rIns="45719"/>
          <a:lstStyle/>
          <a:p>
            <a:pPr/>
          </a:p>
        </p:txBody>
      </p:sp>
      <p:sp>
        <p:nvSpPr>
          <p:cNvPr id="718" name="Text 6"/>
          <p:cNvSpPr txBox="1"/>
          <p:nvPr/>
        </p:nvSpPr>
        <p:spPr>
          <a:xfrm>
            <a:off x="2782372" y="3487459"/>
            <a:ext cx="127001" cy="35829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000"/>
              </a:lnSpc>
              <a:defRPr>
                <a:solidFill>
                  <a:srgbClr val="FFFFFF"/>
                </a:solidFill>
                <a:latin typeface="Raleway Thin Regular"/>
                <a:ea typeface="Raleway Thin Regular"/>
                <a:cs typeface="Raleway Thin Regular"/>
                <a:sym typeface="Raleway Thin Regular"/>
              </a:defRPr>
            </a:lvl1pPr>
          </a:lstStyle>
          <a:p>
            <a:pPr/>
            <a:r>
              <a:t>1</a:t>
            </a:r>
          </a:p>
        </p:txBody>
      </p:sp>
      <p:sp>
        <p:nvSpPr>
          <p:cNvPr id="719" name="Text 7"/>
          <p:cNvSpPr txBox="1"/>
          <p:nvPr/>
        </p:nvSpPr>
        <p:spPr>
          <a:xfrm>
            <a:off x="1015008" y="4132421"/>
            <a:ext cx="2022239"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What is the Input?</a:t>
            </a:r>
          </a:p>
        </p:txBody>
      </p:sp>
      <p:sp>
        <p:nvSpPr>
          <p:cNvPr id="720" name="Text 8"/>
          <p:cNvSpPr txBox="1"/>
          <p:nvPr/>
        </p:nvSpPr>
        <p:spPr>
          <a:xfrm>
            <a:off x="1015008" y="4561642"/>
            <a:ext cx="3772854" cy="1253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A photo taken by a user's phone camera — raw image data, varying lighting, angles, and backgrounds. Possibly also text descriptions as a fallback.</a:t>
            </a:r>
          </a:p>
        </p:txBody>
      </p:sp>
      <p:sp>
        <p:nvSpPr>
          <p:cNvPr id="721" name="Shape 9"/>
          <p:cNvSpPr/>
          <p:nvPr/>
        </p:nvSpPr>
        <p:spPr>
          <a:xfrm>
            <a:off x="5207437" y="3636288"/>
            <a:ext cx="4215408" cy="2416732"/>
          </a:xfrm>
          <a:prstGeom prst="roundRect">
            <a:avLst>
              <a:gd name="adj" fmla="val 4540"/>
            </a:avLst>
          </a:prstGeom>
          <a:solidFill>
            <a:srgbClr val="FFFFFF">
              <a:alpha val="95000"/>
            </a:srgbClr>
          </a:solidFill>
          <a:ln w="12700">
            <a:miter lim="400000"/>
          </a:ln>
        </p:spPr>
        <p:txBody>
          <a:bodyPr lIns="45719" rIns="45719"/>
          <a:lstStyle/>
          <a:p>
            <a:pPr/>
          </a:p>
        </p:txBody>
      </p:sp>
      <p:sp>
        <p:nvSpPr>
          <p:cNvPr id="722" name="Shape 10"/>
          <p:cNvSpPr/>
          <p:nvPr/>
        </p:nvSpPr>
        <p:spPr>
          <a:xfrm>
            <a:off x="5207437" y="3613427"/>
            <a:ext cx="4215408" cy="91441"/>
          </a:xfrm>
          <a:prstGeom prst="roundRect">
            <a:avLst>
              <a:gd name="adj" fmla="val 50000"/>
            </a:avLst>
          </a:prstGeom>
          <a:solidFill>
            <a:srgbClr val="1B1B27"/>
          </a:solidFill>
          <a:ln w="12700">
            <a:miter lim="400000"/>
          </a:ln>
        </p:spPr>
        <p:txBody>
          <a:bodyPr lIns="45719" rIns="45719"/>
          <a:lstStyle/>
          <a:p>
            <a:pPr/>
          </a:p>
        </p:txBody>
      </p:sp>
      <p:sp>
        <p:nvSpPr>
          <p:cNvPr id="723" name="Shape 11"/>
          <p:cNvSpPr/>
          <p:nvPr/>
        </p:nvSpPr>
        <p:spPr>
          <a:xfrm>
            <a:off x="7017425" y="3338631"/>
            <a:ext cx="595314" cy="595314"/>
          </a:xfrm>
          <a:prstGeom prst="roundRect">
            <a:avLst>
              <a:gd name="adj" fmla="val 50000"/>
            </a:avLst>
          </a:prstGeom>
          <a:solidFill>
            <a:srgbClr val="1B1B27"/>
          </a:solidFill>
          <a:ln w="12700">
            <a:miter lim="400000"/>
          </a:ln>
        </p:spPr>
        <p:txBody>
          <a:bodyPr lIns="45719" rIns="45719"/>
          <a:lstStyle/>
          <a:p>
            <a:pPr/>
          </a:p>
        </p:txBody>
      </p:sp>
      <p:sp>
        <p:nvSpPr>
          <p:cNvPr id="724" name="Text 12"/>
          <p:cNvSpPr txBox="1"/>
          <p:nvPr/>
        </p:nvSpPr>
        <p:spPr>
          <a:xfrm>
            <a:off x="7196018" y="3487459"/>
            <a:ext cx="131705" cy="35829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000"/>
              </a:lnSpc>
              <a:defRPr>
                <a:solidFill>
                  <a:srgbClr val="FFFFFF"/>
                </a:solidFill>
                <a:latin typeface="Raleway Thin Regular"/>
                <a:ea typeface="Raleway Thin Regular"/>
                <a:cs typeface="Raleway Thin Regular"/>
                <a:sym typeface="Raleway Thin Regular"/>
              </a:defRPr>
            </a:lvl1pPr>
          </a:lstStyle>
          <a:p>
            <a:pPr/>
            <a:r>
              <a:t>2</a:t>
            </a:r>
          </a:p>
        </p:txBody>
      </p:sp>
      <p:sp>
        <p:nvSpPr>
          <p:cNvPr id="725" name="Text 13"/>
          <p:cNvSpPr txBox="1"/>
          <p:nvPr/>
        </p:nvSpPr>
        <p:spPr>
          <a:xfrm>
            <a:off x="5428655" y="4132421"/>
            <a:ext cx="2227160"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What is the Output?</a:t>
            </a:r>
          </a:p>
        </p:txBody>
      </p:sp>
      <p:sp>
        <p:nvSpPr>
          <p:cNvPr id="726" name="Text 14"/>
          <p:cNvSpPr txBox="1"/>
          <p:nvPr/>
        </p:nvSpPr>
        <p:spPr>
          <a:xfrm>
            <a:off x="5428655" y="4561642"/>
            <a:ext cx="3772973" cy="12530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A product category label: Fridge, Washing Machine, TV, Remote, or Hazardous — plus a confidence score and actionable disposal instruction.</a:t>
            </a:r>
          </a:p>
        </p:txBody>
      </p:sp>
      <p:sp>
        <p:nvSpPr>
          <p:cNvPr id="727" name="Shape 15"/>
          <p:cNvSpPr/>
          <p:nvPr/>
        </p:nvSpPr>
        <p:spPr>
          <a:xfrm>
            <a:off x="9621202" y="3636288"/>
            <a:ext cx="4215290" cy="2416732"/>
          </a:xfrm>
          <a:prstGeom prst="roundRect">
            <a:avLst>
              <a:gd name="adj" fmla="val 4540"/>
            </a:avLst>
          </a:prstGeom>
          <a:solidFill>
            <a:srgbClr val="FFFFFF">
              <a:alpha val="95000"/>
            </a:srgbClr>
          </a:solidFill>
          <a:ln w="12700">
            <a:miter lim="400000"/>
          </a:ln>
        </p:spPr>
        <p:txBody>
          <a:bodyPr lIns="45719" rIns="45719"/>
          <a:lstStyle/>
          <a:p>
            <a:pPr/>
          </a:p>
        </p:txBody>
      </p:sp>
      <p:sp>
        <p:nvSpPr>
          <p:cNvPr id="728" name="Shape 16"/>
          <p:cNvSpPr/>
          <p:nvPr/>
        </p:nvSpPr>
        <p:spPr>
          <a:xfrm>
            <a:off x="9621202" y="3613427"/>
            <a:ext cx="4215290" cy="91441"/>
          </a:xfrm>
          <a:prstGeom prst="roundRect">
            <a:avLst>
              <a:gd name="adj" fmla="val 50000"/>
            </a:avLst>
          </a:prstGeom>
          <a:solidFill>
            <a:srgbClr val="1B1B27"/>
          </a:solidFill>
          <a:ln w="12700">
            <a:miter lim="400000"/>
          </a:ln>
        </p:spPr>
        <p:txBody>
          <a:bodyPr lIns="45719" rIns="45719"/>
          <a:lstStyle/>
          <a:p>
            <a:pPr/>
          </a:p>
        </p:txBody>
      </p:sp>
      <p:sp>
        <p:nvSpPr>
          <p:cNvPr id="729" name="Shape 17"/>
          <p:cNvSpPr/>
          <p:nvPr/>
        </p:nvSpPr>
        <p:spPr>
          <a:xfrm>
            <a:off x="11431190" y="3338631"/>
            <a:ext cx="595314" cy="595314"/>
          </a:xfrm>
          <a:prstGeom prst="roundRect">
            <a:avLst>
              <a:gd name="adj" fmla="val 50000"/>
            </a:avLst>
          </a:prstGeom>
          <a:solidFill>
            <a:srgbClr val="1B1B27"/>
          </a:solidFill>
          <a:ln w="12700">
            <a:miter lim="400000"/>
          </a:ln>
        </p:spPr>
        <p:txBody>
          <a:bodyPr lIns="45719" rIns="45719"/>
          <a:lstStyle/>
          <a:p>
            <a:pPr/>
          </a:p>
        </p:txBody>
      </p:sp>
      <p:sp>
        <p:nvSpPr>
          <p:cNvPr id="730" name="Text 18"/>
          <p:cNvSpPr txBox="1"/>
          <p:nvPr/>
        </p:nvSpPr>
        <p:spPr>
          <a:xfrm>
            <a:off x="11609784" y="3487459"/>
            <a:ext cx="134867" cy="35829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000"/>
              </a:lnSpc>
              <a:defRPr>
                <a:solidFill>
                  <a:srgbClr val="FFFFFF"/>
                </a:solidFill>
                <a:latin typeface="Raleway Thin Regular"/>
                <a:ea typeface="Raleway Thin Regular"/>
                <a:cs typeface="Raleway Thin Regular"/>
                <a:sym typeface="Raleway Thin Regular"/>
              </a:defRPr>
            </a:lvl1pPr>
          </a:lstStyle>
          <a:p>
            <a:pPr/>
            <a:r>
              <a:t>3</a:t>
            </a:r>
          </a:p>
        </p:txBody>
      </p:sp>
      <p:sp>
        <p:nvSpPr>
          <p:cNvPr id="731" name="Text 19"/>
          <p:cNvSpPr txBox="1"/>
          <p:nvPr/>
        </p:nvSpPr>
        <p:spPr>
          <a:xfrm>
            <a:off x="9842420" y="4132421"/>
            <a:ext cx="2671533" cy="3003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3C3939"/>
                </a:solidFill>
                <a:latin typeface="Raleway Thin Regular"/>
                <a:ea typeface="Raleway Thin Regular"/>
                <a:cs typeface="Raleway Thin Regular"/>
                <a:sym typeface="Raleway Thin Regular"/>
              </a:defRPr>
            </a:lvl1pPr>
          </a:lstStyle>
          <a:p>
            <a:pPr/>
            <a:r>
              <a:t>What is the Processing?</a:t>
            </a:r>
          </a:p>
        </p:txBody>
      </p:sp>
      <p:sp>
        <p:nvSpPr>
          <p:cNvPr id="732" name="Text 20"/>
          <p:cNvSpPr txBox="1"/>
          <p:nvPr/>
        </p:nvSpPr>
        <p:spPr>
          <a:xfrm>
            <a:off x="9842420" y="4561642"/>
            <a:ext cx="3772854" cy="15705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An image classification model — likely a fine-tuned CNN or vision model — trained on labeled waste images. It can also be a multimodal AI model. Preprocessing and fallback logic required.</a:t>
            </a:r>
          </a:p>
        </p:txBody>
      </p:sp>
      <p:sp>
        <p:nvSpPr>
          <p:cNvPr id="733" name="Shape 21"/>
          <p:cNvSpPr/>
          <p:nvPr/>
        </p:nvSpPr>
        <p:spPr>
          <a:xfrm>
            <a:off x="793790" y="6276261"/>
            <a:ext cx="13042821" cy="843202"/>
          </a:xfrm>
          <a:prstGeom prst="roundRect">
            <a:avLst>
              <a:gd name="adj" fmla="val 9886"/>
            </a:avLst>
          </a:prstGeom>
          <a:solidFill>
            <a:srgbClr val="D9D9D9"/>
          </a:solidFill>
          <a:ln w="12700">
            <a:miter lim="400000"/>
          </a:ln>
        </p:spPr>
        <p:txBody>
          <a:bodyPr lIns="45719" rIns="45719"/>
          <a:lstStyle/>
          <a:p>
            <a:pPr/>
          </a:p>
        </p:txBody>
      </p:sp>
      <p:pic>
        <p:nvPicPr>
          <p:cNvPr id="734" name="Image 0" descr="Image 0"/>
          <p:cNvPicPr>
            <a:picLocks noChangeAspect="1"/>
          </p:cNvPicPr>
          <p:nvPr/>
        </p:nvPicPr>
        <p:blipFill>
          <a:blip r:embed="rId3">
            <a:extLst/>
          </a:blip>
          <a:stretch>
            <a:fillRect/>
          </a:stretch>
        </p:blipFill>
        <p:spPr>
          <a:xfrm>
            <a:off x="992147" y="6571536"/>
            <a:ext cx="248008" cy="198359"/>
          </a:xfrm>
          <a:prstGeom prst="rect">
            <a:avLst/>
          </a:prstGeom>
          <a:ln w="12700">
            <a:miter lim="400000"/>
          </a:ln>
        </p:spPr>
      </p:pic>
      <p:sp>
        <p:nvSpPr>
          <p:cNvPr id="735" name="Text 22"/>
          <p:cNvSpPr txBox="1"/>
          <p:nvPr/>
        </p:nvSpPr>
        <p:spPr>
          <a:xfrm>
            <a:off x="1438512" y="6524149"/>
            <a:ext cx="11439539" cy="3005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latin typeface="Roboto Regular Regular"/>
                <a:ea typeface="Roboto Regular Regular"/>
                <a:cs typeface="Roboto Regular Regular"/>
                <a:sym typeface="Roboto Regular Regular"/>
              </a:defRPr>
            </a:lvl1pPr>
          </a:lstStyle>
          <a:p>
            <a:pPr/>
            <a:r>
              <a:t>Bonus question: What constraints matter here? Consider: offline use, low-end devices, user trust, and regulatory requirements by region.</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9" name="Text 0"/>
          <p:cNvSpPr txBox="1"/>
          <p:nvPr/>
        </p:nvSpPr>
        <p:spPr>
          <a:xfrm>
            <a:off x="793790" y="773906"/>
            <a:ext cx="1058441" cy="2404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1B1B27"/>
                </a:solidFill>
                <a:latin typeface="Roboto Regular Regular"/>
                <a:ea typeface="Roboto Regular Regular"/>
                <a:cs typeface="Roboto Regular Regular"/>
                <a:sym typeface="Roboto Regular Regular"/>
              </a:defRPr>
            </a:lvl1pPr>
          </a:lstStyle>
          <a:p>
            <a:pPr/>
            <a:r>
              <a:t>SLIDE 28 OF 28</a:t>
            </a:r>
          </a:p>
        </p:txBody>
      </p:sp>
      <p:sp>
        <p:nvSpPr>
          <p:cNvPr id="740" name="Text 1"/>
          <p:cNvSpPr txBox="1"/>
          <p:nvPr/>
        </p:nvSpPr>
        <p:spPr>
          <a:xfrm>
            <a:off x="793789" y="1166812"/>
            <a:ext cx="3451334" cy="603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900">
                <a:solidFill>
                  <a:srgbClr val="1B1B27"/>
                </a:solidFill>
                <a:latin typeface="Raleway Thin Regular"/>
                <a:ea typeface="Raleway Thin Regular"/>
                <a:cs typeface="Raleway Thin Regular"/>
                <a:sym typeface="Raleway Thin Regular"/>
              </a:defRPr>
            </a:lvl1pPr>
          </a:lstStyle>
          <a:p>
            <a:pPr/>
            <a:r>
              <a:t>Final Takeaway</a:t>
            </a:r>
          </a:p>
        </p:txBody>
      </p:sp>
      <p:sp>
        <p:nvSpPr>
          <p:cNvPr id="741" name="Text 2"/>
          <p:cNvSpPr txBox="1"/>
          <p:nvPr/>
        </p:nvSpPr>
        <p:spPr>
          <a:xfrm>
            <a:off x="793790" y="2084546"/>
            <a:ext cx="9923621" cy="24492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9700"/>
              </a:lnSpc>
              <a:defRPr sz="7800">
                <a:solidFill>
                  <a:srgbClr val="1B1B27"/>
                </a:solidFill>
                <a:latin typeface="Raleway Thin Regular"/>
                <a:ea typeface="Raleway Thin Regular"/>
                <a:cs typeface="Raleway Thin Regular"/>
                <a:sym typeface="Raleway Thin Regular"/>
              </a:defRPr>
            </a:pPr>
            <a:r>
              <a:t>Think first.</a:t>
            </a:r>
          </a:p>
          <a:p>
            <a:pPr>
              <a:lnSpc>
                <a:spcPts val="9700"/>
              </a:lnSpc>
              <a:defRPr sz="7800">
                <a:solidFill>
                  <a:srgbClr val="1B1B27"/>
                </a:solidFill>
                <a:latin typeface="Raleway Thin Regular"/>
                <a:ea typeface="Raleway Thin Regular"/>
                <a:cs typeface="Raleway Thin Regular"/>
                <a:sym typeface="Raleway Thin Regular"/>
              </a:defRPr>
            </a:pPr>
            <a:r>
              <a:t>Build next.</a:t>
            </a:r>
          </a:p>
        </p:txBody>
      </p:sp>
      <p:sp>
        <p:nvSpPr>
          <p:cNvPr id="742" name="Text 3"/>
          <p:cNvSpPr txBox="1"/>
          <p:nvPr/>
        </p:nvSpPr>
        <p:spPr>
          <a:xfrm>
            <a:off x="793790" y="4862988"/>
            <a:ext cx="13042822"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This is the FDE ethos in two words. The best engineers are not the fastest to open their code editor — they are the clearest thinkers before they do. Every hour spent defining the problem correctly saves days of rework later.</a:t>
            </a:r>
          </a:p>
        </p:txBody>
      </p:sp>
      <p:sp>
        <p:nvSpPr>
          <p:cNvPr id="743" name="Shape 4"/>
          <p:cNvSpPr/>
          <p:nvPr/>
        </p:nvSpPr>
        <p:spPr>
          <a:xfrm>
            <a:off x="793790" y="5721310"/>
            <a:ext cx="4215289" cy="1793797"/>
          </a:xfrm>
          <a:prstGeom prst="roundRect">
            <a:avLst>
              <a:gd name="adj" fmla="val 4647"/>
            </a:avLst>
          </a:prstGeom>
          <a:solidFill>
            <a:srgbClr val="E1E1EA"/>
          </a:solidFill>
          <a:ln w="7620">
            <a:solidFill>
              <a:srgbClr val="C7C7D0"/>
            </a:solidFill>
          </a:ln>
        </p:spPr>
        <p:txBody>
          <a:bodyPr lIns="45719" rIns="45719"/>
          <a:lstStyle/>
          <a:p>
            <a:pPr/>
          </a:p>
        </p:txBody>
      </p:sp>
      <p:sp>
        <p:nvSpPr>
          <p:cNvPr id="744" name="Text 5"/>
          <p:cNvSpPr txBox="1"/>
          <p:nvPr/>
        </p:nvSpPr>
        <p:spPr>
          <a:xfrm>
            <a:off x="999768" y="5927287"/>
            <a:ext cx="968043"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Think</a:t>
            </a:r>
          </a:p>
        </p:txBody>
      </p:sp>
      <p:sp>
        <p:nvSpPr>
          <p:cNvPr id="745" name="Text 6"/>
          <p:cNvSpPr txBox="1"/>
          <p:nvPr/>
        </p:nvSpPr>
        <p:spPr>
          <a:xfrm>
            <a:off x="999768" y="6356508"/>
            <a:ext cx="3803334"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Define the real problem. Map inputs, outputs, and constraints before touching any technology.</a:t>
            </a:r>
          </a:p>
        </p:txBody>
      </p:sp>
      <p:sp>
        <p:nvSpPr>
          <p:cNvPr id="746" name="Shape 7"/>
          <p:cNvSpPr/>
          <p:nvPr/>
        </p:nvSpPr>
        <p:spPr>
          <a:xfrm>
            <a:off x="5207437" y="5721310"/>
            <a:ext cx="4215408" cy="1793797"/>
          </a:xfrm>
          <a:prstGeom prst="roundRect">
            <a:avLst>
              <a:gd name="adj" fmla="val 4647"/>
            </a:avLst>
          </a:prstGeom>
          <a:solidFill>
            <a:srgbClr val="E1E1EA"/>
          </a:solidFill>
          <a:ln w="7620">
            <a:solidFill>
              <a:srgbClr val="C7C7D0"/>
            </a:solidFill>
          </a:ln>
        </p:spPr>
        <p:txBody>
          <a:bodyPr lIns="45719" rIns="45719"/>
          <a:lstStyle/>
          <a:p>
            <a:pPr/>
          </a:p>
        </p:txBody>
      </p:sp>
      <p:sp>
        <p:nvSpPr>
          <p:cNvPr id="747" name="Text 8"/>
          <p:cNvSpPr txBox="1"/>
          <p:nvPr/>
        </p:nvSpPr>
        <p:spPr>
          <a:xfrm>
            <a:off x="5413414" y="5927287"/>
            <a:ext cx="938561"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Build</a:t>
            </a:r>
          </a:p>
        </p:txBody>
      </p:sp>
      <p:sp>
        <p:nvSpPr>
          <p:cNvPr id="748" name="Text 9"/>
          <p:cNvSpPr txBox="1"/>
          <p:nvPr/>
        </p:nvSpPr>
        <p:spPr>
          <a:xfrm>
            <a:off x="5413414" y="6356508"/>
            <a:ext cx="3803453" cy="618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Choose the simplest viable tool. Build fast, stay focused, and measure what matters.</a:t>
            </a:r>
          </a:p>
        </p:txBody>
      </p:sp>
      <p:sp>
        <p:nvSpPr>
          <p:cNvPr id="749" name="Shape 10"/>
          <p:cNvSpPr/>
          <p:nvPr/>
        </p:nvSpPr>
        <p:spPr>
          <a:xfrm>
            <a:off x="9621202" y="5721310"/>
            <a:ext cx="4215290" cy="1793797"/>
          </a:xfrm>
          <a:prstGeom prst="roundRect">
            <a:avLst>
              <a:gd name="adj" fmla="val 4647"/>
            </a:avLst>
          </a:prstGeom>
          <a:solidFill>
            <a:srgbClr val="E1E1EA"/>
          </a:solidFill>
          <a:ln w="7620">
            <a:solidFill>
              <a:srgbClr val="C7C7D0"/>
            </a:solidFill>
          </a:ln>
        </p:spPr>
        <p:txBody>
          <a:bodyPr lIns="45719" rIns="45719"/>
          <a:lstStyle/>
          <a:p>
            <a:pPr/>
          </a:p>
        </p:txBody>
      </p:sp>
      <p:sp>
        <p:nvSpPr>
          <p:cNvPr id="750" name="Text 11"/>
          <p:cNvSpPr txBox="1"/>
          <p:nvPr/>
        </p:nvSpPr>
        <p:spPr>
          <a:xfrm>
            <a:off x="9827180" y="5927287"/>
            <a:ext cx="1080454" cy="3291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2400"/>
              </a:lnSpc>
              <a:defRPr sz="1900">
                <a:latin typeface="Raleway Thin Regular"/>
                <a:ea typeface="Raleway Thin Regular"/>
                <a:cs typeface="Raleway Thin Regular"/>
                <a:sym typeface="Raleway Thin Regular"/>
              </a:defRPr>
            </a:pPr>
            <a:r>
              <a:t>🔄</a:t>
            </a:r>
            <a:r>
              <a:rPr>
                <a:solidFill>
                  <a:srgbClr val="3C3939"/>
                </a:solidFill>
              </a:rPr>
              <a:t> Iterate</a:t>
            </a:r>
          </a:p>
        </p:txBody>
      </p:sp>
      <p:sp>
        <p:nvSpPr>
          <p:cNvPr id="751" name="Text 12"/>
          <p:cNvSpPr txBox="1"/>
          <p:nvPr/>
        </p:nvSpPr>
        <p:spPr>
          <a:xfrm>
            <a:off x="9827180" y="6356508"/>
            <a:ext cx="3803334" cy="9355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3C3939"/>
                </a:solidFill>
                <a:latin typeface="Roboto Regular Regular"/>
                <a:ea typeface="Roboto Regular Regular"/>
                <a:cs typeface="Roboto Regular Regular"/>
                <a:sym typeface="Roboto Regular Regular"/>
              </a:defRPr>
            </a:lvl1pPr>
          </a:lstStyle>
          <a:p>
            <a:pPr/>
            <a:r>
              <a:t>Use real feedback to improve. The first version is never the last — and that is by design.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000000"/>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