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image" Target="../media/image-2-2.png"/><Relationship Id="rId11" Type="http://schemas.openxmlformats.org/officeDocument/2006/relationships/image" Target="../media/image-2-3.sv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2-12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4.png"/><Relationship Id="rId5" Type="http://schemas.openxmlformats.org/officeDocument/2006/relationships/image" Target="../media/image-14-5.sv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1.png"/><Relationship Id="rId7" Type="http://schemas.openxmlformats.org/officeDocument/2006/relationships/image" Target="../media/image-17-1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955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Building AI Agents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34603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LLMs → Tools → Decisions → Multi-Step AI Agents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3911005"/>
            <a:ext cx="831035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0691" y="3960614"/>
            <a:ext cx="124218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575157" y="3911005"/>
            <a:ext cx="1489435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74374" y="3960614"/>
            <a:ext cx="190058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TRAINING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5532"/>
            <a:ext cx="1357973" cy="226219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650180"/>
            <a:ext cx="1788969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STARTING POINT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85329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Answer to Action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4321" y="1551384"/>
            <a:ext cx="5467114" cy="3995142"/>
          </a:xfrm>
          <a:prstGeom prst="roundRect">
            <a:avLst>
              <a:gd name="adj" fmla="val 268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3146" y="1685330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Traditional LLM Application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604" y="2068513"/>
            <a:ext cx="4652449" cy="21293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24010" y="3608063"/>
            <a:ext cx="873466" cy="336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Return Response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23204" y="3692196"/>
            <a:ext cx="873466" cy="16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Text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328381" y="3692196"/>
            <a:ext cx="873466" cy="16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Receives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09627" y="3692196"/>
            <a:ext cx="873466" cy="16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Send Prompt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3146" y="4348559"/>
            <a:ext cx="5169465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Example: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User: "My order 1001 arrived damaged. Can I get a refund?"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LLM: "Yes, damaged products may be eligible for a refund."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83763" y="1685330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LLM can generate an answer — but can it?</a:t>
            </a:r>
            <a:endParaRPr lang="en-US" sz="14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23" y="2073126"/>
            <a:ext cx="223237" cy="2232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67442" y="2068513"/>
            <a:ext cx="476912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Look up order 1001?</a:t>
            </a:r>
            <a:endParaRPr lang="en-US" sz="14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9523" y="2792164"/>
            <a:ext cx="223237" cy="2232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7442" y="2787551"/>
            <a:ext cx="476912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Check the refund policy?</a:t>
            </a:r>
            <a:endParaRPr lang="en-US" sz="14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9523" y="3511203"/>
            <a:ext cx="223237" cy="2232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7442" y="3506589"/>
            <a:ext cx="476912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 the refund amount?</a:t>
            </a:r>
            <a:endParaRPr lang="en-US" sz="14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9523" y="4230241"/>
            <a:ext cx="223237" cy="22324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67442" y="4225627"/>
            <a:ext cx="476912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 the refund?</a:t>
            </a:r>
            <a:endParaRPr lang="en-US" sz="14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39523" y="4949279"/>
            <a:ext cx="223237" cy="22324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67442" y="4944666"/>
            <a:ext cx="476912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Escalate for human approval?</a:t>
            </a:r>
            <a:endParaRPr lang="en-US" sz="1450" dirty="0"/>
          </a:p>
        </p:txBody>
      </p:sp>
      <p:sp>
        <p:nvSpPr>
          <p:cNvPr id="24" name="Shape 16"/>
          <p:cNvSpPr/>
          <p:nvPr/>
        </p:nvSpPr>
        <p:spPr>
          <a:xfrm>
            <a:off x="661475" y="5697240"/>
            <a:ext cx="10868745" cy="555129"/>
          </a:xfrm>
          <a:prstGeom prst="roundRect">
            <a:avLst>
              <a:gd name="adj" fmla="val 11262"/>
            </a:avLst>
          </a:prstGeom>
          <a:solidFill>
            <a:srgbClr val="E1E1E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299" y="5890518"/>
            <a:ext cx="186031" cy="14882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45154" y="5868392"/>
            <a:ext cx="1084582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 AI Agent is not just an LLM generating text.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 is an LLM participating in a workflow where it can decide and use capabilities.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6987"/>
            <a:ext cx="1027781" cy="222647"/>
          </a:xfrm>
          <a:prstGeom prst="roundRect">
            <a:avLst>
              <a:gd name="adj" fmla="val 2211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9380" y="540941"/>
            <a:ext cx="1461555" cy="134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71525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vs AI Agent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1475" y="1553865"/>
            <a:ext cx="525568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— Generate 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1928713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2158702"/>
            <a:ext cx="525568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270026"/>
            <a:ext cx="525568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 input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1475" y="2738537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1475" y="2968526"/>
            <a:ext cx="525568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079849"/>
            <a:ext cx="525568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text response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1475" y="3548360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3778349"/>
            <a:ext cx="525568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889673"/>
            <a:ext cx="525568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Return answer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475" y="4374356"/>
            <a:ext cx="5255684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Summarizes, answers, extracts — but has no access to external systems or real-time data.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5419" y="1424087"/>
            <a:ext cx="5466618" cy="4569916"/>
          </a:xfrm>
          <a:prstGeom prst="roundRect">
            <a:avLst>
              <a:gd name="adj" fmla="val 230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21862" y="1553865"/>
            <a:ext cx="51737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Agent — Execute Tasks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1862" y="1928713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1862" y="2158702"/>
            <a:ext cx="517373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6321862" y="2270026"/>
            <a:ext cx="51737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 the task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1862" y="2738537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21862" y="2968526"/>
            <a:ext cx="517373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6321862" y="3079849"/>
            <a:ext cx="51737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Decide what action is needed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1862" y="3548360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21862" y="3778349"/>
            <a:ext cx="517373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6321862" y="3889673"/>
            <a:ext cx="51737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and execute a tool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21862" y="4358184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21862" y="4588173"/>
            <a:ext cx="517373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9" name="Text 27"/>
          <p:cNvSpPr/>
          <p:nvPr/>
        </p:nvSpPr>
        <p:spPr>
          <a:xfrm>
            <a:off x="6321862" y="4699496"/>
            <a:ext cx="51737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Observe the result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21862" y="5168007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21862" y="5397996"/>
            <a:ext cx="517373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2" name="Text 30"/>
          <p:cNvSpPr/>
          <p:nvPr/>
        </p:nvSpPr>
        <p:spPr>
          <a:xfrm>
            <a:off x="6321862" y="5509320"/>
            <a:ext cx="51737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Repeat until task is complete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6682" y="6139954"/>
            <a:ext cx="11478330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distinction:</a:t>
            </a:r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 LLM generates responses. An agent uses an LLM to make decisions within an execution workflow.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5532"/>
            <a:ext cx="829646" cy="176014"/>
          </a:xfrm>
          <a:prstGeom prst="roundRect">
            <a:avLst>
              <a:gd name="adj" fmla="val 22101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30926" y="640259"/>
            <a:ext cx="1300328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MENTAL MODEL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813891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Think of an Agent as a Decision-Making Loop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97186"/>
            <a:ext cx="7608102" cy="42464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634732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LLM is the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decision-maker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the executor. Your Python application is the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execution environment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tools are the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capabilities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exposed to the model. The loop continues until the task is resolved.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61475" y="5883275"/>
            <a:ext cx="10868745" cy="369094"/>
          </a:xfrm>
          <a:prstGeom prst="roundRect">
            <a:avLst>
              <a:gd name="adj" fmla="val 13174"/>
            </a:avLst>
          </a:prstGeom>
          <a:solidFill>
            <a:srgbClr val="E1E1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1" y="5999758"/>
            <a:ext cx="144657" cy="1156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37505" y="5993110"/>
            <a:ext cx="109866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 = LLM + Tools + Execution Loop + State/Context + Control Logic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89013"/>
            <a:ext cx="1023912" cy="251420"/>
          </a:xfrm>
          <a:prstGeom prst="roundRect">
            <a:avLst>
              <a:gd name="adj" fmla="val 2210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038622"/>
            <a:ext cx="143506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3065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 Give the Agent Capabilities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220119"/>
            <a:ext cx="4105371" cy="2414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Without tools: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"I don't have access to your order database."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With tools: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agent can look up orders, apply policy, calculate amounts, and process refunds — in sequence.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tool is simply a capability that your application exposes to the model. The architecture is always the same: LLM → Tool Selection → Python Function → Result → Next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76609" y="2257326"/>
            <a:ext cx="3097234" cy="1031677"/>
          </a:xfrm>
          <a:prstGeom prst="roundRect">
            <a:avLst>
              <a:gd name="adj" fmla="val 673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8253" y="2428974"/>
            <a:ext cx="27539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get_order()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48253" y="2852737"/>
            <a:ext cx="27539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order details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39137" y="2257326"/>
            <a:ext cx="3097333" cy="1031677"/>
          </a:xfrm>
          <a:prstGeom prst="roundRect">
            <a:avLst>
              <a:gd name="adj" fmla="val 673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10781" y="2428974"/>
            <a:ext cx="2754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get_customer()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10781" y="2852737"/>
            <a:ext cx="275404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Fetch customer profile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76609" y="3454301"/>
            <a:ext cx="3097234" cy="1031677"/>
          </a:xfrm>
          <a:prstGeom prst="roundRect">
            <a:avLst>
              <a:gd name="adj" fmla="val 673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8253" y="3625949"/>
            <a:ext cx="27539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get_refund_policy()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8253" y="4049713"/>
            <a:ext cx="27539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business rules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39137" y="3454301"/>
            <a:ext cx="3097333" cy="1031677"/>
          </a:xfrm>
          <a:prstGeom prst="roundRect">
            <a:avLst>
              <a:gd name="adj" fmla="val 673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10781" y="3625949"/>
            <a:ext cx="2754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calculate_refund()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10781" y="4049713"/>
            <a:ext cx="275404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refund amount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76609" y="4651276"/>
            <a:ext cx="6359862" cy="1031677"/>
          </a:xfrm>
          <a:prstGeom prst="roundRect">
            <a:avLst>
              <a:gd name="adj" fmla="val 673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8253" y="4822924"/>
            <a:ext cx="60165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process_refund()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8253" y="5246688"/>
            <a:ext cx="601657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the refund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6725"/>
            <a:ext cx="1305289" cy="243384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7516" y="514747"/>
            <a:ext cx="1722791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MECHANISM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72120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Calling — What Actually Happens?</a:t>
            </a:r>
            <a:endParaRPr lang="en-US" sz="3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505545"/>
            <a:ext cx="10520595" cy="39479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6045" y="434222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 runs function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36215" y="434222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returns call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347253" y="434222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selects tool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358291" y="434222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gets tools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325854" y="44950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asks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1475" y="5627985"/>
            <a:ext cx="10868745" cy="763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Critical distinction: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LLM does </a:t>
            </a:r>
            <a:pPr algn="l" indent="0" marL="0">
              <a:lnSpc>
                <a:spcPct val="131000"/>
              </a:lnSpc>
              <a:buNone/>
            </a:pPr>
            <a:r>
              <a:rPr lang="en-US" sz="12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directly execute your Python function. The model returns a structured tool call (e.g.,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get_order(order_id="1001")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Your application receives this, executes the corresponding function, and returns the result. The model then decides the next step. Understanding this boundary is fundamental to building reliable agents.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5813"/>
            <a:ext cx="1138110" cy="251420"/>
          </a:xfrm>
          <a:prstGeom prst="roundRect">
            <a:avLst>
              <a:gd name="adj" fmla="val 2210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835422"/>
            <a:ext cx="154926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033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Two Ways Agents Get Capabilities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03338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Built-In / Platform Tools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477889"/>
            <a:ext cx="2533686" cy="1321693"/>
          </a:xfrm>
          <a:prstGeom prst="roundRect">
            <a:avLst>
              <a:gd name="adj" fmla="val 525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19" y="2662238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 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19" y="3086001"/>
            <a:ext cx="21649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information retrieval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0455" y="2477889"/>
            <a:ext cx="2533686" cy="1321693"/>
          </a:xfrm>
          <a:prstGeom prst="roundRect">
            <a:avLst>
              <a:gd name="adj" fmla="val 525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4799" y="2662238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File 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4799" y="3086001"/>
            <a:ext cx="21649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across uploaded documents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964880"/>
            <a:ext cx="5232666" cy="1057077"/>
          </a:xfrm>
          <a:prstGeom prst="roundRect">
            <a:avLst>
              <a:gd name="adj" fmla="val 657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19" y="4149229"/>
            <a:ext cx="48639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Computer Interaction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819" y="4572992"/>
            <a:ext cx="486397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 and OS automation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5207992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Provided and managed by the platform or API provider.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84844" y="1868091"/>
            <a:ext cx="5470785" cy="3753346"/>
          </a:xfrm>
          <a:prstGeom prst="roundRect">
            <a:avLst>
              <a:gd name="adj" fmla="val 317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50139" y="203338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 Tools — Your Application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139" y="2477889"/>
            <a:ext cx="2487451" cy="1057077"/>
          </a:xfrm>
          <a:prstGeom prst="roundRect">
            <a:avLst>
              <a:gd name="adj" fmla="val 6571"/>
            </a:avLst>
          </a:prstGeom>
          <a:solidFill>
            <a:srgbClr val="1B1B27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4483" y="2662238"/>
            <a:ext cx="21187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get_order()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4483" y="3086001"/>
            <a:ext cx="21187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database, your logic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02884" y="2477889"/>
            <a:ext cx="2487451" cy="1057077"/>
          </a:xfrm>
          <a:prstGeom prst="roundRect">
            <a:avLst>
              <a:gd name="adj" fmla="val 6571"/>
            </a:avLst>
          </a:prstGeom>
          <a:solidFill>
            <a:srgbClr val="1B1B27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7228" y="2662238"/>
            <a:ext cx="21187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calculate_refund()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7228" y="3086001"/>
            <a:ext cx="21187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business rules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0139" y="3700264"/>
            <a:ext cx="5140196" cy="1057077"/>
          </a:xfrm>
          <a:prstGeom prst="roundRect">
            <a:avLst>
              <a:gd name="adj" fmla="val 6571"/>
            </a:avLst>
          </a:prstGeom>
          <a:solidFill>
            <a:srgbClr val="1B1B27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4483" y="3884613"/>
            <a:ext cx="477150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process_refund()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4483" y="4308376"/>
            <a:ext cx="477150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payment systems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0139" y="4943376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Functions you write in Python — exposed as capabilities.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82" y="580747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architecture is identical in both cases. The difference is only </a:t>
            </a:r>
            <a:pPr algn="ctr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who provides the capability</a:t>
            </a:r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7101"/>
            <a:ext cx="1034726" cy="197743"/>
          </a:xfrm>
          <a:prstGeom prst="roundRect">
            <a:avLst>
              <a:gd name="adj" fmla="val 22131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39558" y="496094"/>
            <a:ext cx="1488145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695821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Custom Tool Starts as a Normal Python Function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61475" y="1359098"/>
            <a:ext cx="471614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Python function you already write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1475" y="1677987"/>
            <a:ext cx="4716146" cy="885428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17740" y="1808163"/>
            <a:ext cx="4403615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get_order(order_id):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Look up order in database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order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1475" y="2678807"/>
            <a:ext cx="471614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Becomes an agent capability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1475" y="2997696"/>
            <a:ext cx="4716146" cy="885428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817740" y="3127871"/>
            <a:ext cx="4403615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get_order(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order_id="1001"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1475" y="3998516"/>
            <a:ext cx="4716146" cy="372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needs to know: the tool name, what it does, what arguments it accepts, and the argument types.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01661" y="1359098"/>
            <a:ext cx="583480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transformation</a:t>
            </a:r>
            <a:endParaRPr lang="en-US" sz="12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1661" y="1677987"/>
            <a:ext cx="4667828" cy="2605286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2612" y="4379615"/>
            <a:ext cx="5853859" cy="5303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69932" y="4398665"/>
            <a:ext cx="566653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get_order(order_id)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869932" y="4704655"/>
            <a:ext cx="566653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order details by ID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2612" y="5076924"/>
            <a:ext cx="5853859" cy="5303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69932" y="5095974"/>
            <a:ext cx="566653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get_customer(customer_id)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869932" y="5401965"/>
            <a:ext cx="566653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Fetch customer profile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2612" y="5774234"/>
            <a:ext cx="5853859" cy="5303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69932" y="5793284"/>
            <a:ext cx="566653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calculate_refund(amount, condition)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869932" y="6099274"/>
            <a:ext cx="566653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eligible refund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197"/>
            <a:ext cx="988988" cy="226219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603845"/>
            <a:ext cx="141998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SCHEMA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899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Model Needs a Contract for Each Tool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638995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Definition: get_order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22177"/>
            <a:ext cx="5252807" cy="9347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547" y="2190055"/>
            <a:ext cx="484086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Name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05547" y="2556470"/>
            <a:ext cx="48408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get_order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90863"/>
            <a:ext cx="5252807" cy="928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5547" y="3258741"/>
            <a:ext cx="484086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Description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05547" y="3625155"/>
            <a:ext cx="484086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order details using an order ID.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53198"/>
            <a:ext cx="5252807" cy="9347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5547" y="4321076"/>
            <a:ext cx="484086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Argument: order_id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05547" y="4687491"/>
            <a:ext cx="48408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Type: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Required: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176610" y="1505049"/>
            <a:ext cx="5467114" cy="4087912"/>
          </a:xfrm>
          <a:prstGeom prst="roundRect">
            <a:avLst>
              <a:gd name="adj" fmla="val 262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325434" y="1638995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each part does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325434" y="2256135"/>
            <a:ext cx="51694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3"/>
          <p:cNvSpPr/>
          <p:nvPr/>
        </p:nvSpPr>
        <p:spPr>
          <a:xfrm>
            <a:off x="6325434" y="2368649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Description → WHAT the tool does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25434" y="2735064"/>
            <a:ext cx="516946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LLM reads this to decide whether to use the tool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25434" y="3440807"/>
            <a:ext cx="51694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6"/>
          <p:cNvSpPr/>
          <p:nvPr/>
        </p:nvSpPr>
        <p:spPr>
          <a:xfrm>
            <a:off x="6325434" y="3553321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Schema → WHAT inputs it expects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325434" y="3919736"/>
            <a:ext cx="516946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LLM uses this to construct the correct arguments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325434" y="4625479"/>
            <a:ext cx="51694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19"/>
          <p:cNvSpPr/>
          <p:nvPr/>
        </p:nvSpPr>
        <p:spPr>
          <a:xfrm>
            <a:off x="6325434" y="4737993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function → PERFORMS the action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325434" y="5104408"/>
            <a:ext cx="516946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application executes this and returns the result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61475" y="5743674"/>
            <a:ext cx="10868745" cy="555129"/>
          </a:xfrm>
          <a:prstGeom prst="roundRect">
            <a:avLst>
              <a:gd name="adj" fmla="val 11262"/>
            </a:avLst>
          </a:prstGeom>
          <a:solidFill>
            <a:srgbClr val="E1E1E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99" y="5936952"/>
            <a:ext cx="186031" cy="14882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45154" y="5914827"/>
            <a:ext cx="1084582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tool descriptions and schemas are critical for reliable agent behavior. Vague descriptions lead to wrong tool selection.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3641"/>
            <a:ext cx="164589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603250"/>
            <a:ext cx="205705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TRANSITION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114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 to VS Code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453952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Let's turn a normal Python function into an agent capability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1960463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485" y="199146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017316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 a simple Python function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8830" y="2374999"/>
            <a:ext cx="1033139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get_order(order_id)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2976662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485" y="30076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98830" y="303351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Define what the function does and its inputs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1475" y="367942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485" y="37104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98830" y="3736280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Expose it as a tool and provide it to the LLM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1475" y="438219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485" y="441320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98830" y="4439047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Ask the LLM to decide whether to use 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1475" y="508496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485" y="511596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98830" y="5141813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Execute the tool — return the result to the model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1475" y="5643066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B6D6FC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882779"/>
            <a:ext cx="206667" cy="16529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98731" y="584964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the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IPYNB notebook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the full implementation. We will follow the same flow there.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3854"/>
            <a:ext cx="794623" cy="213717"/>
          </a:xfrm>
          <a:prstGeom prst="roundRect">
            <a:avLst>
              <a:gd name="adj" fmla="val 2210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5809" y="556022"/>
            <a:ext cx="1235540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7529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Real Power: Multiple Tools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61475" y="1528068"/>
            <a:ext cx="4141684" cy="840780"/>
          </a:xfrm>
          <a:prstGeom prst="roundRect">
            <a:avLst>
              <a:gd name="adj" fmla="val 702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8315" y="1674912"/>
            <a:ext cx="384800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315" y="2013942"/>
            <a:ext cx="384800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get_customer()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488307"/>
            <a:ext cx="4141684" cy="840780"/>
          </a:xfrm>
          <a:prstGeom prst="roundRect">
            <a:avLst>
              <a:gd name="adj" fmla="val 702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8315" y="2635151"/>
            <a:ext cx="384800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ORDER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8315" y="2974181"/>
            <a:ext cx="384800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get_order()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1475" y="3448546"/>
            <a:ext cx="4141684" cy="840780"/>
          </a:xfrm>
          <a:prstGeom prst="roundRect">
            <a:avLst>
              <a:gd name="adj" fmla="val 702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15" y="3595390"/>
            <a:ext cx="384800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POLICY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8315" y="3934420"/>
            <a:ext cx="384800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get_refund_policy()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1475" y="4408785"/>
            <a:ext cx="4141684" cy="840780"/>
          </a:xfrm>
          <a:prstGeom prst="roundRect">
            <a:avLst>
              <a:gd name="adj" fmla="val 702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8315" y="4555629"/>
            <a:ext cx="384800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8315" y="4894659"/>
            <a:ext cx="384800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calculate_refund()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1475" y="5369024"/>
            <a:ext cx="4141684" cy="840780"/>
          </a:xfrm>
          <a:prstGeom prst="roundRect">
            <a:avLst>
              <a:gd name="adj" fmla="val 702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315" y="5515868"/>
            <a:ext cx="384800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8315" y="5854898"/>
            <a:ext cx="384800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process_refund()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52400" y="1501180"/>
            <a:ext cx="699365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User: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"My order 1001 arrived damaged. Can I get a refund?"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1218" y="1843584"/>
            <a:ext cx="5426435" cy="266759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286512" y="2082811"/>
            <a:ext cx="1240971" cy="15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Approval Needed?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286512" y="2282061"/>
            <a:ext cx="2509520" cy="11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Decision: auto or escalate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286512" y="2706070"/>
            <a:ext cx="1240971" cy="15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 Refund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286512" y="2905320"/>
            <a:ext cx="2509520" cy="11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refundable amount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8286512" y="3329329"/>
            <a:ext cx="1240971" cy="15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 Policy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286512" y="3528579"/>
            <a:ext cx="2509520" cy="11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Fetch refund rules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292028" y="3952588"/>
            <a:ext cx="1240971" cy="15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 Order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292028" y="4151838"/>
            <a:ext cx="2509520" cy="11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order 1001 details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152400" y="4645521"/>
            <a:ext cx="6384071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selects the next tool based on the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current information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a fixed script. This is where an LLM becomes valuable as a dynamic decision-maker.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0141"/>
            <a:ext cx="1264809" cy="247352"/>
          </a:xfrm>
          <a:prstGeom prst="roundRect">
            <a:avLst>
              <a:gd name="adj" fmla="val 22116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538956"/>
            <a:ext cx="1679136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EXECUTION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01588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Agents Don't Just Call One Tool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550591"/>
            <a:ext cx="1147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tool result informs the next decision. Follow the actual refund scenario step by step: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1475" y="376634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7" name="Shape 5"/>
          <p:cNvSpPr/>
          <p:nvPr/>
        </p:nvSpPr>
        <p:spPr>
          <a:xfrm>
            <a:off x="2765554" y="3277989"/>
            <a:ext cx="19050" cy="48835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8" name="Shape 6"/>
          <p:cNvSpPr/>
          <p:nvPr/>
        </p:nvSpPr>
        <p:spPr>
          <a:xfrm>
            <a:off x="2591926" y="3583186"/>
            <a:ext cx="366306" cy="36631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2993" y="3613745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4190" y="1989336"/>
            <a:ext cx="3901878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1: get_order("1001")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4190" y="2339777"/>
            <a:ext cx="390187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Product: MacBook Pro</a:t>
            </a:r>
            <a:endParaRPr lang="en-US" sz="125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Amount: ₹1800</a:t>
            </a:r>
            <a:endParaRPr lang="en-US" sz="125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Condition: damaged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79367" y="3766344"/>
            <a:ext cx="19050" cy="48835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5738" y="3583186"/>
            <a:ext cx="366306" cy="36631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6806" y="3613745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038002" y="4417516"/>
            <a:ext cx="3901878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2: get_refund_policy()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38002" y="4767957"/>
            <a:ext cx="390187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Damaged products: eligible</a:t>
            </a:r>
            <a:endParaRPr lang="en-US" sz="125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Refunds &gt; ₹1000: require human approval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93179" y="3277989"/>
            <a:ext cx="19050" cy="48835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Shape 16"/>
          <p:cNvSpPr/>
          <p:nvPr/>
        </p:nvSpPr>
        <p:spPr>
          <a:xfrm>
            <a:off x="7019551" y="3583186"/>
            <a:ext cx="366306" cy="36631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0619" y="3613745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251815" y="1989336"/>
            <a:ext cx="390187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3: calculate_refund(₹1800, damaged)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51815" y="2594074"/>
            <a:ext cx="39018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Refund amount: ₹1800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06992" y="3766344"/>
            <a:ext cx="19050" cy="48835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3364" y="3583186"/>
            <a:ext cx="366306" cy="36631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4431" y="3613745"/>
            <a:ext cx="24417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465627" y="4417516"/>
            <a:ext cx="3901878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4: Decision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65627" y="4767957"/>
            <a:ext cx="390187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₹1800 &gt; ₹1000 → human approval required before processing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1475" y="5465167"/>
            <a:ext cx="10868745" cy="902692"/>
          </a:xfrm>
          <a:prstGeom prst="roundRect">
            <a:avLst>
              <a:gd name="adj" fmla="val 7575"/>
            </a:avLst>
          </a:prstGeom>
          <a:solidFill>
            <a:srgbClr val="E1E1EA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190" y="5695156"/>
            <a:ext cx="203493" cy="162719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90397" y="5666085"/>
            <a:ext cx="1017710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critical concept is not the number of tools — it is that the 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result of one action directly influences the next action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is dynamic reasoning.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7504"/>
            <a:ext cx="1157358" cy="226219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552152"/>
            <a:ext cx="158835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&amp; MEMORY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87301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Does the Agent Remember What Happened?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573907"/>
            <a:ext cx="5814371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needs access to information from all previous steps when making each new decision. The application maintains this context and includes it with every call to the LLM.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386509"/>
            <a:ext cx="581437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state/context can contain: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2769691"/>
            <a:ext cx="2840165" cy="928390"/>
          </a:xfrm>
          <a:prstGeom prst="roundRect">
            <a:avLst>
              <a:gd name="adj" fmla="val 673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9349" y="2937570"/>
            <a:ext cx="250441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Request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9349" y="3303984"/>
            <a:ext cx="250441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original intent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35582" y="2769691"/>
            <a:ext cx="2840264" cy="928390"/>
          </a:xfrm>
          <a:prstGeom prst="roundRect">
            <a:avLst>
              <a:gd name="adj" fmla="val 673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456" y="2937570"/>
            <a:ext cx="250451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Previous Tool Calls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803456" y="3303984"/>
            <a:ext cx="250451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was already tried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3832027"/>
            <a:ext cx="2840165" cy="928390"/>
          </a:xfrm>
          <a:prstGeom prst="roundRect">
            <a:avLst>
              <a:gd name="adj" fmla="val 673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49" y="3999905"/>
            <a:ext cx="250441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Results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9349" y="4366320"/>
            <a:ext cx="250441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retrieved so far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35582" y="3832027"/>
            <a:ext cx="2840264" cy="928390"/>
          </a:xfrm>
          <a:prstGeom prst="roundRect">
            <a:avLst>
              <a:gd name="adj" fmla="val 673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3456" y="3999905"/>
            <a:ext cx="250451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Intermediate Decisions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803456" y="4366320"/>
            <a:ext cx="250451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Reasoning so far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1475" y="4894362"/>
            <a:ext cx="5814371" cy="928390"/>
          </a:xfrm>
          <a:prstGeom prst="roundRect">
            <a:avLst>
              <a:gd name="adj" fmla="val 673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49" y="5062240"/>
            <a:ext cx="547862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Task Status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9349" y="5428655"/>
            <a:ext cx="547862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or in progress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38174" y="1453356"/>
            <a:ext cx="4905451" cy="4520109"/>
          </a:xfrm>
          <a:prstGeom prst="roundRect">
            <a:avLst>
              <a:gd name="adj" fmla="val 237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86998" y="1587302"/>
            <a:ext cx="460780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the refund example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886998" y="1970484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86998" y="2204442"/>
            <a:ext cx="46078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6886998" y="2316956"/>
            <a:ext cx="460780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Order 1001 → damaged MacBook Pro, ₹1800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886998" y="2794992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86998" y="3028950"/>
            <a:ext cx="46078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9" name="Text 27"/>
          <p:cNvSpPr/>
          <p:nvPr/>
        </p:nvSpPr>
        <p:spPr>
          <a:xfrm>
            <a:off x="6886998" y="3141464"/>
            <a:ext cx="460780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Policy → refunds &gt; ₹1000 require approval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886998" y="3619500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86998" y="3853458"/>
            <a:ext cx="46078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2" name="Text 30"/>
          <p:cNvSpPr/>
          <p:nvPr/>
        </p:nvSpPr>
        <p:spPr>
          <a:xfrm>
            <a:off x="6886998" y="3965972"/>
            <a:ext cx="460780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Refund = ₹1800 → approval required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86998" y="4460776"/>
            <a:ext cx="460780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of this must be available to the LLM when it decides what happens next.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56682" y="6124178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 state is the information required to continue the workflow correctly.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78" y="99120"/>
            <a:ext cx="4439730" cy="66597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3360" y="622498"/>
            <a:ext cx="537653" cy="201116"/>
          </a:xfrm>
          <a:prstGeom prst="roundRect">
            <a:avLst>
              <a:gd name="adj" fmla="val 22105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5312733" y="662186"/>
            <a:ext cx="988492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233360" y="865882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Guardrails — LLM Decisions Need Application Control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233360" y="1957288"/>
            <a:ext cx="265611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283023"/>
            <a:ext cx="2656119" cy="8055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60863" y="2434332"/>
            <a:ext cx="227731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says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60863" y="2746772"/>
            <a:ext cx="227731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"Refund approved."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94348"/>
            <a:ext cx="2656119" cy="9960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60863" y="3345656"/>
            <a:ext cx="227731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policy says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60863" y="3658096"/>
            <a:ext cx="22773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Refunds &gt; ₹1000 require human approval.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233360" y="4309467"/>
            <a:ext cx="32657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rely solely on the LLM to enforce: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233360" y="4595217"/>
            <a:ext cx="2656119" cy="836017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/>
          </a:bodyPr>
          <a:lstStyle/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limits and authorization rules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Permissions and compliance requirements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business logic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218480" y="1957288"/>
            <a:ext cx="33179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Safer Architecture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260" y="2283023"/>
            <a:ext cx="2654333" cy="13048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49093" y="2400798"/>
            <a:ext cx="607008" cy="7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&amp; Escalation</a:t>
            </a:r>
            <a:endParaRPr lang="en-US" sz="450" dirty="0"/>
          </a:p>
        </p:txBody>
      </p:sp>
      <p:sp>
        <p:nvSpPr>
          <p:cNvPr id="19" name="Text 13"/>
          <p:cNvSpPr/>
          <p:nvPr/>
        </p:nvSpPr>
        <p:spPr>
          <a:xfrm>
            <a:off x="9849093" y="2498259"/>
            <a:ext cx="1227505" cy="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 to run or human review</a:t>
            </a:r>
            <a:endParaRPr lang="en-US" sz="350" dirty="0"/>
          </a:p>
        </p:txBody>
      </p:sp>
      <p:sp>
        <p:nvSpPr>
          <p:cNvPr id="20" name="Text 14"/>
          <p:cNvSpPr/>
          <p:nvPr/>
        </p:nvSpPr>
        <p:spPr>
          <a:xfrm>
            <a:off x="9849093" y="2705658"/>
            <a:ext cx="607008" cy="7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Guardrail Evaluation</a:t>
            </a:r>
            <a:endParaRPr lang="en-US" sz="450" dirty="0"/>
          </a:p>
        </p:txBody>
      </p:sp>
      <p:sp>
        <p:nvSpPr>
          <p:cNvPr id="21" name="Text 15"/>
          <p:cNvSpPr/>
          <p:nvPr/>
        </p:nvSpPr>
        <p:spPr>
          <a:xfrm>
            <a:off x="9849093" y="2803119"/>
            <a:ext cx="1227505" cy="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rules check policy</a:t>
            </a:r>
            <a:endParaRPr lang="en-US" sz="350" dirty="0"/>
          </a:p>
        </p:txBody>
      </p:sp>
      <p:sp>
        <p:nvSpPr>
          <p:cNvPr id="22" name="Text 16"/>
          <p:cNvSpPr/>
          <p:nvPr/>
        </p:nvSpPr>
        <p:spPr>
          <a:xfrm>
            <a:off x="9849093" y="3010519"/>
            <a:ext cx="717281" cy="7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 Receives Suggestion</a:t>
            </a:r>
            <a:endParaRPr lang="en-US" sz="450" dirty="0"/>
          </a:p>
        </p:txBody>
      </p:sp>
      <p:sp>
        <p:nvSpPr>
          <p:cNvPr id="23" name="Text 17"/>
          <p:cNvSpPr/>
          <p:nvPr/>
        </p:nvSpPr>
        <p:spPr>
          <a:xfrm>
            <a:off x="9849093" y="3107980"/>
            <a:ext cx="1227505" cy="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service ingests request</a:t>
            </a:r>
            <a:endParaRPr lang="en-US" sz="350" dirty="0"/>
          </a:p>
        </p:txBody>
      </p:sp>
      <p:sp>
        <p:nvSpPr>
          <p:cNvPr id="24" name="Text 18"/>
          <p:cNvSpPr/>
          <p:nvPr/>
        </p:nvSpPr>
        <p:spPr>
          <a:xfrm>
            <a:off x="9851792" y="3315379"/>
            <a:ext cx="607007" cy="7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Suggests Action</a:t>
            </a:r>
            <a:endParaRPr lang="en-US" sz="450" dirty="0"/>
          </a:p>
        </p:txBody>
      </p:sp>
      <p:sp>
        <p:nvSpPr>
          <p:cNvPr id="25" name="Text 19"/>
          <p:cNvSpPr/>
          <p:nvPr/>
        </p:nvSpPr>
        <p:spPr>
          <a:xfrm>
            <a:off x="9851792" y="3412840"/>
            <a:ext cx="1227504" cy="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suggested operation</a:t>
            </a:r>
            <a:endParaRPr lang="en-US" sz="350" dirty="0"/>
          </a:p>
        </p:txBody>
      </p:sp>
      <p:sp>
        <p:nvSpPr>
          <p:cNvPr id="26" name="Shape 20"/>
          <p:cNvSpPr/>
          <p:nvPr/>
        </p:nvSpPr>
        <p:spPr>
          <a:xfrm>
            <a:off x="5233360" y="5587305"/>
            <a:ext cx="6296860" cy="648097"/>
          </a:xfrm>
          <a:prstGeom prst="roundRect">
            <a:avLst>
              <a:gd name="adj" fmla="val 8575"/>
            </a:avLst>
          </a:prstGeom>
          <a:solidFill>
            <a:srgbClr val="FCF2B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5616" y="5743674"/>
            <a:ext cx="165294" cy="13225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63165" y="5726113"/>
            <a:ext cx="573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can make decisions — but deterministic business rules must enforce critical constraints. Never delegate compliance to a probabilistic model.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6028"/>
            <a:ext cx="1273838" cy="226219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650677"/>
            <a:ext cx="170483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OVERSIGHT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8582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Should a Human Take Over?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685826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Refund Policy Example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069009"/>
            <a:ext cx="5252807" cy="1793280"/>
          </a:xfrm>
          <a:prstGeom prst="roundRect">
            <a:avLst>
              <a:gd name="adj" fmla="val 348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825" y="2075359"/>
            <a:ext cx="5240107" cy="890290"/>
          </a:xfrm>
          <a:custGeom>
            <a:avLst/>
            <a:gdLst/>
            <a:ahLst/>
            <a:cxnLst/>
            <a:rect l="l" t="t" r="r" b="b"/>
            <a:pathLst>
              <a:path w="5240107" h="890290">
                <a:moveTo>
                  <a:pt x="52098" y="0"/>
                </a:moveTo>
                <a:lnTo>
                  <a:pt x="5188009" y="0"/>
                </a:lnTo>
                <a:arcTo hR="52100" wR="52098" stAng="16200000" swAng="5400000"/>
                <a:lnTo>
                  <a:pt x="5240107" y="890290"/>
                </a:lnTo>
                <a:lnTo>
                  <a:pt x="0" y="890290"/>
                </a:lnTo>
                <a:lnTo>
                  <a:pt x="0" y="52100"/>
                </a:lnTo>
                <a:arcTo hR="52100" wR="5209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Text 6"/>
          <p:cNvSpPr/>
          <p:nvPr/>
        </p:nvSpPr>
        <p:spPr>
          <a:xfrm>
            <a:off x="816649" y="2224187"/>
            <a:ext cx="494245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≤ ₹1000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6649" y="2590602"/>
            <a:ext cx="494245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— no approval needed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825" y="2965648"/>
            <a:ext cx="5240107" cy="890290"/>
          </a:xfrm>
          <a:custGeom>
            <a:avLst/>
            <a:gdLst/>
            <a:ahLst/>
            <a:cxnLst/>
            <a:rect l="l" t="t" r="r" b="b"/>
            <a:pathLst>
              <a:path w="5240107" h="890290">
                <a:moveTo>
                  <a:pt x="0" y="0"/>
                </a:moveTo>
                <a:lnTo>
                  <a:pt x="5240107" y="0"/>
                </a:lnTo>
                <a:lnTo>
                  <a:pt x="5240107" y="838190"/>
                </a:lnTo>
                <a:arcTo hR="52100" wR="52098" stAng="0" swAng="5400000"/>
                <a:lnTo>
                  <a:pt x="52098" y="890290"/>
                </a:lnTo>
                <a:arcTo hR="52100" wR="5209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1" name="Shape 9"/>
          <p:cNvSpPr/>
          <p:nvPr/>
        </p:nvSpPr>
        <p:spPr>
          <a:xfrm>
            <a:off x="667825" y="2965648"/>
            <a:ext cx="5240107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2" name="Text 10"/>
          <p:cNvSpPr/>
          <p:nvPr/>
        </p:nvSpPr>
        <p:spPr>
          <a:xfrm>
            <a:off x="816649" y="3114477"/>
            <a:ext cx="494245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&gt; ₹1000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6649" y="3480891"/>
            <a:ext cx="494245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approval required before processing</a:t>
            </a:r>
            <a:endParaRPr lang="en-US" sz="11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100" y="4013002"/>
            <a:ext cx="4727457" cy="171132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1210" y="5306592"/>
            <a:ext cx="1184229" cy="14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271210" y="4790782"/>
            <a:ext cx="1184229" cy="14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Guardrail Check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271210" y="4269708"/>
            <a:ext cx="1184229" cy="14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 Refund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76610" y="1551880"/>
            <a:ext cx="5467114" cy="4323159"/>
          </a:xfrm>
          <a:prstGeom prst="roundRect">
            <a:avLst>
              <a:gd name="adj" fmla="val 247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325434" y="1685826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Human-in-the-Loop is appropriate when: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794231" y="2120106"/>
            <a:ext cx="47006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impact is high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794231" y="2722860"/>
            <a:ext cx="47006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 is irreversible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794231" y="3325614"/>
            <a:ext cx="47006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Authorization is explicitly required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794231" y="3928368"/>
            <a:ext cx="47006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Risk level is elevated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794231" y="4531122"/>
            <a:ext cx="47006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policy mandates approval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356682" y="6025753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Agentic systems should know exactly where autonomy ends.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2606"/>
            <a:ext cx="1233060" cy="251420"/>
          </a:xfrm>
          <a:prstGeom prst="roundRect">
            <a:avLst>
              <a:gd name="adj" fmla="val 2210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216"/>
            <a:ext cx="164421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501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Agents Are Powerful — But Not Automatically Reliable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614884"/>
            <a:ext cx="10868745" cy="3863181"/>
          </a:xfrm>
          <a:prstGeom prst="roundRect">
            <a:avLst>
              <a:gd name="adj" fmla="val 179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475" y="2100163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582267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064371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546475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028579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4510683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4992787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7825" y="1621234"/>
            <a:ext cx="5428023" cy="478929"/>
          </a:xfrm>
          <a:custGeom>
            <a:avLst/>
            <a:gdLst/>
            <a:ahLst/>
            <a:cxnLst/>
            <a:rect l="l" t="t" r="r" b="b"/>
            <a:pathLst>
              <a:path w="5428023" h="478929">
                <a:moveTo>
                  <a:pt x="57887" y="0"/>
                </a:moveTo>
                <a:lnTo>
                  <a:pt x="5428023" y="0"/>
                </a:lnTo>
                <a:lnTo>
                  <a:pt x="5428023" y="478929"/>
                </a:lnTo>
                <a:lnTo>
                  <a:pt x="0" y="478929"/>
                </a:lnTo>
                <a:lnTo>
                  <a:pt x="0" y="57888"/>
                </a:lnTo>
                <a:arcTo hR="57888" wR="57887" stAng="10800000" swAng="5400000"/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833119" y="1726803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5848" y="1621234"/>
            <a:ext cx="5428023" cy="478929"/>
          </a:xfrm>
          <a:custGeom>
            <a:avLst/>
            <a:gdLst/>
            <a:ahLst/>
            <a:cxnLst/>
            <a:rect l="l" t="t" r="r" b="b"/>
            <a:pathLst>
              <a:path w="5428023" h="478929">
                <a:moveTo>
                  <a:pt x="0" y="0"/>
                </a:moveTo>
                <a:lnTo>
                  <a:pt x="5370136" y="0"/>
                </a:lnTo>
                <a:arcTo hR="57888" wR="57887" stAng="16200000" swAng="5400000"/>
                <a:lnTo>
                  <a:pt x="5428023" y="478929"/>
                </a:lnTo>
                <a:lnTo>
                  <a:pt x="0" y="478929"/>
                </a:lnTo>
                <a:lnTo>
                  <a:pt x="0" y="0"/>
                </a:lnTo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6261142" y="1726803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Practice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119" y="2208907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Hallucinated decisions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1142" y="2208907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Ground decisions in tool results and trusted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119" y="2691011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Wrong tool selection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1142" y="2691011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clear tool names, descriptions, and schemas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119" y="3173115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arguments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1142" y="3173115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tool inputs before execution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3119" y="3655219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Infinite or unnecessary loops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1142" y="3655219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step limits and explicit termination conditions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119" y="4137323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Unsafe actions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1142" y="4137323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permissions, guardrails, and human approval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3119" y="4619427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Unnecessary complexity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1142" y="4619427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deterministic code where rules are deterministic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3119" y="5101530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tool design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1142" y="5101530"/>
            <a:ext cx="57070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tools focused, single-purpose, and well-named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1475" y="5664101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E1E1EA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903813"/>
            <a:ext cx="206667" cy="16529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98731" y="587067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agents where dynamic decision-making genuinely adds value — not simply because an LLM is 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0339"/>
            <a:ext cx="1053081" cy="160536"/>
          </a:xfrm>
          <a:prstGeom prst="roundRect">
            <a:avLst>
              <a:gd name="adj" fmla="val 22149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4874" y="521990"/>
            <a:ext cx="1535868" cy="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TRANSITION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677863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 to IPYNB — Build the Agent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661475" y="1035546"/>
            <a:ext cx="10868745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Let's implement the concepts we just learned, step by step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02345"/>
            <a:ext cx="317393" cy="952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6533" y="1408113"/>
            <a:ext cx="10483687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 1: Basic LLM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6533" y="1613991"/>
            <a:ext cx="10483687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prompt → response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22" y="2004913"/>
            <a:ext cx="317393" cy="952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5180" y="2110680"/>
            <a:ext cx="1032504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 2: Single Tool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205180" y="2316559"/>
            <a:ext cx="1032504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Define, expose, call one tool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68" y="2707481"/>
            <a:ext cx="317393" cy="952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63926" y="2813248"/>
            <a:ext cx="10166294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 3: Multiple Tools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363926" y="3019127"/>
            <a:ext cx="10166294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selects from a toolkit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614" y="3410049"/>
            <a:ext cx="317393" cy="952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22672" y="3515816"/>
            <a:ext cx="10007548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 4: Tool Calling Loop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522672" y="3721695"/>
            <a:ext cx="10007548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until task resolves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68" y="4112617"/>
            <a:ext cx="317393" cy="9525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63926" y="4218384"/>
            <a:ext cx="10166294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 5: Results → Next Decision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363926" y="4424263"/>
            <a:ext cx="10166294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Context-driven reasoning</a:t>
            </a:r>
            <a:endParaRPr lang="en-US" sz="8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22" y="4815185"/>
            <a:ext cx="317393" cy="9525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05180" y="4920952"/>
            <a:ext cx="1032504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 6: Guardrails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1205180" y="5126831"/>
            <a:ext cx="1032504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Application-level enforcement</a:t>
            </a:r>
            <a:endParaRPr lang="en-US" sz="8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517753"/>
            <a:ext cx="317393" cy="9525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46533" y="5623520"/>
            <a:ext cx="10483687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 7: Human-in-the-Loop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1046533" y="5829399"/>
            <a:ext cx="10483687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Approval flow integration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661475" y="6228755"/>
            <a:ext cx="114783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entirely in </a:t>
            </a:r>
            <a:pPr algn="l" indent="0" marL="0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Python + OpenAI API</a:t>
            </a:r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 frameworks required. Scenario: </a:t>
            </a:r>
            <a:pPr algn="l" indent="0" marL="0">
              <a:lnSpc>
                <a:spcPct val="109000"/>
              </a:lnSpc>
              <a:buNone/>
            </a:pPr>
            <a:r>
              <a:rPr lang="en-US" sz="8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"My order 1001 arrived damaged. Can I get a refund?"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0673"/>
            <a:ext cx="1069055" cy="192286"/>
          </a:xfrm>
          <a:prstGeom prst="roundRect">
            <a:avLst>
              <a:gd name="adj" fmla="val 22127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37375" y="498574"/>
            <a:ext cx="1526839" cy="11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691654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LLM to Agent</a:t>
            </a:r>
            <a:endParaRPr lang="en-US" sz="2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32694"/>
            <a:ext cx="8737381" cy="487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6682" y="6218535"/>
            <a:ext cx="11478330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 systems are not magic. They are </a:t>
            </a:r>
            <a:pPr algn="ctr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orchestrated systems built from understandable components</a:t>
            </a:r>
            <a:pPr algn="ctr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9849"/>
            <a:ext cx="971724" cy="188516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35887" y="577056"/>
            <a:ext cx="1432484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 PROJECT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65572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Putting It All Together: Customer Support Agent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376362"/>
            <a:ext cx="5841556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concept from this module comes together in the existing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 Support Agent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project. You now have the vocabulary and mental model to understand exactly what is happening inside it.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43683"/>
            <a:ext cx="124020" cy="12402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475" y="2026245"/>
            <a:ext cx="584155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2113657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decision-making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08845"/>
            <a:ext cx="124020" cy="12402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1475" y="2691408"/>
            <a:ext cx="584155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7"/>
          <p:cNvSpPr/>
          <p:nvPr/>
        </p:nvSpPr>
        <p:spPr>
          <a:xfrm>
            <a:off x="661475" y="2778820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calling mechanism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74008"/>
            <a:ext cx="124020" cy="12402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61475" y="3356570"/>
            <a:ext cx="584155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9"/>
          <p:cNvSpPr/>
          <p:nvPr/>
        </p:nvSpPr>
        <p:spPr>
          <a:xfrm>
            <a:off x="661475" y="3443982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 tools from Python functions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839170"/>
            <a:ext cx="124020" cy="124023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61475" y="4021733"/>
            <a:ext cx="584155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1"/>
          <p:cNvSpPr/>
          <p:nvPr/>
        </p:nvSpPr>
        <p:spPr>
          <a:xfrm>
            <a:off x="661475" y="4109145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Multi-step workflows with context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504333"/>
            <a:ext cx="124020" cy="124023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61475" y="4686895"/>
            <a:ext cx="584155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3"/>
          <p:cNvSpPr/>
          <p:nvPr/>
        </p:nvSpPr>
        <p:spPr>
          <a:xfrm>
            <a:off x="661475" y="4774307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Guardrails and business rules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5169495"/>
            <a:ext cx="124020" cy="124023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61475" y="5352058"/>
            <a:ext cx="5841556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15"/>
          <p:cNvSpPr/>
          <p:nvPr/>
        </p:nvSpPr>
        <p:spPr>
          <a:xfrm>
            <a:off x="661475" y="5439470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Human-in-the-loop approval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722696" y="1292721"/>
            <a:ext cx="4903070" cy="4538067"/>
          </a:xfrm>
          <a:prstGeom prst="roundRect">
            <a:avLst>
              <a:gd name="adj" fmla="val 196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5" name="Text 17"/>
          <p:cNvSpPr/>
          <p:nvPr/>
        </p:nvSpPr>
        <p:spPr>
          <a:xfrm>
            <a:off x="6846716" y="1385689"/>
            <a:ext cx="46550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architecture you now understand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846716" y="1684040"/>
            <a:ext cx="2280982" cy="721122"/>
          </a:xfrm>
          <a:prstGeom prst="roundRect">
            <a:avLst>
              <a:gd name="adj" fmla="val 722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977086" y="1814413"/>
            <a:ext cx="202024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977086" y="2101155"/>
            <a:ext cx="202024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 received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9220664" y="1684040"/>
            <a:ext cx="2281081" cy="721122"/>
          </a:xfrm>
          <a:prstGeom prst="roundRect">
            <a:avLst>
              <a:gd name="adj" fmla="val 722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9351034" y="1814413"/>
            <a:ext cx="202034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Agent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9351034" y="2101155"/>
            <a:ext cx="202034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Decides and acts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6846716" y="2498130"/>
            <a:ext cx="2280982" cy="721122"/>
          </a:xfrm>
          <a:prstGeom prst="roundRect">
            <a:avLst>
              <a:gd name="adj" fmla="val 722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977086" y="2628503"/>
            <a:ext cx="202024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977086" y="2915245"/>
            <a:ext cx="202024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Orders · Policies · Data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9220664" y="2498130"/>
            <a:ext cx="2281081" cy="721122"/>
          </a:xfrm>
          <a:prstGeom prst="roundRect">
            <a:avLst>
              <a:gd name="adj" fmla="val 722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9351034" y="2628503"/>
            <a:ext cx="202034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9351034" y="2915245"/>
            <a:ext cx="202034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rules enforced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6846716" y="3312220"/>
            <a:ext cx="4655029" cy="721122"/>
          </a:xfrm>
          <a:prstGeom prst="roundRect">
            <a:avLst>
              <a:gd name="adj" fmla="val 722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977086" y="3442593"/>
            <a:ext cx="439428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Approval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977086" y="3729335"/>
            <a:ext cx="439428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required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847505" y="6039941"/>
            <a:ext cx="1129230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 you can recognize what is happening inside an AI Agent — and build the core architecture yourself.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661475" y="5935365"/>
            <a:ext cx="12700" cy="382786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2026-08-16T15:47:57Z</dcterms:created>
  <dcterms:modified xsi:type="dcterms:W3CDTF">2026-08-16T15:47:57Z</dcterms:modified>
</cp:coreProperties>
</file>