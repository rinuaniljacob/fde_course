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9144000" cy="5143500"/>
  <p:notesSz cx="5143500" cy="9144000"/>
  <p:embeddedFontLst>
    <p:embeddedFont>
      <p:font typeface="Raleway"/>
      <p:regular r:id="rId65"/>
    </p:embeddedFont>
    <p:embeddedFont>
      <p:font typeface="Raleway"/>
      <p:regular r:id="rId66"/>
    </p:embeddedFont>
    <p:embeddedFont>
      <p:font typeface="Raleway"/>
      <p:regular r:id="rId67"/>
    </p:embeddedFont>
    <p:embeddedFont>
      <p:font typeface="Raleway"/>
      <p:regular r:id="rId68"/>
    </p:embeddedFont>
    <p:embeddedFont>
      <p:font typeface="Roboto"/>
      <p:regular r:id="rId69"/>
    </p:embeddedFont>
    <p:embeddedFont>
      <p:font typeface="Roboto"/>
      <p:regular r:id="rId70"/>
    </p:embeddedFont>
    <p:embeddedFont>
      <p:font typeface="Roboto"/>
      <p:regular r:id="rId71"/>
    </p:embeddedFont>
    <p:embeddedFont>
      <p:font typeface="Roboto"/>
      <p:regular r:id="rId7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font" Target="fonts/font1.fntdata"/><Relationship Id="rId66" Type="http://schemas.openxmlformats.org/officeDocument/2006/relationships/font" Target="fonts/font2.fntdata"/><Relationship Id="rId67" Type="http://schemas.openxmlformats.org/officeDocument/2006/relationships/font" Target="fonts/font3.fntdata"/><Relationship Id="rId68" Type="http://schemas.openxmlformats.org/officeDocument/2006/relationships/font" Target="fonts/font4.fntdata"/><Relationship Id="rId69" Type="http://schemas.openxmlformats.org/officeDocument/2006/relationships/font" Target="fonts/font5.fntdata"/><Relationship Id="rId70" Type="http://schemas.openxmlformats.org/officeDocument/2006/relationships/font" Target="fonts/font6.fntdata"/><Relationship Id="rId71" Type="http://schemas.openxmlformats.org/officeDocument/2006/relationships/font" Target="fonts/font7.fntdata"/><Relationship Id="rId7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svg"/><Relationship Id="rId4" Type="http://schemas.openxmlformats.org/officeDocument/2006/relationships/image" Target="../media/image-28-4.png"/><Relationship Id="rId5" Type="http://schemas.openxmlformats.org/officeDocument/2006/relationships/image" Target="../media/image-28-5.svg"/><Relationship Id="rId6" Type="http://schemas.openxmlformats.org/officeDocument/2006/relationships/image" Target="../media/image-28-6.png"/><Relationship Id="rId7" Type="http://schemas.openxmlformats.org/officeDocument/2006/relationships/image" Target="../media/image-28-7.svg"/><Relationship Id="rId8" Type="http://schemas.openxmlformats.org/officeDocument/2006/relationships/image" Target="../media/image-28-8.png"/><Relationship Id="rId9" Type="http://schemas.openxmlformats.org/officeDocument/2006/relationships/image" Target="../media/image-28-9.svg"/><Relationship Id="rId10" Type="http://schemas.openxmlformats.org/officeDocument/2006/relationships/slideLayout" Target="../slideLayouts/slideLayout29.xml"/><Relationship Id="rId11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38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image" Target="../media/image-40-3.png"/><Relationship Id="rId4" Type="http://schemas.openxmlformats.org/officeDocument/2006/relationships/image" Target="../media/image-40-4.svg"/><Relationship Id="rId5" Type="http://schemas.openxmlformats.org/officeDocument/2006/relationships/image" Target="../media/image-40-5.png"/><Relationship Id="rId6" Type="http://schemas.openxmlformats.org/officeDocument/2006/relationships/image" Target="../media/image-40-6.svg"/><Relationship Id="rId7" Type="http://schemas.openxmlformats.org/officeDocument/2006/relationships/image" Target="../media/image-40-7.png"/><Relationship Id="rId8" Type="http://schemas.openxmlformats.org/officeDocument/2006/relationships/image" Target="../media/image-40-8.svg"/><Relationship Id="rId9" Type="http://schemas.openxmlformats.org/officeDocument/2006/relationships/slideLayout" Target="../slideLayouts/slideLayout41.xml"/><Relationship Id="rId10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4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46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5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image" Target="../media/image-52-3.png"/><Relationship Id="rId4" Type="http://schemas.openxmlformats.org/officeDocument/2006/relationships/image" Target="../media/image-52-4.svg"/><Relationship Id="rId5" Type="http://schemas.openxmlformats.org/officeDocument/2006/relationships/image" Target="../media/image-52-5.png"/><Relationship Id="rId6" Type="http://schemas.openxmlformats.org/officeDocument/2006/relationships/image" Target="../media/image-52-6.svg"/><Relationship Id="rId7" Type="http://schemas.openxmlformats.org/officeDocument/2006/relationships/image" Target="../media/image-52-7.png"/><Relationship Id="rId8" Type="http://schemas.openxmlformats.org/officeDocument/2006/relationships/image" Target="../media/image-52-8.svg"/><Relationship Id="rId9" Type="http://schemas.openxmlformats.org/officeDocument/2006/relationships/slideLayout" Target="../slideLayouts/slideLayout53.xml"/><Relationship Id="rId10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svg"/><Relationship Id="rId3" Type="http://schemas.openxmlformats.org/officeDocument/2006/relationships/image" Target="../media/image-53-3.png"/><Relationship Id="rId4" Type="http://schemas.openxmlformats.org/officeDocument/2006/relationships/image" Target="../media/image-53-4.svg"/><Relationship Id="rId5" Type="http://schemas.openxmlformats.org/officeDocument/2006/relationships/image" Target="../media/image-53-5.png"/><Relationship Id="rId6" Type="http://schemas.openxmlformats.org/officeDocument/2006/relationships/image" Target="../media/image-53-6.svg"/><Relationship Id="rId7" Type="http://schemas.openxmlformats.org/officeDocument/2006/relationships/image" Target="../media/image-53-7.png"/><Relationship Id="rId8" Type="http://schemas.openxmlformats.org/officeDocument/2006/relationships/image" Target="../media/image-53-8.svg"/><Relationship Id="rId9" Type="http://schemas.openxmlformats.org/officeDocument/2006/relationships/slideLayout" Target="../slideLayouts/slideLayout54.xml"/><Relationship Id="rId10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55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57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58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svg"/><Relationship Id="rId3" Type="http://schemas.openxmlformats.org/officeDocument/2006/relationships/image" Target="../media/image-58-3.png"/><Relationship Id="rId4" Type="http://schemas.openxmlformats.org/officeDocument/2006/relationships/image" Target="../media/image-58-4.svg"/><Relationship Id="rId5" Type="http://schemas.openxmlformats.org/officeDocument/2006/relationships/image" Target="../media/image-58-5.png"/><Relationship Id="rId6" Type="http://schemas.openxmlformats.org/officeDocument/2006/relationships/image" Target="../media/image-58-6.svg"/><Relationship Id="rId7" Type="http://schemas.openxmlformats.org/officeDocument/2006/relationships/image" Target="../media/image-58-7.png"/><Relationship Id="rId8" Type="http://schemas.openxmlformats.org/officeDocument/2006/relationships/image" Target="../media/image-58-8.svg"/><Relationship Id="rId9" Type="http://schemas.openxmlformats.org/officeDocument/2006/relationships/slideLayout" Target="../slideLayouts/slideLayout59.xml"/><Relationship Id="rId10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987" y="368424"/>
            <a:ext cx="3304952" cy="44066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06314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Generative AI &amp; LLM Foundations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96119" y="2667446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LLM-powered applications are actually built, evaluated, and deployed in production engineering environments.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96119" y="3203897"/>
            <a:ext cx="2386533" cy="233214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570533" y="3241104"/>
            <a:ext cx="2694905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5A · FORWARD DEPLOYED ENGINEERING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469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We Will Learn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1103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module covers the core engineering skills needed to build reliable, production-grade LLM-powered systems — from first API call to deployment tradeoffs.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947490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4855" y="207622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APIs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2344489"/>
            <a:ext cx="4213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to and call language model endpoints programmatically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3987" y="1947490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2723" y="207622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723" y="2344489"/>
            <a:ext cx="4213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model behavior through structured, intentional prompts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2795662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855" y="2924398"/>
            <a:ext cx="234195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Variability &amp; Hallucinations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4855" y="3192661"/>
            <a:ext cx="4213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and engineer around probabilistic model outputs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3987" y="2795662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2723" y="292439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723" y="3192661"/>
            <a:ext cx="4213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accuracy, consistency, format, cost, and latency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3643833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855" y="377257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 vs LLM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855" y="4040832"/>
            <a:ext cx="4213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the right tool — traditional ML or LLMs — for the job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33987" y="3643833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2723" y="377257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Cost &amp; Reliability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2723" y="4040832"/>
            <a:ext cx="4213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token usage, monitor latency, and build safeguards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77528"/>
            <a:ext cx="2132186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1219498"/>
            <a:ext cx="243103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1 — INTRODUCTION TO LLM SYSTEMS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469827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an LLM?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2155031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Language Model (LLM)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 neural network trained on massive corpora of human-generated text. It learns statistical patterns across language, enabling it to generate, classify, summarize, translate, and reason through text-based tasks.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3060502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do not "understand" language the way humans do — they predict the most likely next token given prior context. That simple mechanism, scaled to billions of parameters, produces surprisingly powerful capabilities.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16738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Trained 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28046" y="2500759"/>
            <a:ext cx="1900312" cy="470371"/>
          </a:xfrm>
          <a:prstGeom prst="roundRect">
            <a:avLst>
              <a:gd name="adj" fmla="val 1107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6308" y="263902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Internet 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52332" y="2500759"/>
            <a:ext cx="1900312" cy="470371"/>
          </a:xfrm>
          <a:prstGeom prst="roundRect">
            <a:avLst>
              <a:gd name="adj" fmla="val 1107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90593" y="263902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Books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28046" y="3095104"/>
            <a:ext cx="1900312" cy="470371"/>
          </a:xfrm>
          <a:prstGeom prst="roundRect">
            <a:avLst>
              <a:gd name="adj" fmla="val 1107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6308" y="323336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📄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Documents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52332" y="3095104"/>
            <a:ext cx="1900312" cy="470371"/>
          </a:xfrm>
          <a:prstGeom prst="roundRect">
            <a:avLst>
              <a:gd name="adj" fmla="val 1107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0593" y="323336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💬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Conversations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8361"/>
            <a:ext cx="389914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LLMs Are Good At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7393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excel at language-based tasks that are difficult to encode with traditional rules. These capabilities make them useful across a wide range of real engineering applications.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10383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1206" y="211038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Text Generation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1206" y="2378646"/>
            <a:ext cx="353325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Draft emails, reports, responses, and documents from instructions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2110383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14553" y="211038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Summarization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114553" y="2378646"/>
            <a:ext cx="39905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Condense long content into concise, structured summaries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23592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1206" y="302359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61206" y="3291855"/>
            <a:ext cx="39904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Assign categories or labels to text inputs automatically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465" y="3023592"/>
            <a:ext cx="310083" cy="3100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14553" y="302359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Translation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114553" y="3291855"/>
            <a:ext cx="39905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text between languages with contextual accuracy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738339"/>
            <a:ext cx="310083" cy="31008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1206" y="373833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961206" y="4006602"/>
            <a:ext cx="39904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 through multi-step logic and analytical problems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9465" y="3738339"/>
            <a:ext cx="310083" cy="31008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114553" y="373833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Conversation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5114553" y="4006602"/>
            <a:ext cx="39905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 context across multi-turn dialogue interactions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0286"/>
            <a:ext cx="462877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Real-World LLM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35857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are already embedded in production systems across industries. These are not research demos — they are live, engineering-built tools handling millions of requests daily.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272308"/>
            <a:ext cx="2634555" cy="922660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4855" y="240104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Chatbots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2669307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Conversational agents handling customer queries at scale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54648" y="2272308"/>
            <a:ext cx="2634630" cy="922660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384" y="240104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Email Drafting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384" y="2669307"/>
            <a:ext cx="237715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Auto-generating professional responses from brief instructions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13252" y="2272308"/>
            <a:ext cx="2634555" cy="922660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1988" y="240104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Automation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1988" y="2669307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Routing, categorizing, and responding to support tickets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318942"/>
            <a:ext cx="4013820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855" y="344767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4855" y="3715941"/>
            <a:ext cx="42135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Extracting key fields from contracts, reports, and forms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33913" y="3318942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2649" y="344767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Assistants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2649" y="3715941"/>
            <a:ext cx="4213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copilots inside productivity and engineering tools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22883"/>
            <a:ext cx="417098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LLM Applications Work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349" y="891034"/>
            <a:ext cx="8229302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LLM-powered application follows the same fundamental request-response loop. Understanding this flow is the foundation of all LLM engineering — everything else builds on top of it.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136" y="1361256"/>
            <a:ext cx="7965728" cy="298906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1915" y="2122625"/>
            <a:ext cx="411456" cy="411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25333" y="3508975"/>
            <a:ext cx="1201453" cy="462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Response Returned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5599" y="2123396"/>
            <a:ext cx="411456" cy="4114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11174" y="3508975"/>
            <a:ext cx="1201452" cy="462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Processing</a:t>
            </a:r>
            <a:endParaRPr lang="en-US" sz="14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79669" y="2123396"/>
            <a:ext cx="411457" cy="41145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776644" y="3624698"/>
            <a:ext cx="1430053" cy="23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Call</a:t>
            </a:r>
            <a:endParaRPr lang="en-US" sz="14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73739" y="2123396"/>
            <a:ext cx="411456" cy="41145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499313" y="3508975"/>
            <a:ext cx="1201453" cy="462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 Construction</a:t>
            </a:r>
            <a:endParaRPr lang="en-US" sz="14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59579" y="2123396"/>
            <a:ext cx="411456" cy="41145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31866" y="3624698"/>
            <a:ext cx="1430053" cy="23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Input</a:t>
            </a:r>
            <a:endParaRPr lang="en-US" sz="1450" dirty="0"/>
          </a:p>
        </p:txBody>
      </p:sp>
      <p:sp>
        <p:nvSpPr>
          <p:cNvPr id="15" name="Text 7"/>
          <p:cNvSpPr/>
          <p:nvPr/>
        </p:nvSpPr>
        <p:spPr>
          <a:xfrm>
            <a:off x="457349" y="4468862"/>
            <a:ext cx="8229302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application layer is responsible for constructing the right prompt, calling the right model, parsing the response, and handling errors. The LLM itself is a stateless API endpoint — the engineering happens around it.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0248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Using LLM APIs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843832"/>
            <a:ext cx="4103191" cy="2029346"/>
          </a:xfrm>
          <a:prstGeom prst="roundRect">
            <a:avLst>
              <a:gd name="adj" fmla="val 440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96780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2285628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application never "talks" to the model directly. It sends structured HTTP requests to an API endpoint. The API handles authentication, routing, model versioning, and rate limiting on your behalf.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196780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the API handles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2285628"/>
            <a:ext cx="3924598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via API keys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version routing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Rate limiting and quotas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Streaming or batch response modes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Usage tracking and billing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3563094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Major providers: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OpenAI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Anthropic, Google Gemini, Mistral, Cohere.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68945"/>
            <a:ext cx="3357265" cy="362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First OpenAI API Call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88379" y="948333"/>
            <a:ext cx="8167241" cy="363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the minimal structure of every LLM API call. The 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array carries the conversation — role tells the model who is speaking, content carries the actual text.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88379" y="1434257"/>
            <a:ext cx="8167241" cy="2745730"/>
          </a:xfrm>
          <a:prstGeom prst="roundRect">
            <a:avLst>
              <a:gd name="adj" fmla="val 177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2650" y="1434257"/>
            <a:ext cx="8178701" cy="2745730"/>
          </a:xfrm>
          <a:prstGeom prst="roundRect">
            <a:avLst>
              <a:gd name="adj" fmla="val 634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27608" y="1550194"/>
            <a:ext cx="7888784" cy="251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
client = OpenAI()  # uses OPENAI_API_KEY from environment
response = client.chat.completions.create(
    model="gpt-4.1-mini",
    messages=[
        {
            "role": "user",
            "content": "Explain AI briefly."
        }
    ]
)
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8379" y="4302026"/>
            <a:ext cx="8167241" cy="472529"/>
          </a:xfrm>
          <a:prstGeom prst="roundRect">
            <a:avLst>
              <a:gd name="adj" fmla="val 10311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317" y="4473997"/>
            <a:ext cx="144959" cy="1159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5212" y="4439394"/>
            <a:ext cx="8131671" cy="17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store API keys in environment variables — never hardcode them in source files.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8951"/>
            <a:ext cx="426816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Reading Model Responses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54522"/>
            <a:ext cx="8151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API returns a rich response object. The generated text lives inside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choices[0].message.content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Always access it through the object hierarchy — do not assume the structure.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595735"/>
            <a:ext cx="8151763" cy="2034108"/>
          </a:xfrm>
          <a:prstGeom prst="roundRect">
            <a:avLst>
              <a:gd name="adj" fmla="val 2561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9942" y="1595735"/>
            <a:ext cx="8164116" cy="2034108"/>
          </a:xfrm>
          <a:prstGeom prst="roundRect">
            <a:avLst>
              <a:gd name="adj" fmla="val 91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44947" y="1719709"/>
            <a:ext cx="7854107" cy="1786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the generated text
print(response.choices[0].message.content)
# Inspect token usage
print(response.usage.total_tokens)
# Check finish reason (stop | length | content_filter)
print(response.choices[0].finish_reason)
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6119" y="389334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response.choices[0]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4211166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first (and usually only) generated completion returned by the model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389334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finish_reason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8046" y="4211166"/>
            <a:ext cx="392459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completed normally ·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hit token limit · always check this in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0247"/>
            <a:ext cx="460585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Text Summarization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0581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Summarization is one of the most common LLM use cases in enterprise systems — reducing long documents, emails, or tickets into structured, actionable summaries.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96624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Prompt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6119" y="2299618"/>
            <a:ext cx="3924598" cy="2034108"/>
          </a:xfrm>
          <a:prstGeom prst="roundRect">
            <a:avLst>
              <a:gd name="adj" fmla="val 2561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489942" y="2299618"/>
            <a:ext cx="3936950" cy="2034108"/>
          </a:xfrm>
          <a:prstGeom prst="roundRect">
            <a:avLst>
              <a:gd name="adj" fmla="val 915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4947" y="2423592"/>
            <a:ext cx="3626941" cy="1786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"""
Summarize the following email 
in exactly 3 bullet points.
Keep each bullet under 15 words.
EMAIL:
{email_body}
"""
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196624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 Output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2284065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reports billing discrepancy on invoice #4421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Requests a corrected invoice within 48 hours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Threatens to escalate if unresolved by Friday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28046" y="3105745"/>
            <a:ext cx="3924598" cy="725463"/>
          </a:xfrm>
          <a:prstGeom prst="roundRect">
            <a:avLst>
              <a:gd name="adj" fmla="val 7182"/>
            </a:avLst>
          </a:prstGeom>
          <a:solidFill>
            <a:srgbClr val="B6FCB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020" y="3290292"/>
            <a:ext cx="155004" cy="1239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30998" y="3260675"/>
            <a:ext cx="33976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Specifying format in the prompt (bullet points, word limits) dramatically improves output consistency.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0979"/>
            <a:ext cx="379839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Email Drafting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0655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can generate professional, tone-appropriate email responses from minimal input — a powerful building block for customer support automation pipelines.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86697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6119" y="2200349"/>
            <a:ext cx="3924598" cy="2232571"/>
          </a:xfrm>
          <a:prstGeom prst="roundRect">
            <a:avLst>
              <a:gd name="adj" fmla="val 2334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489942" y="2200349"/>
            <a:ext cx="3936950" cy="2232571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4947" y="2324323"/>
            <a:ext cx="3626941" cy="1984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= """
Customer complaint:
'I was charged twice for my 
subscription this month.'
Draft a polite customer support 
reply. Acknowledge the issue, 
apologize, and explain next steps.
"""
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186697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 (generated)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14081" y="2200349"/>
            <a:ext cx="373856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"Thank you for reaching out. We sincerely apologize for the duplicate charge on your account. Our billing team has been notified and will issue a full refund within 3–5 business days…"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28046" y="2200349"/>
            <a:ext cx="14288" cy="595387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4728046" y="2935263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adapts tone, structure, and content based on the instructions in the prompt — no templates required.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460"/>
            <a:ext cx="334796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Classification Example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942231"/>
            <a:ext cx="8151763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Classification is an ideal LLM task — take unstructured text, return a structured category label. This can power ticket routing, intent detection, and priority scoring systems.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1394594"/>
            <a:ext cx="8151763" cy="1919883"/>
          </a:xfrm>
          <a:prstGeom prst="roundRect">
            <a:avLst>
              <a:gd name="adj" fmla="val 244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90537" y="1394594"/>
            <a:ext cx="8162925" cy="1919883"/>
          </a:xfrm>
          <a:prstGeom prst="roundRect">
            <a:avLst>
              <a:gd name="adj" fmla="val 87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30064" y="1506215"/>
            <a:ext cx="7883872" cy="169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"""
Classify the following customer support ticket 
into exactly one category:
billing | refund | technical | account | other
Respond with only the category label.
TICKET: {ticket_text}
"""
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3527971"/>
            <a:ext cx="18526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Ticket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6119" y="3802782"/>
            <a:ext cx="439690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 can't log in to my account after resetting my password yesterday."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12940" y="3527971"/>
            <a:ext cx="18526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Expected Output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12940" y="3815358"/>
            <a:ext cx="3939704" cy="392906"/>
          </a:xfrm>
          <a:prstGeom prst="roundRect">
            <a:avLst>
              <a:gd name="adj" fmla="val 11934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4707359" y="3815358"/>
            <a:ext cx="3950866" cy="392906"/>
          </a:xfrm>
          <a:prstGeom prst="roundRect">
            <a:avLst>
              <a:gd name="adj" fmla="val 4262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886" y="3926979"/>
            <a:ext cx="412901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12940" y="4321299"/>
            <a:ext cx="3939704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Constraining the output to a fixed label set is critical for reliability in downstream systems.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69912"/>
            <a:ext cx="4324499" cy="343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Extraction Example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88379" y="908000"/>
            <a:ext cx="8167241" cy="331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Extraction tasks pull specific fields from unstructured text — turning raw documents into machine-readable data. Requesting JSON output makes downstream processing straightforward.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88379" y="1349053"/>
            <a:ext cx="8167241" cy="2872383"/>
          </a:xfrm>
          <a:prstGeom prst="roundRect">
            <a:avLst>
              <a:gd name="adj" fmla="val 160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2947" y="1349053"/>
            <a:ext cx="8178105" cy="2872383"/>
          </a:xfrm>
          <a:prstGeom prst="roundRect">
            <a:avLst>
              <a:gd name="adj" fmla="val 574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20316" y="1458888"/>
            <a:ext cx="7903369" cy="2652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"""
Extract the following fields from the support ticket below.
Return valid JSON only.
Fields: customer_name, issue_summary, priority (low/medium/high)
TICKET: {ticket_text}
"""
# Expected output:
# {
#   "customer_name": "Sarah Chen",
#   "issue_summary": "Double charge on subscription",
#   "priority": "high"
# }
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88379" y="4330898"/>
            <a:ext cx="8167241" cy="442615"/>
          </a:xfrm>
          <a:prstGeom prst="roundRect">
            <a:avLst>
              <a:gd name="adj" fmla="val 10428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215" y="4486349"/>
            <a:ext cx="137368" cy="1098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418" y="4455691"/>
            <a:ext cx="8157567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validate the returned JSON with 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json.loads()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 passing it to downstream systems — LLMs occasionally produce malformed output.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2964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 to VS Code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08534"/>
            <a:ext cx="860896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Now we will run these examples live. Open the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module_5a_part1.ipynb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notebook and work through each cell.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951286"/>
            <a:ext cx="7052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147739"/>
            <a:ext cx="401389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23830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Set Up API Key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506563"/>
            <a:ext cx="4471095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your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file using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python-dotenv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3987" y="1951286"/>
            <a:ext cx="7052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2147739"/>
            <a:ext cx="401389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4633987" y="2238301"/>
            <a:ext cx="213657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Make Your First API 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3987" y="2506563"/>
            <a:ext cx="401389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the minimal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chat.completions.create()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call and inspect the full response object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3125242"/>
            <a:ext cx="7052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321695"/>
            <a:ext cx="401389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41225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Each Use Case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680520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summarization, email drafting, classification, and extraction cells in sequence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3987" y="3125242"/>
            <a:ext cx="7052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3321695"/>
            <a:ext cx="401389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4633987" y="341225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Modify and Observe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3987" y="3680520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 the input text and observe how outputs shift — build intuition before Part 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310134"/>
            <a:ext cx="1655118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1352104"/>
            <a:ext cx="1953964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 — PROMPT ENGINEERING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602432"/>
            <a:ext cx="461605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Prompt Engineering?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2176016"/>
            <a:ext cx="4103191" cy="1657350"/>
          </a:xfrm>
          <a:prstGeom prst="roundRect">
            <a:avLst>
              <a:gd name="adj" fmla="val 538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29999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617812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engineering is the practice of deliberately designing the text you send to a language model in order to reliably control its behavior, output format, and reasoning approach.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796" y="3324820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is the primary lever engineers have over LLM output — and it requires the same rigor as writing good code.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2299990"/>
            <a:ext cx="244301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it's an engineering skill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8046" y="2617812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Prompts are the interface to the model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 wording changes cause large output shifts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Prompts must be tested, versioned, and maintained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 prompts reduce hallucinations and improve consistency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2289"/>
            <a:ext cx="521888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Prompt Engineering Matters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8786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same underlying model can produce dramatically different outputs depending on how the prompt is written. Prompt quality is often the difference between a reliable system and an unpredictable one.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224311"/>
            <a:ext cx="8151763" cy="1200299"/>
          </a:xfrm>
          <a:prstGeom prst="roundRect">
            <a:avLst>
              <a:gd name="adj" fmla="val 434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2229073"/>
            <a:ext cx="4071119" cy="1190774"/>
          </a:xfrm>
          <a:prstGeom prst="roundRect">
            <a:avLst>
              <a:gd name="adj" fmla="val 4375"/>
            </a:avLst>
          </a:pr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624855" y="235304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Vague Prompt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55" y="2621310"/>
            <a:ext cx="4280371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"Summarize this."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4855" y="2898949"/>
            <a:ext cx="38231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 unpredictable length, format, and depth. No reliable structure for downstream processing.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2229073"/>
            <a:ext cx="4071119" cy="1190774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229073"/>
            <a:ext cx="14288" cy="1190774"/>
          </a:xfrm>
          <a:prstGeom prst="roundRect">
            <a:avLst>
              <a:gd name="adj" fmla="val 364638"/>
            </a:avLst>
          </a:prstGeom>
          <a:solidFill>
            <a:srgbClr val="C7C7D0"/>
          </a:solidFill>
          <a:ln/>
        </p:spPr>
      </p:sp>
      <p:sp>
        <p:nvSpPr>
          <p:cNvPr id="11" name="Text 9"/>
          <p:cNvSpPr/>
          <p:nvPr/>
        </p:nvSpPr>
        <p:spPr>
          <a:xfrm>
            <a:off x="4695974" y="2353047"/>
            <a:ext cx="208389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Engineered Prompt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5974" y="2621310"/>
            <a:ext cx="4280371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"Summarize this email in 3 bullet points, each under 15 words."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95974" y="2898949"/>
            <a:ext cx="38231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 consistent, structured, machine-parseable. Ready for production use.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6119" y="3564136"/>
            <a:ext cx="8151763" cy="527000"/>
          </a:xfrm>
          <a:prstGeom prst="roundRect">
            <a:avLst>
              <a:gd name="adj" fmla="val 9886"/>
            </a:avLst>
          </a:prstGeom>
          <a:solidFill>
            <a:srgbClr val="B6D6FC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748683"/>
            <a:ext cx="155004" cy="12397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99071" y="3719066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Treat prompts as code: version them, test them, and document why changes were made.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9682"/>
            <a:ext cx="374846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Weak Prompt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2525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weak prompt gives the model no constraints — it will choose its own format, length, tone, and depth. This creates brittle, unpredictable systems that are hard to debug or improve.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961704"/>
            <a:ext cx="8151763" cy="843335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9942" y="1961704"/>
            <a:ext cx="8164116" cy="843335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44947" y="2085677"/>
            <a:ext cx="785410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Weak prompt — too vague to be reliable
prompt = "Summarize this."
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6119" y="3068538"/>
            <a:ext cx="29930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the model decides on its own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3386361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long the summary should be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Whether to use bullets or prose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level of detail to include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tone to use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3068538"/>
            <a:ext cx="233414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Engineering consequence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8046" y="3386361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downstream code expects a bullet list and the model returns a paragraph, the pipeline breaks.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specify what you need.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89781"/>
            <a:ext cx="3752180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Better Prompt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88379" y="1011659"/>
            <a:ext cx="86244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Adding structure, format constraints, and a clear task description transforms an unpredictable prompt into a reliable engineering component.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88379" y="1340718"/>
            <a:ext cx="8167241" cy="2764110"/>
          </a:xfrm>
          <a:prstGeom prst="roundRect">
            <a:avLst>
              <a:gd name="adj" fmla="val 1855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2278" y="1340718"/>
            <a:ext cx="8179445" cy="2764110"/>
          </a:xfrm>
          <a:prstGeom prst="roundRect">
            <a:avLst>
              <a:gd name="adj" fmla="val 66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34901" y="1462757"/>
            <a:ext cx="7874198" cy="252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Engineered prompt — specific, constrained, structured
prompt = """
You are a business email assistant.
Summarize the following email in exactly 3 bullet points.
- Each bullet must be under 15 words
- Use clear, professional language
- Focus on action items and key decisions
EMAIL:
{email_body}
"""
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8379" y="4240039"/>
            <a:ext cx="8167241" cy="513680"/>
          </a:xfrm>
          <a:prstGeom prst="roundRect">
            <a:avLst>
              <a:gd name="adj" fmla="val 9984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419" y="4423916"/>
            <a:ext cx="152623" cy="12203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5081" y="4390727"/>
            <a:ext cx="810570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Notice: role defined, task specified, format constrained, tone set. Every element is intentional.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85688"/>
            <a:ext cx="3509888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88379" y="1007566"/>
            <a:ext cx="816724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Well-engineered prompts have four consistent components. Including all four dramatically improves output reliability across different inputs and edge cases.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88379" y="1530474"/>
            <a:ext cx="4023494" cy="1553542"/>
          </a:xfrm>
          <a:prstGeom prst="roundRect">
            <a:avLst>
              <a:gd name="adj" fmla="val 3301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667" y="1544762"/>
            <a:ext cx="3994919" cy="366266"/>
          </a:xfrm>
          <a:prstGeom prst="roundRect">
            <a:avLst>
              <a:gd name="adj" fmla="val 9321"/>
            </a:avLst>
          </a:pr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2179960" y="1611064"/>
            <a:ext cx="4117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4706" y="2031206"/>
            <a:ext cx="19835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4706" y="2294037"/>
            <a:ext cx="375084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Tell the model who it is. Sets tone, expertise level, and behavioral boundaries.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4706" y="2753841"/>
            <a:ext cx="42080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"You are a senior customer support specialist."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32052" y="1530474"/>
            <a:ext cx="4023568" cy="1553542"/>
          </a:xfrm>
          <a:prstGeom prst="roundRect">
            <a:avLst>
              <a:gd name="adj" fmla="val 3301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6340" y="1544762"/>
            <a:ext cx="3994993" cy="366266"/>
          </a:xfrm>
          <a:prstGeom prst="roundRect">
            <a:avLst>
              <a:gd name="adj" fmla="val 9321"/>
            </a:avLst>
          </a:prstGeom>
          <a:solidFill>
            <a:srgbClr val="E1E1EA"/>
          </a:solidFill>
          <a:ln/>
        </p:spPr>
      </p:sp>
      <p:sp>
        <p:nvSpPr>
          <p:cNvPr id="12" name="Text 10"/>
          <p:cNvSpPr/>
          <p:nvPr/>
        </p:nvSpPr>
        <p:spPr>
          <a:xfrm>
            <a:off x="6323633" y="1611064"/>
            <a:ext cx="4117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68379" y="2031206"/>
            <a:ext cx="19835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8379" y="2294037"/>
            <a:ext cx="42081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the exact job to perform — clear, imperative, unambiguous.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68379" y="2559993"/>
            <a:ext cx="42081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"Classify this ticket into one of the following categories."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8379" y="3204195"/>
            <a:ext cx="4023494" cy="1553542"/>
          </a:xfrm>
          <a:prstGeom prst="roundRect">
            <a:avLst>
              <a:gd name="adj" fmla="val 3301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667" y="3218483"/>
            <a:ext cx="3994919" cy="366266"/>
          </a:xfrm>
          <a:prstGeom prst="roundRect">
            <a:avLst>
              <a:gd name="adj" fmla="val 9321"/>
            </a:avLst>
          </a:prstGeom>
          <a:solidFill>
            <a:srgbClr val="E1E1EA"/>
          </a:solidFill>
          <a:ln/>
        </p:spPr>
      </p:sp>
      <p:sp>
        <p:nvSpPr>
          <p:cNvPr id="18" name="Text 16"/>
          <p:cNvSpPr/>
          <p:nvPr/>
        </p:nvSpPr>
        <p:spPr>
          <a:xfrm>
            <a:off x="2179960" y="3284786"/>
            <a:ext cx="4117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4706" y="3704927"/>
            <a:ext cx="19835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Format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706" y="3967758"/>
            <a:ext cx="42080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Specify the output structure — JSON, bullets, table, single word.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4706" y="4233714"/>
            <a:ext cx="42080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"Return only a JSON object with keys: category, priority."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32052" y="3204195"/>
            <a:ext cx="4023568" cy="1553542"/>
          </a:xfrm>
          <a:prstGeom prst="roundRect">
            <a:avLst>
              <a:gd name="adj" fmla="val 3301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46340" y="3218483"/>
            <a:ext cx="3994993" cy="366266"/>
          </a:xfrm>
          <a:prstGeom prst="roundRect">
            <a:avLst>
              <a:gd name="adj" fmla="val 9321"/>
            </a:avLst>
          </a:prstGeom>
          <a:solidFill>
            <a:srgbClr val="E1E1EA"/>
          </a:solidFill>
          <a:ln/>
        </p:spPr>
      </p:sp>
      <p:sp>
        <p:nvSpPr>
          <p:cNvPr id="24" name="Text 22"/>
          <p:cNvSpPr/>
          <p:nvPr/>
        </p:nvSpPr>
        <p:spPr>
          <a:xfrm>
            <a:off x="6323633" y="3284786"/>
            <a:ext cx="4117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68379" y="3704927"/>
            <a:ext cx="19835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68379" y="3967758"/>
            <a:ext cx="375091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guardrails — word limits, label sets, language rules, what to avoid.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68379" y="4427562"/>
            <a:ext cx="42081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"Use only these labels: billing | technical | account."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71326"/>
            <a:ext cx="3357265" cy="362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Role Prompting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88379" y="950714"/>
            <a:ext cx="8167241" cy="359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Assigning a role to the model is one of the most effective techniques in prompt engineering. It primes the model's tone, vocabulary, and problem-solving approach before it sees the task.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88379" y="1431875"/>
            <a:ext cx="8167241" cy="2745730"/>
          </a:xfrm>
          <a:prstGeom prst="roundRect">
            <a:avLst>
              <a:gd name="adj" fmla="val 177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2650" y="1431875"/>
            <a:ext cx="8178701" cy="2745730"/>
          </a:xfrm>
          <a:prstGeom prst="roundRect">
            <a:avLst>
              <a:gd name="adj" fmla="val 634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27608" y="1547813"/>
            <a:ext cx="7888784" cy="251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Without role — generic, often verbose
prompt = "Answer this customer question: {question}"
# With role — focused, appropriate tone
prompt = """
You are a friendly and concise customer support assistant 
for a SaaS billing platform.
Only answer questions related to billing and account management.
If the question is outside your scope, say: 
'Please contact our technical support team.'
QUESTION: {question}
"""
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8379" y="4299645"/>
            <a:ext cx="8167241" cy="472529"/>
          </a:xfrm>
          <a:prstGeom prst="roundRect">
            <a:avLst>
              <a:gd name="adj" fmla="val 10311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317" y="4471615"/>
            <a:ext cx="144959" cy="1159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5212" y="4437013"/>
            <a:ext cx="8131671" cy="17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 prompting also helps limit model scope — reducing off-topic responses in production chatbots.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0400"/>
            <a:ext cx="324817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Instruction Prompting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1010171"/>
            <a:ext cx="8151763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Instruction prompting means writing the task as an explicit, direct command. The model is a very literal instruction-follower — the more precise your instructions, the more predictable the output.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1462534"/>
            <a:ext cx="8151763" cy="2937867"/>
          </a:xfrm>
          <a:prstGeom prst="roundRect">
            <a:avLst>
              <a:gd name="adj" fmla="val 1596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90537" y="1462534"/>
            <a:ext cx="8162925" cy="2937867"/>
          </a:xfrm>
          <a:prstGeom prst="roundRect">
            <a:avLst>
              <a:gd name="adj" fmla="val 57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30064" y="1574155"/>
            <a:ext cx="7883872" cy="2714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Vague instruction
prompt = "Look at this email and say something about it."
# Clear instruction prompting
prompt = """
Classify this email into exactly one of the following categories:
billing | refund | technical | account | general
Rules:
- Respond with only the category label
- Do not explain your answer
- Do not add punctuation
EMAIL: {email_text}
"""
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4513436"/>
            <a:ext cx="860896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Notice the use of rules — explicit negative constraints (</a:t>
            </a:r>
            <a:pPr algn="l" indent="0" marL="0">
              <a:lnSpc>
                <a:spcPct val="127000"/>
              </a:lnSpc>
              <a:buNone/>
            </a:pPr>
            <a:r>
              <a:rPr lang="en-US" sz="8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"do not explain"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are as important as positive ones.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8569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Few-Shot Prompting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8413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Few-shot prompting teaches the model your desired pattern by embedding labeled examples directly in the prompt. It is highly effective for classification tasks where label definitions might be ambiguous.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34456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662386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are powerful pattern-matchers. A few well-chosen examples communicate format and intent more effectively than lengthy written instructions alone.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3369394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Shows the model what "correct" looks like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misclassification on edge cases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Anchors output format through demonstration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34456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to use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2662386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Classification with nuanced label definitions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Extraction tasks with specific field formatting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task where format consistency is critical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zero-shot performance is inconsistent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244"/>
            <a:ext cx="3734098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Few-Shot Prompt Example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34864"/>
            <a:ext cx="8151763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example in the prompt acts as a labeled training instance at inference time. The model infers the classification logic from the pattern and applies it to the final unlabeled input.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1347713"/>
            <a:ext cx="8151763" cy="2863528"/>
          </a:xfrm>
          <a:prstGeom prst="roundRect">
            <a:avLst>
              <a:gd name="adj" fmla="val 154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90910" y="1347713"/>
            <a:ext cx="8162181" cy="2863528"/>
          </a:xfrm>
          <a:prstGeom prst="roundRect">
            <a:avLst>
              <a:gd name="adj" fmla="val 55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22697" y="1453083"/>
            <a:ext cx="7898606" cy="2652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"""
Classify the email into one category. Examples below:
Email: "I was charged twice this month."
Category: billing
Email: "I can't reset my password."
Category: technical
Email: "I want to cancel my subscription."
Category: account
Now classify this email:
Email: "My invoice shows the wrong amount."
Category:
"""
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96119" y="4311997"/>
            <a:ext cx="8151763" cy="405259"/>
          </a:xfrm>
          <a:prstGeom prst="roundRect">
            <a:avLst>
              <a:gd name="adj" fmla="val 10927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89" y="4465811"/>
            <a:ext cx="131787" cy="1053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8646" y="4427934"/>
            <a:ext cx="8161065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3–5 high-quality examples usually outperform 10+ lower-quality ones. Curate carefully.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1113"/>
            <a:ext cx="448582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Chain of Thought Prompting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1668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Chain of Thought (CoT) prompting instructs the model to reason through a problem step-by-step before producing its final answer. This significantly improves accuracy on tasks that require multi-step logic or analysis.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2453134"/>
            <a:ext cx="4103191" cy="1409179"/>
          </a:xfrm>
          <a:prstGeom prst="roundRect">
            <a:avLst>
              <a:gd name="adj" fmla="val 633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57710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CoT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2894930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forced to articulate intermediate reasoning steps, the model is less likely to jump to incorrect conclusions. The reasoning chain itself acts as a working memory scaffold.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57710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Best use cases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2894930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 classification with nuanced distinctions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cause analysis and debugging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Multi-step data extraction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task where errors come from reasoning shortcuts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74675"/>
            <a:ext cx="3809777" cy="343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Chain of Thought Example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88379" y="912763"/>
            <a:ext cx="8167241" cy="331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Explicitly asking for step-by-step reasoning before the final answer improves output quality — especially when the correct answer depends on correctly interpreting nuanced input.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88379" y="1353815"/>
            <a:ext cx="8167241" cy="2872383"/>
          </a:xfrm>
          <a:prstGeom prst="roundRect">
            <a:avLst>
              <a:gd name="adj" fmla="val 160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2947" y="1353815"/>
            <a:ext cx="8178105" cy="2872383"/>
          </a:xfrm>
          <a:prstGeom prst="roundRect">
            <a:avLst>
              <a:gd name="adj" fmla="val 574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20316" y="1463650"/>
            <a:ext cx="7903369" cy="2652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"""
You are a support ticket classifier.
Analyze the ticket below step-by-step:
1. Identify the main topic raised by the customer
2. Identify any secondary topics mentioned
3. Determine the most appropriate category
Categories: billing | technical | account | refund | general
Ticket: "I updated my card details but I'm still 
getting a payment failure message."
Step-by-step reasoning:
"""
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88379" y="4335661"/>
            <a:ext cx="8167241" cy="433090"/>
          </a:xfrm>
          <a:prstGeom prst="roundRect">
            <a:avLst>
              <a:gd name="adj" fmla="val 10658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215" y="4491112"/>
            <a:ext cx="137368" cy="1098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418" y="4460453"/>
            <a:ext cx="8157567" cy="16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CoT outputs can also be logged for debugging — the reasoning trace reveals why the model made its decision.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244"/>
            <a:ext cx="4006602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Output Prompting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34864"/>
            <a:ext cx="8151763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production systems, JSON output is almost always preferable to free text. It enables direct parsing, validation, and integration with downstream services without fragile string manipulation.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1347713"/>
            <a:ext cx="8151763" cy="2863528"/>
          </a:xfrm>
          <a:prstGeom prst="roundRect">
            <a:avLst>
              <a:gd name="adj" fmla="val 154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90910" y="1347713"/>
            <a:ext cx="8162181" cy="2863528"/>
          </a:xfrm>
          <a:prstGeom prst="roundRect">
            <a:avLst>
              <a:gd name="adj" fmla="val 55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22697" y="1453083"/>
            <a:ext cx="7898606" cy="2652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"""
Extract information from the support ticket below.
Return your response as a valid JSON object only.
Do not include any explanation or surrounding text.
Schema:
{
  "customer_name": string,
  "issue_summary": string (max 20 words),
  "category": "billing" | "technical" | "account",
  "priority": "low" | "medium" | "high",
  "requires_followup": boolean
}
TICKET: {ticket_text}
"""
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96119" y="4311997"/>
            <a:ext cx="8151763" cy="405259"/>
          </a:xfrm>
          <a:prstGeom prst="roundRect">
            <a:avLst>
              <a:gd name="adj" fmla="val 10927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89" y="4465811"/>
            <a:ext cx="131787" cy="1053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8646" y="4427934"/>
            <a:ext cx="8161065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validate JSON output before use. Even with explicit instructions, models occasionally produce malformed responses.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619"/>
            <a:ext cx="3246090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JSON Prompt Example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60239"/>
            <a:ext cx="8151763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Defining the exact schema inside the prompt removes ambiguity about field names, types, and allowed values — producing outputs that integrate directly into your data pipeline.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1373088"/>
            <a:ext cx="8151763" cy="2239342"/>
          </a:xfrm>
          <a:prstGeom prst="roundRect">
            <a:avLst>
              <a:gd name="adj" fmla="val 197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90910" y="1373088"/>
            <a:ext cx="8162181" cy="2239342"/>
          </a:xfrm>
          <a:prstGeom prst="roundRect">
            <a:avLst>
              <a:gd name="adj" fmla="val 70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22697" y="1478459"/>
            <a:ext cx="7898606" cy="2028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ticket input
ticket = "Hi, I've been billed for a Pro plan but I 
          only signed up for Basic. Please fix this ASAP."
# Expected model output
{
  "customer_name": "unknown",
  "issue_summary": "Customer billed for Pro plan instead of Basic",
  "category": "billing",
  "priority": "high",
  "requires_followup": true
}
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96119" y="3802782"/>
            <a:ext cx="17751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Parse it immediately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6119" y="4068217"/>
            <a:ext cx="3947294" cy="522833"/>
          </a:xfrm>
          <a:prstGeom prst="roundRect">
            <a:avLst>
              <a:gd name="adj" fmla="val 8470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490910" y="4068217"/>
            <a:ext cx="3957712" cy="522833"/>
          </a:xfrm>
          <a:prstGeom prst="roundRect">
            <a:avLst>
              <a:gd name="adj" fmla="val 3025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22697" y="4173587"/>
            <a:ext cx="3694137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 = json.loads(response_text)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05350" y="3802782"/>
            <a:ext cx="17751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Then validate fields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5350" y="4068217"/>
            <a:ext cx="3947294" cy="522833"/>
          </a:xfrm>
          <a:prstGeom prst="roundRect">
            <a:avLst>
              <a:gd name="adj" fmla="val 8470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0141" y="4068217"/>
            <a:ext cx="3957712" cy="522833"/>
          </a:xfrm>
          <a:prstGeom prst="roundRect">
            <a:avLst>
              <a:gd name="adj" fmla="val 3025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4831928" y="4173587"/>
            <a:ext cx="3694137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data["priority"] in 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["low","medium","high"]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822" y="228302"/>
            <a:ext cx="2443832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 Iteration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317822" y="578421"/>
            <a:ext cx="8826178" cy="104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engineering is an iterative, empirical process — not a one-shot task. Treat prompts like software: write, test, measure, improve, and version-control every change.</a:t>
            </a:r>
            <a:endParaRPr lang="en-US" sz="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204" y="739899"/>
            <a:ext cx="8211517" cy="40138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4469" y="1683277"/>
            <a:ext cx="297788" cy="2977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9259" y="2120920"/>
            <a:ext cx="2142952" cy="239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Write Prompt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4737" y="2278854"/>
            <a:ext cx="297788" cy="2977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68735" y="1202031"/>
            <a:ext cx="2142952" cy="239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Inputs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93061" y="3529564"/>
            <a:ext cx="297788" cy="2977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913016" y="3090858"/>
            <a:ext cx="2142952" cy="239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Find Failures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82926" y="2968021"/>
            <a:ext cx="297788" cy="2977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795164" y="4026764"/>
            <a:ext cx="2142952" cy="239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Refine &amp; Re-test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317822" y="4810944"/>
            <a:ext cx="8826178" cy="104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iteration should be hypothesis-driven: identify a specific failure mode, make one targeted change, and measure whether it improves. Avoid changing multiple prompt elements at once — you won't know what worked.</a:t>
            </a:r>
            <a:endParaRPr lang="en-US" sz="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1188"/>
            <a:ext cx="489421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 Comparison Evaluation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4675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deploying a new prompt version, compare it against the baseline on a fixed evaluation set. This is the only reliable way to confirm that a change is a genuine improvement.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983209"/>
            <a:ext cx="8151763" cy="1812652"/>
          </a:xfrm>
          <a:prstGeom prst="roundRect">
            <a:avLst>
              <a:gd name="adj" fmla="val 287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5748" y="2067148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Dimension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341638" y="2067148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A (Baseline)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55147" y="2067148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B (Revised)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5748" y="2428726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Classification Accuracy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41638" y="2428726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74%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055147" y="2428726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5748" y="2790304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JSON Valid Rate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41638" y="2790304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81%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55147" y="2790304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97%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5748" y="3151882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Tokens Used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41638" y="3151882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55147" y="3151882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287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5748" y="3513460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 Consistency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41638" y="3513460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55147" y="3513460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6119" y="393538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both prompts against the same 50–100 representative examples. Measure accuracy, format validity, and token cost before promoting Prompt B to production.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2964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 to VS Code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08534"/>
            <a:ext cx="8151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module_5a_part2.ipynb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work through prompt engineering experiments hands-on. The goal is to build intuition for how small changes affect output reliability.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149748"/>
            <a:ext cx="7052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346201"/>
            <a:ext cx="401389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436763"/>
            <a:ext cx="294300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Compare Weak vs. Strong Prompts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705026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the same task with a vague prompt and a structured prompt — observe the output difference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3987" y="2149748"/>
            <a:ext cx="7052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2346201"/>
            <a:ext cx="401389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4633987" y="2436763"/>
            <a:ext cx="22709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 Role and Constraints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3987" y="2705026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Progressively add role, task, format, and constraint elements — measure each improvement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3318942"/>
            <a:ext cx="7052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515395"/>
            <a:ext cx="401389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605957"/>
            <a:ext cx="219216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Try Few-Shot Prompting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874219"/>
            <a:ext cx="44710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3 labeled examples and test accuracy on 10 new tickets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3987" y="3318942"/>
            <a:ext cx="7052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3515395"/>
            <a:ext cx="401389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4633987" y="3605957"/>
            <a:ext cx="20320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Request JSON Output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3987" y="3874219"/>
            <a:ext cx="4471095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Modify the prompt to return JSON and validate it with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json.loads()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02370"/>
            <a:ext cx="2811140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1144339"/>
            <a:ext cx="3109987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3 — TEMPERATURE, VARIABILITY &amp; HALLUCINATIONS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394668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Outputs Change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1968252"/>
            <a:ext cx="4103191" cy="2072804"/>
          </a:xfrm>
          <a:prstGeom prst="roundRect">
            <a:avLst>
              <a:gd name="adj" fmla="val 430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092226"/>
            <a:ext cx="202540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LLMs are probabilistic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410048"/>
            <a:ext cx="385524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Unlike traditional software, LLMs do not produce deterministic outputs. Each token is sampled from a probability distribution — meaning the same prompt can produce different responses on every call.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092226"/>
            <a:ext cx="233414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Engineering consequence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2410048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Variability is a core property of LLM systems — not a bug. Engineers must design for it: test across multiple runs, implement validation layers, and never assume a single successful output means the system is reliable.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3315519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→ "billing"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→ "Billing"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→ "billing issue"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25178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Temperature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6074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Temperature is the primary control knob for output randomness. It scales the probability distribution over the next token — higher values flatten the distribution (more random), lower values sharpen it (more deterministic).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597200"/>
            <a:ext cx="8151763" cy="1121122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2601962"/>
            <a:ext cx="2714030" cy="1111597"/>
          </a:xfrm>
          <a:prstGeom prst="roundRect">
            <a:avLst>
              <a:gd name="adj" fmla="val 4687"/>
            </a:avLst>
          </a:pr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624855" y="272593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temperature = 0.0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55" y="2994199"/>
            <a:ext cx="24660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Greedy decoding — always picks the highest-probability token. Most deterministic, least creative.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14911" y="2601962"/>
            <a:ext cx="2714104" cy="1111597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9" name="Shape 7"/>
          <p:cNvSpPr/>
          <p:nvPr/>
        </p:nvSpPr>
        <p:spPr>
          <a:xfrm>
            <a:off x="3214911" y="2601962"/>
            <a:ext cx="14288" cy="1111597"/>
          </a:xfrm>
          <a:prstGeom prst="roundRect">
            <a:avLst>
              <a:gd name="adj" fmla="val 364638"/>
            </a:avLst>
          </a:prstGeom>
          <a:solidFill>
            <a:srgbClr val="C7C7D0"/>
          </a:solidFill>
          <a:ln/>
        </p:spPr>
      </p:sp>
      <p:sp>
        <p:nvSpPr>
          <p:cNvPr id="10" name="Text 8"/>
          <p:cNvSpPr/>
          <p:nvPr/>
        </p:nvSpPr>
        <p:spPr>
          <a:xfrm>
            <a:off x="3338885" y="272593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temperature = 0.7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8885" y="2994199"/>
            <a:ext cx="246615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Balanced default — good for most production tasks. Some variation but generally stable.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29015" y="2601962"/>
            <a:ext cx="2714104" cy="1111597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29015" y="2601962"/>
            <a:ext cx="14288" cy="1111597"/>
          </a:xfrm>
          <a:prstGeom prst="roundRect">
            <a:avLst>
              <a:gd name="adj" fmla="val 364638"/>
            </a:avLst>
          </a:prstGeom>
          <a:solidFill>
            <a:srgbClr val="C7C7D0"/>
          </a:solidFill>
          <a:ln/>
        </p:spPr>
      </p:sp>
      <p:sp>
        <p:nvSpPr>
          <p:cNvPr id="14" name="Text 12"/>
          <p:cNvSpPr/>
          <p:nvPr/>
        </p:nvSpPr>
        <p:spPr>
          <a:xfrm>
            <a:off x="6052989" y="272593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temperature = 1.5+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52989" y="2994199"/>
            <a:ext cx="246615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Highly creative and unpredictable. Useful for ideation, risky for structured outputs.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5760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 Temperature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6133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low temperature whenever your application requires consistency, determinism, or structured output. Classification, extraction, and JSON generation all benefit from low temperature settings.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897782"/>
            <a:ext cx="8151763" cy="1438721"/>
          </a:xfrm>
          <a:prstGeom prst="roundRect">
            <a:avLst>
              <a:gd name="adj" fmla="val 3621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9942" y="1897782"/>
            <a:ext cx="8164116" cy="1438721"/>
          </a:xfrm>
          <a:prstGeom prst="roundRect">
            <a:avLst>
              <a:gd name="adj" fmla="val 129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44947" y="2021756"/>
            <a:ext cx="7854107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
    model="gpt-4.1-mini",
    messages=[{"role": "user", "content": prompt}],
    temperature=0.1   # near-deterministic output
)
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3476030"/>
            <a:ext cx="2634555" cy="941710"/>
          </a:xfrm>
          <a:prstGeom prst="roundRect">
            <a:avLst>
              <a:gd name="adj" fmla="val 553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380" y="361429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More Stable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380" y="3882554"/>
            <a:ext cx="23580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Outputs are consistent across repeated runs with the same input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4648" y="3476030"/>
            <a:ext cx="2634630" cy="941710"/>
          </a:xfrm>
          <a:prstGeom prst="roundRect">
            <a:avLst>
              <a:gd name="adj" fmla="val 553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909" y="3614291"/>
            <a:ext cx="204222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More Deterministic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92909" y="3882554"/>
            <a:ext cx="235810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Easier to test, validate, and build reliable pipelines around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13252" y="3476030"/>
            <a:ext cx="2634555" cy="941710"/>
          </a:xfrm>
          <a:prstGeom prst="roundRect">
            <a:avLst>
              <a:gd name="adj" fmla="val 553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1513" y="361429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Less Creative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51513" y="3882554"/>
            <a:ext cx="23580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 produce repetitive phrasing for generative tasks like drafting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5760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 Temperature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6133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temperature increases creativity and diversity in outputs — useful for brainstorming, content generation, and ideation tasks. However, it degrades reliability for structured or classification tasks.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897782"/>
            <a:ext cx="8151763" cy="1438721"/>
          </a:xfrm>
          <a:prstGeom prst="roundRect">
            <a:avLst>
              <a:gd name="adj" fmla="val 3621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9942" y="1897782"/>
            <a:ext cx="8164116" cy="1438721"/>
          </a:xfrm>
          <a:prstGeom prst="roundRect">
            <a:avLst>
              <a:gd name="adj" fmla="val 129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44947" y="2021756"/>
            <a:ext cx="7854107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
    model="gpt-4.1-mini",
    messages=[{"role": "user", "content": prompt}],
    temperature=1.2   # creative, unpredictable output
)
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3476030"/>
            <a:ext cx="2634555" cy="941710"/>
          </a:xfrm>
          <a:prstGeom prst="roundRect">
            <a:avLst>
              <a:gd name="adj" fmla="val 553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380" y="361429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More Creative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380" y="3882554"/>
            <a:ext cx="23580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varied, diverse, and imaginative responses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4648" y="3476030"/>
            <a:ext cx="2634630" cy="941710"/>
          </a:xfrm>
          <a:prstGeom prst="roundRect">
            <a:avLst>
              <a:gd name="adj" fmla="val 553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909" y="361429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More Random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92909" y="3882554"/>
            <a:ext cx="235810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Same prompt may return very different outputs each run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13252" y="3476030"/>
            <a:ext cx="2634555" cy="941710"/>
          </a:xfrm>
          <a:prstGeom prst="roundRect">
            <a:avLst>
              <a:gd name="adj" fmla="val 553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1513" y="361429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Less Reliable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51513" y="3882554"/>
            <a:ext cx="23580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JSON structure, label constraints, and format rules break more often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3261"/>
            <a:ext cx="375872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Consistency Evaluation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0883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measure how consistent your prompt + temperature combination is, run the same prompt multiple times and compare the outputs. This should be standard practice before deploying any LLM component.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545282"/>
            <a:ext cx="8151763" cy="3224882"/>
          </a:xfrm>
          <a:prstGeom prst="roundRect">
            <a:avLst>
              <a:gd name="adj" fmla="val 1616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9942" y="1545282"/>
            <a:ext cx="8164116" cy="3224882"/>
          </a:xfrm>
          <a:prstGeom prst="roundRect">
            <a:avLst>
              <a:gd name="adj" fmla="val 57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44947" y="1669256"/>
            <a:ext cx="7854107" cy="2976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[]
for i in range(10):
 response = client.chat.completions.create(
 model="gpt-4.1-mini",
 messages=[{"role": "user", "content": prompt}],
 temperature=0.7
 )
 results.append(response.choices[0].message.content.strip())
# Analyze consistency
unique_outputs = set(results)
print(f"Unique outputs: {len(unique_outputs)} out of 10 runs")
print(f"Most common: {max(set(results), key=results.count)}")
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3124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Consistency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78694"/>
            <a:ext cx="8151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Running the same classification prompt 10 times at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temperature=0.7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reveals output variance. Even small differences in label format can break downstream parsing logic.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243882"/>
            <a:ext cx="238221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Observed outputs (10 runs)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561704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"billing" — 6 times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"Billing" — 2 times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"billing issue" — 1 time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"This is a billing matter." — 1 time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2243882"/>
            <a:ext cx="201892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Engineering response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2561704"/>
            <a:ext cx="3924598" cy="928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temperature to 0.1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Add: "Respond with only one lowercase word"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post-processing: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.strip().lower()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against allowed label set before use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6119" y="3673376"/>
            <a:ext cx="8151763" cy="527000"/>
          </a:xfrm>
          <a:prstGeom prst="roundRect">
            <a:avLst>
              <a:gd name="adj" fmla="val 9886"/>
            </a:avLst>
          </a:prstGeom>
          <a:solidFill>
            <a:srgbClr val="FCF2B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857923"/>
            <a:ext cx="155004" cy="1239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9071" y="3828306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Never pass raw LLM output directly to downstream systems without normalization and validation.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987" y="368424"/>
            <a:ext cx="3304952" cy="44066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932855"/>
            <a:ext cx="362441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Hallucination?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96119" y="1506438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Hallucination occurs when an LLM produces a confidently stated output that is factually incorrect, fabricated, or unsupported by the input. The model does not "know" it is wrong — it generates the most statistically likely continuation of the text.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96119" y="2241352"/>
            <a:ext cx="4722763" cy="922660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4855" y="237008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it happens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4855" y="2638351"/>
            <a:ext cx="44652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optimize for fluency and coherence, not factual accuracy. They interpolate and extrapolate from training data even when they lack reliable knowledge.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96119" y="3287985"/>
            <a:ext cx="4722763" cy="922660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4855" y="341672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Engineering risk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4855" y="3684984"/>
            <a:ext cx="44652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Hallucinated outputs look identical to correct ones — the model's confidence level is not correlated with accuracy, making automated detection difficult.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2042"/>
            <a:ext cx="381357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Hallucination Examples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1761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Hallucinations appear across all task types. Understanding the common patterns helps engineers design systems that catch and contain them before they reach end users.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154064"/>
            <a:ext cx="4013895" cy="941710"/>
          </a:xfrm>
          <a:prstGeom prst="roundRect">
            <a:avLst>
              <a:gd name="adj" fmla="val 728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1831" y="2154064"/>
            <a:ext cx="57150" cy="94171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77242" y="229232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Fake Facts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7242" y="2560588"/>
            <a:ext cx="36945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states a specific statistic, date, or event that does not exist — stated with full confidence and in fluent prose.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33987" y="2154064"/>
            <a:ext cx="4013895" cy="941710"/>
          </a:xfrm>
          <a:prstGeom prst="roundRect">
            <a:avLst>
              <a:gd name="adj" fmla="val 728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9699" y="2154064"/>
            <a:ext cx="57150" cy="94171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4815111" y="2292325"/>
            <a:ext cx="206506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Fabricated References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5111" y="2560588"/>
            <a:ext cx="36945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generates convincing-looking citations — paper titles, author names, DOIs — that do not correspond to real publications.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219748"/>
            <a:ext cx="4013895" cy="941710"/>
          </a:xfrm>
          <a:prstGeom prst="roundRect">
            <a:avLst>
              <a:gd name="adj" fmla="val 728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31" y="3219748"/>
            <a:ext cx="57150" cy="94171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77242" y="335800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Invented Information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7242" y="3626272"/>
            <a:ext cx="36945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asked about a specific person, product, or event, the model fills gaps with plausible-sounding but entirely fabricated details.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33987" y="3219748"/>
            <a:ext cx="4013895" cy="941710"/>
          </a:xfrm>
          <a:prstGeom prst="roundRect">
            <a:avLst>
              <a:gd name="adj" fmla="val 728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9699" y="3219748"/>
            <a:ext cx="57150" cy="94171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4815111" y="335800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Wrong Extraction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5111" y="3626272"/>
            <a:ext cx="36945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extraction tasks, the model may invent field values not present in the source document rather than returning null or unknown.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11337"/>
            <a:ext cx="465668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Blind Trust Is Dangerous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4690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produce outputs that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sound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authoritative and well-reasoned even when they are completely wrong. This makes them uniquely risky compared to traditional software, which fails loudly with errors.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2583359"/>
            <a:ext cx="4103191" cy="1148804"/>
          </a:xfrm>
          <a:prstGeom prst="roundRect">
            <a:avLst>
              <a:gd name="adj" fmla="val 777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70733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core danger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3025155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software returns an error or null when it doesn't know something. LLMs return a confident, fluent, plausible-sounding answer — every time. There is no built-in signal for uncertainty.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70733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Engineering principle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3025155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Treat every LLM output as unverified until it has passed through your validation layer. Build systems that assume the model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will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occasionally be wrong and handle that gracefully — before it reaches the user.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1416"/>
            <a:ext cx="38845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Engineering Safeguards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66986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Reliable LLM systems require multiple layers of safeguards. No single technique eliminates risk — defense in depth is the correct engineering approach.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03437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36852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 Validation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636788"/>
            <a:ext cx="399834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Parse and validate all outputs against expected schema, types, and allowed values before downstream use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1903437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9465" y="236852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49465" y="2636788"/>
            <a:ext cx="39984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 all inputs and outputs in production — detect drift, anomalies, and failure patterns over time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81735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74682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Retry Logic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6119" y="4015085"/>
            <a:ext cx="399834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Automatically retry on invalid output — with a cap to prevent runaway API costs on persistent failures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465" y="3281735"/>
            <a:ext cx="310083" cy="3100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9465" y="374682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 Review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49465" y="4015085"/>
            <a:ext cx="39984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low-confidence or high-stakes outputs to human reviewers before acting on them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40519"/>
            <a:ext cx="3489945" cy="324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JSON Validation Example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88379" y="838498"/>
            <a:ext cx="8167241" cy="304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most important safeguard for structured output tasks is immediate JSON validation. Parse the response as soon as it arrives — catch malformed output before it propagates into your system.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88379" y="1241078"/>
            <a:ext cx="8167241" cy="3561904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3245" y="1241078"/>
            <a:ext cx="8177510" cy="3561904"/>
          </a:xfrm>
          <a:prstGeom prst="roundRect">
            <a:avLst>
              <a:gd name="adj" fmla="val 43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12949" y="1344811"/>
            <a:ext cx="7918103" cy="335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def parse_llm_response(response_text: str) -&gt; dict | None:
 """Parse and validate LLM JSON output safely."""
 try:
 data = json.loads(response_text)
 # Validate required fields exist
 required = ["category", "priority", "requires_followup"]
 for field in required:
 if field not in data:
 raise ValueError(f"Missing required field: {field}")
 # Validate allowed values
 assert data["priority"] in ["low", "medium", "high"]
 return data
 except (json.JSONDecodeError, ValueError, AssertionError) as e:
 print(f"Validation failed: {e}")
 return None # trigger retry or human review
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2964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 to VS Code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08534"/>
            <a:ext cx="860896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module_5a_part3.ipynb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observe variability and hallucinations in practice — and test the safeguards we've engineered.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951286"/>
            <a:ext cx="7052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147739"/>
            <a:ext cx="401389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238301"/>
            <a:ext cx="20520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Consistency Tests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506563"/>
            <a:ext cx="401389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the same classification prompt 10 times at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temperature=0.7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count unique outputs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3987" y="1951286"/>
            <a:ext cx="7052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2147739"/>
            <a:ext cx="401389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4633987" y="2238301"/>
            <a:ext cx="27009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Compare Temperature Settings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3987" y="2506563"/>
            <a:ext cx="401389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with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temperature=0.1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temperature=1.2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observe how variance changes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3125242"/>
            <a:ext cx="7052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321695"/>
            <a:ext cx="401389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412257"/>
            <a:ext cx="20588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Trigger a Hallucination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680520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the model to extract a field not present in the input — observe how it fabricates a value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3987" y="3125242"/>
            <a:ext cx="7052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3321695"/>
            <a:ext cx="4013895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4633987" y="341225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 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3987" y="3680520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the JSON validation function and test it against both valid and malformed model outputs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17922"/>
            <a:ext cx="2380878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1159892"/>
            <a:ext cx="2679725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4 — PRACTICAL EVALUATION APPROACHES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410221"/>
            <a:ext cx="384586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Evaluation Matters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1983804"/>
            <a:ext cx="4103191" cy="2041699"/>
          </a:xfrm>
          <a:prstGeom prst="roundRect">
            <a:avLst>
              <a:gd name="adj" fmla="val 437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10777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Without evaluation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425601"/>
            <a:ext cx="385524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cannot know whether a prompt change is an improvement or a regression. Failures stay hidden until they reach production. Optimization becomes guesswork. You cannot compare models, temperatures, or prompt versions objectively.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10777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 evaluation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2425601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prompt change is a measurable experiment. Regressions are caught before deployment. System performance is tracked over time. Engineering decisions are data-driven, not intuition-driven.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28046" y="3160514"/>
            <a:ext cx="3924598" cy="725463"/>
          </a:xfrm>
          <a:prstGeom prst="roundRect">
            <a:avLst>
              <a:gd name="adj" fmla="val 7182"/>
            </a:avLst>
          </a:prstGeom>
          <a:solidFill>
            <a:srgbClr val="B6FCB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020" y="3345061"/>
            <a:ext cx="155004" cy="1239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30998" y="3315444"/>
            <a:ext cx="33976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 is what separates prototype-quality LLM work from production-quality engineering.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1292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 Evaluation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6686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evaluation is the gold standard — especially for subjective dimensions that are difficult to automate. It is also essential for building the labeled datasets needed to automate evaluation later.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103313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4855" y="223205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Correctness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2500313"/>
            <a:ext cx="4213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the output factually accurate and complete given the input?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3987" y="2103313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2723" y="223205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723" y="2500313"/>
            <a:ext cx="4213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the response clear, well-structured, and easy to understand?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2951485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855" y="308022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Usefulness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4855" y="3348484"/>
            <a:ext cx="4213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the output actually solve the user's problem or need?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3987" y="2951485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2723" y="308022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723" y="3348484"/>
            <a:ext cx="4213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the language appropriate for the context and audience?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6119" y="381520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simple rating spreadsheet: reviewers score each output on a 1–3 scale per dimension. Aggregate scores to compare prompt versions systematically.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2770"/>
            <a:ext cx="3555578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Classification Evaluation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1042541"/>
            <a:ext cx="860896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classification tasks, evaluation is straightforward: compare the model's predicted label against the known correct label for each example in your test set.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1325240"/>
            <a:ext cx="8151763" cy="2768203"/>
          </a:xfrm>
          <a:prstGeom prst="roundRect">
            <a:avLst>
              <a:gd name="adj" fmla="val 169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90537" y="1325240"/>
            <a:ext cx="8162925" cy="2768203"/>
          </a:xfrm>
          <a:prstGeom prst="roundRect">
            <a:avLst>
              <a:gd name="adj" fmla="val 60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30064" y="1436861"/>
            <a:ext cx="7883872" cy="254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Ground truth test set (human-labeled)
test_cases = [
    {"ticket": "I was double-charged.", "expected": "billing"},
    {"ticket": "I can't log in.",       "expected": "technical"},
    {"ticket": "Cancel my account.",    "expected": "account"},
]
correct = 0
for case in test_cases:
    predicted = classify_ticket(case["ticket"])  # your LLM call
    if predicted.strip().lower() == case["expected"]:
        correct += 1
print(f"Accuracy: {correct}/{len(test_cases)}")
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96119" y="4206478"/>
            <a:ext cx="8151763" cy="444252"/>
          </a:xfrm>
          <a:prstGeom prst="roundRect">
            <a:avLst>
              <a:gd name="adj" fmla="val 10555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740" y="4367361"/>
            <a:ext cx="139526" cy="1116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8887" y="4334842"/>
            <a:ext cx="813457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your ground-truth test set before changing prompts — it becomes your regression suite for all future iterations.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0446"/>
            <a:ext cx="4053483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Accuracy Evaluation Example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79066"/>
            <a:ext cx="8151763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simple accuracy metric — correct predictions divided by total predictions — gives you an objective score to compare prompt versions, models, and temperature settings against the same test set.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1391915"/>
            <a:ext cx="8151763" cy="3019574"/>
          </a:xfrm>
          <a:prstGeom prst="roundRect">
            <a:avLst>
              <a:gd name="adj" fmla="val 146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90910" y="1391915"/>
            <a:ext cx="8162181" cy="3019574"/>
          </a:xfrm>
          <a:prstGeom prst="roundRect">
            <a:avLst>
              <a:gd name="adj" fmla="val 524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22697" y="1497285"/>
            <a:ext cx="7898606" cy="2808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evaluate_classifier(test_cases: list, prompt_fn) -&gt; dict:
    """Evaluate LLM classifier on labeled test set."""
    results = []
    for case in test_cases:
        predicted = prompt_fn(case["ticket"])
        is_correct = predicted.strip().lower() == case["expected"]
        results.append(is_correct)
    accuracy = sum(results) / len(results)
    return {
        "accuracy": round(accuracy, 3),
        "correct": sum(results),
        "total": len(results),
        "failed": [c for c, r in zip(test_cases, results) if not r]
    }
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96119" y="4512246"/>
            <a:ext cx="8608963" cy="160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inspect the 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failed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list — failure patterns reveal which prompt improvements to prioritize next.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8109"/>
            <a:ext cx="3403253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Format Validation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40147"/>
            <a:ext cx="8151763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tasks that return structured output, format validation is a critical evaluation dimension — separate from accuracy. A response can be accurate in content but still break your pipeline if the format is wrong.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433810"/>
            <a:ext cx="8151763" cy="3361506"/>
          </a:xfrm>
          <a:prstGeom prst="roundRect">
            <a:avLst>
              <a:gd name="adj" fmla="val 147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90240" y="1433810"/>
            <a:ext cx="8163520" cy="3361506"/>
          </a:xfrm>
          <a:prstGeom prst="roundRect">
            <a:avLst>
              <a:gd name="adj" fmla="val 52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37505" y="1551608"/>
            <a:ext cx="7868989" cy="3125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validate_extraction_output(data: dict) -&gt; dict:
 """Validate extracted JSON against expected schema."""
 errors = []
 # Check required fields
 required_fields = ["customer_name", "category", "priority"]
 for field in required_fields:
 if field not in data:
 errors.append(f"Missing field: {field}")
 # Check allowed values
 valid_priorities = ["low", "medium", "high"]
 if data.get("priority") not in valid_priorities:
 errors.append(f"Invalid priority: {data.get('priority')}")
 return {"valid": len(errors) == 0, "errors": errors}
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74675"/>
            <a:ext cx="3752924" cy="343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Latency &amp; Cost Evaluation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88379" y="912763"/>
            <a:ext cx="8624441" cy="16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production, every LLM call has a measurable cost in time and money. Track both systematically — they directly impact user experience and infrastructure budget.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88379" y="1188021"/>
            <a:ext cx="8167241" cy="3038177"/>
          </a:xfrm>
          <a:prstGeom prst="roundRect">
            <a:avLst>
              <a:gd name="adj" fmla="val 1519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2947" y="1188021"/>
            <a:ext cx="8178105" cy="3038177"/>
          </a:xfrm>
          <a:prstGeom prst="roundRect">
            <a:avLst>
              <a:gd name="adj" fmla="val 54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20316" y="1297856"/>
            <a:ext cx="7903369" cy="2818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
start = time.time()
response = client.chat.completions.create(
    model="gpt-4.1-mini",
    messages=[{"role": "user", "content": prompt}]
)
latency_ms = (time.time() - start) * 1000
# Log token usage and estimated cost
tokens = response.usage
print(f"Latency:          {latency_ms:.0f}ms")
print(f"Prompt tokens:    {tokens.prompt_tokens}")
print(f"Completion tokens:{tokens.completion_tokens}")
print(f"Total tokens:     {tokens.total_tokens}")
# gpt-4.1-mini: ~$0.40 per 1M input, $1.60 per 1M output
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88379" y="4335661"/>
            <a:ext cx="8167241" cy="433090"/>
          </a:xfrm>
          <a:prstGeom prst="roundRect">
            <a:avLst>
              <a:gd name="adj" fmla="val 10658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215" y="4491112"/>
            <a:ext cx="137368" cy="1098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418" y="4460453"/>
            <a:ext cx="8157567" cy="16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 prompts with many examples dramatically increase token count — always measure before scaling.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0190"/>
            <a:ext cx="403562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Small Test Set Evaluation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9576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well-curated test set of 20–100 examples is sufficient to detect most prompt regressions and improvements. Focus on quality and representativeness — not volume.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456185"/>
            <a:ext cx="246035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makes a good test 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774007"/>
            <a:ext cx="3924598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Covers all expected label categories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edge cases and ambiguous examples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examples that previously caused failures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Human-labeled ground truth for every example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 — never change it between evaluations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245618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cadence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2774007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evaluation before every prompt change is deployed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new score against baseline score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 ≥2% improvement to promote a new prompt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Never deploy a prompt you haven't evaluated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08000"/>
            <a:ext cx="467238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Engineering Evaluation Workflow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41871" y="850032"/>
            <a:ext cx="8260259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LLM improvement follows the same evaluation loop. This cycle is the core of disciplined LLM engineering — it transforms trial-and-error into a systematic, measurable process.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739" y="1294954"/>
            <a:ext cx="7896448" cy="3095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564" y="1446769"/>
            <a:ext cx="1445520" cy="23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Dataset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885498" y="1446769"/>
            <a:ext cx="1902720" cy="23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Design Prompt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885498" y="3774057"/>
            <a:ext cx="1445520" cy="46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Outputs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12764" y="3774057"/>
            <a:ext cx="1445520" cy="46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Evaluate &amp; Improve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41871" y="4501232"/>
            <a:ext cx="8260259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dataset is your constant — it never changes between iterations. The prompt is the variable. Every pass through this loop should produce a measurable delta in accuracy, consistency, format validity, or cost. Log all results to build an experiment history.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310134"/>
            <a:ext cx="1768673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1352104"/>
            <a:ext cx="2067520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5 — WHEN TO USE ML VS LLM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602432"/>
            <a:ext cx="583101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 vs LLM — Choosing the Right Tool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2176016"/>
            <a:ext cx="4103191" cy="1657350"/>
          </a:xfrm>
          <a:prstGeom prst="roundRect">
            <a:avLst>
              <a:gd name="adj" fmla="val 538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299990"/>
            <a:ext cx="259705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critical engineering decision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617812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are powerful — but they are not always the best tool. Using an LLM where a traditional ML model would perform better costs more, runs slower, and introduces unnecessary probabilistic risk.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796" y="3324820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production AI system requires this decision to be made deliberately, not by default.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2299990"/>
            <a:ext cx="22168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core question to ask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8046" y="2617812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this task require language understanding, generation, or reasoning on unstructured text? →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 LLM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28046" y="3126358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this task use structured, tabular data to make numeric predictions? →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 traditional ML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5048"/>
            <a:ext cx="426355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Traditional ML Is Better For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4061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ML models — gradient boosting, logistic regression, neural networks — are optimized for structured, tabular data. They are faster, cheaper, and more deterministic than LLMs for these task types.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677070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4855" y="1805806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1B1B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174" y="1908051"/>
            <a:ext cx="167432" cy="167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855" y="2301850"/>
            <a:ext cx="20165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Data Tasks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4855" y="2570113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Predictions from rows and columns — customer churn, pricing models, inventory forecasting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33987" y="1677070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62723" y="1805806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1B1B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5043" y="1908051"/>
            <a:ext cx="167432" cy="167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2723" y="230185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62723" y="2570113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Time-series prediction — sales forecasting, demand planning, resource utilization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96119" y="3219748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4855" y="3348484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1B1B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174" y="3450729"/>
            <a:ext cx="167432" cy="1674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4855" y="384452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4855" y="4112791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anomaly detection on transaction data — requires low latency and determinism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633987" y="3219748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62723" y="3348484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1B1B2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5043" y="3450729"/>
            <a:ext cx="167432" cy="1674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62723" y="384452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Numeric Predictions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762723" y="4112791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Regression and classification on feature-engineered structured datasets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5048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LLMs Are Better For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4061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shine on tasks that involve understanding, generating, or transforming unstructured natural language — tasks that are nearly impossible to solve with traditional ML without extensive feature engineering.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677070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4855" y="1805806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1B1B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174" y="1908051"/>
            <a:ext cx="167432" cy="167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855" y="230185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Chatbots &amp; Dialogue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4855" y="2570113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Multi-turn conversation with context retention, intent handling, and natural response generation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33987" y="1677070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62723" y="1805806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1B1B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5043" y="1908051"/>
            <a:ext cx="167432" cy="167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2723" y="230185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Summarization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62723" y="2570113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Distilling long documents, emails, or reports into structured, actionable summaries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96119" y="3219748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4855" y="3348484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1B1B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174" y="3450729"/>
            <a:ext cx="167432" cy="1674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4855" y="384452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Translation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4855" y="4112791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High-quality, contextually accurate translation across languages and registers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633987" y="3219748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62723" y="3348484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1B1B2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5043" y="3450729"/>
            <a:ext cx="167432" cy="1674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62723" y="3844528"/>
            <a:ext cx="231822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 Understanding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762723" y="4112791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Extracting structured fields from unstructured contracts, tickets, and reports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274141"/>
            <a:ext cx="2540794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Hybrid AI Systems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3375" y="646584"/>
            <a:ext cx="881062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most sophisticated production AI systems combine traditional ML and LLMs — each handling the tasks it is best suited for. This is the architecture pattern you will encounter most in real engineering environments.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919" y="821010"/>
            <a:ext cx="5726162" cy="38738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37083" y="2456469"/>
            <a:ext cx="1042678" cy="476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Hybrid AI Pipeline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66805" y="3670013"/>
            <a:ext cx="1779769" cy="238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Data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66805" y="3976247"/>
            <a:ext cx="1779769" cy="159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 to ML model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60203" y="3471067"/>
            <a:ext cx="1551169" cy="476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Unstructured Text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960203" y="4015718"/>
            <a:ext cx="1551169" cy="31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 to LLM for processing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731603" y="1292992"/>
            <a:ext cx="1779769" cy="238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960203" y="1599226"/>
            <a:ext cx="1551169" cy="318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Merge predictions and outputs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76739" y="1292992"/>
            <a:ext cx="1779769" cy="238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Incoming Data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605339" y="1599226"/>
            <a:ext cx="1551169" cy="318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and unstructured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3375" y="4757812"/>
            <a:ext cx="881062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An e-commerce platform uses an ML model to predict churn risk from behavioral data, while an LLM generates personalized retention emails for at-risk customers — the two systems feed each other in a single pipeline.</a:t>
            </a:r>
            <a:endParaRPr lang="en-US" sz="6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8624"/>
            <a:ext cx="359777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Engineering Tradeoffs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34195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There is no universally superior approach. Every production system requires evaluating these tradeoffs in the context of your specific constraints — latency requirements, budget, data type, and reliability needs.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070646"/>
            <a:ext cx="8151763" cy="2174230"/>
          </a:xfrm>
          <a:prstGeom prst="roundRect">
            <a:avLst>
              <a:gd name="adj" fmla="val 239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5748" y="2154585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Dimension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341638" y="2154585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55147" y="2154585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5748" y="2516163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inference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41638" y="2516163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 (token-based billing)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055147" y="2516163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(compute-based)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5748" y="2877741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Latency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41638" y="2877741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Slower (100ms–5s typical)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55147" y="2877741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 (&lt;10ms typical)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5748" y="3239319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 type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41638" y="3239319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Probabilistic, variable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55147" y="3239319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Deterministic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5748" y="3600896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type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41638" y="3600896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Unstructured text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55147" y="3600896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Structured/tabular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5748" y="3962474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Flexibility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41638" y="3962474"/>
            <a:ext cx="29179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— handles novel inputs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55147" y="3962474"/>
            <a:ext cx="292038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— requires retraining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987" y="368424"/>
            <a:ext cx="3304952" cy="44066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687437"/>
            <a:ext cx="1969963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5295" y="729407"/>
            <a:ext cx="2268810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6 — COST, LATENCY &amp; RELIABILITY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96119" y="979736"/>
            <a:ext cx="414508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Cost, Latency &amp; Reliability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96119" y="1553319"/>
            <a:ext cx="4722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Moving an LLM system from prototype to production requires engineering three additional dimensions that do not exist in traditional software: token-based cost optimization, latency measurement under load, and reliability safeguards against probabilistic failures.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96119" y="2486695"/>
            <a:ext cx="2299395" cy="1121122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4855" y="261543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Cost Optimization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4855" y="2883694"/>
            <a:ext cx="20419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token usage through prompt design, model selection, and caching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919487" y="2486695"/>
            <a:ext cx="2299395" cy="1121122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48223" y="261543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Latency Monitoring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048223" y="2883694"/>
            <a:ext cx="20419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and budget end-to-end response time — including API round-trip and parsing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6119" y="3731791"/>
            <a:ext cx="4722763" cy="724198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4855" y="386052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Reliability Safeguards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4855" y="4128790"/>
            <a:ext cx="49224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Validation, retries, fallbacks, and human escalation paths for failure cases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68945"/>
            <a:ext cx="3443064" cy="362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Token Usage Example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88379" y="948333"/>
            <a:ext cx="8624441" cy="18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API call returns a 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usage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object. Track it on every production call — it is your cost meter, your latency predictor, and your first signal of prompt bloat.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88379" y="1254696"/>
            <a:ext cx="8167241" cy="2925291"/>
          </a:xfrm>
          <a:prstGeom prst="roundRect">
            <a:avLst>
              <a:gd name="adj" fmla="val 1666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2650" y="1254696"/>
            <a:ext cx="8178701" cy="2925291"/>
          </a:xfrm>
          <a:prstGeom prst="roundRect">
            <a:avLst>
              <a:gd name="adj" fmla="val 59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27608" y="1370633"/>
            <a:ext cx="7888784" cy="2693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
    model="gpt-4.1-mini",
    messages=[{"role": "user", "content": prompt}]
)
# Inspect token usage
print(f"Prompt tokens:     {response.usage.prompt_tokens}")
print(f"Completion tokens: {response.usage.completion_tokens}")
print(f"Total tokens:      {response.usage.total_tokens}")
# Estimate cost (gpt-4.1-mini pricing)
input_cost  = response.usage.prompt_tokens     * 0.40 / 1_000_000
output_cost = response.usage.completion_tokens * 1.60 / 1_000_000
print(f"Estimated cost:    ${input_cost + output_cost:.6f}")
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8379" y="4302026"/>
            <a:ext cx="8167241" cy="472529"/>
          </a:xfrm>
          <a:prstGeom prst="roundRect">
            <a:avLst>
              <a:gd name="adj" fmla="val 10311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317" y="4473997"/>
            <a:ext cx="144959" cy="1159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5212" y="4439394"/>
            <a:ext cx="8131671" cy="17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tokens = higher cost AND higher latency. Optimize prompts to be concise without losing accuracy.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2512"/>
            <a:ext cx="441052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Engineering Takeaway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8808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reliable LLM-powered systems is a full-stack engineering discipline. The model is just one component — the engineering around it determines whether the system actually works in production.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2154" y="1934617"/>
            <a:ext cx="3827785" cy="123974"/>
          </a:xfrm>
          <a:prstGeom prst="roundRect">
            <a:avLst>
              <a:gd name="adj" fmla="val 420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810569"/>
            <a:ext cx="372070" cy="372070"/>
          </a:xfrm>
          <a:prstGeom prst="roundRect">
            <a:avLst>
              <a:gd name="adj" fmla="val 7680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136" y="1903586"/>
            <a:ext cx="186035" cy="1860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0092" y="230661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0092" y="2574875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APIs, prompts, parsing logic, validation layers, and retry mechanisms with the same rigor as any production system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820022" y="1748582"/>
            <a:ext cx="3827785" cy="123974"/>
          </a:xfrm>
          <a:prstGeom prst="roundRect">
            <a:avLst>
              <a:gd name="adj" fmla="val 420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33987" y="1624533"/>
            <a:ext cx="372070" cy="372070"/>
          </a:xfrm>
          <a:prstGeom prst="roundRect">
            <a:avLst>
              <a:gd name="adj" fmla="val 7680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7004" y="1717551"/>
            <a:ext cx="186035" cy="1860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7961" y="212057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57961" y="2388840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labeled test sets, measure accuracy and format validity, and run every change through your evaluation loop before deployment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82154" y="3529831"/>
            <a:ext cx="3827785" cy="123974"/>
          </a:xfrm>
          <a:prstGeom prst="roundRect">
            <a:avLst>
              <a:gd name="adj" fmla="val 420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6119" y="3405783"/>
            <a:ext cx="372070" cy="372070"/>
          </a:xfrm>
          <a:prstGeom prst="roundRect">
            <a:avLst>
              <a:gd name="adj" fmla="val 7680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136" y="3498800"/>
            <a:ext cx="186035" cy="1860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0092" y="390182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Safeguards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0092" y="4170090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all outputs, monitor in production, implement retries, and build human escalation paths for high-stakes decisions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820022" y="3343796"/>
            <a:ext cx="3827785" cy="123974"/>
          </a:xfrm>
          <a:prstGeom prst="roundRect">
            <a:avLst>
              <a:gd name="adj" fmla="val 420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33987" y="3219748"/>
            <a:ext cx="372070" cy="372070"/>
          </a:xfrm>
          <a:prstGeom prst="roundRect">
            <a:avLst>
              <a:gd name="adj" fmla="val 7680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7004" y="3312765"/>
            <a:ext cx="186035" cy="1860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57961" y="371579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Tradeoff Decisions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757961" y="3984054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the right tool — ML or LLM — for each task, and continuously optimize for cost, latency, and reliability as you scale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2026-05-17T09:27:23Z</dcterms:created>
  <dcterms:modified xsi:type="dcterms:W3CDTF">2026-05-17T09:27:23Z</dcterms:modified>
</cp:coreProperties>
</file>