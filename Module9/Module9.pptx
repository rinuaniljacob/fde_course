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000000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9" name="Shape 5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9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7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6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1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0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9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8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7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6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1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0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8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9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8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7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6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<Relationship Id="rId58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58.xml"/><Relationship Id="rId60" Type="http://schemas.openxmlformats.org/officeDocument/2006/relationships/slideLayout" Target="../slideLayouts/slideLayout59.xml"/><Relationship Id="rId61" Type="http://schemas.openxmlformats.org/officeDocument/2006/relationships/slideLayout" Target="../slideLayouts/slideLayout6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79546" y="4632643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5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image" Target="../media/image9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image" Target="../media/image10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0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1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image" Target="../media/image1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image" Target="../media/image5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image" Target="../media/image1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image" Target="../media/image1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image" Target="../media/image20.png"/><Relationship Id="rId3" Type="http://schemas.openxmlformats.org/officeDocument/2006/relationships/image" Target="../media/image4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image" Target="../media/image1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5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76986" y="92943"/>
            <a:ext cx="3305029" cy="4957539"/>
          </a:xfrm>
          <a:prstGeom prst="rect">
            <a:avLst/>
          </a:prstGeom>
          <a:ln w="12700">
            <a:miter lim="400000"/>
          </a:ln>
        </p:spPr>
      </p:pic>
      <p:sp>
        <p:nvSpPr>
          <p:cNvPr id="553" name="Shape 1"/>
          <p:cNvSpPr/>
          <p:nvPr/>
        </p:nvSpPr>
        <p:spPr>
          <a:xfrm>
            <a:off x="496118" y="1871439"/>
            <a:ext cx="464346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Text 2"/>
          <p:cNvSpPr txBox="1"/>
          <p:nvPr/>
        </p:nvSpPr>
        <p:spPr>
          <a:xfrm>
            <a:off x="570531" y="1908646"/>
            <a:ext cx="295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5</a:t>
            </a:r>
          </a:p>
        </p:txBody>
      </p:sp>
      <p:sp>
        <p:nvSpPr>
          <p:cNvPr id="555" name="Text 3"/>
          <p:cNvSpPr txBox="1"/>
          <p:nvPr/>
        </p:nvSpPr>
        <p:spPr>
          <a:xfrm>
            <a:off x="496117" y="2154213"/>
            <a:ext cx="3106079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33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Installing Docker</a:t>
            </a:r>
          </a:p>
        </p:txBody>
      </p:sp>
      <p:sp>
        <p:nvSpPr>
          <p:cNvPr id="556" name="Text 4"/>
          <p:cNvSpPr txBox="1"/>
          <p:nvPr/>
        </p:nvSpPr>
        <p:spPr>
          <a:xfrm>
            <a:off x="496119" y="2875134"/>
            <a:ext cx="4722763" cy="39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Before writing a Dockerfile, Docker Desktop needs to be installed and running on your machine. Let's get set up.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0"/>
          <p:cNvSpPr/>
          <p:nvPr/>
        </p:nvSpPr>
        <p:spPr>
          <a:xfrm>
            <a:off x="488379" y="360759"/>
            <a:ext cx="783134" cy="184177"/>
          </a:xfrm>
          <a:prstGeom prst="roundRect">
            <a:avLst>
              <a:gd name="adj" fmla="val 18935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Text 1"/>
          <p:cNvSpPr txBox="1"/>
          <p:nvPr/>
        </p:nvSpPr>
        <p:spPr>
          <a:xfrm>
            <a:off x="550589" y="391862"/>
            <a:ext cx="6176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6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5 · SLIDE 28</a:t>
            </a:r>
          </a:p>
        </p:txBody>
      </p:sp>
      <p:sp>
        <p:nvSpPr>
          <p:cNvPr id="560" name="Text 2"/>
          <p:cNvSpPr txBox="1"/>
          <p:nvPr/>
        </p:nvSpPr>
        <p:spPr>
          <a:xfrm>
            <a:off x="488377" y="579610"/>
            <a:ext cx="350113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0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Docker Installation — Windows</a:t>
            </a:r>
          </a:p>
        </p:txBody>
      </p:sp>
      <p:sp>
        <p:nvSpPr>
          <p:cNvPr id="561" name="Text 3"/>
          <p:cNvSpPr txBox="1"/>
          <p:nvPr/>
        </p:nvSpPr>
        <p:spPr>
          <a:xfrm>
            <a:off x="488379" y="1120971"/>
            <a:ext cx="96418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Installation Steps</a:t>
            </a:r>
          </a:p>
        </p:txBody>
      </p:sp>
      <p:sp>
        <p:nvSpPr>
          <p:cNvPr id="562" name="Text 4"/>
          <p:cNvSpPr txBox="1"/>
          <p:nvPr/>
        </p:nvSpPr>
        <p:spPr>
          <a:xfrm>
            <a:off x="488379" y="1382030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80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63" name="Shape 5"/>
          <p:cNvSpPr/>
          <p:nvPr/>
        </p:nvSpPr>
        <p:spPr>
          <a:xfrm>
            <a:off x="488378" y="1542678"/>
            <a:ext cx="3957044" cy="14290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4" name="Text 6"/>
          <p:cNvSpPr txBox="1"/>
          <p:nvPr/>
        </p:nvSpPr>
        <p:spPr>
          <a:xfrm>
            <a:off x="488378" y="1623120"/>
            <a:ext cx="154165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Download Docker Desktop</a:t>
            </a:r>
          </a:p>
        </p:txBody>
      </p:sp>
      <p:sp>
        <p:nvSpPr>
          <p:cNvPr id="565" name="Text 7"/>
          <p:cNvSpPr txBox="1"/>
          <p:nvPr/>
        </p:nvSpPr>
        <p:spPr>
          <a:xfrm>
            <a:off x="488378" y="1872033"/>
            <a:ext cx="27911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2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Visit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docker.com</a:t>
            </a:r>
            <a:r>
              <a:t> and download Docker Desktop for Windows.</a:t>
            </a:r>
          </a:p>
        </p:txBody>
      </p:sp>
      <p:sp>
        <p:nvSpPr>
          <p:cNvPr id="566" name="Text 8"/>
          <p:cNvSpPr txBox="1"/>
          <p:nvPr/>
        </p:nvSpPr>
        <p:spPr>
          <a:xfrm>
            <a:off x="488379" y="2190537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80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67" name="Shape 9"/>
          <p:cNvSpPr/>
          <p:nvPr/>
        </p:nvSpPr>
        <p:spPr>
          <a:xfrm>
            <a:off x="488378" y="2351185"/>
            <a:ext cx="3957044" cy="14290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Text 10"/>
          <p:cNvSpPr txBox="1"/>
          <p:nvPr/>
        </p:nvSpPr>
        <p:spPr>
          <a:xfrm>
            <a:off x="488377" y="2431626"/>
            <a:ext cx="92481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Run the Installer</a:t>
            </a:r>
          </a:p>
        </p:txBody>
      </p:sp>
      <p:sp>
        <p:nvSpPr>
          <p:cNvPr id="569" name="Text 11"/>
          <p:cNvSpPr txBox="1"/>
          <p:nvPr/>
        </p:nvSpPr>
        <p:spPr>
          <a:xfrm>
            <a:off x="488377" y="2680542"/>
            <a:ext cx="28143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Double-click the installer and follow the setup wizard prompts.</a:t>
            </a:r>
          </a:p>
        </p:txBody>
      </p:sp>
      <p:sp>
        <p:nvSpPr>
          <p:cNvPr id="570" name="Text 12"/>
          <p:cNvSpPr txBox="1"/>
          <p:nvPr/>
        </p:nvSpPr>
        <p:spPr>
          <a:xfrm>
            <a:off x="488379" y="2999047"/>
            <a:ext cx="1279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80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71" name="Shape 13"/>
          <p:cNvSpPr/>
          <p:nvPr/>
        </p:nvSpPr>
        <p:spPr>
          <a:xfrm>
            <a:off x="488378" y="3159696"/>
            <a:ext cx="3957044" cy="14290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Text 14"/>
          <p:cNvSpPr txBox="1"/>
          <p:nvPr/>
        </p:nvSpPr>
        <p:spPr>
          <a:xfrm>
            <a:off x="488377" y="3240135"/>
            <a:ext cx="77876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Enable WSL2</a:t>
            </a:r>
          </a:p>
        </p:txBody>
      </p:sp>
      <p:sp>
        <p:nvSpPr>
          <p:cNvPr id="573" name="Text 15"/>
          <p:cNvSpPr txBox="1"/>
          <p:nvPr/>
        </p:nvSpPr>
        <p:spPr>
          <a:xfrm>
            <a:off x="488378" y="3489052"/>
            <a:ext cx="3957044" cy="304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When prompted, enable WSL2 (Windows Subsystem for Linux). This is required for Docker to run on Windows.</a:t>
            </a:r>
          </a:p>
        </p:txBody>
      </p:sp>
      <p:sp>
        <p:nvSpPr>
          <p:cNvPr id="574" name="Text 16"/>
          <p:cNvSpPr txBox="1"/>
          <p:nvPr/>
        </p:nvSpPr>
        <p:spPr>
          <a:xfrm>
            <a:off x="488379" y="3960029"/>
            <a:ext cx="1280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80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75" name="Shape 17"/>
          <p:cNvSpPr/>
          <p:nvPr/>
        </p:nvSpPr>
        <p:spPr>
          <a:xfrm>
            <a:off x="488378" y="4120679"/>
            <a:ext cx="3957044" cy="14290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Text 18"/>
          <p:cNvSpPr txBox="1"/>
          <p:nvPr/>
        </p:nvSpPr>
        <p:spPr>
          <a:xfrm>
            <a:off x="488377" y="4201119"/>
            <a:ext cx="96177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Verify Installation</a:t>
            </a:r>
          </a:p>
        </p:txBody>
      </p:sp>
      <p:sp>
        <p:nvSpPr>
          <p:cNvPr id="577" name="Text 19"/>
          <p:cNvSpPr txBox="1"/>
          <p:nvPr/>
        </p:nvSpPr>
        <p:spPr>
          <a:xfrm>
            <a:off x="488378" y="4450034"/>
            <a:ext cx="21198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2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Open a terminal and run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--version</a:t>
            </a:r>
            <a:r>
              <a:t>.</a:t>
            </a:r>
          </a:p>
        </p:txBody>
      </p:sp>
      <p:sp>
        <p:nvSpPr>
          <p:cNvPr id="578" name="Shape 20"/>
          <p:cNvSpPr/>
          <p:nvPr/>
        </p:nvSpPr>
        <p:spPr>
          <a:xfrm>
            <a:off x="4628629" y="1034132"/>
            <a:ext cx="4106468" cy="3748610"/>
          </a:xfrm>
          <a:prstGeom prst="roundRect">
            <a:avLst>
              <a:gd name="adj" fmla="val 1994"/>
            </a:avLst>
          </a:prstGeom>
          <a:solidFill>
            <a:srgbClr val="1B1B27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Text 21"/>
          <p:cNvSpPr txBox="1"/>
          <p:nvPr/>
        </p:nvSpPr>
        <p:spPr>
          <a:xfrm>
            <a:off x="4732361" y="1120971"/>
            <a:ext cx="9733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Verify in Terminal</a:t>
            </a:r>
          </a:p>
        </p:txBody>
      </p:sp>
      <p:sp>
        <p:nvSpPr>
          <p:cNvPr id="580" name="Shape 22"/>
          <p:cNvSpPr/>
          <p:nvPr/>
        </p:nvSpPr>
        <p:spPr>
          <a:xfrm>
            <a:off x="4732361" y="1380679"/>
            <a:ext cx="3899001" cy="817364"/>
          </a:xfrm>
          <a:prstGeom prst="roundRect">
            <a:avLst>
              <a:gd name="adj" fmla="val 5333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Shape 23"/>
          <p:cNvSpPr/>
          <p:nvPr/>
        </p:nvSpPr>
        <p:spPr>
          <a:xfrm>
            <a:off x="4727228" y="1380679"/>
            <a:ext cx="3909270" cy="817364"/>
          </a:xfrm>
          <a:prstGeom prst="roundRect">
            <a:avLst>
              <a:gd name="adj" fmla="val 1905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Text 24"/>
          <p:cNvSpPr txBox="1"/>
          <p:nvPr/>
        </p:nvSpPr>
        <p:spPr>
          <a:xfrm>
            <a:off x="4856931" y="1484412"/>
            <a:ext cx="3649863" cy="60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2000"/>
              </a:lnSpc>
              <a:defRPr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$ docker --version</a:t>
            </a:r>
          </a:p>
          <a:p>
            <a:pPr>
              <a:lnSpc>
                <a:spcPct val="122000"/>
              </a:lnSpc>
              <a:defRPr sz="800"/>
            </a:pPr>
          </a:p>
          <a:p>
            <a:pPr>
              <a:lnSpc>
                <a:spcPct val="122000"/>
              </a:lnSpc>
              <a:defRPr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Docker version 24.0.5,</a:t>
            </a:r>
          </a:p>
          <a:p>
            <a:pPr>
              <a:lnSpc>
                <a:spcPct val="122000"/>
              </a:lnSpc>
              <a:defRPr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build ced0996</a:t>
            </a:r>
          </a:p>
        </p:txBody>
      </p:sp>
      <p:sp>
        <p:nvSpPr>
          <p:cNvPr id="583" name="Shape 25"/>
          <p:cNvSpPr/>
          <p:nvPr/>
        </p:nvSpPr>
        <p:spPr>
          <a:xfrm>
            <a:off x="4732361" y="2295674"/>
            <a:ext cx="3899001" cy="547690"/>
          </a:xfrm>
          <a:prstGeom prst="roundRect">
            <a:avLst>
              <a:gd name="adj" fmla="val 7959"/>
            </a:avLst>
          </a:prstGeom>
          <a:solidFill>
            <a:srgbClr val="B6D6F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8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36095" y="2444055"/>
            <a:ext cx="129706" cy="103735"/>
          </a:xfrm>
          <a:prstGeom prst="rect">
            <a:avLst/>
          </a:prstGeom>
          <a:ln w="12700">
            <a:miter lim="400000"/>
          </a:ln>
        </p:spPr>
      </p:pic>
      <p:sp>
        <p:nvSpPr>
          <p:cNvPr id="585" name="Text 26"/>
          <p:cNvSpPr txBox="1"/>
          <p:nvPr/>
        </p:nvSpPr>
        <p:spPr>
          <a:xfrm>
            <a:off x="5069532" y="2408409"/>
            <a:ext cx="3458096" cy="304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sz="8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If you see a version number, Docker is installed and working correctly. If the command is not found, restart your terminal or machine after installation.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Shape 0"/>
          <p:cNvSpPr/>
          <p:nvPr/>
        </p:nvSpPr>
        <p:spPr>
          <a:xfrm>
            <a:off x="496118" y="413294"/>
            <a:ext cx="748831" cy="173833"/>
          </a:xfrm>
          <a:prstGeom prst="roundRect">
            <a:avLst>
              <a:gd name="adj" fmla="val 1918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 1"/>
          <p:cNvSpPr txBox="1"/>
          <p:nvPr/>
        </p:nvSpPr>
        <p:spPr>
          <a:xfrm>
            <a:off x="555649" y="443060"/>
            <a:ext cx="6176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0000"/>
              </a:lnSpc>
              <a:defRPr sz="6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5 · SLIDE 29</a:t>
            </a:r>
          </a:p>
        </p:txBody>
      </p:sp>
      <p:sp>
        <p:nvSpPr>
          <p:cNvPr id="589" name="Text 2"/>
          <p:cNvSpPr txBox="1"/>
          <p:nvPr/>
        </p:nvSpPr>
        <p:spPr>
          <a:xfrm>
            <a:off x="496118" y="618825"/>
            <a:ext cx="278644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9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Docker Installation — Mac</a:t>
            </a:r>
          </a:p>
        </p:txBody>
      </p:sp>
      <p:sp>
        <p:nvSpPr>
          <p:cNvPr id="590" name="Text 3"/>
          <p:cNvSpPr txBox="1"/>
          <p:nvPr/>
        </p:nvSpPr>
        <p:spPr>
          <a:xfrm>
            <a:off x="496118" y="1127299"/>
            <a:ext cx="869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9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Installation Steps</a:t>
            </a:r>
          </a:p>
        </p:txBody>
      </p:sp>
      <p:sp>
        <p:nvSpPr>
          <p:cNvPr id="591" name="Text 4"/>
          <p:cNvSpPr txBox="1"/>
          <p:nvPr/>
        </p:nvSpPr>
        <p:spPr>
          <a:xfrm>
            <a:off x="496118" y="1370087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92" name="Shape 5"/>
          <p:cNvSpPr/>
          <p:nvPr/>
        </p:nvSpPr>
        <p:spPr>
          <a:xfrm>
            <a:off x="496117" y="1525858"/>
            <a:ext cx="3954888" cy="14290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Text 6"/>
          <p:cNvSpPr txBox="1"/>
          <p:nvPr/>
        </p:nvSpPr>
        <p:spPr>
          <a:xfrm>
            <a:off x="496118" y="1603995"/>
            <a:ext cx="13887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9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Download Docker Desktop</a:t>
            </a:r>
          </a:p>
        </p:txBody>
      </p:sp>
      <p:sp>
        <p:nvSpPr>
          <p:cNvPr id="594" name="Text 7"/>
          <p:cNvSpPr txBox="1"/>
          <p:nvPr/>
        </p:nvSpPr>
        <p:spPr>
          <a:xfrm>
            <a:off x="496117" y="1838325"/>
            <a:ext cx="3954888" cy="285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0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Visit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docker.com</a:t>
            </a:r>
            <a:r>
              <a:t> and download Docker Desktop for Mac. Choose the correct chip version — Intel or Apple Silicon (M1/M2/M3).</a:t>
            </a:r>
          </a:p>
        </p:txBody>
      </p:sp>
      <p:sp>
        <p:nvSpPr>
          <p:cNvPr id="595" name="Text 8"/>
          <p:cNvSpPr txBox="1"/>
          <p:nvPr/>
        </p:nvSpPr>
        <p:spPr>
          <a:xfrm>
            <a:off x="496118" y="2276300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96" name="Shape 9"/>
          <p:cNvSpPr/>
          <p:nvPr/>
        </p:nvSpPr>
        <p:spPr>
          <a:xfrm>
            <a:off x="496117" y="2432074"/>
            <a:ext cx="3954888" cy="14290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Text 10"/>
          <p:cNvSpPr txBox="1"/>
          <p:nvPr/>
        </p:nvSpPr>
        <p:spPr>
          <a:xfrm>
            <a:off x="496117" y="2510208"/>
            <a:ext cx="10920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9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Install the Application</a:t>
            </a:r>
          </a:p>
        </p:txBody>
      </p:sp>
      <p:sp>
        <p:nvSpPr>
          <p:cNvPr id="598" name="Text 11"/>
          <p:cNvSpPr txBox="1"/>
          <p:nvPr/>
        </p:nvSpPr>
        <p:spPr>
          <a:xfrm>
            <a:off x="496117" y="2744539"/>
            <a:ext cx="24930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Open the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.dmg</a:t>
            </a:r>
            <a:r>
              <a:t> file and drag Docker to your Applications folder.</a:t>
            </a:r>
          </a:p>
        </p:txBody>
      </p:sp>
      <p:sp>
        <p:nvSpPr>
          <p:cNvPr id="599" name="Text 12"/>
          <p:cNvSpPr txBox="1"/>
          <p:nvPr/>
        </p:nvSpPr>
        <p:spPr>
          <a:xfrm>
            <a:off x="496118" y="3044402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00" name="Shape 13"/>
          <p:cNvSpPr/>
          <p:nvPr/>
        </p:nvSpPr>
        <p:spPr>
          <a:xfrm>
            <a:off x="496117" y="3200175"/>
            <a:ext cx="3954888" cy="14290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 14"/>
          <p:cNvSpPr txBox="1"/>
          <p:nvPr/>
        </p:nvSpPr>
        <p:spPr>
          <a:xfrm>
            <a:off x="496118" y="3278311"/>
            <a:ext cx="6423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9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Start Docker</a:t>
            </a:r>
          </a:p>
        </p:txBody>
      </p:sp>
      <p:sp>
        <p:nvSpPr>
          <p:cNvPr id="602" name="Text 15"/>
          <p:cNvSpPr txBox="1"/>
          <p:nvPr/>
        </p:nvSpPr>
        <p:spPr>
          <a:xfrm>
            <a:off x="496117" y="3512641"/>
            <a:ext cx="3954888" cy="285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Open Docker from Applications. Wait for the Docker whale icon to appear in your menu bar and stop animating.</a:t>
            </a:r>
          </a:p>
        </p:txBody>
      </p:sp>
      <p:sp>
        <p:nvSpPr>
          <p:cNvPr id="603" name="Text 16"/>
          <p:cNvSpPr txBox="1"/>
          <p:nvPr/>
        </p:nvSpPr>
        <p:spPr>
          <a:xfrm>
            <a:off x="496118" y="39506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04" name="Shape 17"/>
          <p:cNvSpPr/>
          <p:nvPr/>
        </p:nvSpPr>
        <p:spPr>
          <a:xfrm>
            <a:off x="496117" y="4106390"/>
            <a:ext cx="3954888" cy="14290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5" name="Text 18"/>
          <p:cNvSpPr txBox="1"/>
          <p:nvPr/>
        </p:nvSpPr>
        <p:spPr>
          <a:xfrm>
            <a:off x="496118" y="4184524"/>
            <a:ext cx="8668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9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Verify Installation</a:t>
            </a:r>
          </a:p>
        </p:txBody>
      </p:sp>
      <p:sp>
        <p:nvSpPr>
          <p:cNvPr id="606" name="Text 19"/>
          <p:cNvSpPr txBox="1"/>
          <p:nvPr/>
        </p:nvSpPr>
        <p:spPr>
          <a:xfrm>
            <a:off x="496118" y="4418855"/>
            <a:ext cx="18564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Open a terminal and run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--version</a:t>
            </a:r>
            <a:r>
              <a:t>.</a:t>
            </a:r>
          </a:p>
        </p:txBody>
      </p:sp>
      <p:sp>
        <p:nvSpPr>
          <p:cNvPr id="607" name="Shape 20"/>
          <p:cNvSpPr/>
          <p:nvPr/>
        </p:nvSpPr>
        <p:spPr>
          <a:xfrm>
            <a:off x="4626321" y="1047973"/>
            <a:ext cx="4097762" cy="3682232"/>
          </a:xfrm>
          <a:prstGeom prst="roundRect">
            <a:avLst>
              <a:gd name="adj" fmla="val 1940"/>
            </a:avLst>
          </a:prstGeom>
          <a:solidFill>
            <a:srgbClr val="1B1B27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 21"/>
          <p:cNvSpPr txBox="1"/>
          <p:nvPr/>
        </p:nvSpPr>
        <p:spPr>
          <a:xfrm>
            <a:off x="4725515" y="1127299"/>
            <a:ext cx="8772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9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Verify in Terminal</a:t>
            </a:r>
          </a:p>
        </p:txBody>
      </p:sp>
      <p:sp>
        <p:nvSpPr>
          <p:cNvPr id="609" name="Shape 22"/>
          <p:cNvSpPr/>
          <p:nvPr/>
        </p:nvSpPr>
        <p:spPr>
          <a:xfrm>
            <a:off x="4725515" y="1371600"/>
            <a:ext cx="3899373" cy="769888"/>
          </a:xfrm>
          <a:prstGeom prst="roundRect">
            <a:avLst>
              <a:gd name="adj" fmla="val 5414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0" name="Shape 23"/>
          <p:cNvSpPr/>
          <p:nvPr/>
        </p:nvSpPr>
        <p:spPr>
          <a:xfrm>
            <a:off x="4720604" y="1371600"/>
            <a:ext cx="3909196" cy="769888"/>
          </a:xfrm>
          <a:prstGeom prst="roundRect">
            <a:avLst>
              <a:gd name="adj" fmla="val 1933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Text 24"/>
          <p:cNvSpPr txBox="1"/>
          <p:nvPr/>
        </p:nvSpPr>
        <p:spPr>
          <a:xfrm>
            <a:off x="4844579" y="1470794"/>
            <a:ext cx="3661248" cy="571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0000"/>
              </a:lnSpc>
              <a:defRPr sz="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$ docker --version</a:t>
            </a:r>
          </a:p>
          <a:p>
            <a:pPr>
              <a:lnSpc>
                <a:spcPct val="120000"/>
              </a:lnSpc>
              <a:defRPr sz="700"/>
            </a:pPr>
          </a:p>
          <a:p>
            <a:pPr>
              <a:lnSpc>
                <a:spcPct val="120000"/>
              </a:lnSpc>
              <a:defRPr sz="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Docker version 24.0.5,</a:t>
            </a:r>
          </a:p>
          <a:p>
            <a:pPr>
              <a:lnSpc>
                <a:spcPct val="120000"/>
              </a:lnSpc>
              <a:defRPr sz="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build ced0996</a:t>
            </a:r>
          </a:p>
        </p:txBody>
      </p:sp>
      <p:sp>
        <p:nvSpPr>
          <p:cNvPr id="612" name="Shape 25"/>
          <p:cNvSpPr/>
          <p:nvPr/>
        </p:nvSpPr>
        <p:spPr>
          <a:xfrm>
            <a:off x="4725515" y="2230783"/>
            <a:ext cx="3899373" cy="653730"/>
          </a:xfrm>
          <a:prstGeom prst="roundRect">
            <a:avLst>
              <a:gd name="adj" fmla="val 6376"/>
            </a:avLst>
          </a:prstGeom>
          <a:solidFill>
            <a:srgbClr val="FCF2B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1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24710" y="2372691"/>
            <a:ext cx="123976" cy="99196"/>
          </a:xfrm>
          <a:prstGeom prst="rect">
            <a:avLst/>
          </a:prstGeom>
          <a:ln w="12700">
            <a:miter lim="400000"/>
          </a:ln>
        </p:spPr>
      </p:pic>
      <p:sp>
        <p:nvSpPr>
          <p:cNvPr id="614" name="Text 26"/>
          <p:cNvSpPr txBox="1"/>
          <p:nvPr/>
        </p:nvSpPr>
        <p:spPr>
          <a:xfrm>
            <a:off x="5047877" y="2334890"/>
            <a:ext cx="3477818" cy="428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0000"/>
              </a:lnSpc>
              <a:defRPr sz="7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Make sure Docker Desktop is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running</a:t>
            </a:r>
            <a:r>
              <a:t> (the whale icon is visible in the menu bar) before using any Docker commands. Commands will fail if Docker isn't started.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0"/>
          <p:cNvSpPr/>
          <p:nvPr/>
        </p:nvSpPr>
        <p:spPr>
          <a:xfrm>
            <a:off x="496118" y="743322"/>
            <a:ext cx="936280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Text 1"/>
          <p:cNvSpPr txBox="1"/>
          <p:nvPr/>
        </p:nvSpPr>
        <p:spPr>
          <a:xfrm>
            <a:off x="570533" y="780529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5 · SLIDE 30</a:t>
            </a:r>
          </a:p>
        </p:txBody>
      </p:sp>
      <p:sp>
        <p:nvSpPr>
          <p:cNvPr id="618" name="Text 2"/>
          <p:cNvSpPr txBox="1"/>
          <p:nvPr/>
        </p:nvSpPr>
        <p:spPr>
          <a:xfrm>
            <a:off x="496118" y="1026095"/>
            <a:ext cx="4445712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Verifying Your Docker Installation</a:t>
            </a:r>
          </a:p>
        </p:txBody>
      </p:sp>
      <p:sp>
        <p:nvSpPr>
          <p:cNvPr id="619" name="Text 3"/>
          <p:cNvSpPr txBox="1"/>
          <p:nvPr/>
        </p:nvSpPr>
        <p:spPr>
          <a:xfrm>
            <a:off x="496119" y="1599679"/>
            <a:ext cx="72244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Use these two commands to confirm Docker is installed and running correctly before proceeding. Both should return output without any errors.</a:t>
            </a:r>
          </a:p>
        </p:txBody>
      </p:sp>
      <p:pic>
        <p:nvPicPr>
          <p:cNvPr id="6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1831" y="1937666"/>
            <a:ext cx="4028183" cy="1795985"/>
          </a:xfrm>
          <a:prstGeom prst="rect">
            <a:avLst/>
          </a:prstGeom>
          <a:ln w="12700">
            <a:miter lim="400000"/>
          </a:ln>
        </p:spPr>
      </p:pic>
      <p:sp>
        <p:nvSpPr>
          <p:cNvPr id="621" name="Text 4"/>
          <p:cNvSpPr txBox="1"/>
          <p:nvPr/>
        </p:nvSpPr>
        <p:spPr>
          <a:xfrm>
            <a:off x="677240" y="2075927"/>
            <a:ext cx="99324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Check Version</a:t>
            </a:r>
          </a:p>
        </p:txBody>
      </p:sp>
      <p:sp>
        <p:nvSpPr>
          <p:cNvPr id="622" name="Shape 5"/>
          <p:cNvSpPr/>
          <p:nvPr/>
        </p:nvSpPr>
        <p:spPr>
          <a:xfrm>
            <a:off x="677240" y="2409302"/>
            <a:ext cx="3694512" cy="446412"/>
          </a:xfrm>
          <a:prstGeom prst="roundRect">
            <a:avLst>
              <a:gd name="adj" fmla="val 11671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Shape 6"/>
          <p:cNvSpPr/>
          <p:nvPr/>
        </p:nvSpPr>
        <p:spPr>
          <a:xfrm>
            <a:off x="671066" y="2409302"/>
            <a:ext cx="3706863" cy="446412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4" name="Text 7"/>
          <p:cNvSpPr txBox="1"/>
          <p:nvPr/>
        </p:nvSpPr>
        <p:spPr>
          <a:xfrm>
            <a:off x="826069" y="2533276"/>
            <a:ext cx="11101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docker --version</a:t>
            </a:r>
          </a:p>
        </p:txBody>
      </p:sp>
      <p:sp>
        <p:nvSpPr>
          <p:cNvPr id="625" name="Text 8"/>
          <p:cNvSpPr txBox="1"/>
          <p:nvPr/>
        </p:nvSpPr>
        <p:spPr>
          <a:xfrm>
            <a:off x="677242" y="2995240"/>
            <a:ext cx="3694509" cy="401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Bold"/>
                <a:ea typeface="Roboto Regular Bold"/>
                <a:cs typeface="Roboto Regular Bold"/>
                <a:sym typeface="Roboto Regular Bold"/>
              </a:defRPr>
            </a:pPr>
            <a:r>
              <a:t>Expected output:</a:t>
            </a:r>
            <a:r>
              <a:rPr>
                <a:latin typeface="Roboto Regular Regular"/>
                <a:ea typeface="Roboto Regular Regular"/>
                <a:cs typeface="Roboto Regular Regular"/>
                <a:sym typeface="Roboto Regular Regular"/>
              </a:rPr>
              <a:t>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version 24.x.x, build xxxxxxx</a:t>
            </a:r>
          </a:p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Confirms Docker is installed and accessible in your terminal.</a:t>
            </a:r>
          </a:p>
        </p:txBody>
      </p:sp>
      <p:pic>
        <p:nvPicPr>
          <p:cNvPr id="626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19699" y="1937666"/>
            <a:ext cx="4028183" cy="1795985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Text 9"/>
          <p:cNvSpPr txBox="1"/>
          <p:nvPr/>
        </p:nvSpPr>
        <p:spPr>
          <a:xfrm>
            <a:off x="4815111" y="2075927"/>
            <a:ext cx="113299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Run Hello World</a:t>
            </a:r>
          </a:p>
        </p:txBody>
      </p:sp>
      <p:sp>
        <p:nvSpPr>
          <p:cNvPr id="628" name="Shape 10"/>
          <p:cNvSpPr/>
          <p:nvPr/>
        </p:nvSpPr>
        <p:spPr>
          <a:xfrm>
            <a:off x="4815111" y="2409302"/>
            <a:ext cx="3694511" cy="446412"/>
          </a:xfrm>
          <a:prstGeom prst="roundRect">
            <a:avLst>
              <a:gd name="adj" fmla="val 11671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Shape 11"/>
          <p:cNvSpPr/>
          <p:nvPr/>
        </p:nvSpPr>
        <p:spPr>
          <a:xfrm>
            <a:off x="4808932" y="2409302"/>
            <a:ext cx="3706865" cy="446412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Text 12"/>
          <p:cNvSpPr txBox="1"/>
          <p:nvPr/>
        </p:nvSpPr>
        <p:spPr>
          <a:xfrm>
            <a:off x="4963938" y="2533276"/>
            <a:ext cx="152170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docker run hello-world</a:t>
            </a:r>
          </a:p>
        </p:txBody>
      </p:sp>
      <p:sp>
        <p:nvSpPr>
          <p:cNvPr id="631" name="Text 13"/>
          <p:cNvSpPr txBox="1"/>
          <p:nvPr/>
        </p:nvSpPr>
        <p:spPr>
          <a:xfrm>
            <a:off x="4815111" y="2995240"/>
            <a:ext cx="3694511" cy="600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Bold"/>
                <a:ea typeface="Roboto Regular Bold"/>
                <a:cs typeface="Roboto Regular Bold"/>
                <a:sym typeface="Roboto Regular Bold"/>
              </a:defRPr>
            </a:pPr>
            <a:r>
              <a:t>Expected output:</a:t>
            </a:r>
            <a:r>
              <a:rPr>
                <a:latin typeface="Roboto Regular Regular"/>
                <a:ea typeface="Roboto Regular Regular"/>
                <a:cs typeface="Roboto Regular Regular"/>
                <a:sym typeface="Roboto Regular Regular"/>
              </a:rPr>
              <a:t>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Hello from Docker!</a:t>
            </a:r>
          </a:p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Confirms Docker can pull images and run containers end-to-end. This is the simplest possible container test.</a:t>
            </a:r>
          </a:p>
        </p:txBody>
      </p:sp>
      <p:sp>
        <p:nvSpPr>
          <p:cNvPr id="632" name="Shape 14"/>
          <p:cNvSpPr/>
          <p:nvPr/>
        </p:nvSpPr>
        <p:spPr>
          <a:xfrm>
            <a:off x="496118" y="3873177"/>
            <a:ext cx="8151764" cy="527002"/>
          </a:xfrm>
          <a:prstGeom prst="roundRect">
            <a:avLst>
              <a:gd name="adj" fmla="val 9886"/>
            </a:avLst>
          </a:prstGeom>
          <a:solidFill>
            <a:srgbClr val="B6FCB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33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0090" y="4057724"/>
            <a:ext cx="155006" cy="123976"/>
          </a:xfrm>
          <a:prstGeom prst="rect">
            <a:avLst/>
          </a:prstGeom>
          <a:ln w="12700">
            <a:miter lim="400000"/>
          </a:ln>
        </p:spPr>
      </p:pic>
      <p:sp>
        <p:nvSpPr>
          <p:cNvPr id="634" name="Text 15"/>
          <p:cNvSpPr txBox="1"/>
          <p:nvPr/>
        </p:nvSpPr>
        <p:spPr>
          <a:xfrm>
            <a:off x="899070" y="4028108"/>
            <a:ext cx="59008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If both commands succeed, your Docker installation is complete and ready to use. Proceed to the Dockerfile section.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3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85" y="92943"/>
            <a:ext cx="3305030" cy="4957539"/>
          </a:xfrm>
          <a:prstGeom prst="rect">
            <a:avLst/>
          </a:prstGeom>
          <a:ln w="12700">
            <a:miter lim="400000"/>
          </a:ln>
        </p:spPr>
      </p:pic>
      <p:sp>
        <p:nvSpPr>
          <p:cNvPr id="638" name="Shape 1"/>
          <p:cNvSpPr/>
          <p:nvPr/>
        </p:nvSpPr>
        <p:spPr>
          <a:xfrm>
            <a:off x="3925118" y="1871439"/>
            <a:ext cx="464346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Text 2"/>
          <p:cNvSpPr txBox="1"/>
          <p:nvPr/>
        </p:nvSpPr>
        <p:spPr>
          <a:xfrm>
            <a:off x="3999531" y="1908646"/>
            <a:ext cx="295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6</a:t>
            </a:r>
          </a:p>
        </p:txBody>
      </p:sp>
      <p:sp>
        <p:nvSpPr>
          <p:cNvPr id="640" name="Text 3"/>
          <p:cNvSpPr txBox="1"/>
          <p:nvPr/>
        </p:nvSpPr>
        <p:spPr>
          <a:xfrm>
            <a:off x="3925118" y="2154213"/>
            <a:ext cx="27443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33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The Dockerfile</a:t>
            </a:r>
          </a:p>
        </p:txBody>
      </p:sp>
      <p:sp>
        <p:nvSpPr>
          <p:cNvPr id="641" name="Text 4"/>
          <p:cNvSpPr txBox="1"/>
          <p:nvPr/>
        </p:nvSpPr>
        <p:spPr>
          <a:xfrm>
            <a:off x="3925118" y="2875134"/>
            <a:ext cx="4722765" cy="39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The Dockerfile is where everything comes together. It's the recipe that tells Docker exactly how to build your application's image.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0"/>
          <p:cNvSpPr/>
          <p:nvPr/>
        </p:nvSpPr>
        <p:spPr>
          <a:xfrm>
            <a:off x="496118" y="2044301"/>
            <a:ext cx="936280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" name="Text 1"/>
          <p:cNvSpPr txBox="1"/>
          <p:nvPr/>
        </p:nvSpPr>
        <p:spPr>
          <a:xfrm>
            <a:off x="570533" y="2081508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6 · SLIDE 31</a:t>
            </a:r>
          </a:p>
        </p:txBody>
      </p:sp>
      <p:sp>
        <p:nvSpPr>
          <p:cNvPr id="645" name="Text 2"/>
          <p:cNvSpPr txBox="1"/>
          <p:nvPr/>
        </p:nvSpPr>
        <p:spPr>
          <a:xfrm>
            <a:off x="496117" y="2327075"/>
            <a:ext cx="287081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What Is a Dockerfile?</a:t>
            </a:r>
          </a:p>
        </p:txBody>
      </p:sp>
      <p:sp>
        <p:nvSpPr>
          <p:cNvPr id="646" name="Text 3"/>
          <p:cNvSpPr txBox="1"/>
          <p:nvPr/>
        </p:nvSpPr>
        <p:spPr>
          <a:xfrm>
            <a:off x="496119" y="2900658"/>
            <a:ext cx="230432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A Dockerfile is a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plain text file named exactly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0"/>
          <p:cNvSpPr/>
          <p:nvPr/>
        </p:nvSpPr>
        <p:spPr>
          <a:xfrm>
            <a:off x="496118" y="392383"/>
            <a:ext cx="842889" cy="202706"/>
          </a:xfrm>
          <a:prstGeom prst="roundRect">
            <a:avLst>
              <a:gd name="adj" fmla="val 18506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Text 1"/>
          <p:cNvSpPr txBox="1"/>
          <p:nvPr/>
        </p:nvSpPr>
        <p:spPr>
          <a:xfrm>
            <a:off x="563089" y="425872"/>
            <a:ext cx="7184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6 · SLIDE 32</a:t>
            </a:r>
          </a:p>
        </p:txBody>
      </p:sp>
      <p:sp>
        <p:nvSpPr>
          <p:cNvPr id="650" name="Text 2"/>
          <p:cNvSpPr txBox="1"/>
          <p:nvPr/>
        </p:nvSpPr>
        <p:spPr>
          <a:xfrm>
            <a:off x="496117" y="635271"/>
            <a:ext cx="461541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1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Dockerfile Structure — A Real Example</a:t>
            </a:r>
          </a:p>
        </p:txBody>
      </p:sp>
      <p:sp>
        <p:nvSpPr>
          <p:cNvPr id="651" name="Text 3"/>
          <p:cNvSpPr txBox="1"/>
          <p:nvPr/>
        </p:nvSpPr>
        <p:spPr>
          <a:xfrm>
            <a:off x="496119" y="1134813"/>
            <a:ext cx="8151763" cy="339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Here is the complete Dockerfile for a FastAPI application. Every line has a specific purpose, and together they define everything needed to run the application inside a container.</a:t>
            </a:r>
          </a:p>
        </p:txBody>
      </p:sp>
      <p:sp>
        <p:nvSpPr>
          <p:cNvPr id="652" name="Shape 4"/>
          <p:cNvSpPr/>
          <p:nvPr/>
        </p:nvSpPr>
        <p:spPr>
          <a:xfrm>
            <a:off x="496118" y="1700213"/>
            <a:ext cx="3939707" cy="2937869"/>
          </a:xfrm>
          <a:prstGeom prst="roundRect">
            <a:avLst>
              <a:gd name="adj" fmla="val 1596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Shape 5"/>
          <p:cNvSpPr/>
          <p:nvPr/>
        </p:nvSpPr>
        <p:spPr>
          <a:xfrm>
            <a:off x="490537" y="1700213"/>
            <a:ext cx="3950866" cy="2937869"/>
          </a:xfrm>
          <a:prstGeom prst="roundRect">
            <a:avLst>
              <a:gd name="adj" fmla="val 570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Text 6"/>
          <p:cNvSpPr txBox="1"/>
          <p:nvPr/>
        </p:nvSpPr>
        <p:spPr>
          <a:xfrm>
            <a:off x="630062" y="1811833"/>
            <a:ext cx="3671817" cy="2714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Use Python 3.11 as the base image</a:t>
            </a: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FROM python:3.11</a:t>
            </a:r>
          </a:p>
          <a:p>
            <a:pPr>
              <a:lnSpc>
                <a:spcPct val="127000"/>
              </a:lnSpc>
              <a:defRPr sz="800"/>
            </a:pP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Set the working directory inside the container</a:t>
            </a: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WORKDIR /app</a:t>
            </a:r>
          </a:p>
          <a:p>
            <a:pPr>
              <a:lnSpc>
                <a:spcPct val="127000"/>
              </a:lnSpc>
              <a:defRPr sz="800"/>
            </a:pP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Copy all project files into the container</a:t>
            </a: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COPY . .</a:t>
            </a:r>
          </a:p>
          <a:p>
            <a:pPr>
              <a:lnSpc>
                <a:spcPct val="127000"/>
              </a:lnSpc>
              <a:defRPr sz="800"/>
            </a:pP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Install Python dependencies</a:t>
            </a: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RUN pip install -r requirements.txt</a:t>
            </a:r>
          </a:p>
          <a:p>
            <a:pPr>
              <a:lnSpc>
                <a:spcPct val="127000"/>
              </a:lnSpc>
              <a:defRPr sz="800"/>
            </a:pP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Start the FastAPI server when the container runs</a:t>
            </a: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CMD ["uvicorn", "backend:app",</a:t>
            </a: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"--host", "0.0.0.0",</a:t>
            </a:r>
          </a:p>
          <a:p>
            <a:pPr>
              <a:lnSpc>
                <a:spcPct val="127000"/>
              </a:lnSpc>
              <a:defRPr sz="80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"--port", "8000"]</a:t>
            </a:r>
          </a:p>
        </p:txBody>
      </p:sp>
      <p:sp>
        <p:nvSpPr>
          <p:cNvPr id="655" name="Shape 7"/>
          <p:cNvSpPr/>
          <p:nvPr/>
        </p:nvSpPr>
        <p:spPr>
          <a:xfrm>
            <a:off x="4712939" y="1700213"/>
            <a:ext cx="3939705" cy="788345"/>
          </a:xfrm>
          <a:prstGeom prst="roundRect">
            <a:avLst>
              <a:gd name="adj" fmla="val 5948"/>
            </a:avLst>
          </a:prstGeom>
          <a:solidFill>
            <a:srgbClr val="D2D2E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24560" y="1861096"/>
            <a:ext cx="139528" cy="111623"/>
          </a:xfrm>
          <a:prstGeom prst="rect">
            <a:avLst/>
          </a:prstGeom>
          <a:ln w="12700">
            <a:miter lim="400000"/>
          </a:ln>
        </p:spPr>
      </p:pic>
      <p:sp>
        <p:nvSpPr>
          <p:cNvPr id="657" name="Text 8"/>
          <p:cNvSpPr txBox="1"/>
          <p:nvPr/>
        </p:nvSpPr>
        <p:spPr>
          <a:xfrm>
            <a:off x="5075709" y="1828575"/>
            <a:ext cx="3465315" cy="513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7000"/>
              </a:lnSpc>
              <a:defRPr sz="8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This is a complete, working Dockerfile. Save it as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Dockerfile</a:t>
            </a:r>
            <a:r>
              <a:t> (no extension) in the root of your project. That's all you need to build a Docker image.</a:t>
            </a:r>
          </a:p>
        </p:txBody>
      </p:sp>
      <p:sp>
        <p:nvSpPr>
          <p:cNvPr id="658" name="Text 9"/>
          <p:cNvSpPr txBox="1"/>
          <p:nvPr/>
        </p:nvSpPr>
        <p:spPr>
          <a:xfrm>
            <a:off x="4712939" y="2601590"/>
            <a:ext cx="3939705" cy="339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Each instruction in a Dockerfile creates a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layer</a:t>
            </a:r>
            <a:r>
              <a:t> in the image. Docker caches these layers, so unchanged steps don't need to be rerun — making rebuilds fast.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Shape 0"/>
          <p:cNvSpPr/>
          <p:nvPr/>
        </p:nvSpPr>
        <p:spPr>
          <a:xfrm>
            <a:off x="496118" y="396180"/>
            <a:ext cx="795861" cy="188121"/>
          </a:xfrm>
          <a:prstGeom prst="roundRect">
            <a:avLst>
              <a:gd name="adj" fmla="val 18833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 1"/>
          <p:cNvSpPr txBox="1"/>
          <p:nvPr/>
        </p:nvSpPr>
        <p:spPr>
          <a:xfrm>
            <a:off x="559370" y="427806"/>
            <a:ext cx="6176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6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6 · SLIDE 33</a:t>
            </a:r>
          </a:p>
        </p:txBody>
      </p:sp>
      <p:sp>
        <p:nvSpPr>
          <p:cNvPr id="662" name="Text 2"/>
          <p:cNvSpPr txBox="1"/>
          <p:nvPr/>
        </p:nvSpPr>
        <p:spPr>
          <a:xfrm>
            <a:off x="496117" y="620090"/>
            <a:ext cx="478586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0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Understanding Each Dockerfile Instruction</a:t>
            </a:r>
          </a:p>
        </p:txBody>
      </p:sp>
      <p:pic>
        <p:nvPicPr>
          <p:cNvPr id="66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1083915"/>
            <a:ext cx="8151764" cy="774578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Text 3"/>
          <p:cNvSpPr txBox="1"/>
          <p:nvPr/>
        </p:nvSpPr>
        <p:spPr>
          <a:xfrm>
            <a:off x="1021704" y="1203573"/>
            <a:ext cx="37909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FROM</a:t>
            </a:r>
          </a:p>
        </p:txBody>
      </p:sp>
      <p:sp>
        <p:nvSpPr>
          <p:cNvPr id="665" name="Text 4"/>
          <p:cNvSpPr txBox="1"/>
          <p:nvPr/>
        </p:nvSpPr>
        <p:spPr>
          <a:xfrm>
            <a:off x="1021704" y="1421978"/>
            <a:ext cx="7506521" cy="316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3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Sets the base image to build on top of.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FROM python:3.11</a:t>
            </a:r>
            <a:r>
              <a:t> starts with an official Python 3.11 image from Docker Hub — a minimal Linux OS with Python pre-installed.</a:t>
            </a:r>
          </a:p>
        </p:txBody>
      </p:sp>
      <p:pic>
        <p:nvPicPr>
          <p:cNvPr id="666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1948084"/>
            <a:ext cx="8151764" cy="632596"/>
          </a:xfrm>
          <a:prstGeom prst="rect">
            <a:avLst/>
          </a:prstGeom>
          <a:ln w="12700">
            <a:miter lim="400000"/>
          </a:ln>
        </p:spPr>
      </p:pic>
      <p:sp>
        <p:nvSpPr>
          <p:cNvPr id="667" name="Text 5"/>
          <p:cNvSpPr txBox="1"/>
          <p:nvPr/>
        </p:nvSpPr>
        <p:spPr>
          <a:xfrm>
            <a:off x="1021704" y="2067742"/>
            <a:ext cx="5972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WORKDIR</a:t>
            </a:r>
          </a:p>
        </p:txBody>
      </p:sp>
      <p:sp>
        <p:nvSpPr>
          <p:cNvPr id="668" name="Text 6"/>
          <p:cNvSpPr txBox="1"/>
          <p:nvPr/>
        </p:nvSpPr>
        <p:spPr>
          <a:xfrm>
            <a:off x="1021703" y="2286149"/>
            <a:ext cx="6371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3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Sets the working directory </a:t>
            </a:r>
            <a:r>
              <a:rPr i="1"/>
              <a:t>inside the container</a:t>
            </a:r>
            <a:r>
              <a:t>. All subsequent commands run from this path.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WORKDIR /app</a:t>
            </a:r>
            <a:r>
              <a:t> creates and navigates to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/app</a:t>
            </a:r>
            <a:r>
              <a:t>.</a:t>
            </a:r>
          </a:p>
        </p:txBody>
      </p:sp>
      <p:pic>
        <p:nvPicPr>
          <p:cNvPr id="669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2670274"/>
            <a:ext cx="8151764" cy="632596"/>
          </a:xfrm>
          <a:prstGeom prst="rect">
            <a:avLst/>
          </a:prstGeom>
          <a:ln w="12700">
            <a:miter lim="400000"/>
          </a:ln>
        </p:spPr>
      </p:pic>
      <p:sp>
        <p:nvSpPr>
          <p:cNvPr id="670" name="Text 7"/>
          <p:cNvSpPr txBox="1"/>
          <p:nvPr/>
        </p:nvSpPr>
        <p:spPr>
          <a:xfrm>
            <a:off x="1021704" y="2789932"/>
            <a:ext cx="3552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COPY</a:t>
            </a:r>
          </a:p>
        </p:txBody>
      </p:sp>
      <p:sp>
        <p:nvSpPr>
          <p:cNvPr id="671" name="Text 8"/>
          <p:cNvSpPr txBox="1"/>
          <p:nvPr/>
        </p:nvSpPr>
        <p:spPr>
          <a:xfrm>
            <a:off x="1021704" y="3008335"/>
            <a:ext cx="65109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3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Copies files from your local machine into the container.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COPY . .</a:t>
            </a:r>
            <a:r>
              <a:t> copies everything from your current folder into the container's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/app</a:t>
            </a:r>
            <a:r>
              <a:t> directory.</a:t>
            </a:r>
          </a:p>
        </p:txBody>
      </p:sp>
      <p:pic>
        <p:nvPicPr>
          <p:cNvPr id="672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3392463"/>
            <a:ext cx="8151764" cy="632596"/>
          </a:xfrm>
          <a:prstGeom prst="rect">
            <a:avLst/>
          </a:prstGeom>
          <a:ln w="12700">
            <a:miter lim="400000"/>
          </a:ln>
        </p:spPr>
      </p:pic>
      <p:sp>
        <p:nvSpPr>
          <p:cNvPr id="673" name="Text 9"/>
          <p:cNvSpPr txBox="1"/>
          <p:nvPr/>
        </p:nvSpPr>
        <p:spPr>
          <a:xfrm>
            <a:off x="1021704" y="3512120"/>
            <a:ext cx="28879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RUN</a:t>
            </a:r>
          </a:p>
        </p:txBody>
      </p:sp>
      <p:sp>
        <p:nvSpPr>
          <p:cNvPr id="674" name="Text 10"/>
          <p:cNvSpPr txBox="1"/>
          <p:nvPr/>
        </p:nvSpPr>
        <p:spPr>
          <a:xfrm>
            <a:off x="1021704" y="3730526"/>
            <a:ext cx="668337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3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Executes a shell command during the </a:t>
            </a:r>
            <a:r>
              <a:rPr i="1"/>
              <a:t>build</a:t>
            </a:r>
            <a:r>
              <a:t> process.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RUN pip install -r requirements.txt</a:t>
            </a:r>
            <a:r>
              <a:t> installs all Python dependencies into the image.</a:t>
            </a:r>
          </a:p>
        </p:txBody>
      </p:sp>
      <p:pic>
        <p:nvPicPr>
          <p:cNvPr id="675" name="Image 4" descr="Imag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4114651"/>
            <a:ext cx="8151764" cy="632596"/>
          </a:xfrm>
          <a:prstGeom prst="rect">
            <a:avLst/>
          </a:prstGeom>
          <a:ln w="12700">
            <a:miter lim="400000"/>
          </a:ln>
        </p:spPr>
      </p:pic>
      <p:sp>
        <p:nvSpPr>
          <p:cNvPr id="676" name="Text 11"/>
          <p:cNvSpPr txBox="1"/>
          <p:nvPr/>
        </p:nvSpPr>
        <p:spPr>
          <a:xfrm>
            <a:off x="1021704" y="4234307"/>
            <a:ext cx="30378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CMD</a:t>
            </a:r>
          </a:p>
        </p:txBody>
      </p:sp>
      <p:sp>
        <p:nvSpPr>
          <p:cNvPr id="677" name="Text 12"/>
          <p:cNvSpPr txBox="1"/>
          <p:nvPr/>
        </p:nvSpPr>
        <p:spPr>
          <a:xfrm>
            <a:off x="1021704" y="4452713"/>
            <a:ext cx="69810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3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Defines the default command to run when a container </a:t>
            </a:r>
            <a:r>
              <a:rPr i="1"/>
              <a:t>starts</a:t>
            </a:r>
            <a:r>
              <a:t>. Unlike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t>,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CMD</a:t>
            </a:r>
            <a:r>
              <a:t> executes at runtime, not at build time. Only one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CMD</a:t>
            </a:r>
            <a:r>
              <a:t> is allowed per Dockerfile.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Shape 0"/>
          <p:cNvSpPr/>
          <p:nvPr/>
        </p:nvSpPr>
        <p:spPr>
          <a:xfrm>
            <a:off x="496118" y="1247329"/>
            <a:ext cx="936280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Text 1"/>
          <p:cNvSpPr txBox="1"/>
          <p:nvPr/>
        </p:nvSpPr>
        <p:spPr>
          <a:xfrm>
            <a:off x="570533" y="1284536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6 · SLIDE 34</a:t>
            </a:r>
          </a:p>
        </p:txBody>
      </p:sp>
      <p:sp>
        <p:nvSpPr>
          <p:cNvPr id="681" name="Text 2"/>
          <p:cNvSpPr txBox="1"/>
          <p:nvPr/>
        </p:nvSpPr>
        <p:spPr>
          <a:xfrm>
            <a:off x="496118" y="1530100"/>
            <a:ext cx="372486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Why the Dockerfile Matters</a:t>
            </a:r>
          </a:p>
        </p:txBody>
      </p:sp>
      <p:sp>
        <p:nvSpPr>
          <p:cNvPr id="682" name="Text 3"/>
          <p:cNvSpPr txBox="1"/>
          <p:nvPr/>
        </p:nvSpPr>
        <p:spPr>
          <a:xfrm>
            <a:off x="496119" y="2103684"/>
            <a:ext cx="8151763" cy="39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The Dockerfile is the central document that makes Docker so powerful. It explicitly defines everything that was previously implicit, informal, or undocumented about your application's environment.</a:t>
            </a:r>
          </a:p>
        </p:txBody>
      </p:sp>
      <p:pic>
        <p:nvPicPr>
          <p:cNvPr id="68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2640135"/>
            <a:ext cx="310086" cy="310085"/>
          </a:xfrm>
          <a:prstGeom prst="rect">
            <a:avLst/>
          </a:prstGeom>
          <a:ln w="12700">
            <a:miter lim="400000"/>
          </a:ln>
        </p:spPr>
      </p:pic>
      <p:sp>
        <p:nvSpPr>
          <p:cNvPr id="684" name="Text 4"/>
          <p:cNvSpPr txBox="1"/>
          <p:nvPr/>
        </p:nvSpPr>
        <p:spPr>
          <a:xfrm>
            <a:off x="961205" y="2640135"/>
            <a:ext cx="168879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Defines the Environment</a:t>
            </a:r>
          </a:p>
        </p:txBody>
      </p:sp>
      <p:sp>
        <p:nvSpPr>
          <p:cNvPr id="685" name="Text 5"/>
          <p:cNvSpPr txBox="1"/>
          <p:nvPr/>
        </p:nvSpPr>
        <p:spPr>
          <a:xfrm>
            <a:off x="961204" y="2908399"/>
            <a:ext cx="2148784" cy="79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The exact OS base, Python version, and system configuration are declared explicitly — no more guesswork about what version to install.</a:t>
            </a:r>
          </a:p>
        </p:txBody>
      </p:sp>
      <p:pic>
        <p:nvPicPr>
          <p:cNvPr id="686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64991" y="2640135"/>
            <a:ext cx="310085" cy="310085"/>
          </a:xfrm>
          <a:prstGeom prst="rect">
            <a:avLst/>
          </a:prstGeom>
          <a:ln w="12700">
            <a:miter lim="400000"/>
          </a:ln>
        </p:spPr>
      </p:pic>
      <p:sp>
        <p:nvSpPr>
          <p:cNvPr id="687" name="Text 6"/>
          <p:cNvSpPr txBox="1"/>
          <p:nvPr/>
        </p:nvSpPr>
        <p:spPr>
          <a:xfrm>
            <a:off x="3730078" y="2640135"/>
            <a:ext cx="164962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Declares Dependencies</a:t>
            </a:r>
          </a:p>
        </p:txBody>
      </p:sp>
      <p:sp>
        <p:nvSpPr>
          <p:cNvPr id="688" name="Text 7"/>
          <p:cNvSpPr txBox="1"/>
          <p:nvPr/>
        </p:nvSpPr>
        <p:spPr>
          <a:xfrm>
            <a:off x="3730078" y="2908399"/>
            <a:ext cx="2148857" cy="79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All required libraries are installed automatically during the build. Anyone with the Dockerfile gets the same dependencies — guaranteed.</a:t>
            </a:r>
          </a:p>
        </p:txBody>
      </p:sp>
      <p:pic>
        <p:nvPicPr>
          <p:cNvPr id="689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33939" y="2640135"/>
            <a:ext cx="310085" cy="310085"/>
          </a:xfrm>
          <a:prstGeom prst="rect">
            <a:avLst/>
          </a:prstGeom>
          <a:ln w="12700">
            <a:miter lim="400000"/>
          </a:ln>
        </p:spPr>
      </p:pic>
      <p:sp>
        <p:nvSpPr>
          <p:cNvPr id="690" name="Text 8"/>
          <p:cNvSpPr txBox="1"/>
          <p:nvPr/>
        </p:nvSpPr>
        <p:spPr>
          <a:xfrm>
            <a:off x="6499026" y="2640135"/>
            <a:ext cx="2148857" cy="38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Specifies the Startup Command</a:t>
            </a:r>
          </a:p>
        </p:txBody>
      </p:sp>
      <p:sp>
        <p:nvSpPr>
          <p:cNvPr id="691" name="Text 9"/>
          <p:cNvSpPr txBox="1"/>
          <p:nvPr/>
        </p:nvSpPr>
        <p:spPr>
          <a:xfrm>
            <a:off x="6499026" y="3102248"/>
            <a:ext cx="2148857" cy="79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The exact command to start the application is built into the image. No README required. No manual steps. The container just starts.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9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85" y="92943"/>
            <a:ext cx="3305030" cy="4957539"/>
          </a:xfrm>
          <a:prstGeom prst="rect">
            <a:avLst/>
          </a:prstGeom>
          <a:ln w="12700">
            <a:miter lim="400000"/>
          </a:ln>
        </p:spPr>
      </p:pic>
      <p:sp>
        <p:nvSpPr>
          <p:cNvPr id="695" name="Shape 1"/>
          <p:cNvSpPr/>
          <p:nvPr/>
        </p:nvSpPr>
        <p:spPr>
          <a:xfrm>
            <a:off x="3925118" y="1871439"/>
            <a:ext cx="464346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6" name="Text 2"/>
          <p:cNvSpPr txBox="1"/>
          <p:nvPr/>
        </p:nvSpPr>
        <p:spPr>
          <a:xfrm>
            <a:off x="3999531" y="1908646"/>
            <a:ext cx="295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7</a:t>
            </a:r>
          </a:p>
        </p:txBody>
      </p:sp>
      <p:sp>
        <p:nvSpPr>
          <p:cNvPr id="697" name="Text 3"/>
          <p:cNvSpPr txBox="1"/>
          <p:nvPr/>
        </p:nvSpPr>
        <p:spPr>
          <a:xfrm>
            <a:off x="3925118" y="2154213"/>
            <a:ext cx="30210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33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Building Images</a:t>
            </a:r>
          </a:p>
        </p:txBody>
      </p:sp>
      <p:sp>
        <p:nvSpPr>
          <p:cNvPr id="698" name="Text 4"/>
          <p:cNvSpPr txBox="1"/>
          <p:nvPr/>
        </p:nvSpPr>
        <p:spPr>
          <a:xfrm>
            <a:off x="3925118" y="2875134"/>
            <a:ext cx="4722765" cy="39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With a Dockerfile in place, you're ready to build your first Docker image. This is where your instructions become a portable, runnable package.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 0"/>
          <p:cNvSpPr/>
          <p:nvPr/>
        </p:nvSpPr>
        <p:spPr>
          <a:xfrm>
            <a:off x="496118" y="848170"/>
            <a:ext cx="936280" cy="233217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1" name="Text 1"/>
          <p:cNvSpPr txBox="1"/>
          <p:nvPr/>
        </p:nvSpPr>
        <p:spPr>
          <a:xfrm>
            <a:off x="570533" y="885378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7 · SLIDE 35</a:t>
            </a:r>
          </a:p>
        </p:txBody>
      </p:sp>
      <p:sp>
        <p:nvSpPr>
          <p:cNvPr id="702" name="Text 2"/>
          <p:cNvSpPr txBox="1"/>
          <p:nvPr/>
        </p:nvSpPr>
        <p:spPr>
          <a:xfrm>
            <a:off x="496118" y="1130945"/>
            <a:ext cx="3408782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What Is a Docker Image?</a:t>
            </a:r>
          </a:p>
        </p:txBody>
      </p:sp>
      <p:sp>
        <p:nvSpPr>
          <p:cNvPr id="703" name="Text 3"/>
          <p:cNvSpPr txBox="1"/>
          <p:nvPr/>
        </p:nvSpPr>
        <p:spPr>
          <a:xfrm>
            <a:off x="496118" y="1816148"/>
            <a:ext cx="3924601" cy="150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A Docker image is a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packaged, portable snapshot</a:t>
            </a:r>
            <a:r>
              <a:t> of your application and its entire environment. It is built from your Dockerfile and contains everything needed to run your application — code, runtime, libraries, environment variables, and configuration.</a:t>
            </a:r>
          </a:p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Images are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immutable</a:t>
            </a:r>
            <a:r>
              <a:t> — once built, they don't change. If you need to update the application, you build a new image. This immutability is what guarantees consistent behavior across every environment.</a:t>
            </a:r>
          </a:p>
        </p:txBody>
      </p:sp>
      <p:sp>
        <p:nvSpPr>
          <p:cNvPr id="704" name="Shape 4"/>
          <p:cNvSpPr/>
          <p:nvPr/>
        </p:nvSpPr>
        <p:spPr>
          <a:xfrm>
            <a:off x="4638749" y="1704527"/>
            <a:ext cx="4103193" cy="2590802"/>
          </a:xfrm>
          <a:prstGeom prst="roundRect">
            <a:avLst>
              <a:gd name="adj" fmla="val 3447"/>
            </a:avLst>
          </a:prstGeom>
          <a:solidFill>
            <a:srgbClr val="1B1B27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" name="Text 5"/>
          <p:cNvSpPr txBox="1"/>
          <p:nvPr/>
        </p:nvSpPr>
        <p:spPr>
          <a:xfrm>
            <a:off x="4762722" y="1828500"/>
            <a:ext cx="159263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What's Inside an Image</a:t>
            </a:r>
          </a:p>
        </p:txBody>
      </p:sp>
      <p:sp>
        <p:nvSpPr>
          <p:cNvPr id="706" name="Shape 6"/>
          <p:cNvSpPr/>
          <p:nvPr/>
        </p:nvSpPr>
        <p:spPr>
          <a:xfrm>
            <a:off x="4762722" y="2230078"/>
            <a:ext cx="61989" cy="61989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Text 7"/>
          <p:cNvSpPr txBox="1"/>
          <p:nvPr/>
        </p:nvSpPr>
        <p:spPr>
          <a:xfrm>
            <a:off x="4948682" y="2161875"/>
            <a:ext cx="14440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FFFFFF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Base operating system layer</a:t>
            </a:r>
          </a:p>
        </p:txBody>
      </p:sp>
      <p:sp>
        <p:nvSpPr>
          <p:cNvPr id="708" name="Shape 8"/>
          <p:cNvSpPr/>
          <p:nvPr/>
        </p:nvSpPr>
        <p:spPr>
          <a:xfrm>
            <a:off x="4762722" y="2676562"/>
            <a:ext cx="61989" cy="61989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Text 9"/>
          <p:cNvSpPr txBox="1"/>
          <p:nvPr/>
        </p:nvSpPr>
        <p:spPr>
          <a:xfrm>
            <a:off x="4948682" y="2608360"/>
            <a:ext cx="10388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FFFFFF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Python 3.11 runtime</a:t>
            </a:r>
          </a:p>
        </p:txBody>
      </p:sp>
      <p:sp>
        <p:nvSpPr>
          <p:cNvPr id="710" name="Shape 10"/>
          <p:cNvSpPr/>
          <p:nvPr/>
        </p:nvSpPr>
        <p:spPr>
          <a:xfrm>
            <a:off x="4762722" y="3123046"/>
            <a:ext cx="61989" cy="61988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" name="Text 11"/>
          <p:cNvSpPr txBox="1"/>
          <p:nvPr/>
        </p:nvSpPr>
        <p:spPr>
          <a:xfrm>
            <a:off x="4948682" y="3054846"/>
            <a:ext cx="236148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33000"/>
              </a:lnSpc>
              <a:defRPr sz="900">
                <a:solidFill>
                  <a:srgbClr val="FFFFFF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Installed packages from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requirements.txt</a:t>
            </a:r>
          </a:p>
        </p:txBody>
      </p:sp>
      <p:sp>
        <p:nvSpPr>
          <p:cNvPr id="712" name="Shape 12"/>
          <p:cNvSpPr/>
          <p:nvPr/>
        </p:nvSpPr>
        <p:spPr>
          <a:xfrm>
            <a:off x="4762722" y="3574293"/>
            <a:ext cx="61989" cy="61989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Text 13"/>
          <p:cNvSpPr txBox="1"/>
          <p:nvPr/>
        </p:nvSpPr>
        <p:spPr>
          <a:xfrm>
            <a:off x="4948682" y="3506092"/>
            <a:ext cx="1486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FFFFFF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Your application source code</a:t>
            </a:r>
          </a:p>
        </p:txBody>
      </p:sp>
      <p:sp>
        <p:nvSpPr>
          <p:cNvPr id="714" name="Shape 14"/>
          <p:cNvSpPr/>
          <p:nvPr/>
        </p:nvSpPr>
        <p:spPr>
          <a:xfrm>
            <a:off x="4762722" y="4020777"/>
            <a:ext cx="61989" cy="61989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5" name="Text 15"/>
          <p:cNvSpPr txBox="1"/>
          <p:nvPr/>
        </p:nvSpPr>
        <p:spPr>
          <a:xfrm>
            <a:off x="4948682" y="3952576"/>
            <a:ext cx="14541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33000"/>
              </a:lnSpc>
              <a:defRPr sz="900">
                <a:solidFill>
                  <a:srgbClr val="FFFFFF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The startup command (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CMD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0"/>
          <p:cNvSpPr/>
          <p:nvPr/>
        </p:nvSpPr>
        <p:spPr>
          <a:xfrm>
            <a:off x="488379" y="376384"/>
            <a:ext cx="921546" cy="228304"/>
          </a:xfrm>
          <a:prstGeom prst="roundRect">
            <a:avLst>
              <a:gd name="adj" fmla="val 17971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" name="Text 1"/>
          <p:cNvSpPr txBox="1"/>
          <p:nvPr/>
        </p:nvSpPr>
        <p:spPr>
          <a:xfrm>
            <a:off x="561601" y="412996"/>
            <a:ext cx="7184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2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7 · SLIDE 36</a:t>
            </a:r>
          </a:p>
        </p:txBody>
      </p:sp>
      <p:sp>
        <p:nvSpPr>
          <p:cNvPr id="719" name="Text 2"/>
          <p:cNvSpPr txBox="1"/>
          <p:nvPr/>
        </p:nvSpPr>
        <p:spPr>
          <a:xfrm>
            <a:off x="488378" y="652760"/>
            <a:ext cx="3348432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Building a Docker Image</a:t>
            </a:r>
          </a:p>
        </p:txBody>
      </p:sp>
      <p:sp>
        <p:nvSpPr>
          <p:cNvPr id="720" name="Text 3"/>
          <p:cNvSpPr txBox="1"/>
          <p:nvPr/>
        </p:nvSpPr>
        <p:spPr>
          <a:xfrm>
            <a:off x="488377" y="1334691"/>
            <a:ext cx="74300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Command</a:t>
            </a:r>
          </a:p>
        </p:txBody>
      </p:sp>
      <p:sp>
        <p:nvSpPr>
          <p:cNvPr id="721" name="Shape 4"/>
          <p:cNvSpPr/>
          <p:nvPr/>
        </p:nvSpPr>
        <p:spPr>
          <a:xfrm>
            <a:off x="488379" y="1660624"/>
            <a:ext cx="3934718" cy="437929"/>
          </a:xfrm>
          <a:prstGeom prst="roundRect">
            <a:avLst>
              <a:gd name="adj" fmla="val 11711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" name="Shape 5"/>
          <p:cNvSpPr/>
          <p:nvPr/>
        </p:nvSpPr>
        <p:spPr>
          <a:xfrm>
            <a:off x="482278" y="1660624"/>
            <a:ext cx="3946922" cy="437929"/>
          </a:xfrm>
          <a:prstGeom prst="roundRect">
            <a:avLst>
              <a:gd name="adj" fmla="val 4182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" name="Text 6"/>
          <p:cNvSpPr txBox="1"/>
          <p:nvPr/>
        </p:nvSpPr>
        <p:spPr>
          <a:xfrm>
            <a:off x="634900" y="1782663"/>
            <a:ext cx="207043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2000"/>
              </a:lnSpc>
              <a:defRPr sz="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docker build -t email_router .</a:t>
            </a:r>
          </a:p>
        </p:txBody>
      </p:sp>
      <p:sp>
        <p:nvSpPr>
          <p:cNvPr id="724" name="Text 7"/>
          <p:cNvSpPr txBox="1"/>
          <p:nvPr/>
        </p:nvSpPr>
        <p:spPr>
          <a:xfrm>
            <a:off x="488377" y="2233759"/>
            <a:ext cx="116911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Breaking It Down</a:t>
            </a:r>
          </a:p>
        </p:txBody>
      </p:sp>
      <p:sp>
        <p:nvSpPr>
          <p:cNvPr id="725" name="Shape 8"/>
          <p:cNvSpPr/>
          <p:nvPr/>
        </p:nvSpPr>
        <p:spPr>
          <a:xfrm>
            <a:off x="488379" y="2559693"/>
            <a:ext cx="1907234" cy="1169865"/>
          </a:xfrm>
          <a:prstGeom prst="roundRect">
            <a:avLst>
              <a:gd name="adj" fmla="val 438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" name="Text 9"/>
          <p:cNvSpPr txBox="1"/>
          <p:nvPr/>
        </p:nvSpPr>
        <p:spPr>
          <a:xfrm>
            <a:off x="624704" y="2696021"/>
            <a:ext cx="11101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docker build</a:t>
            </a:r>
          </a:p>
        </p:txBody>
      </p:sp>
      <p:sp>
        <p:nvSpPr>
          <p:cNvPr id="727" name="Text 10"/>
          <p:cNvSpPr txBox="1"/>
          <p:nvPr/>
        </p:nvSpPr>
        <p:spPr>
          <a:xfrm>
            <a:off x="624706" y="3011684"/>
            <a:ext cx="1634578" cy="38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2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Tells Docker to build a new image.</a:t>
            </a:r>
          </a:p>
        </p:txBody>
      </p:sp>
      <p:sp>
        <p:nvSpPr>
          <p:cNvPr id="728" name="Shape 11"/>
          <p:cNvSpPr/>
          <p:nvPr/>
        </p:nvSpPr>
        <p:spPr>
          <a:xfrm>
            <a:off x="2515791" y="2559693"/>
            <a:ext cx="1907309" cy="1169865"/>
          </a:xfrm>
          <a:prstGeom prst="roundRect">
            <a:avLst>
              <a:gd name="adj" fmla="val 438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Text 12"/>
          <p:cNvSpPr txBox="1"/>
          <p:nvPr/>
        </p:nvSpPr>
        <p:spPr>
          <a:xfrm>
            <a:off x="2652116" y="2696021"/>
            <a:ext cx="138452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-t email_router</a:t>
            </a:r>
          </a:p>
        </p:txBody>
      </p:sp>
      <p:sp>
        <p:nvSpPr>
          <p:cNvPr id="730" name="Text 13"/>
          <p:cNvSpPr txBox="1"/>
          <p:nvPr/>
        </p:nvSpPr>
        <p:spPr>
          <a:xfrm>
            <a:off x="2652117" y="3011684"/>
            <a:ext cx="1634652" cy="581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2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Tags the image with the name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email_router</a:t>
            </a:r>
            <a:r>
              <a:t> for easy reference later.</a:t>
            </a:r>
          </a:p>
        </p:txBody>
      </p:sp>
      <p:sp>
        <p:nvSpPr>
          <p:cNvPr id="731" name="Shape 14"/>
          <p:cNvSpPr/>
          <p:nvPr/>
        </p:nvSpPr>
        <p:spPr>
          <a:xfrm>
            <a:off x="488379" y="3849737"/>
            <a:ext cx="3934718" cy="782168"/>
          </a:xfrm>
          <a:prstGeom prst="roundRect">
            <a:avLst>
              <a:gd name="adj" fmla="val 655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Text 15"/>
          <p:cNvSpPr txBox="1"/>
          <p:nvPr/>
        </p:nvSpPr>
        <p:spPr>
          <a:xfrm>
            <a:off x="624704" y="3986064"/>
            <a:ext cx="437303" cy="179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4000"/>
              </a:lnSpc>
              <a:defRPr sz="12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.</a:t>
            </a:r>
            <a:r>
              <a:rPr>
                <a:latin typeface="Raleway Thin Regular"/>
                <a:ea typeface="Raleway Thin Regular"/>
                <a:cs typeface="Raleway Thin Regular"/>
                <a:sym typeface="Raleway Thin Regular"/>
              </a:rPr>
              <a:t> (dot)</a:t>
            </a:r>
          </a:p>
        </p:txBody>
      </p:sp>
      <p:sp>
        <p:nvSpPr>
          <p:cNvPr id="733" name="Text 16"/>
          <p:cNvSpPr txBox="1"/>
          <p:nvPr/>
        </p:nvSpPr>
        <p:spPr>
          <a:xfrm>
            <a:off x="624704" y="4301728"/>
            <a:ext cx="31074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2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Tells Docker to look for the Dockerfile in the current directory.</a:t>
            </a:r>
          </a:p>
        </p:txBody>
      </p:sp>
      <p:sp>
        <p:nvSpPr>
          <p:cNvPr id="734" name="Shape 17"/>
          <p:cNvSpPr/>
          <p:nvPr/>
        </p:nvSpPr>
        <p:spPr>
          <a:xfrm>
            <a:off x="4637782" y="1214512"/>
            <a:ext cx="4110486" cy="3552603"/>
          </a:xfrm>
          <a:prstGeom prst="roundRect">
            <a:avLst>
              <a:gd name="adj" fmla="val 2475"/>
            </a:avLst>
          </a:prstGeom>
          <a:solidFill>
            <a:srgbClr val="1B1B27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Text 18"/>
          <p:cNvSpPr txBox="1"/>
          <p:nvPr/>
        </p:nvSpPr>
        <p:spPr>
          <a:xfrm>
            <a:off x="4759821" y="1334691"/>
            <a:ext cx="86979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Build Output</a:t>
            </a:r>
          </a:p>
        </p:txBody>
      </p:sp>
      <p:sp>
        <p:nvSpPr>
          <p:cNvPr id="736" name="Shape 19"/>
          <p:cNvSpPr/>
          <p:nvPr/>
        </p:nvSpPr>
        <p:spPr>
          <a:xfrm>
            <a:off x="4759821" y="1660624"/>
            <a:ext cx="3866406" cy="1988718"/>
          </a:xfrm>
          <a:prstGeom prst="roundRect">
            <a:avLst>
              <a:gd name="adj" fmla="val 2579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" name="Shape 20"/>
          <p:cNvSpPr/>
          <p:nvPr/>
        </p:nvSpPr>
        <p:spPr>
          <a:xfrm>
            <a:off x="4753719" y="1660624"/>
            <a:ext cx="3878612" cy="1988718"/>
          </a:xfrm>
          <a:prstGeom prst="roundRect">
            <a:avLst>
              <a:gd name="adj" fmla="val 921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Text 21"/>
          <p:cNvSpPr txBox="1"/>
          <p:nvPr/>
        </p:nvSpPr>
        <p:spPr>
          <a:xfrm>
            <a:off x="4906342" y="1782663"/>
            <a:ext cx="3573363" cy="174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2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$ docker build -t email_router .</a:t>
            </a:r>
          </a:p>
          <a:p>
            <a:pPr>
              <a:lnSpc>
                <a:spcPct val="132000"/>
              </a:lnSpc>
              <a:defRPr sz="900"/>
            </a:pPr>
          </a:p>
          <a:p>
            <a:pPr>
              <a:lnSpc>
                <a:spcPct val="132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[1/4] FROM python:3.11</a:t>
            </a:r>
          </a:p>
          <a:p>
            <a:pPr>
              <a:lnSpc>
                <a:spcPct val="132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[2/4] WORKDIR /app</a:t>
            </a:r>
          </a:p>
          <a:p>
            <a:pPr>
              <a:lnSpc>
                <a:spcPct val="132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[3/4] COPY . .</a:t>
            </a:r>
          </a:p>
          <a:p>
            <a:pPr>
              <a:lnSpc>
                <a:spcPct val="132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[4/4] RUN pip install -r requirements.txt</a:t>
            </a:r>
          </a:p>
          <a:p>
            <a:pPr>
              <a:lnSpc>
                <a:spcPct val="132000"/>
              </a:lnSpc>
              <a:defRPr sz="900"/>
            </a:pPr>
          </a:p>
          <a:p>
            <a:pPr>
              <a:lnSpc>
                <a:spcPct val="132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Successfully built a8f3c91d2b11</a:t>
            </a:r>
          </a:p>
          <a:p>
            <a:pPr>
              <a:lnSpc>
                <a:spcPct val="132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Successfully tagged email_router:latest</a:t>
            </a:r>
          </a:p>
        </p:txBody>
      </p:sp>
      <p:sp>
        <p:nvSpPr>
          <p:cNvPr id="739" name="Text 22"/>
          <p:cNvSpPr txBox="1"/>
          <p:nvPr/>
        </p:nvSpPr>
        <p:spPr>
          <a:xfrm>
            <a:off x="4759821" y="3784549"/>
            <a:ext cx="3866406" cy="38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2000"/>
              </a:lnSpc>
              <a:defRPr sz="900">
                <a:solidFill>
                  <a:srgbClr val="FFFFFF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Each numbered step corresponds to a Dockerfile instruction. Docker executes them in order, caching each layer.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0"/>
          <p:cNvSpPr/>
          <p:nvPr/>
        </p:nvSpPr>
        <p:spPr>
          <a:xfrm>
            <a:off x="496118" y="638917"/>
            <a:ext cx="936280" cy="233217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Text 1"/>
          <p:cNvSpPr txBox="1"/>
          <p:nvPr/>
        </p:nvSpPr>
        <p:spPr>
          <a:xfrm>
            <a:off x="570533" y="676125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7 · SLIDE 37</a:t>
            </a:r>
          </a:p>
        </p:txBody>
      </p:sp>
      <p:sp>
        <p:nvSpPr>
          <p:cNvPr id="743" name="Text 2"/>
          <p:cNvSpPr txBox="1"/>
          <p:nvPr/>
        </p:nvSpPr>
        <p:spPr>
          <a:xfrm>
            <a:off x="496118" y="921691"/>
            <a:ext cx="380868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Where Is the Image Stored?</a:t>
            </a:r>
          </a:p>
        </p:txBody>
      </p:sp>
      <p:sp>
        <p:nvSpPr>
          <p:cNvPr id="744" name="Text 3"/>
          <p:cNvSpPr txBox="1"/>
          <p:nvPr/>
        </p:nvSpPr>
        <p:spPr>
          <a:xfrm>
            <a:off x="496118" y="1606896"/>
            <a:ext cx="3924601" cy="1103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After a successful build, the image is stored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locally inside Docker Engine</a:t>
            </a:r>
            <a:r>
              <a:t> on your machine — not as a file you can browse to in Finder or Explorer, but in Docker's internal image store managed by the Docker daemon.</a:t>
            </a:r>
          </a:p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To see all locally stored images, run:</a:t>
            </a:r>
          </a:p>
        </p:txBody>
      </p:sp>
      <p:sp>
        <p:nvSpPr>
          <p:cNvPr id="745" name="Shape 4"/>
          <p:cNvSpPr/>
          <p:nvPr/>
        </p:nvSpPr>
        <p:spPr>
          <a:xfrm>
            <a:off x="496118" y="2850356"/>
            <a:ext cx="3924601" cy="446412"/>
          </a:xfrm>
          <a:prstGeom prst="roundRect">
            <a:avLst>
              <a:gd name="adj" fmla="val 11671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Shape 5"/>
          <p:cNvSpPr/>
          <p:nvPr/>
        </p:nvSpPr>
        <p:spPr>
          <a:xfrm>
            <a:off x="489940" y="2850356"/>
            <a:ext cx="3936953" cy="446412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Text 6"/>
          <p:cNvSpPr txBox="1"/>
          <p:nvPr/>
        </p:nvSpPr>
        <p:spPr>
          <a:xfrm>
            <a:off x="644947" y="2974330"/>
            <a:ext cx="90438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docker images</a:t>
            </a:r>
          </a:p>
        </p:txBody>
      </p:sp>
      <p:sp>
        <p:nvSpPr>
          <p:cNvPr id="748" name="Shape 7"/>
          <p:cNvSpPr/>
          <p:nvPr/>
        </p:nvSpPr>
        <p:spPr>
          <a:xfrm>
            <a:off x="496118" y="3436292"/>
            <a:ext cx="3924601" cy="928690"/>
          </a:xfrm>
          <a:prstGeom prst="roundRect">
            <a:avLst>
              <a:gd name="adj" fmla="val 5610"/>
            </a:avLst>
          </a:prstGeom>
          <a:solidFill>
            <a:srgbClr val="B6D6F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74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0090" y="3620839"/>
            <a:ext cx="155006" cy="123976"/>
          </a:xfrm>
          <a:prstGeom prst="rect">
            <a:avLst/>
          </a:prstGeom>
          <a:ln w="12700">
            <a:miter lim="400000"/>
          </a:ln>
        </p:spPr>
      </p:pic>
      <p:sp>
        <p:nvSpPr>
          <p:cNvPr id="750" name="Text 8"/>
          <p:cNvSpPr txBox="1"/>
          <p:nvPr/>
        </p:nvSpPr>
        <p:spPr>
          <a:xfrm>
            <a:off x="899070" y="3591223"/>
            <a:ext cx="3397675" cy="600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Images stay stored locally until you explicitly delete them with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rmi image_name</a:t>
            </a:r>
            <a:r>
              <a:t>. Large images can take up significant disk space over time.</a:t>
            </a:r>
          </a:p>
        </p:txBody>
      </p:sp>
      <p:sp>
        <p:nvSpPr>
          <p:cNvPr id="751" name="Shape 9"/>
          <p:cNvSpPr/>
          <p:nvPr/>
        </p:nvSpPr>
        <p:spPr>
          <a:xfrm>
            <a:off x="4638749" y="1495275"/>
            <a:ext cx="4103193" cy="3009233"/>
          </a:xfrm>
          <a:prstGeom prst="roundRect">
            <a:avLst>
              <a:gd name="adj" fmla="val 2968"/>
            </a:avLst>
          </a:prstGeom>
          <a:solidFill>
            <a:srgbClr val="1B1B27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" name="Text 10"/>
          <p:cNvSpPr txBox="1"/>
          <p:nvPr/>
        </p:nvSpPr>
        <p:spPr>
          <a:xfrm>
            <a:off x="4762722" y="1619249"/>
            <a:ext cx="112598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Example Output</a:t>
            </a:r>
          </a:p>
        </p:txBody>
      </p:sp>
      <p:sp>
        <p:nvSpPr>
          <p:cNvPr id="753" name="Shape 11"/>
          <p:cNvSpPr/>
          <p:nvPr/>
        </p:nvSpPr>
        <p:spPr>
          <a:xfrm>
            <a:off x="4762722" y="1952625"/>
            <a:ext cx="3855245" cy="1041797"/>
          </a:xfrm>
          <a:prstGeom prst="roundRect">
            <a:avLst>
              <a:gd name="adj" fmla="val 5001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Shape 12"/>
          <p:cNvSpPr/>
          <p:nvPr/>
        </p:nvSpPr>
        <p:spPr>
          <a:xfrm>
            <a:off x="4756546" y="1952625"/>
            <a:ext cx="3867597" cy="1041797"/>
          </a:xfrm>
          <a:prstGeom prst="roundRect">
            <a:avLst>
              <a:gd name="adj" fmla="val 1786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5" name="Text 13"/>
          <p:cNvSpPr txBox="1"/>
          <p:nvPr/>
        </p:nvSpPr>
        <p:spPr>
          <a:xfrm>
            <a:off x="4911551" y="2076599"/>
            <a:ext cx="3557588" cy="793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REPOSITORY     TAG      IMAGE ID</a:t>
            </a:r>
          </a:p>
          <a:p>
            <a:pPr>
              <a:lnSpc>
                <a:spcPct val="133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email_router   latest   a8f3c91d2b11</a:t>
            </a:r>
          </a:p>
          <a:p>
            <a:pPr>
              <a:lnSpc>
                <a:spcPct val="133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python         3.11     4a7a1f401734</a:t>
            </a:r>
          </a:p>
          <a:p>
            <a:pPr>
              <a:lnSpc>
                <a:spcPct val="133000"/>
              </a:lnSpc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hello-world    latest   9c7a54a9a43c</a:t>
            </a:r>
          </a:p>
        </p:txBody>
      </p:sp>
      <p:sp>
        <p:nvSpPr>
          <p:cNvPr id="756" name="Text 14"/>
          <p:cNvSpPr txBox="1"/>
          <p:nvPr/>
        </p:nvSpPr>
        <p:spPr>
          <a:xfrm>
            <a:off x="4762722" y="3133948"/>
            <a:ext cx="3855246" cy="406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FFFFFF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Each row is a stored image.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REPOSITORY</a:t>
            </a:r>
            <a:r>
              <a:t> is the name,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TAG</a:t>
            </a:r>
            <a:r>
              <a:t> is the version label (default: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latest</a:t>
            </a:r>
            <a:r>
              <a:t>), and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IMAGE ID</a:t>
            </a:r>
            <a:r>
              <a:t> is the unique identifier.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Shape 0"/>
          <p:cNvSpPr/>
          <p:nvPr/>
        </p:nvSpPr>
        <p:spPr>
          <a:xfrm>
            <a:off x="496118" y="388291"/>
            <a:ext cx="936280" cy="233217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" name="Text 1"/>
          <p:cNvSpPr txBox="1"/>
          <p:nvPr/>
        </p:nvSpPr>
        <p:spPr>
          <a:xfrm>
            <a:off x="570533" y="425498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7 · SLIDE 38</a:t>
            </a:r>
          </a:p>
        </p:txBody>
      </p:sp>
      <p:sp>
        <p:nvSpPr>
          <p:cNvPr id="760" name="Text 2"/>
          <p:cNvSpPr txBox="1"/>
          <p:nvPr/>
        </p:nvSpPr>
        <p:spPr>
          <a:xfrm>
            <a:off x="496118" y="671066"/>
            <a:ext cx="392237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Viewing Your Docker Images</a:t>
            </a:r>
          </a:p>
        </p:txBody>
      </p:sp>
      <p:sp>
        <p:nvSpPr>
          <p:cNvPr id="761" name="Text 3"/>
          <p:cNvSpPr txBox="1"/>
          <p:nvPr/>
        </p:nvSpPr>
        <p:spPr>
          <a:xfrm>
            <a:off x="496119" y="1244649"/>
            <a:ext cx="729899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images</a:t>
            </a:r>
            <a:r>
              <a:t> command is your inventory of everything Docker has built or pulled on your machine. Get familiar with reading this output.</a:t>
            </a:r>
          </a:p>
        </p:txBody>
      </p:sp>
      <p:sp>
        <p:nvSpPr>
          <p:cNvPr id="762" name="Shape 4"/>
          <p:cNvSpPr/>
          <p:nvPr/>
        </p:nvSpPr>
        <p:spPr>
          <a:xfrm>
            <a:off x="496118" y="1587400"/>
            <a:ext cx="8151764" cy="1451075"/>
          </a:xfrm>
          <a:prstGeom prst="roundRect">
            <a:avLst>
              <a:gd name="adj" fmla="val 3590"/>
            </a:avLst>
          </a:prstGeom>
          <a:ln w="4763">
            <a:solidFill>
              <a:srgbClr val="000000">
                <a:alpha val="8000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" name="Text 5"/>
          <p:cNvSpPr txBox="1"/>
          <p:nvPr/>
        </p:nvSpPr>
        <p:spPr>
          <a:xfrm>
            <a:off x="625004" y="1671340"/>
            <a:ext cx="6943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Bold"/>
                <a:ea typeface="Roboto Regular Bold"/>
                <a:cs typeface="Roboto Regular Bold"/>
                <a:sym typeface="Roboto Regular Bold"/>
              </a:defRPr>
            </a:lvl1pPr>
          </a:lstStyle>
          <a:p>
            <a:pPr/>
            <a:r>
              <a:t>REPOSITORY</a:t>
            </a:r>
          </a:p>
        </p:txBody>
      </p:sp>
      <p:sp>
        <p:nvSpPr>
          <p:cNvPr id="764" name="Text 6"/>
          <p:cNvSpPr txBox="1"/>
          <p:nvPr/>
        </p:nvSpPr>
        <p:spPr>
          <a:xfrm>
            <a:off x="2662907" y="1671340"/>
            <a:ext cx="2312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Bold"/>
                <a:ea typeface="Roboto Regular Bold"/>
                <a:cs typeface="Roboto Regular Bold"/>
                <a:sym typeface="Roboto Regular Bold"/>
              </a:defRPr>
            </a:lvl1pPr>
          </a:lstStyle>
          <a:p>
            <a:pPr/>
            <a:r>
              <a:t>TAG</a:t>
            </a:r>
          </a:p>
        </p:txBody>
      </p:sp>
      <p:sp>
        <p:nvSpPr>
          <p:cNvPr id="765" name="Text 7"/>
          <p:cNvSpPr txBox="1"/>
          <p:nvPr/>
        </p:nvSpPr>
        <p:spPr>
          <a:xfrm>
            <a:off x="4698429" y="1671340"/>
            <a:ext cx="5013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Bold"/>
                <a:ea typeface="Roboto Regular Bold"/>
                <a:cs typeface="Roboto Regular Bold"/>
                <a:sym typeface="Roboto Regular Bold"/>
              </a:defRPr>
            </a:lvl1pPr>
          </a:lstStyle>
          <a:p>
            <a:pPr/>
            <a:r>
              <a:t>IMAGE ID</a:t>
            </a:r>
          </a:p>
        </p:txBody>
      </p:sp>
      <p:sp>
        <p:nvSpPr>
          <p:cNvPr id="766" name="Text 8"/>
          <p:cNvSpPr txBox="1"/>
          <p:nvPr/>
        </p:nvSpPr>
        <p:spPr>
          <a:xfrm>
            <a:off x="6733950" y="1671340"/>
            <a:ext cx="2501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Bold"/>
                <a:ea typeface="Roboto Regular Bold"/>
                <a:cs typeface="Roboto Regular Bold"/>
                <a:sym typeface="Roboto Regular Bold"/>
              </a:defRPr>
            </a:lvl1pPr>
          </a:lstStyle>
          <a:p>
            <a:pPr/>
            <a:r>
              <a:t>SIZE</a:t>
            </a:r>
          </a:p>
        </p:txBody>
      </p:sp>
      <p:sp>
        <p:nvSpPr>
          <p:cNvPr id="767" name="Text 9"/>
          <p:cNvSpPr txBox="1"/>
          <p:nvPr/>
        </p:nvSpPr>
        <p:spPr>
          <a:xfrm>
            <a:off x="625004" y="2032916"/>
            <a:ext cx="6454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email_router</a:t>
            </a:r>
          </a:p>
        </p:txBody>
      </p:sp>
      <p:sp>
        <p:nvSpPr>
          <p:cNvPr id="768" name="Text 10"/>
          <p:cNvSpPr txBox="1"/>
          <p:nvPr/>
        </p:nvSpPr>
        <p:spPr>
          <a:xfrm>
            <a:off x="2662907" y="2032916"/>
            <a:ext cx="29705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latest</a:t>
            </a:r>
          </a:p>
        </p:txBody>
      </p:sp>
      <p:sp>
        <p:nvSpPr>
          <p:cNvPr id="769" name="Text 11"/>
          <p:cNvSpPr txBox="1"/>
          <p:nvPr/>
        </p:nvSpPr>
        <p:spPr>
          <a:xfrm>
            <a:off x="4698429" y="2032916"/>
            <a:ext cx="4958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a8f3c91d</a:t>
            </a:r>
          </a:p>
        </p:txBody>
      </p:sp>
      <p:sp>
        <p:nvSpPr>
          <p:cNvPr id="770" name="Text 12"/>
          <p:cNvSpPr txBox="1"/>
          <p:nvPr/>
        </p:nvSpPr>
        <p:spPr>
          <a:xfrm>
            <a:off x="6733950" y="2032916"/>
            <a:ext cx="376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185MB</a:t>
            </a:r>
          </a:p>
        </p:txBody>
      </p:sp>
      <p:sp>
        <p:nvSpPr>
          <p:cNvPr id="771" name="Text 13"/>
          <p:cNvSpPr txBox="1"/>
          <p:nvPr/>
        </p:nvSpPr>
        <p:spPr>
          <a:xfrm>
            <a:off x="625004" y="2394496"/>
            <a:ext cx="3590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772" name="Text 14"/>
          <p:cNvSpPr txBox="1"/>
          <p:nvPr/>
        </p:nvSpPr>
        <p:spPr>
          <a:xfrm>
            <a:off x="2662907" y="2394496"/>
            <a:ext cx="2355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3.11</a:t>
            </a:r>
          </a:p>
        </p:txBody>
      </p:sp>
      <p:sp>
        <p:nvSpPr>
          <p:cNvPr id="773" name="Text 15"/>
          <p:cNvSpPr txBox="1"/>
          <p:nvPr/>
        </p:nvSpPr>
        <p:spPr>
          <a:xfrm>
            <a:off x="4698429" y="2394496"/>
            <a:ext cx="4979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4a7a1f40</a:t>
            </a:r>
          </a:p>
        </p:txBody>
      </p:sp>
      <p:sp>
        <p:nvSpPr>
          <p:cNvPr id="774" name="Text 16"/>
          <p:cNvSpPr txBox="1"/>
          <p:nvPr/>
        </p:nvSpPr>
        <p:spPr>
          <a:xfrm>
            <a:off x="6733950" y="2394496"/>
            <a:ext cx="376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912MB</a:t>
            </a:r>
          </a:p>
        </p:txBody>
      </p:sp>
      <p:sp>
        <p:nvSpPr>
          <p:cNvPr id="775" name="Text 17"/>
          <p:cNvSpPr txBox="1"/>
          <p:nvPr/>
        </p:nvSpPr>
        <p:spPr>
          <a:xfrm>
            <a:off x="625004" y="2756074"/>
            <a:ext cx="5706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hello-world</a:t>
            </a:r>
          </a:p>
        </p:txBody>
      </p:sp>
      <p:sp>
        <p:nvSpPr>
          <p:cNvPr id="776" name="Text 18"/>
          <p:cNvSpPr txBox="1"/>
          <p:nvPr/>
        </p:nvSpPr>
        <p:spPr>
          <a:xfrm>
            <a:off x="2662907" y="2756074"/>
            <a:ext cx="29705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latest</a:t>
            </a:r>
          </a:p>
        </p:txBody>
      </p:sp>
      <p:sp>
        <p:nvSpPr>
          <p:cNvPr id="777" name="Text 19"/>
          <p:cNvSpPr txBox="1"/>
          <p:nvPr/>
        </p:nvSpPr>
        <p:spPr>
          <a:xfrm>
            <a:off x="4698429" y="2756074"/>
            <a:ext cx="5180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9c7a54a9</a:t>
            </a:r>
          </a:p>
        </p:txBody>
      </p:sp>
      <p:sp>
        <p:nvSpPr>
          <p:cNvPr id="778" name="Text 20"/>
          <p:cNvSpPr txBox="1"/>
          <p:nvPr/>
        </p:nvSpPr>
        <p:spPr>
          <a:xfrm>
            <a:off x="6733950" y="2756074"/>
            <a:ext cx="3646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13.3kB</a:t>
            </a:r>
          </a:p>
        </p:txBody>
      </p:sp>
      <p:sp>
        <p:nvSpPr>
          <p:cNvPr id="779" name="Shape 21"/>
          <p:cNvSpPr/>
          <p:nvPr/>
        </p:nvSpPr>
        <p:spPr>
          <a:xfrm>
            <a:off x="496118" y="3178000"/>
            <a:ext cx="4013897" cy="728961"/>
          </a:xfrm>
          <a:prstGeom prst="roundRect">
            <a:avLst>
              <a:gd name="adj" fmla="val 7147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Text 22"/>
          <p:cNvSpPr txBox="1"/>
          <p:nvPr/>
        </p:nvSpPr>
        <p:spPr>
          <a:xfrm>
            <a:off x="624854" y="3306738"/>
            <a:ext cx="93304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REPOSITORY</a:t>
            </a:r>
          </a:p>
        </p:txBody>
      </p:sp>
      <p:sp>
        <p:nvSpPr>
          <p:cNvPr id="781" name="Text 23"/>
          <p:cNvSpPr txBox="1"/>
          <p:nvPr/>
        </p:nvSpPr>
        <p:spPr>
          <a:xfrm>
            <a:off x="624854" y="3575000"/>
            <a:ext cx="311928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The name given to the image with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-t</a:t>
            </a:r>
            <a:r>
              <a:t> during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build</a:t>
            </a:r>
            <a:r>
              <a:t>.</a:t>
            </a:r>
          </a:p>
        </p:txBody>
      </p:sp>
      <p:sp>
        <p:nvSpPr>
          <p:cNvPr id="782" name="Shape 24"/>
          <p:cNvSpPr/>
          <p:nvPr/>
        </p:nvSpPr>
        <p:spPr>
          <a:xfrm>
            <a:off x="4633986" y="3178000"/>
            <a:ext cx="4013897" cy="728961"/>
          </a:xfrm>
          <a:prstGeom prst="roundRect">
            <a:avLst>
              <a:gd name="adj" fmla="val 7147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3" name="Text 25"/>
          <p:cNvSpPr txBox="1"/>
          <p:nvPr/>
        </p:nvSpPr>
        <p:spPr>
          <a:xfrm>
            <a:off x="4762722" y="3306738"/>
            <a:ext cx="30195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TAG</a:t>
            </a:r>
          </a:p>
        </p:txBody>
      </p:sp>
      <p:sp>
        <p:nvSpPr>
          <p:cNvPr id="784" name="Text 26"/>
          <p:cNvSpPr txBox="1"/>
          <p:nvPr/>
        </p:nvSpPr>
        <p:spPr>
          <a:xfrm>
            <a:off x="4762722" y="3575000"/>
            <a:ext cx="32051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Version label. Defaults to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latest</a:t>
            </a:r>
            <a:r>
              <a:t> when not specified explicitly.</a:t>
            </a:r>
          </a:p>
        </p:txBody>
      </p:sp>
      <p:sp>
        <p:nvSpPr>
          <p:cNvPr id="785" name="Shape 27"/>
          <p:cNvSpPr/>
          <p:nvPr/>
        </p:nvSpPr>
        <p:spPr>
          <a:xfrm>
            <a:off x="496118" y="4030934"/>
            <a:ext cx="4013897" cy="724200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 28"/>
          <p:cNvSpPr txBox="1"/>
          <p:nvPr/>
        </p:nvSpPr>
        <p:spPr>
          <a:xfrm>
            <a:off x="624854" y="4159672"/>
            <a:ext cx="66451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IMAGE ID</a:t>
            </a:r>
          </a:p>
        </p:txBody>
      </p:sp>
      <p:sp>
        <p:nvSpPr>
          <p:cNvPr id="787" name="Text 29"/>
          <p:cNvSpPr txBox="1"/>
          <p:nvPr/>
        </p:nvSpPr>
        <p:spPr>
          <a:xfrm>
            <a:off x="624855" y="4427932"/>
            <a:ext cx="24616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A unique hash identifying this exact image build.</a:t>
            </a:r>
          </a:p>
        </p:txBody>
      </p:sp>
      <p:sp>
        <p:nvSpPr>
          <p:cNvPr id="788" name="Shape 30"/>
          <p:cNvSpPr/>
          <p:nvPr/>
        </p:nvSpPr>
        <p:spPr>
          <a:xfrm>
            <a:off x="4633986" y="4030934"/>
            <a:ext cx="4013897" cy="724200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9" name="Text 31"/>
          <p:cNvSpPr txBox="1"/>
          <p:nvPr/>
        </p:nvSpPr>
        <p:spPr>
          <a:xfrm>
            <a:off x="4762722" y="4159672"/>
            <a:ext cx="32679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SIZE</a:t>
            </a:r>
          </a:p>
        </p:txBody>
      </p:sp>
      <p:sp>
        <p:nvSpPr>
          <p:cNvPr id="790" name="Text 32"/>
          <p:cNvSpPr txBox="1"/>
          <p:nvPr/>
        </p:nvSpPr>
        <p:spPr>
          <a:xfrm>
            <a:off x="4762722" y="4427932"/>
            <a:ext cx="26921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Disk space used by the image on your local machine.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79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76986" y="92943"/>
            <a:ext cx="3305029" cy="4957539"/>
          </a:xfrm>
          <a:prstGeom prst="rect">
            <a:avLst/>
          </a:prstGeom>
          <a:ln w="12700">
            <a:miter lim="400000"/>
          </a:ln>
        </p:spPr>
      </p:pic>
      <p:sp>
        <p:nvSpPr>
          <p:cNvPr id="794" name="Shape 1"/>
          <p:cNvSpPr/>
          <p:nvPr/>
        </p:nvSpPr>
        <p:spPr>
          <a:xfrm>
            <a:off x="496118" y="1871439"/>
            <a:ext cx="464346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Text 2"/>
          <p:cNvSpPr txBox="1"/>
          <p:nvPr/>
        </p:nvSpPr>
        <p:spPr>
          <a:xfrm>
            <a:off x="570531" y="1908646"/>
            <a:ext cx="295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8</a:t>
            </a:r>
          </a:p>
        </p:txBody>
      </p:sp>
      <p:sp>
        <p:nvSpPr>
          <p:cNvPr id="796" name="Text 3"/>
          <p:cNvSpPr txBox="1"/>
          <p:nvPr/>
        </p:nvSpPr>
        <p:spPr>
          <a:xfrm>
            <a:off x="496117" y="2154213"/>
            <a:ext cx="3676893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33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Running Containers</a:t>
            </a:r>
          </a:p>
        </p:txBody>
      </p:sp>
      <p:sp>
        <p:nvSpPr>
          <p:cNvPr id="797" name="Text 4"/>
          <p:cNvSpPr txBox="1"/>
          <p:nvPr/>
        </p:nvSpPr>
        <p:spPr>
          <a:xfrm>
            <a:off x="496119" y="2875134"/>
            <a:ext cx="4722763" cy="39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An image is just a blueprint. A container brings it to life. Let's start our application and see Docker in action.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Shape 0"/>
          <p:cNvSpPr/>
          <p:nvPr/>
        </p:nvSpPr>
        <p:spPr>
          <a:xfrm>
            <a:off x="496118" y="526404"/>
            <a:ext cx="936280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Text 1"/>
          <p:cNvSpPr txBox="1"/>
          <p:nvPr/>
        </p:nvSpPr>
        <p:spPr>
          <a:xfrm>
            <a:off x="570533" y="563612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8 · SLIDE 39</a:t>
            </a:r>
          </a:p>
        </p:txBody>
      </p:sp>
      <p:sp>
        <p:nvSpPr>
          <p:cNvPr id="801" name="Text 2"/>
          <p:cNvSpPr txBox="1"/>
          <p:nvPr/>
        </p:nvSpPr>
        <p:spPr>
          <a:xfrm>
            <a:off x="496118" y="809177"/>
            <a:ext cx="386628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What Is a Docker Container?</a:t>
            </a:r>
          </a:p>
        </p:txBody>
      </p:sp>
      <p:sp>
        <p:nvSpPr>
          <p:cNvPr id="802" name="Text 3"/>
          <p:cNvSpPr txBox="1"/>
          <p:nvPr/>
        </p:nvSpPr>
        <p:spPr>
          <a:xfrm>
            <a:off x="496118" y="1494382"/>
            <a:ext cx="3924601" cy="1302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A Docker container is a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live, running instance of an image</a:t>
            </a:r>
            <a:r>
              <a:t>. When you run a container, Docker takes the image (the static blueprint) and executes it as an isolated process on your machine.</a:t>
            </a:r>
          </a:p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The container is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isolated</a:t>
            </a:r>
            <a:r>
              <a:t> — it has its own filesystem, its own network stack, and its own processes. It cannot interfere with other containers or the host machine, making it safe and predictable.</a:t>
            </a:r>
          </a:p>
        </p:txBody>
      </p:sp>
      <p:sp>
        <p:nvSpPr>
          <p:cNvPr id="803" name="Shape 4"/>
          <p:cNvSpPr/>
          <p:nvPr/>
        </p:nvSpPr>
        <p:spPr>
          <a:xfrm>
            <a:off x="496118" y="2936302"/>
            <a:ext cx="3924601" cy="923927"/>
          </a:xfrm>
          <a:prstGeom prst="roundRect">
            <a:avLst>
              <a:gd name="adj" fmla="val 5639"/>
            </a:avLst>
          </a:prstGeom>
          <a:solidFill>
            <a:srgbClr val="B6D6F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80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0090" y="3120850"/>
            <a:ext cx="155006" cy="123976"/>
          </a:xfrm>
          <a:prstGeom prst="rect">
            <a:avLst/>
          </a:prstGeom>
          <a:ln w="12700">
            <a:miter lim="400000"/>
          </a:ln>
        </p:spPr>
      </p:pic>
      <p:sp>
        <p:nvSpPr>
          <p:cNvPr id="805" name="Text 5"/>
          <p:cNvSpPr txBox="1"/>
          <p:nvPr/>
        </p:nvSpPr>
        <p:spPr>
          <a:xfrm>
            <a:off x="899070" y="3091234"/>
            <a:ext cx="3397675" cy="595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You can run multiple containers from the same image simultaneously. Each is completely independent of the others.</a:t>
            </a:r>
          </a:p>
        </p:txBody>
      </p:sp>
      <p:pic>
        <p:nvPicPr>
          <p:cNvPr id="80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91150" y="1522287"/>
            <a:ext cx="2598317" cy="2243436"/>
          </a:xfrm>
          <a:prstGeom prst="rect">
            <a:avLst/>
          </a:prstGeom>
          <a:ln w="12700">
            <a:miter lim="400000"/>
          </a:ln>
        </p:spPr>
      </p:pic>
      <p:sp>
        <p:nvSpPr>
          <p:cNvPr id="807" name="Text 6"/>
          <p:cNvSpPr txBox="1"/>
          <p:nvPr/>
        </p:nvSpPr>
        <p:spPr>
          <a:xfrm>
            <a:off x="6833829" y="3158667"/>
            <a:ext cx="946654" cy="364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ct val="104000"/>
              </a:lnSpc>
              <a:defRPr sz="11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Docker Container</a:t>
            </a:r>
          </a:p>
        </p:txBody>
      </p:sp>
      <p:sp>
        <p:nvSpPr>
          <p:cNvPr id="808" name="Text 7"/>
          <p:cNvSpPr txBox="1"/>
          <p:nvPr/>
        </p:nvSpPr>
        <p:spPr>
          <a:xfrm>
            <a:off x="5649585" y="3249846"/>
            <a:ext cx="89015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sz="11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Docker Image</a:t>
            </a:r>
          </a:p>
        </p:txBody>
      </p:sp>
      <p:sp>
        <p:nvSpPr>
          <p:cNvPr id="809" name="Text 8"/>
          <p:cNvSpPr txBox="1"/>
          <p:nvPr/>
        </p:nvSpPr>
        <p:spPr>
          <a:xfrm>
            <a:off x="4728045" y="3905250"/>
            <a:ext cx="3924599" cy="600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The transition from image to container takes only seconds. Docker reads the image, creates an isolated environment, and starts executing the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CMD</a:t>
            </a:r>
            <a:r>
              <a:t> instruction defined in the Dockerfile.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Shape 0"/>
          <p:cNvSpPr/>
          <p:nvPr/>
        </p:nvSpPr>
        <p:spPr>
          <a:xfrm>
            <a:off x="496118" y="545231"/>
            <a:ext cx="842889" cy="202706"/>
          </a:xfrm>
          <a:prstGeom prst="roundRect">
            <a:avLst>
              <a:gd name="adj" fmla="val 18506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 1"/>
          <p:cNvSpPr txBox="1"/>
          <p:nvPr/>
        </p:nvSpPr>
        <p:spPr>
          <a:xfrm>
            <a:off x="563089" y="578718"/>
            <a:ext cx="7184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8 · SLIDE 40</a:t>
            </a:r>
          </a:p>
        </p:txBody>
      </p:sp>
      <p:sp>
        <p:nvSpPr>
          <p:cNvPr id="813" name="Text 2"/>
          <p:cNvSpPr txBox="1"/>
          <p:nvPr/>
        </p:nvSpPr>
        <p:spPr>
          <a:xfrm>
            <a:off x="496118" y="788117"/>
            <a:ext cx="242820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1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Running a Container</a:t>
            </a:r>
          </a:p>
        </p:txBody>
      </p:sp>
      <p:sp>
        <p:nvSpPr>
          <p:cNvPr id="814" name="Text 3"/>
          <p:cNvSpPr txBox="1"/>
          <p:nvPr/>
        </p:nvSpPr>
        <p:spPr>
          <a:xfrm>
            <a:off x="496118" y="1388120"/>
            <a:ext cx="62128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Command</a:t>
            </a:r>
          </a:p>
        </p:txBody>
      </p:sp>
      <p:sp>
        <p:nvSpPr>
          <p:cNvPr id="815" name="Shape 4"/>
          <p:cNvSpPr/>
          <p:nvPr/>
        </p:nvSpPr>
        <p:spPr>
          <a:xfrm>
            <a:off x="496118" y="1675507"/>
            <a:ext cx="3939707" cy="392908"/>
          </a:xfrm>
          <a:prstGeom prst="roundRect">
            <a:avLst>
              <a:gd name="adj" fmla="val 11934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6" name="Shape 5"/>
          <p:cNvSpPr/>
          <p:nvPr/>
        </p:nvSpPr>
        <p:spPr>
          <a:xfrm>
            <a:off x="490537" y="1675507"/>
            <a:ext cx="3950866" cy="392908"/>
          </a:xfrm>
          <a:prstGeom prst="roundRect">
            <a:avLst>
              <a:gd name="adj" fmla="val 4262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7" name="Text 6"/>
          <p:cNvSpPr txBox="1"/>
          <p:nvPr/>
        </p:nvSpPr>
        <p:spPr>
          <a:xfrm>
            <a:off x="630062" y="1787126"/>
            <a:ext cx="22076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docker run -p 8000:8000 email_router</a:t>
            </a:r>
          </a:p>
        </p:txBody>
      </p:sp>
      <p:sp>
        <p:nvSpPr>
          <p:cNvPr id="818" name="Text 7"/>
          <p:cNvSpPr txBox="1"/>
          <p:nvPr/>
        </p:nvSpPr>
        <p:spPr>
          <a:xfrm>
            <a:off x="496118" y="2181448"/>
            <a:ext cx="97637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Breaking It Down</a:t>
            </a:r>
          </a:p>
        </p:txBody>
      </p:sp>
      <p:sp>
        <p:nvSpPr>
          <p:cNvPr id="819" name="Shape 8"/>
          <p:cNvSpPr/>
          <p:nvPr/>
        </p:nvSpPr>
        <p:spPr>
          <a:xfrm>
            <a:off x="496118" y="2468833"/>
            <a:ext cx="1919586" cy="1210050"/>
          </a:xfrm>
          <a:prstGeom prst="roundRect">
            <a:avLst>
              <a:gd name="adj" fmla="val 3875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0" name="Text 9"/>
          <p:cNvSpPr txBox="1"/>
          <p:nvPr/>
        </p:nvSpPr>
        <p:spPr>
          <a:xfrm>
            <a:off x="622025" y="2594742"/>
            <a:ext cx="774826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docker run</a:t>
            </a:r>
          </a:p>
        </p:txBody>
      </p:sp>
      <p:sp>
        <p:nvSpPr>
          <p:cNvPr id="821" name="Text 10"/>
          <p:cNvSpPr txBox="1"/>
          <p:nvPr/>
        </p:nvSpPr>
        <p:spPr>
          <a:xfrm>
            <a:off x="622027" y="2874316"/>
            <a:ext cx="1667768" cy="339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Creates and starts a new container from an image.</a:t>
            </a:r>
          </a:p>
        </p:txBody>
      </p:sp>
      <p:sp>
        <p:nvSpPr>
          <p:cNvPr id="822" name="Shape 11"/>
          <p:cNvSpPr/>
          <p:nvPr/>
        </p:nvSpPr>
        <p:spPr>
          <a:xfrm>
            <a:off x="2516163" y="2468833"/>
            <a:ext cx="1919662" cy="1210050"/>
          </a:xfrm>
          <a:prstGeom prst="roundRect">
            <a:avLst>
              <a:gd name="adj" fmla="val 3875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3" name="Text 12"/>
          <p:cNvSpPr txBox="1"/>
          <p:nvPr/>
        </p:nvSpPr>
        <p:spPr>
          <a:xfrm>
            <a:off x="2642071" y="2594742"/>
            <a:ext cx="92724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-p 8000:8000</a:t>
            </a:r>
          </a:p>
        </p:txBody>
      </p:sp>
      <p:sp>
        <p:nvSpPr>
          <p:cNvPr id="824" name="Text 13"/>
          <p:cNvSpPr txBox="1"/>
          <p:nvPr/>
        </p:nvSpPr>
        <p:spPr>
          <a:xfrm>
            <a:off x="2642071" y="2874317"/>
            <a:ext cx="1667844" cy="678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Maps port 8000 on your machine to port 8000 inside the container. This is how you access the application from your browser.</a:t>
            </a:r>
          </a:p>
        </p:txBody>
      </p:sp>
      <p:sp>
        <p:nvSpPr>
          <p:cNvPr id="825" name="Shape 14"/>
          <p:cNvSpPr/>
          <p:nvPr/>
        </p:nvSpPr>
        <p:spPr>
          <a:xfrm>
            <a:off x="496118" y="3779341"/>
            <a:ext cx="3939707" cy="705819"/>
          </a:xfrm>
          <a:prstGeom prst="roundRect">
            <a:avLst>
              <a:gd name="adj" fmla="val 6643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6" name="Text 15"/>
          <p:cNvSpPr txBox="1"/>
          <p:nvPr/>
        </p:nvSpPr>
        <p:spPr>
          <a:xfrm>
            <a:off x="622025" y="3905249"/>
            <a:ext cx="92725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email_router</a:t>
            </a:r>
          </a:p>
        </p:txBody>
      </p:sp>
      <p:sp>
        <p:nvSpPr>
          <p:cNvPr id="827" name="Text 16"/>
          <p:cNvSpPr txBox="1"/>
          <p:nvPr/>
        </p:nvSpPr>
        <p:spPr>
          <a:xfrm>
            <a:off x="622026" y="4184824"/>
            <a:ext cx="28540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The name of the image to run (set during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build -t</a:t>
            </a:r>
            <a:r>
              <a:t>).</a:t>
            </a:r>
          </a:p>
        </p:txBody>
      </p:sp>
      <p:sp>
        <p:nvSpPr>
          <p:cNvPr id="828" name="Shape 17"/>
          <p:cNvSpPr/>
          <p:nvPr/>
        </p:nvSpPr>
        <p:spPr>
          <a:xfrm>
            <a:off x="4632573" y="1287661"/>
            <a:ext cx="4100439" cy="3310533"/>
          </a:xfrm>
          <a:prstGeom prst="roundRect">
            <a:avLst>
              <a:gd name="adj" fmla="val 2428"/>
            </a:avLst>
          </a:prstGeom>
          <a:solidFill>
            <a:srgbClr val="1B1B27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9" name="Text 18"/>
          <p:cNvSpPr txBox="1"/>
          <p:nvPr/>
        </p:nvSpPr>
        <p:spPr>
          <a:xfrm>
            <a:off x="4744194" y="1388120"/>
            <a:ext cx="98310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Expected Output</a:t>
            </a:r>
          </a:p>
        </p:txBody>
      </p:sp>
      <p:sp>
        <p:nvSpPr>
          <p:cNvPr id="830" name="Shape 19"/>
          <p:cNvSpPr/>
          <p:nvPr/>
        </p:nvSpPr>
        <p:spPr>
          <a:xfrm>
            <a:off x="4744194" y="1675507"/>
            <a:ext cx="3877198" cy="1410893"/>
          </a:xfrm>
          <a:prstGeom prst="roundRect">
            <a:avLst>
              <a:gd name="adj" fmla="val 3323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Shape 20"/>
          <p:cNvSpPr/>
          <p:nvPr/>
        </p:nvSpPr>
        <p:spPr>
          <a:xfrm>
            <a:off x="4738613" y="1675507"/>
            <a:ext cx="3888360" cy="1410893"/>
          </a:xfrm>
          <a:prstGeom prst="roundRect">
            <a:avLst>
              <a:gd name="adj" fmla="val 1187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Text 21"/>
          <p:cNvSpPr txBox="1"/>
          <p:nvPr/>
        </p:nvSpPr>
        <p:spPr>
          <a:xfrm>
            <a:off x="4878139" y="1787126"/>
            <a:ext cx="3609307" cy="1187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7000"/>
              </a:lnSpc>
              <a:defRPr sz="800">
                <a:solidFill>
                  <a:srgbClr val="032F6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$ docker run -p 8000:8000 email_router</a:t>
            </a:r>
          </a:p>
          <a:p>
            <a:pPr>
              <a:lnSpc>
                <a:spcPct val="127000"/>
              </a:lnSpc>
              <a:defRPr sz="800"/>
            </a:pPr>
          </a:p>
          <a:p>
            <a:pPr>
              <a:lnSpc>
                <a:spcPct val="127000"/>
              </a:lnSpc>
              <a:defRPr sz="800">
                <a:solidFill>
                  <a:srgbClr val="032F6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INFO:     Started server process [1]</a:t>
            </a:r>
          </a:p>
          <a:p>
            <a:pPr>
              <a:lnSpc>
                <a:spcPct val="127000"/>
              </a:lnSpc>
              <a:defRPr sz="800">
                <a:solidFill>
                  <a:srgbClr val="032F6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INFO:     Waiting for application startup.</a:t>
            </a:r>
          </a:p>
          <a:p>
            <a:pPr>
              <a:lnSpc>
                <a:spcPct val="127000"/>
              </a:lnSpc>
              <a:defRPr sz="800">
                <a:solidFill>
                  <a:srgbClr val="032F6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INFO:     Application startup complete.</a:t>
            </a:r>
          </a:p>
          <a:p>
            <a:pPr>
              <a:lnSpc>
                <a:spcPct val="127000"/>
              </a:lnSpc>
              <a:defRPr sz="800">
                <a:solidFill>
                  <a:srgbClr val="032F6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INFO:     Uvicorn running on</a:t>
            </a:r>
          </a:p>
          <a:p>
            <a:pPr>
              <a:lnSpc>
                <a:spcPct val="127000"/>
              </a:lnSpc>
              <a:defRPr sz="800">
                <a:solidFill>
                  <a:srgbClr val="032F6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http://0.0.0.0:8000</a:t>
            </a:r>
          </a:p>
        </p:txBody>
      </p:sp>
      <p:sp>
        <p:nvSpPr>
          <p:cNvPr id="833" name="Text 22"/>
          <p:cNvSpPr txBox="1"/>
          <p:nvPr/>
        </p:nvSpPr>
        <p:spPr>
          <a:xfrm>
            <a:off x="4744194" y="3199433"/>
            <a:ext cx="3877198" cy="3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7000"/>
              </a:lnSpc>
              <a:defRPr sz="800">
                <a:solidFill>
                  <a:srgbClr val="FFFFFF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Open your browser and navigate to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http://localhost:8000</a:t>
            </a:r>
            <a:r>
              <a:t> — your FastAPI application is live inside a Docker container.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Shape 0"/>
          <p:cNvSpPr/>
          <p:nvPr/>
        </p:nvSpPr>
        <p:spPr>
          <a:xfrm>
            <a:off x="387622" y="277937"/>
            <a:ext cx="731196" cy="168475"/>
          </a:xfrm>
          <a:prstGeom prst="roundRect">
            <a:avLst>
              <a:gd name="adj" fmla="val 19328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Text 1"/>
          <p:cNvSpPr txBox="1"/>
          <p:nvPr/>
        </p:nvSpPr>
        <p:spPr>
          <a:xfrm>
            <a:off x="445739" y="306958"/>
            <a:ext cx="6176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9000"/>
              </a:lnSpc>
              <a:defRPr sz="6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8 · SLIDE 41</a:t>
            </a:r>
          </a:p>
        </p:txBody>
      </p:sp>
      <p:sp>
        <p:nvSpPr>
          <p:cNvPr id="837" name="Text 2"/>
          <p:cNvSpPr txBox="1"/>
          <p:nvPr/>
        </p:nvSpPr>
        <p:spPr>
          <a:xfrm>
            <a:off x="387622" y="476622"/>
            <a:ext cx="564343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9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What Happens Internally When You Run a Container</a:t>
            </a:r>
          </a:p>
        </p:txBody>
      </p:sp>
      <p:sp>
        <p:nvSpPr>
          <p:cNvPr id="838" name="Text 3"/>
          <p:cNvSpPr txBox="1"/>
          <p:nvPr/>
        </p:nvSpPr>
        <p:spPr>
          <a:xfrm>
            <a:off x="387621" y="893041"/>
            <a:ext cx="6187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19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When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run</a:t>
            </a:r>
            <a:r>
              <a:t> is executed, Docker performs a sequence of operations in the background to bring your application to life inside an isolated environment.</a:t>
            </a:r>
          </a:p>
        </p:txBody>
      </p:sp>
      <p:pic>
        <p:nvPicPr>
          <p:cNvPr id="83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8021" y="1120971"/>
            <a:ext cx="6507958" cy="2978500"/>
          </a:xfrm>
          <a:prstGeom prst="rect">
            <a:avLst/>
          </a:prstGeom>
          <a:ln w="12700">
            <a:miter lim="400000"/>
          </a:ln>
        </p:spPr>
      </p:pic>
      <p:sp>
        <p:nvSpPr>
          <p:cNvPr id="840" name="Text 4"/>
          <p:cNvSpPr txBox="1"/>
          <p:nvPr/>
        </p:nvSpPr>
        <p:spPr>
          <a:xfrm>
            <a:off x="6501096" y="3392170"/>
            <a:ext cx="82204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sz="14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Map Ports</a:t>
            </a:r>
          </a:p>
        </p:txBody>
      </p:sp>
      <p:sp>
        <p:nvSpPr>
          <p:cNvPr id="841" name="Text 5"/>
          <p:cNvSpPr txBox="1"/>
          <p:nvPr/>
        </p:nvSpPr>
        <p:spPr>
          <a:xfrm>
            <a:off x="4867024" y="3392170"/>
            <a:ext cx="101051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sz="14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Start FastAPI</a:t>
            </a:r>
          </a:p>
        </p:txBody>
      </p:sp>
      <p:sp>
        <p:nvSpPr>
          <p:cNvPr id="842" name="Text 6"/>
          <p:cNvSpPr txBox="1"/>
          <p:nvPr/>
        </p:nvSpPr>
        <p:spPr>
          <a:xfrm>
            <a:off x="3229897" y="3274486"/>
            <a:ext cx="1221830" cy="470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ct val="104000"/>
              </a:lnSpc>
              <a:defRPr sz="14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Create Container</a:t>
            </a:r>
          </a:p>
        </p:txBody>
      </p:sp>
      <p:sp>
        <p:nvSpPr>
          <p:cNvPr id="843" name="Text 7"/>
          <p:cNvSpPr txBox="1"/>
          <p:nvPr/>
        </p:nvSpPr>
        <p:spPr>
          <a:xfrm>
            <a:off x="1787590" y="3392170"/>
            <a:ext cx="97655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sz="14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Read Image</a:t>
            </a:r>
          </a:p>
        </p:txBody>
      </p:sp>
      <p:sp>
        <p:nvSpPr>
          <p:cNvPr id="844" name="Shape 8"/>
          <p:cNvSpPr/>
          <p:nvPr/>
        </p:nvSpPr>
        <p:spPr>
          <a:xfrm>
            <a:off x="387622" y="4184600"/>
            <a:ext cx="2739109" cy="680963"/>
          </a:xfrm>
          <a:prstGeom prst="roundRect">
            <a:avLst>
              <a:gd name="adj" fmla="val 5977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5" name="Text 9"/>
          <p:cNvSpPr txBox="1"/>
          <p:nvPr/>
        </p:nvSpPr>
        <p:spPr>
          <a:xfrm>
            <a:off x="489270" y="4286248"/>
            <a:ext cx="9264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9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Creates Container</a:t>
            </a:r>
          </a:p>
        </p:txBody>
      </p:sp>
      <p:sp>
        <p:nvSpPr>
          <p:cNvPr id="846" name="Text 10"/>
          <p:cNvSpPr txBox="1"/>
          <p:nvPr/>
        </p:nvSpPr>
        <p:spPr>
          <a:xfrm>
            <a:off x="489271" y="4483074"/>
            <a:ext cx="2535809" cy="276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9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Docker creates a new isolated filesystem layer on top of the image.</a:t>
            </a:r>
          </a:p>
        </p:txBody>
      </p:sp>
      <p:sp>
        <p:nvSpPr>
          <p:cNvPr id="847" name="Shape 11"/>
          <p:cNvSpPr/>
          <p:nvPr/>
        </p:nvSpPr>
        <p:spPr>
          <a:xfrm>
            <a:off x="3202408" y="4184600"/>
            <a:ext cx="2739109" cy="680963"/>
          </a:xfrm>
          <a:prstGeom prst="roundRect">
            <a:avLst>
              <a:gd name="adj" fmla="val 5977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Text 12"/>
          <p:cNvSpPr txBox="1"/>
          <p:nvPr/>
        </p:nvSpPr>
        <p:spPr>
          <a:xfrm>
            <a:off x="3304059" y="4286248"/>
            <a:ext cx="7079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9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Starts FastAPI</a:t>
            </a:r>
          </a:p>
        </p:txBody>
      </p:sp>
      <p:sp>
        <p:nvSpPr>
          <p:cNvPr id="849" name="Text 13"/>
          <p:cNvSpPr txBox="1"/>
          <p:nvPr/>
        </p:nvSpPr>
        <p:spPr>
          <a:xfrm>
            <a:off x="3304059" y="4483074"/>
            <a:ext cx="2535810" cy="28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19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Docker executes the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CMD</a:t>
            </a:r>
            <a:r>
              <a:t> from the Dockerfile — starting the Uvicorn server.</a:t>
            </a:r>
          </a:p>
        </p:txBody>
      </p:sp>
      <p:sp>
        <p:nvSpPr>
          <p:cNvPr id="850" name="Shape 14"/>
          <p:cNvSpPr/>
          <p:nvPr/>
        </p:nvSpPr>
        <p:spPr>
          <a:xfrm>
            <a:off x="6017195" y="4184600"/>
            <a:ext cx="2739109" cy="680963"/>
          </a:xfrm>
          <a:prstGeom prst="roundRect">
            <a:avLst>
              <a:gd name="adj" fmla="val 5977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1" name="Text 15"/>
          <p:cNvSpPr txBox="1"/>
          <p:nvPr/>
        </p:nvSpPr>
        <p:spPr>
          <a:xfrm>
            <a:off x="6118845" y="4286248"/>
            <a:ext cx="5868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9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Maps Ports</a:t>
            </a:r>
          </a:p>
        </p:txBody>
      </p:sp>
      <p:sp>
        <p:nvSpPr>
          <p:cNvPr id="852" name="Text 16"/>
          <p:cNvSpPr txBox="1"/>
          <p:nvPr/>
        </p:nvSpPr>
        <p:spPr>
          <a:xfrm>
            <a:off x="6118845" y="4483074"/>
            <a:ext cx="2535810" cy="28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19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-p</a:t>
            </a:r>
            <a:r>
              <a:t> flag bridges the container's internal port to your machine's port, making the app accessible in your browser.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Shape 0"/>
          <p:cNvSpPr/>
          <p:nvPr/>
        </p:nvSpPr>
        <p:spPr>
          <a:xfrm>
            <a:off x="496118" y="755154"/>
            <a:ext cx="936280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Text 1"/>
          <p:cNvSpPr txBox="1"/>
          <p:nvPr/>
        </p:nvSpPr>
        <p:spPr>
          <a:xfrm>
            <a:off x="570533" y="792360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8 · SLIDE 42</a:t>
            </a:r>
          </a:p>
        </p:txBody>
      </p:sp>
      <p:sp>
        <p:nvSpPr>
          <p:cNvPr id="856" name="Text 2"/>
          <p:cNvSpPr txBox="1"/>
          <p:nvPr/>
        </p:nvSpPr>
        <p:spPr>
          <a:xfrm>
            <a:off x="496118" y="1037925"/>
            <a:ext cx="3847695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Viewing Running Containers</a:t>
            </a:r>
          </a:p>
        </p:txBody>
      </p:sp>
      <p:sp>
        <p:nvSpPr>
          <p:cNvPr id="857" name="Text 3"/>
          <p:cNvSpPr txBox="1"/>
          <p:nvPr/>
        </p:nvSpPr>
        <p:spPr>
          <a:xfrm>
            <a:off x="496118" y="1735483"/>
            <a:ext cx="743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Command</a:t>
            </a:r>
          </a:p>
        </p:txBody>
      </p:sp>
      <p:sp>
        <p:nvSpPr>
          <p:cNvPr id="858" name="Shape 4"/>
          <p:cNvSpPr/>
          <p:nvPr/>
        </p:nvSpPr>
        <p:spPr>
          <a:xfrm>
            <a:off x="496118" y="2068858"/>
            <a:ext cx="3924601" cy="446412"/>
          </a:xfrm>
          <a:prstGeom prst="roundRect">
            <a:avLst>
              <a:gd name="adj" fmla="val 11671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Shape 5"/>
          <p:cNvSpPr/>
          <p:nvPr/>
        </p:nvSpPr>
        <p:spPr>
          <a:xfrm>
            <a:off x="489940" y="2068858"/>
            <a:ext cx="3936953" cy="446412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Text 6"/>
          <p:cNvSpPr txBox="1"/>
          <p:nvPr/>
        </p:nvSpPr>
        <p:spPr>
          <a:xfrm>
            <a:off x="644947" y="2192833"/>
            <a:ext cx="6300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docker ps</a:t>
            </a:r>
          </a:p>
        </p:txBody>
      </p:sp>
      <p:sp>
        <p:nvSpPr>
          <p:cNvPr id="861" name="Text 7"/>
          <p:cNvSpPr txBox="1"/>
          <p:nvPr/>
        </p:nvSpPr>
        <p:spPr>
          <a:xfrm>
            <a:off x="496118" y="2654796"/>
            <a:ext cx="99400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What It Shows</a:t>
            </a:r>
          </a:p>
        </p:txBody>
      </p:sp>
      <p:sp>
        <p:nvSpPr>
          <p:cNvPr id="862" name="Text 8"/>
          <p:cNvSpPr txBox="1"/>
          <p:nvPr/>
        </p:nvSpPr>
        <p:spPr>
          <a:xfrm>
            <a:off x="496118" y="2972617"/>
            <a:ext cx="3924601" cy="401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Lists all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currently running</a:t>
            </a:r>
            <a:r>
              <a:t> containers. Use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ps -a</a:t>
            </a:r>
            <a:r>
              <a:t> to also see stopped containers.</a:t>
            </a:r>
          </a:p>
        </p:txBody>
      </p:sp>
      <p:sp>
        <p:nvSpPr>
          <p:cNvPr id="863" name="Shape 9"/>
          <p:cNvSpPr/>
          <p:nvPr/>
        </p:nvSpPr>
        <p:spPr>
          <a:xfrm>
            <a:off x="496118" y="3513832"/>
            <a:ext cx="3924601" cy="734990"/>
          </a:xfrm>
          <a:prstGeom prst="roundRect">
            <a:avLst>
              <a:gd name="adj" fmla="val 7088"/>
            </a:avLst>
          </a:prstGeom>
          <a:solidFill>
            <a:srgbClr val="D2D2E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86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0090" y="3698378"/>
            <a:ext cx="155006" cy="123976"/>
          </a:xfrm>
          <a:prstGeom prst="rect">
            <a:avLst/>
          </a:prstGeom>
          <a:ln w="12700">
            <a:miter lim="400000"/>
          </a:ln>
        </p:spPr>
      </p:pic>
      <p:sp>
        <p:nvSpPr>
          <p:cNvPr id="865" name="Text 10"/>
          <p:cNvSpPr txBox="1"/>
          <p:nvPr/>
        </p:nvSpPr>
        <p:spPr>
          <a:xfrm>
            <a:off x="899070" y="3668762"/>
            <a:ext cx="3397675" cy="406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To stop a running container, use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stop CONTAINER_ID</a:t>
            </a:r>
            <a:r>
              <a:t>. Copy the container ID from the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docker ps</a:t>
            </a:r>
            <a:r>
              <a:t> output.</a:t>
            </a:r>
          </a:p>
        </p:txBody>
      </p:sp>
      <p:sp>
        <p:nvSpPr>
          <p:cNvPr id="866" name="Shape 11"/>
          <p:cNvSpPr/>
          <p:nvPr/>
        </p:nvSpPr>
        <p:spPr>
          <a:xfrm>
            <a:off x="4638749" y="1611511"/>
            <a:ext cx="4103193" cy="2776835"/>
          </a:xfrm>
          <a:prstGeom prst="roundRect">
            <a:avLst>
              <a:gd name="adj" fmla="val 3216"/>
            </a:avLst>
          </a:prstGeom>
          <a:solidFill>
            <a:srgbClr val="1B1B27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Text 12"/>
          <p:cNvSpPr txBox="1"/>
          <p:nvPr/>
        </p:nvSpPr>
        <p:spPr>
          <a:xfrm>
            <a:off x="4762722" y="1735483"/>
            <a:ext cx="112598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Example Output</a:t>
            </a:r>
          </a:p>
        </p:txBody>
      </p:sp>
      <p:sp>
        <p:nvSpPr>
          <p:cNvPr id="868" name="Shape 13"/>
          <p:cNvSpPr/>
          <p:nvPr/>
        </p:nvSpPr>
        <p:spPr>
          <a:xfrm>
            <a:off x="4762722" y="2068858"/>
            <a:ext cx="3855245" cy="843338"/>
          </a:xfrm>
          <a:prstGeom prst="roundRect">
            <a:avLst>
              <a:gd name="adj" fmla="val 6178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Shape 14"/>
          <p:cNvSpPr/>
          <p:nvPr/>
        </p:nvSpPr>
        <p:spPr>
          <a:xfrm>
            <a:off x="4756546" y="2068858"/>
            <a:ext cx="3867597" cy="843338"/>
          </a:xfrm>
          <a:prstGeom prst="roundRect">
            <a:avLst>
              <a:gd name="adj" fmla="val 2206"/>
            </a:avLst>
          </a:prstGeom>
          <a:solidFill>
            <a:srgbClr val="28283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 15"/>
          <p:cNvSpPr txBox="1"/>
          <p:nvPr/>
        </p:nvSpPr>
        <p:spPr>
          <a:xfrm>
            <a:off x="4911551" y="2192833"/>
            <a:ext cx="3557588" cy="595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CONTAINER ID  IMAGE         STATUS</a:t>
            </a:r>
          </a:p>
          <a:p>
            <a:pPr>
              <a:lnSpc>
                <a:spcPct val="133000"/>
              </a:lnSpc>
              <a:defRPr sz="9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a7f3c91d2b11  email_router  Up 2 minutes</a:t>
            </a:r>
          </a:p>
        </p:txBody>
      </p:sp>
      <p:sp>
        <p:nvSpPr>
          <p:cNvPr id="871" name="Text 16"/>
          <p:cNvSpPr txBox="1"/>
          <p:nvPr/>
        </p:nvSpPr>
        <p:spPr>
          <a:xfrm>
            <a:off x="4762722" y="3051721"/>
            <a:ext cx="92222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Key Columns</a:t>
            </a:r>
          </a:p>
        </p:txBody>
      </p:sp>
      <p:sp>
        <p:nvSpPr>
          <p:cNvPr id="872" name="Shape 17"/>
          <p:cNvSpPr/>
          <p:nvPr/>
        </p:nvSpPr>
        <p:spPr>
          <a:xfrm>
            <a:off x="4762722" y="3453296"/>
            <a:ext cx="61989" cy="61989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3" name="Text 18"/>
          <p:cNvSpPr txBox="1"/>
          <p:nvPr/>
        </p:nvSpPr>
        <p:spPr>
          <a:xfrm>
            <a:off x="4948684" y="3385096"/>
            <a:ext cx="1664122" cy="39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FFFFFF"/>
                </a:solidFill>
                <a:latin typeface="Roboto Regular Bold"/>
                <a:ea typeface="Roboto Regular Bold"/>
                <a:cs typeface="Roboto Regular Bold"/>
                <a:sym typeface="Roboto Regular Bold"/>
              </a:defRPr>
            </a:pPr>
            <a:r>
              <a:t>CONTAINER ID</a:t>
            </a:r>
            <a:r>
              <a:rPr>
                <a:latin typeface="Roboto Regular Regular"/>
                <a:ea typeface="Roboto Regular Regular"/>
                <a:cs typeface="Roboto Regular Regular"/>
                <a:sym typeface="Roboto Regular Regular"/>
              </a:rPr>
              <a:t> — Unique ID for this running instance.</a:t>
            </a:r>
          </a:p>
        </p:txBody>
      </p:sp>
      <p:sp>
        <p:nvSpPr>
          <p:cNvPr id="874" name="Shape 19"/>
          <p:cNvSpPr/>
          <p:nvPr/>
        </p:nvSpPr>
        <p:spPr>
          <a:xfrm>
            <a:off x="6767810" y="3453296"/>
            <a:ext cx="61989" cy="61989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 20"/>
          <p:cNvSpPr txBox="1"/>
          <p:nvPr/>
        </p:nvSpPr>
        <p:spPr>
          <a:xfrm>
            <a:off x="6953770" y="3385096"/>
            <a:ext cx="1664198" cy="39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FFFFFF"/>
                </a:solidFill>
                <a:latin typeface="Roboto Regular Bold"/>
                <a:ea typeface="Roboto Regular Bold"/>
                <a:cs typeface="Roboto Regular Bold"/>
                <a:sym typeface="Roboto Regular Bold"/>
              </a:defRPr>
            </a:pPr>
            <a:r>
              <a:t>IMAGE</a:t>
            </a:r>
            <a:r>
              <a:rPr>
                <a:latin typeface="Roboto Regular Regular"/>
                <a:ea typeface="Roboto Regular Regular"/>
                <a:cs typeface="Roboto Regular Regular"/>
                <a:sym typeface="Roboto Regular Regular"/>
              </a:rPr>
              <a:t> — Which image this container was created from.</a:t>
            </a:r>
          </a:p>
        </p:txBody>
      </p:sp>
      <p:sp>
        <p:nvSpPr>
          <p:cNvPr id="876" name="Shape 21"/>
          <p:cNvSpPr/>
          <p:nvPr/>
        </p:nvSpPr>
        <p:spPr>
          <a:xfrm>
            <a:off x="4762722" y="4098242"/>
            <a:ext cx="61989" cy="61989"/>
          </a:xfrm>
          <a:prstGeom prst="roundRect">
            <a:avLst>
              <a:gd name="adj" fmla="val 50000"/>
            </a:avLst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 22"/>
          <p:cNvSpPr txBox="1"/>
          <p:nvPr/>
        </p:nvSpPr>
        <p:spPr>
          <a:xfrm>
            <a:off x="4948682" y="4030040"/>
            <a:ext cx="310655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33000"/>
              </a:lnSpc>
              <a:defRPr sz="900">
                <a:solidFill>
                  <a:srgbClr val="FFFFFF"/>
                </a:solidFill>
                <a:latin typeface="Roboto Regular Bold"/>
                <a:ea typeface="Roboto Regular Bold"/>
                <a:cs typeface="Roboto Regular Bold"/>
                <a:sym typeface="Roboto Regular Bold"/>
              </a:defRPr>
            </a:pPr>
            <a:r>
              <a:t>STATUS</a:t>
            </a:r>
            <a:r>
              <a:rPr>
                <a:latin typeface="Roboto Regular Regular"/>
                <a:ea typeface="Roboto Regular Regular"/>
                <a:cs typeface="Roboto Regular Regular"/>
                <a:sym typeface="Roboto Regular Regular"/>
              </a:rPr>
              <a:t> — Whether it's currently running, paused, or stopped.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Shape 0"/>
          <p:cNvSpPr/>
          <p:nvPr/>
        </p:nvSpPr>
        <p:spPr>
          <a:xfrm>
            <a:off x="496118" y="735806"/>
            <a:ext cx="936280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0" name="Text 1"/>
          <p:cNvSpPr txBox="1"/>
          <p:nvPr/>
        </p:nvSpPr>
        <p:spPr>
          <a:xfrm>
            <a:off x="570533" y="773012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8 · SLIDE 43</a:t>
            </a:r>
          </a:p>
        </p:txBody>
      </p:sp>
      <p:sp>
        <p:nvSpPr>
          <p:cNvPr id="881" name="Text 2"/>
          <p:cNvSpPr txBox="1"/>
          <p:nvPr/>
        </p:nvSpPr>
        <p:spPr>
          <a:xfrm>
            <a:off x="496118" y="1018579"/>
            <a:ext cx="5294275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The FastAPI Example: Email Router API</a:t>
            </a:r>
          </a:p>
        </p:txBody>
      </p:sp>
      <p:sp>
        <p:nvSpPr>
          <p:cNvPr id="882" name="Text 3"/>
          <p:cNvSpPr txBox="1"/>
          <p:nvPr/>
        </p:nvSpPr>
        <p:spPr>
          <a:xfrm>
            <a:off x="496118" y="1703782"/>
            <a:ext cx="3924601" cy="150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Throughout this module, we use a </a:t>
            </a:r>
            <a:r>
              <a:rPr>
                <a:latin typeface="Roboto Regular Bold"/>
                <a:ea typeface="Roboto Regular Bold"/>
                <a:cs typeface="Roboto Regular Bold"/>
                <a:sym typeface="Roboto Regular Bold"/>
              </a:rPr>
              <a:t>FastAPI Email Router application</a:t>
            </a:r>
            <a:r>
              <a:t> as our real-world example. FastAPI is a modern Python web framework for building APIs quickly and efficiently.</a:t>
            </a:r>
          </a:p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This application receives email content and routes it based on rules — a practical, realistic use case that demonstrates exactly why Docker is valuable: the app has dependencies, a startup command, and a specific port to expose.</a:t>
            </a:r>
          </a:p>
        </p:txBody>
      </p:sp>
      <p:sp>
        <p:nvSpPr>
          <p:cNvPr id="883" name="Shape 4"/>
          <p:cNvSpPr/>
          <p:nvPr/>
        </p:nvSpPr>
        <p:spPr>
          <a:xfrm>
            <a:off x="496118" y="3344167"/>
            <a:ext cx="3924601" cy="923927"/>
          </a:xfrm>
          <a:prstGeom prst="roundRect">
            <a:avLst>
              <a:gd name="adj" fmla="val 5639"/>
            </a:avLst>
          </a:prstGeom>
          <a:solidFill>
            <a:srgbClr val="B6FCB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88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0090" y="3528714"/>
            <a:ext cx="155006" cy="123976"/>
          </a:xfrm>
          <a:prstGeom prst="rect">
            <a:avLst/>
          </a:prstGeom>
          <a:ln w="12700">
            <a:miter lim="400000"/>
          </a:ln>
        </p:spPr>
      </p:pic>
      <p:sp>
        <p:nvSpPr>
          <p:cNvPr id="885" name="Text 5"/>
          <p:cNvSpPr txBox="1"/>
          <p:nvPr/>
        </p:nvSpPr>
        <p:spPr>
          <a:xfrm>
            <a:off x="899070" y="3499098"/>
            <a:ext cx="3397675" cy="5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By Dockerizing this app, we've eliminated every manual setup step. Anyone with Docker can run this API in seconds — no Python installation instructions needed.</a:t>
            </a:r>
          </a:p>
        </p:txBody>
      </p:sp>
      <p:sp>
        <p:nvSpPr>
          <p:cNvPr id="886" name="Shape 6"/>
          <p:cNvSpPr/>
          <p:nvPr/>
        </p:nvSpPr>
        <p:spPr>
          <a:xfrm>
            <a:off x="4638749" y="1592162"/>
            <a:ext cx="4103193" cy="2815459"/>
          </a:xfrm>
          <a:prstGeom prst="roundRect">
            <a:avLst>
              <a:gd name="adj" fmla="val 3172"/>
            </a:avLst>
          </a:prstGeom>
          <a:solidFill>
            <a:srgbClr val="1B1B27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7" name="Text 7"/>
          <p:cNvSpPr txBox="1"/>
          <p:nvPr/>
        </p:nvSpPr>
        <p:spPr>
          <a:xfrm>
            <a:off x="4762722" y="1716135"/>
            <a:ext cx="14039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The App at a Glance</a:t>
            </a:r>
          </a:p>
        </p:txBody>
      </p:sp>
      <p:sp>
        <p:nvSpPr>
          <p:cNvPr id="888" name="Shape 8"/>
          <p:cNvSpPr/>
          <p:nvPr/>
        </p:nvSpPr>
        <p:spPr>
          <a:xfrm>
            <a:off x="4762722" y="2049510"/>
            <a:ext cx="1865637" cy="773759"/>
          </a:xfrm>
          <a:prstGeom prst="roundRect">
            <a:avLst>
              <a:gd name="adj" fmla="val 6733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9" name="Text 9"/>
          <p:cNvSpPr txBox="1"/>
          <p:nvPr/>
        </p:nvSpPr>
        <p:spPr>
          <a:xfrm>
            <a:off x="4891459" y="2178248"/>
            <a:ext cx="78460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Framework</a:t>
            </a:r>
          </a:p>
        </p:txBody>
      </p:sp>
      <p:sp>
        <p:nvSpPr>
          <p:cNvPr id="890" name="Text 10"/>
          <p:cNvSpPr txBox="1"/>
          <p:nvPr/>
        </p:nvSpPr>
        <p:spPr>
          <a:xfrm>
            <a:off x="4891459" y="2496071"/>
            <a:ext cx="14068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FastAPI with Uvicorn server</a:t>
            </a:r>
          </a:p>
        </p:txBody>
      </p:sp>
      <p:sp>
        <p:nvSpPr>
          <p:cNvPr id="891" name="Shape 11"/>
          <p:cNvSpPr/>
          <p:nvPr/>
        </p:nvSpPr>
        <p:spPr>
          <a:xfrm>
            <a:off x="6752332" y="2049510"/>
            <a:ext cx="1865635" cy="773759"/>
          </a:xfrm>
          <a:prstGeom prst="roundRect">
            <a:avLst>
              <a:gd name="adj" fmla="val 6733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Text 12"/>
          <p:cNvSpPr txBox="1"/>
          <p:nvPr/>
        </p:nvSpPr>
        <p:spPr>
          <a:xfrm>
            <a:off x="6881068" y="2178248"/>
            <a:ext cx="28915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Port</a:t>
            </a:r>
          </a:p>
        </p:txBody>
      </p:sp>
      <p:sp>
        <p:nvSpPr>
          <p:cNvPr id="893" name="Text 13"/>
          <p:cNvSpPr txBox="1"/>
          <p:nvPr/>
        </p:nvSpPr>
        <p:spPr>
          <a:xfrm>
            <a:off x="6881068" y="2496071"/>
            <a:ext cx="1126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Exposed on port 8000</a:t>
            </a:r>
          </a:p>
        </p:txBody>
      </p:sp>
      <p:sp>
        <p:nvSpPr>
          <p:cNvPr id="894" name="Shape 14"/>
          <p:cNvSpPr/>
          <p:nvPr/>
        </p:nvSpPr>
        <p:spPr>
          <a:xfrm>
            <a:off x="4762722" y="2947242"/>
            <a:ext cx="1865637" cy="976984"/>
          </a:xfrm>
          <a:prstGeom prst="roundRect">
            <a:avLst>
              <a:gd name="adj" fmla="val 5333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Text 15"/>
          <p:cNvSpPr txBox="1"/>
          <p:nvPr/>
        </p:nvSpPr>
        <p:spPr>
          <a:xfrm>
            <a:off x="4891459" y="3075980"/>
            <a:ext cx="74391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Entry Point</a:t>
            </a:r>
          </a:p>
        </p:txBody>
      </p:sp>
      <p:sp>
        <p:nvSpPr>
          <p:cNvPr id="896" name="Text 16"/>
          <p:cNvSpPr txBox="1"/>
          <p:nvPr/>
        </p:nvSpPr>
        <p:spPr>
          <a:xfrm>
            <a:off x="4891459" y="3393802"/>
            <a:ext cx="76720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backend:app</a:t>
            </a:r>
          </a:p>
        </p:txBody>
      </p:sp>
      <p:sp>
        <p:nvSpPr>
          <p:cNvPr id="897" name="Shape 17"/>
          <p:cNvSpPr/>
          <p:nvPr/>
        </p:nvSpPr>
        <p:spPr>
          <a:xfrm>
            <a:off x="6752332" y="2947242"/>
            <a:ext cx="1865635" cy="976984"/>
          </a:xfrm>
          <a:prstGeom prst="roundRect">
            <a:avLst>
              <a:gd name="adj" fmla="val 5333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Text 18"/>
          <p:cNvSpPr txBox="1"/>
          <p:nvPr/>
        </p:nvSpPr>
        <p:spPr>
          <a:xfrm>
            <a:off x="6881068" y="3075980"/>
            <a:ext cx="10107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Dependencies</a:t>
            </a:r>
          </a:p>
        </p:txBody>
      </p:sp>
      <p:sp>
        <p:nvSpPr>
          <p:cNvPr id="899" name="Text 19"/>
          <p:cNvSpPr txBox="1"/>
          <p:nvPr/>
        </p:nvSpPr>
        <p:spPr>
          <a:xfrm>
            <a:off x="6881068" y="3393802"/>
            <a:ext cx="1608164" cy="401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Declared in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requirements.txt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0"/>
          <p:cNvSpPr/>
          <p:nvPr/>
        </p:nvSpPr>
        <p:spPr>
          <a:xfrm>
            <a:off x="496118" y="403026"/>
            <a:ext cx="655367" cy="146599"/>
          </a:xfrm>
          <a:prstGeom prst="roundRect">
            <a:avLst>
              <a:gd name="adj" fmla="val 1990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Text 1"/>
          <p:cNvSpPr txBox="1"/>
          <p:nvPr/>
        </p:nvSpPr>
        <p:spPr>
          <a:xfrm>
            <a:off x="548208" y="429070"/>
            <a:ext cx="5167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3000"/>
              </a:lnSpc>
              <a:defRPr sz="5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8 · SLIDE 44</a:t>
            </a:r>
          </a:p>
        </p:txBody>
      </p:sp>
      <p:sp>
        <p:nvSpPr>
          <p:cNvPr id="903" name="Text 2"/>
          <p:cNvSpPr txBox="1"/>
          <p:nvPr/>
        </p:nvSpPr>
        <p:spPr>
          <a:xfrm>
            <a:off x="496118" y="573881"/>
            <a:ext cx="306854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7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Without Docker vs. With Docker</a:t>
            </a:r>
          </a:p>
        </p:txBody>
      </p:sp>
      <p:sp>
        <p:nvSpPr>
          <p:cNvPr id="904" name="Text 3"/>
          <p:cNvSpPr txBox="1"/>
          <p:nvPr/>
        </p:nvSpPr>
        <p:spPr>
          <a:xfrm>
            <a:off x="496119" y="936350"/>
            <a:ext cx="8151763" cy="236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defRPr sz="6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The contrast between setting up an application manually versus running it with Docker illustrates exactly why containerization matters — especially when onboarding new team members or deploying to new machines.</a:t>
            </a:r>
          </a:p>
        </p:txBody>
      </p:sp>
      <p:sp>
        <p:nvSpPr>
          <p:cNvPr id="905" name="Shape 4"/>
          <p:cNvSpPr/>
          <p:nvPr/>
        </p:nvSpPr>
        <p:spPr>
          <a:xfrm>
            <a:off x="433610" y="1240854"/>
            <a:ext cx="4095008" cy="3499619"/>
          </a:xfrm>
          <a:prstGeom prst="roundRect">
            <a:avLst>
              <a:gd name="adj" fmla="val 1786"/>
            </a:avLst>
          </a:prstGeom>
          <a:solidFill>
            <a:srgbClr val="1B1B27">
              <a:alpha val="9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Text 5"/>
          <p:cNvSpPr txBox="1"/>
          <p:nvPr/>
        </p:nvSpPr>
        <p:spPr>
          <a:xfrm>
            <a:off x="520378" y="1301575"/>
            <a:ext cx="88859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4000"/>
              </a:lnSpc>
              <a:defRPr sz="800">
                <a:latin typeface="Raleway Thin Regular"/>
                <a:ea typeface="Raleway Thin Regular"/>
                <a:cs typeface="Raleway Thin Regular"/>
                <a:sym typeface="Raleway Thin Regular"/>
              </a:defRPr>
            </a:pPr>
            <a:r>
              <a:t>❌</a:t>
            </a:r>
            <a:r>
              <a:rPr>
                <a:solidFill>
                  <a:srgbClr val="FFFFFF"/>
                </a:solidFill>
              </a:rPr>
              <a:t> Without Docker</a:t>
            </a:r>
          </a:p>
        </p:txBody>
      </p:sp>
      <p:sp>
        <p:nvSpPr>
          <p:cNvPr id="907" name="Text 6"/>
          <p:cNvSpPr txBox="1"/>
          <p:nvPr/>
        </p:nvSpPr>
        <p:spPr>
          <a:xfrm>
            <a:off x="520378" y="1501055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908" name="Shape 7"/>
          <p:cNvSpPr/>
          <p:nvPr/>
        </p:nvSpPr>
        <p:spPr>
          <a:xfrm>
            <a:off x="520378" y="1646683"/>
            <a:ext cx="3921472" cy="12702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9" name="Text 8"/>
          <p:cNvSpPr txBox="1"/>
          <p:nvPr/>
        </p:nvSpPr>
        <p:spPr>
          <a:xfrm>
            <a:off x="520378" y="1710705"/>
            <a:ext cx="7884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8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Install Python 3.11</a:t>
            </a:r>
          </a:p>
        </p:txBody>
      </p:sp>
      <p:sp>
        <p:nvSpPr>
          <p:cNvPr id="910" name="Text 9"/>
          <p:cNvSpPr txBox="1"/>
          <p:nvPr/>
        </p:nvSpPr>
        <p:spPr>
          <a:xfrm>
            <a:off x="520378" y="1907083"/>
            <a:ext cx="20564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3000"/>
              </a:lnSpc>
              <a:defRPr sz="600">
                <a:solidFill>
                  <a:srgbClr val="FFFFFF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Hope the machine doesn't already have a conflicting version.</a:t>
            </a:r>
          </a:p>
        </p:txBody>
      </p:sp>
      <p:sp>
        <p:nvSpPr>
          <p:cNvPr id="911" name="Text 10"/>
          <p:cNvSpPr txBox="1"/>
          <p:nvPr/>
        </p:nvSpPr>
        <p:spPr>
          <a:xfrm>
            <a:off x="520378" y="2141760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912" name="Shape 11"/>
          <p:cNvSpPr/>
          <p:nvPr/>
        </p:nvSpPr>
        <p:spPr>
          <a:xfrm>
            <a:off x="520378" y="2287389"/>
            <a:ext cx="3921472" cy="12702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Text 12"/>
          <p:cNvSpPr txBox="1"/>
          <p:nvPr/>
        </p:nvSpPr>
        <p:spPr>
          <a:xfrm>
            <a:off x="520377" y="2351408"/>
            <a:ext cx="12014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8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Create virtual environment</a:t>
            </a:r>
          </a:p>
        </p:txBody>
      </p:sp>
      <p:sp>
        <p:nvSpPr>
          <p:cNvPr id="914" name="Text 13"/>
          <p:cNvSpPr txBox="1"/>
          <p:nvPr/>
        </p:nvSpPr>
        <p:spPr>
          <a:xfrm>
            <a:off x="520378" y="2547789"/>
            <a:ext cx="8815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3000"/>
              </a:lnSpc>
              <a:defRPr sz="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python -m venv venv</a:t>
            </a:r>
          </a:p>
        </p:txBody>
      </p:sp>
      <p:sp>
        <p:nvSpPr>
          <p:cNvPr id="915" name="Text 14"/>
          <p:cNvSpPr txBox="1"/>
          <p:nvPr/>
        </p:nvSpPr>
        <p:spPr>
          <a:xfrm>
            <a:off x="520378" y="2787227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916" name="Shape 15"/>
          <p:cNvSpPr/>
          <p:nvPr/>
        </p:nvSpPr>
        <p:spPr>
          <a:xfrm>
            <a:off x="520378" y="2932856"/>
            <a:ext cx="3921472" cy="12702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Text 16"/>
          <p:cNvSpPr txBox="1"/>
          <p:nvPr/>
        </p:nvSpPr>
        <p:spPr>
          <a:xfrm>
            <a:off x="520378" y="2996876"/>
            <a:ext cx="7359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8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Install packages</a:t>
            </a:r>
          </a:p>
        </p:txBody>
      </p:sp>
      <p:sp>
        <p:nvSpPr>
          <p:cNvPr id="918" name="Text 17"/>
          <p:cNvSpPr txBox="1"/>
          <p:nvPr/>
        </p:nvSpPr>
        <p:spPr>
          <a:xfrm>
            <a:off x="520378" y="3193256"/>
            <a:ext cx="14302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3000"/>
              </a:lnSpc>
              <a:defRPr sz="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pip install -r requirements.txt</a:t>
            </a:r>
          </a:p>
        </p:txBody>
      </p:sp>
      <p:sp>
        <p:nvSpPr>
          <p:cNvPr id="919" name="Text 18"/>
          <p:cNvSpPr txBox="1"/>
          <p:nvPr/>
        </p:nvSpPr>
        <p:spPr>
          <a:xfrm>
            <a:off x="520378" y="3432695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920" name="Shape 19"/>
          <p:cNvSpPr/>
          <p:nvPr/>
        </p:nvSpPr>
        <p:spPr>
          <a:xfrm>
            <a:off x="520378" y="3578323"/>
            <a:ext cx="3921472" cy="12702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Text 20"/>
          <p:cNvSpPr txBox="1"/>
          <p:nvPr/>
        </p:nvSpPr>
        <p:spPr>
          <a:xfrm>
            <a:off x="520378" y="3642345"/>
            <a:ext cx="14813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8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Configure environment variables</a:t>
            </a:r>
          </a:p>
        </p:txBody>
      </p:sp>
      <p:sp>
        <p:nvSpPr>
          <p:cNvPr id="922" name="Text 21"/>
          <p:cNvSpPr txBox="1"/>
          <p:nvPr/>
        </p:nvSpPr>
        <p:spPr>
          <a:xfrm>
            <a:off x="520378" y="3838723"/>
            <a:ext cx="8913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13000"/>
              </a:lnSpc>
              <a:defRPr sz="600">
                <a:solidFill>
                  <a:srgbClr val="FFFFFF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Manually set up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.env</a:t>
            </a:r>
            <a:r>
              <a:t> file.</a:t>
            </a:r>
          </a:p>
        </p:txBody>
      </p:sp>
      <p:sp>
        <p:nvSpPr>
          <p:cNvPr id="923" name="Text 22"/>
          <p:cNvSpPr txBox="1"/>
          <p:nvPr/>
        </p:nvSpPr>
        <p:spPr>
          <a:xfrm>
            <a:off x="520378" y="4078163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24" name="Shape 23"/>
          <p:cNvSpPr/>
          <p:nvPr/>
        </p:nvSpPr>
        <p:spPr>
          <a:xfrm>
            <a:off x="520378" y="4223791"/>
            <a:ext cx="3921472" cy="12702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Text 24"/>
          <p:cNvSpPr txBox="1"/>
          <p:nvPr/>
        </p:nvSpPr>
        <p:spPr>
          <a:xfrm>
            <a:off x="520378" y="4287813"/>
            <a:ext cx="5678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800">
                <a:solidFill>
                  <a:srgbClr val="FFFFFF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Run the app</a:t>
            </a:r>
          </a:p>
        </p:txBody>
      </p:sp>
      <p:sp>
        <p:nvSpPr>
          <p:cNvPr id="926" name="Text 25"/>
          <p:cNvSpPr txBox="1"/>
          <p:nvPr/>
        </p:nvSpPr>
        <p:spPr>
          <a:xfrm>
            <a:off x="520377" y="4484191"/>
            <a:ext cx="21161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3000"/>
              </a:lnSpc>
              <a:defRPr sz="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uvicorn backend:app --host 0.0.0.0 --port 8000</a:t>
            </a:r>
          </a:p>
        </p:txBody>
      </p:sp>
      <p:sp>
        <p:nvSpPr>
          <p:cNvPr id="927" name="Text 26"/>
          <p:cNvSpPr txBox="1"/>
          <p:nvPr/>
        </p:nvSpPr>
        <p:spPr>
          <a:xfrm>
            <a:off x="4682654" y="1301575"/>
            <a:ext cx="74056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4000"/>
              </a:lnSpc>
              <a:defRPr sz="800">
                <a:latin typeface="Raleway Thin Regular"/>
                <a:ea typeface="Raleway Thin Regular"/>
                <a:cs typeface="Raleway Thin Regular"/>
                <a:sym typeface="Raleway Thin Regular"/>
              </a:defRPr>
            </a:pPr>
            <a:r>
              <a:t>✅</a:t>
            </a:r>
            <a:r>
              <a:rPr>
                <a:solidFill>
                  <a:srgbClr val="1B1B27"/>
                </a:solidFill>
              </a:rPr>
              <a:t> With Docker</a:t>
            </a:r>
          </a:p>
        </p:txBody>
      </p:sp>
      <p:sp>
        <p:nvSpPr>
          <p:cNvPr id="928" name="Text 27"/>
          <p:cNvSpPr txBox="1"/>
          <p:nvPr/>
        </p:nvSpPr>
        <p:spPr>
          <a:xfrm>
            <a:off x="4682654" y="1501055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929" name="Shape 28"/>
          <p:cNvSpPr/>
          <p:nvPr/>
        </p:nvSpPr>
        <p:spPr>
          <a:xfrm>
            <a:off x="4682654" y="1646683"/>
            <a:ext cx="3969990" cy="12702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Text 29"/>
          <p:cNvSpPr txBox="1"/>
          <p:nvPr/>
        </p:nvSpPr>
        <p:spPr>
          <a:xfrm>
            <a:off x="4682654" y="1710705"/>
            <a:ext cx="8918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8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Run one command</a:t>
            </a:r>
          </a:p>
        </p:txBody>
      </p:sp>
      <p:sp>
        <p:nvSpPr>
          <p:cNvPr id="931" name="Text 30"/>
          <p:cNvSpPr txBox="1"/>
          <p:nvPr/>
        </p:nvSpPr>
        <p:spPr>
          <a:xfrm>
            <a:off x="4682654" y="1907083"/>
            <a:ext cx="16588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3000"/>
              </a:lnSpc>
              <a:defRPr sz="6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docker run -p 8000:8000 email_router</a:t>
            </a:r>
          </a:p>
        </p:txBody>
      </p:sp>
      <p:sp>
        <p:nvSpPr>
          <p:cNvPr id="932" name="Text 31"/>
          <p:cNvSpPr txBox="1"/>
          <p:nvPr/>
        </p:nvSpPr>
        <p:spPr>
          <a:xfrm>
            <a:off x="4682654" y="2146523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3C3939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933" name="Shape 32"/>
          <p:cNvSpPr/>
          <p:nvPr/>
        </p:nvSpPr>
        <p:spPr>
          <a:xfrm>
            <a:off x="4682654" y="2292150"/>
            <a:ext cx="3969990" cy="12702"/>
          </a:xfrm>
          <a:prstGeom prst="rect">
            <a:avLst/>
          </a:prstGeom>
          <a:solidFill>
            <a:srgbClr val="1B1B2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Text 33"/>
          <p:cNvSpPr txBox="1"/>
          <p:nvPr/>
        </p:nvSpPr>
        <p:spPr>
          <a:xfrm>
            <a:off x="4682654" y="2356172"/>
            <a:ext cx="27645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8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Done.</a:t>
            </a:r>
          </a:p>
        </p:txBody>
      </p:sp>
      <p:sp>
        <p:nvSpPr>
          <p:cNvPr id="935" name="Text 34"/>
          <p:cNvSpPr txBox="1"/>
          <p:nvPr/>
        </p:nvSpPr>
        <p:spPr>
          <a:xfrm>
            <a:off x="4682654" y="2552550"/>
            <a:ext cx="16144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13000"/>
              </a:lnSpc>
              <a:defRPr sz="6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Application is running. Visit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localhost:8000</a:t>
            </a:r>
            <a:r>
              <a:t>.</a:t>
            </a:r>
          </a:p>
        </p:txBody>
      </p:sp>
      <p:sp>
        <p:nvSpPr>
          <p:cNvPr id="936" name="Shape 35"/>
          <p:cNvSpPr/>
          <p:nvPr/>
        </p:nvSpPr>
        <p:spPr>
          <a:xfrm>
            <a:off x="4682654" y="2808833"/>
            <a:ext cx="3969990" cy="534740"/>
          </a:xfrm>
          <a:prstGeom prst="roundRect">
            <a:avLst>
              <a:gd name="adj" fmla="val 6820"/>
            </a:avLst>
          </a:prstGeom>
          <a:solidFill>
            <a:srgbClr val="B6FCB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3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69420" y="2927001"/>
            <a:ext cx="108498" cy="86769"/>
          </a:xfrm>
          <a:prstGeom prst="rect">
            <a:avLst/>
          </a:prstGeom>
          <a:ln w="12700">
            <a:miter lim="400000"/>
          </a:ln>
        </p:spPr>
      </p:pic>
      <p:sp>
        <p:nvSpPr>
          <p:cNvPr id="938" name="Text 36"/>
          <p:cNvSpPr txBox="1"/>
          <p:nvPr/>
        </p:nvSpPr>
        <p:spPr>
          <a:xfrm>
            <a:off x="4964681" y="2891208"/>
            <a:ext cx="3601197" cy="354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3000"/>
              </a:lnSpc>
              <a:defRPr sz="6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The Dockerfile already encoded all the setup steps. Every step from the "without Docker" column happens automatically inside the image build — once, by the person who wrote the Dockerfile.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4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85" y="92943"/>
            <a:ext cx="3305030" cy="4957539"/>
          </a:xfrm>
          <a:prstGeom prst="rect">
            <a:avLst/>
          </a:prstGeom>
          <a:ln w="12700">
            <a:miter lim="400000"/>
          </a:ln>
        </p:spPr>
      </p:pic>
      <p:sp>
        <p:nvSpPr>
          <p:cNvPr id="942" name="Shape 1"/>
          <p:cNvSpPr/>
          <p:nvPr/>
        </p:nvSpPr>
        <p:spPr>
          <a:xfrm>
            <a:off x="3925118" y="1871439"/>
            <a:ext cx="464346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Text 2"/>
          <p:cNvSpPr txBox="1"/>
          <p:nvPr/>
        </p:nvSpPr>
        <p:spPr>
          <a:xfrm>
            <a:off x="3999531" y="1908646"/>
            <a:ext cx="2954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9</a:t>
            </a:r>
          </a:p>
        </p:txBody>
      </p:sp>
      <p:sp>
        <p:nvSpPr>
          <p:cNvPr id="944" name="Text 3"/>
          <p:cNvSpPr txBox="1"/>
          <p:nvPr/>
        </p:nvSpPr>
        <p:spPr>
          <a:xfrm>
            <a:off x="3925118" y="2154213"/>
            <a:ext cx="286174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33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The Big Picture</a:t>
            </a:r>
          </a:p>
        </p:txBody>
      </p:sp>
      <p:sp>
        <p:nvSpPr>
          <p:cNvPr id="945" name="Text 4"/>
          <p:cNvSpPr txBox="1"/>
          <p:nvPr/>
        </p:nvSpPr>
        <p:spPr>
          <a:xfrm>
            <a:off x="3925118" y="2875134"/>
            <a:ext cx="4722765" cy="39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Every tool we've covered this module serves a specific role in a larger workflow. Let's step back and see how Git, GitHub, and Docker fit together from end to end.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Shape 0"/>
          <p:cNvSpPr/>
          <p:nvPr/>
        </p:nvSpPr>
        <p:spPr>
          <a:xfrm>
            <a:off x="496118" y="408235"/>
            <a:ext cx="842889" cy="202706"/>
          </a:xfrm>
          <a:prstGeom prst="roundRect">
            <a:avLst>
              <a:gd name="adj" fmla="val 18506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Text 1"/>
          <p:cNvSpPr txBox="1"/>
          <p:nvPr/>
        </p:nvSpPr>
        <p:spPr>
          <a:xfrm>
            <a:off x="563089" y="441722"/>
            <a:ext cx="7184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9 · SLIDE 46</a:t>
            </a:r>
          </a:p>
        </p:txBody>
      </p:sp>
      <p:sp>
        <p:nvSpPr>
          <p:cNvPr id="949" name="Text 2"/>
          <p:cNvSpPr txBox="1"/>
          <p:nvPr/>
        </p:nvSpPr>
        <p:spPr>
          <a:xfrm>
            <a:off x="496117" y="651121"/>
            <a:ext cx="276264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1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The Complete Journey</a:t>
            </a:r>
          </a:p>
        </p:txBody>
      </p:sp>
      <p:sp>
        <p:nvSpPr>
          <p:cNvPr id="950" name="Text 3"/>
          <p:cNvSpPr txBox="1"/>
          <p:nvPr/>
        </p:nvSpPr>
        <p:spPr>
          <a:xfrm>
            <a:off x="496118" y="1150665"/>
            <a:ext cx="734387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Every production application follows a version of this pipeline. The tools we've learned today are the industry-standard building blocks for each stage of the journey.</a:t>
            </a:r>
          </a:p>
        </p:txBody>
      </p:sp>
      <p:pic>
        <p:nvPicPr>
          <p:cNvPr id="95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1433362"/>
            <a:ext cx="4075884" cy="446561"/>
          </a:xfrm>
          <a:prstGeom prst="rect">
            <a:avLst/>
          </a:prstGeom>
          <a:ln w="12700">
            <a:miter lim="400000"/>
          </a:ln>
        </p:spPr>
      </p:pic>
      <p:sp>
        <p:nvSpPr>
          <p:cNvPr id="952" name="Text 4"/>
          <p:cNvSpPr txBox="1"/>
          <p:nvPr/>
        </p:nvSpPr>
        <p:spPr>
          <a:xfrm>
            <a:off x="607739" y="1980381"/>
            <a:ext cx="96380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Build Application</a:t>
            </a:r>
          </a:p>
        </p:txBody>
      </p:sp>
      <p:sp>
        <p:nvSpPr>
          <p:cNvPr id="953" name="Text 5"/>
          <p:cNvSpPr txBox="1"/>
          <p:nvPr/>
        </p:nvSpPr>
        <p:spPr>
          <a:xfrm>
            <a:off x="607739" y="2215008"/>
            <a:ext cx="26111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Write code locally. Your application runs on your machine.</a:t>
            </a:r>
          </a:p>
        </p:txBody>
      </p:sp>
      <p:pic>
        <p:nvPicPr>
          <p:cNvPr id="95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0" y="1433362"/>
            <a:ext cx="4075882" cy="446561"/>
          </a:xfrm>
          <a:prstGeom prst="rect">
            <a:avLst/>
          </a:prstGeom>
          <a:ln w="12700">
            <a:miter lim="400000"/>
          </a:ln>
        </p:spPr>
      </p:pic>
      <p:sp>
        <p:nvSpPr>
          <p:cNvPr id="955" name="Text 6"/>
          <p:cNvSpPr txBox="1"/>
          <p:nvPr/>
        </p:nvSpPr>
        <p:spPr>
          <a:xfrm>
            <a:off x="4683621" y="1980381"/>
            <a:ext cx="165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Git</a:t>
            </a:r>
          </a:p>
        </p:txBody>
      </p:sp>
      <p:sp>
        <p:nvSpPr>
          <p:cNvPr id="956" name="Text 7"/>
          <p:cNvSpPr txBox="1"/>
          <p:nvPr/>
        </p:nvSpPr>
        <p:spPr>
          <a:xfrm>
            <a:off x="4683621" y="2215008"/>
            <a:ext cx="30232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Track every change. Stage and commit your work into a full history.</a:t>
            </a:r>
          </a:p>
        </p:txBody>
      </p:sp>
      <p:pic>
        <p:nvPicPr>
          <p:cNvPr id="95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6118" y="2496292"/>
            <a:ext cx="4075884" cy="446561"/>
          </a:xfrm>
          <a:prstGeom prst="rect">
            <a:avLst/>
          </a:prstGeom>
          <a:ln w="12700">
            <a:miter lim="400000"/>
          </a:ln>
        </p:spPr>
      </p:pic>
      <p:sp>
        <p:nvSpPr>
          <p:cNvPr id="958" name="Text 8"/>
          <p:cNvSpPr txBox="1"/>
          <p:nvPr/>
        </p:nvSpPr>
        <p:spPr>
          <a:xfrm>
            <a:off x="607739" y="3043310"/>
            <a:ext cx="4080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GitHub</a:t>
            </a:r>
          </a:p>
        </p:txBody>
      </p:sp>
      <p:sp>
        <p:nvSpPr>
          <p:cNvPr id="959" name="Text 9"/>
          <p:cNvSpPr txBox="1"/>
          <p:nvPr/>
        </p:nvSpPr>
        <p:spPr>
          <a:xfrm>
            <a:off x="607739" y="3277939"/>
            <a:ext cx="28776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Push to the cloud. Code is backed up, shared, and collaborative.</a:t>
            </a:r>
          </a:p>
        </p:txBody>
      </p:sp>
      <p:pic>
        <p:nvPicPr>
          <p:cNvPr id="960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572000" y="2496292"/>
            <a:ext cx="4075882" cy="446561"/>
          </a:xfrm>
          <a:prstGeom prst="rect">
            <a:avLst/>
          </a:prstGeom>
          <a:ln w="12700">
            <a:miter lim="400000"/>
          </a:ln>
        </p:spPr>
      </p:pic>
      <p:sp>
        <p:nvSpPr>
          <p:cNvPr id="961" name="Text 10"/>
          <p:cNvSpPr txBox="1"/>
          <p:nvPr/>
        </p:nvSpPr>
        <p:spPr>
          <a:xfrm>
            <a:off x="4683621" y="3043310"/>
            <a:ext cx="58623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Dockerfile</a:t>
            </a:r>
          </a:p>
        </p:txBody>
      </p:sp>
      <p:sp>
        <p:nvSpPr>
          <p:cNvPr id="962" name="Text 11"/>
          <p:cNvSpPr txBox="1"/>
          <p:nvPr/>
        </p:nvSpPr>
        <p:spPr>
          <a:xfrm>
            <a:off x="4683621" y="3277939"/>
            <a:ext cx="28534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Define the environment. Write the recipe for building the image.</a:t>
            </a:r>
          </a:p>
        </p:txBody>
      </p:sp>
      <p:pic>
        <p:nvPicPr>
          <p:cNvPr id="963" name="Image 4" descr="Imag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3672259"/>
            <a:ext cx="4075884" cy="446561"/>
          </a:xfrm>
          <a:prstGeom prst="rect">
            <a:avLst/>
          </a:prstGeom>
          <a:ln w="12700">
            <a:miter lim="400000"/>
          </a:ln>
        </p:spPr>
      </p:pic>
      <p:sp>
        <p:nvSpPr>
          <p:cNvPr id="964" name="Text 12"/>
          <p:cNvSpPr txBox="1"/>
          <p:nvPr/>
        </p:nvSpPr>
        <p:spPr>
          <a:xfrm>
            <a:off x="607739" y="4219276"/>
            <a:ext cx="81038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Docker Image</a:t>
            </a:r>
          </a:p>
        </p:txBody>
      </p:sp>
      <p:sp>
        <p:nvSpPr>
          <p:cNvPr id="965" name="Text 13"/>
          <p:cNvSpPr txBox="1"/>
          <p:nvPr/>
        </p:nvSpPr>
        <p:spPr>
          <a:xfrm>
            <a:off x="607738" y="4453904"/>
            <a:ext cx="34345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Build the package. Code + dependencies + environment in one portable unit.</a:t>
            </a:r>
          </a:p>
        </p:txBody>
      </p:sp>
      <p:pic>
        <p:nvPicPr>
          <p:cNvPr id="966" name="Image 5" descr="Imag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0" y="3672259"/>
            <a:ext cx="4075882" cy="446561"/>
          </a:xfrm>
          <a:prstGeom prst="rect">
            <a:avLst/>
          </a:prstGeom>
          <a:ln w="12700">
            <a:miter lim="400000"/>
          </a:ln>
        </p:spPr>
      </p:pic>
      <p:sp>
        <p:nvSpPr>
          <p:cNvPr id="967" name="Text 14"/>
          <p:cNvSpPr txBox="1"/>
          <p:nvPr/>
        </p:nvSpPr>
        <p:spPr>
          <a:xfrm>
            <a:off x="4683621" y="4219276"/>
            <a:ext cx="99898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Docker Container</a:t>
            </a:r>
          </a:p>
        </p:txBody>
      </p:sp>
      <p:sp>
        <p:nvSpPr>
          <p:cNvPr id="968" name="Text 15"/>
          <p:cNvSpPr txBox="1"/>
          <p:nvPr/>
        </p:nvSpPr>
        <p:spPr>
          <a:xfrm>
            <a:off x="4683621" y="4453904"/>
            <a:ext cx="27642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Run the application. The live, running app in any environment.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7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683" y="79028"/>
            <a:ext cx="3323634" cy="4985445"/>
          </a:xfrm>
          <a:prstGeom prst="rect">
            <a:avLst/>
          </a:prstGeom>
          <a:ln w="12700">
            <a:miter lim="400000"/>
          </a:ln>
        </p:spPr>
      </p:pic>
      <p:sp>
        <p:nvSpPr>
          <p:cNvPr id="972" name="Shape 1"/>
          <p:cNvSpPr/>
          <p:nvPr/>
        </p:nvSpPr>
        <p:spPr>
          <a:xfrm>
            <a:off x="3925118" y="405110"/>
            <a:ext cx="795860" cy="188121"/>
          </a:xfrm>
          <a:prstGeom prst="roundRect">
            <a:avLst>
              <a:gd name="adj" fmla="val 18833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Text 2"/>
          <p:cNvSpPr txBox="1"/>
          <p:nvPr/>
        </p:nvSpPr>
        <p:spPr>
          <a:xfrm>
            <a:off x="3988370" y="436735"/>
            <a:ext cx="6176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6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9 · SLIDE 47</a:t>
            </a:r>
          </a:p>
        </p:txBody>
      </p:sp>
      <p:sp>
        <p:nvSpPr>
          <p:cNvPr id="974" name="Text 3"/>
          <p:cNvSpPr txBox="1"/>
          <p:nvPr/>
        </p:nvSpPr>
        <p:spPr>
          <a:xfrm>
            <a:off x="3925118" y="629022"/>
            <a:ext cx="394893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0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Why Docker Images Are So Useful</a:t>
            </a:r>
          </a:p>
        </p:txBody>
      </p:sp>
      <p:sp>
        <p:nvSpPr>
          <p:cNvPr id="975" name="Text 4"/>
          <p:cNvSpPr txBox="1"/>
          <p:nvPr/>
        </p:nvSpPr>
        <p:spPr>
          <a:xfrm>
            <a:off x="3925118" y="1092845"/>
            <a:ext cx="4722765" cy="468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3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A Docker image is more than a convenient packaging format — it's a guarantee. It ensures that the exact same application, with the exact same environment, runs identically on every machine it's deployed to.</a:t>
            </a:r>
          </a:p>
        </p:txBody>
      </p:sp>
      <p:pic>
        <p:nvPicPr>
          <p:cNvPr id="97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25118" y="1661740"/>
            <a:ext cx="263577" cy="263577"/>
          </a:xfrm>
          <a:prstGeom prst="rect">
            <a:avLst/>
          </a:prstGeom>
          <a:ln w="12700">
            <a:miter lim="400000"/>
          </a:ln>
        </p:spPr>
      </p:pic>
      <p:sp>
        <p:nvSpPr>
          <p:cNvPr id="977" name="Text 5"/>
          <p:cNvSpPr txBox="1"/>
          <p:nvPr/>
        </p:nvSpPr>
        <p:spPr>
          <a:xfrm>
            <a:off x="3925118" y="2037308"/>
            <a:ext cx="77965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One Package</a:t>
            </a:r>
          </a:p>
        </p:txBody>
      </p:sp>
      <p:sp>
        <p:nvSpPr>
          <p:cNvPr id="978" name="Text 6"/>
          <p:cNvSpPr txBox="1"/>
          <p:nvPr/>
        </p:nvSpPr>
        <p:spPr>
          <a:xfrm>
            <a:off x="3925118" y="2255713"/>
            <a:ext cx="4722765" cy="312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3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Code, runtime, libraries, and config are bundled together. There's nothing extra to install or configure on the target machine.</a:t>
            </a:r>
          </a:p>
        </p:txBody>
      </p:sp>
      <p:pic>
        <p:nvPicPr>
          <p:cNvPr id="979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25118" y="2746993"/>
            <a:ext cx="263577" cy="263577"/>
          </a:xfrm>
          <a:prstGeom prst="rect">
            <a:avLst/>
          </a:prstGeom>
          <a:ln w="12700">
            <a:miter lim="400000"/>
          </a:ln>
        </p:spPr>
      </p:pic>
      <p:sp>
        <p:nvSpPr>
          <p:cNvPr id="980" name="Text 7"/>
          <p:cNvSpPr txBox="1"/>
          <p:nvPr/>
        </p:nvSpPr>
        <p:spPr>
          <a:xfrm>
            <a:off x="3925118" y="3122563"/>
            <a:ext cx="109601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Same Environment</a:t>
            </a:r>
          </a:p>
        </p:txBody>
      </p:sp>
      <p:sp>
        <p:nvSpPr>
          <p:cNvPr id="981" name="Text 8"/>
          <p:cNvSpPr txBox="1"/>
          <p:nvPr/>
        </p:nvSpPr>
        <p:spPr>
          <a:xfrm>
            <a:off x="3925118" y="3340968"/>
            <a:ext cx="4722765" cy="312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3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The container runs on the same OS base and Python version everywhere — developer laptop, teammate's machine, or cloud server.</a:t>
            </a:r>
          </a:p>
        </p:txBody>
      </p:sp>
      <p:pic>
        <p:nvPicPr>
          <p:cNvPr id="982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25118" y="3832250"/>
            <a:ext cx="263577" cy="263577"/>
          </a:xfrm>
          <a:prstGeom prst="rect">
            <a:avLst/>
          </a:prstGeom>
          <a:ln w="12700">
            <a:miter lim="400000"/>
          </a:ln>
        </p:spPr>
      </p:pic>
      <p:sp>
        <p:nvSpPr>
          <p:cNvPr id="983" name="Text 9"/>
          <p:cNvSpPr txBox="1"/>
          <p:nvPr/>
        </p:nvSpPr>
        <p:spPr>
          <a:xfrm>
            <a:off x="3925118" y="4207817"/>
            <a:ext cx="173063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Runs Consistently Everywhere</a:t>
            </a:r>
          </a:p>
        </p:txBody>
      </p:sp>
      <p:sp>
        <p:nvSpPr>
          <p:cNvPr id="984" name="Text 10"/>
          <p:cNvSpPr txBox="1"/>
          <p:nvPr/>
        </p:nvSpPr>
        <p:spPr>
          <a:xfrm>
            <a:off x="3925118" y="4426222"/>
            <a:ext cx="4722765" cy="312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3000"/>
              </a:lnSpc>
              <a:defRPr sz="8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Once an image works, it works everywhere. No more "it works on my machine" — it works on </a:t>
            </a:r>
            <a:r>
              <a:rPr i="1"/>
              <a:t>every</a:t>
            </a:r>
            <a:r>
              <a:t> machine.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Shape 0"/>
          <p:cNvSpPr/>
          <p:nvPr/>
        </p:nvSpPr>
        <p:spPr>
          <a:xfrm>
            <a:off x="496118" y="728141"/>
            <a:ext cx="936280" cy="233217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Text 1"/>
          <p:cNvSpPr txBox="1"/>
          <p:nvPr/>
        </p:nvSpPr>
        <p:spPr>
          <a:xfrm>
            <a:off x="570533" y="765349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9 · SLIDE 48</a:t>
            </a:r>
          </a:p>
        </p:txBody>
      </p:sp>
      <p:sp>
        <p:nvSpPr>
          <p:cNvPr id="988" name="Text 2"/>
          <p:cNvSpPr txBox="1"/>
          <p:nvPr/>
        </p:nvSpPr>
        <p:spPr>
          <a:xfrm>
            <a:off x="496119" y="1010915"/>
            <a:ext cx="5286960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Real Deployment: From Local to Cloud</a:t>
            </a:r>
          </a:p>
        </p:txBody>
      </p:sp>
      <p:sp>
        <p:nvSpPr>
          <p:cNvPr id="989" name="Text 3"/>
          <p:cNvSpPr txBox="1"/>
          <p:nvPr/>
        </p:nvSpPr>
        <p:spPr>
          <a:xfrm>
            <a:off x="496117" y="1708472"/>
            <a:ext cx="147543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Today — Local Image</a:t>
            </a:r>
          </a:p>
        </p:txBody>
      </p:sp>
      <p:sp>
        <p:nvSpPr>
          <p:cNvPr id="990" name="Text 4"/>
          <p:cNvSpPr txBox="1"/>
          <p:nvPr/>
        </p:nvSpPr>
        <p:spPr>
          <a:xfrm>
            <a:off x="496118" y="2026293"/>
            <a:ext cx="3924601" cy="600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You build and run your Docker image locally on your laptop. The container runs on your machine, accessible at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localhost:8000</a:t>
            </a:r>
            <a:r>
              <a:t>. This is what we've been doing in this module.</a:t>
            </a:r>
          </a:p>
        </p:txBody>
      </p:sp>
      <p:sp>
        <p:nvSpPr>
          <p:cNvPr id="991" name="Shape 5"/>
          <p:cNvSpPr/>
          <p:nvPr/>
        </p:nvSpPr>
        <p:spPr>
          <a:xfrm>
            <a:off x="496118" y="2765971"/>
            <a:ext cx="3924601" cy="644874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Shape 6"/>
          <p:cNvSpPr/>
          <p:nvPr/>
        </p:nvSpPr>
        <p:spPr>
          <a:xfrm>
            <a:off x="489940" y="2765971"/>
            <a:ext cx="3936953" cy="644874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Text 7"/>
          <p:cNvSpPr txBox="1"/>
          <p:nvPr/>
        </p:nvSpPr>
        <p:spPr>
          <a:xfrm>
            <a:off x="644946" y="2889943"/>
            <a:ext cx="3626944" cy="39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docker build -t email_router .</a:t>
            </a:r>
          </a:p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docker run -p 8000:8000 email_router</a:t>
            </a:r>
          </a:p>
        </p:txBody>
      </p:sp>
      <p:sp>
        <p:nvSpPr>
          <p:cNvPr id="994" name="Text 8"/>
          <p:cNvSpPr txBox="1"/>
          <p:nvPr/>
        </p:nvSpPr>
        <p:spPr>
          <a:xfrm>
            <a:off x="4728045" y="1708472"/>
            <a:ext cx="221518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2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Tomorrow — Cloud Deployment</a:t>
            </a:r>
          </a:p>
        </p:txBody>
      </p:sp>
      <p:sp>
        <p:nvSpPr>
          <p:cNvPr id="995" name="Text 9"/>
          <p:cNvSpPr txBox="1"/>
          <p:nvPr/>
        </p:nvSpPr>
        <p:spPr>
          <a:xfrm>
            <a:off x="4728045" y="2026293"/>
            <a:ext cx="3924599" cy="905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spcBef>
                <a:spcPts val="800"/>
              </a:spcBef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The same Docker image can be pushed to a cloud platform — AWS, Google Cloud, Azure, or others — where it runs on a server accessible from the public internet.</a:t>
            </a:r>
          </a:p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The image is identical. Only the machine running it changes.</a:t>
            </a:r>
          </a:p>
        </p:txBody>
      </p:sp>
      <p:sp>
        <p:nvSpPr>
          <p:cNvPr id="996" name="Shape 10"/>
          <p:cNvSpPr/>
          <p:nvPr/>
        </p:nvSpPr>
        <p:spPr>
          <a:xfrm>
            <a:off x="496118" y="3689896"/>
            <a:ext cx="8151764" cy="725465"/>
          </a:xfrm>
          <a:prstGeom prst="roundRect">
            <a:avLst>
              <a:gd name="adj" fmla="val 7182"/>
            </a:avLst>
          </a:prstGeom>
          <a:solidFill>
            <a:srgbClr val="D2D2E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9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0090" y="3874442"/>
            <a:ext cx="155006" cy="123976"/>
          </a:xfrm>
          <a:prstGeom prst="rect">
            <a:avLst/>
          </a:prstGeom>
          <a:ln w="12700">
            <a:miter lim="400000"/>
          </a:ln>
        </p:spPr>
      </p:pic>
      <p:sp>
        <p:nvSpPr>
          <p:cNvPr id="998" name="Text 11"/>
          <p:cNvSpPr txBox="1"/>
          <p:nvPr/>
        </p:nvSpPr>
        <p:spPr>
          <a:xfrm>
            <a:off x="899071" y="3844826"/>
            <a:ext cx="7624837" cy="39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pPr>
            <a:r>
              <a:t>Cloud deployment is beyond the scope of this module. But understanding that your local Docker image is </a:t>
            </a:r>
            <a:r>
              <a:rPr i="1"/>
              <a:t>already ready</a:t>
            </a:r>
            <a:r>
              <a:t> for cloud deployment is the key insight — you've already done the hard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0"/>
          <p:cNvSpPr/>
          <p:nvPr/>
        </p:nvSpPr>
        <p:spPr>
          <a:xfrm>
            <a:off x="496118" y="1028550"/>
            <a:ext cx="936280" cy="233216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Text 1"/>
          <p:cNvSpPr txBox="1"/>
          <p:nvPr/>
        </p:nvSpPr>
        <p:spPr>
          <a:xfrm>
            <a:off x="570533" y="1065758"/>
            <a:ext cx="7184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7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PART 9 · SLIDE 49</a:t>
            </a:r>
          </a:p>
        </p:txBody>
      </p:sp>
      <p:sp>
        <p:nvSpPr>
          <p:cNvPr id="1002" name="Text 2"/>
          <p:cNvSpPr txBox="1"/>
          <p:nvPr/>
        </p:nvSpPr>
        <p:spPr>
          <a:xfrm>
            <a:off x="496118" y="1311324"/>
            <a:ext cx="2075282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400">
                <a:solidFill>
                  <a:srgbClr val="1B1B27"/>
                </a:solidFill>
                <a:latin typeface="Raleway Thin Regular"/>
                <a:ea typeface="Raleway Thin Regular"/>
                <a:cs typeface="Raleway Thin Regular"/>
                <a:sym typeface="Raleway Thin Regular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1003" name="Text 3"/>
          <p:cNvSpPr txBox="1"/>
          <p:nvPr/>
        </p:nvSpPr>
        <p:spPr>
          <a:xfrm>
            <a:off x="496118" y="1884908"/>
            <a:ext cx="55417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Regular"/>
                <a:ea typeface="Roboto Regular Regular"/>
                <a:cs typeface="Roboto Regular Regular"/>
                <a:sym typeface="Roboto Regular Regular"/>
              </a:defRPr>
            </a:lvl1pPr>
          </a:lstStyle>
          <a:p>
            <a:pPr/>
            <a:r>
              <a:t>Two tools, two distinct problems, one complete solution for building applications that run reliably everywhere.</a:t>
            </a:r>
          </a:p>
        </p:txBody>
      </p:sp>
      <p:sp>
        <p:nvSpPr>
          <p:cNvPr id="1004" name="Shape 9"/>
          <p:cNvSpPr/>
          <p:nvPr/>
        </p:nvSpPr>
        <p:spPr>
          <a:xfrm>
            <a:off x="2217662" y="2315836"/>
            <a:ext cx="4071120" cy="1882453"/>
          </a:xfrm>
          <a:prstGeom prst="rect">
            <a:avLst/>
          </a:prstGeom>
          <a:solidFill>
            <a:srgbClr val="E1E1E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Shape 10"/>
          <p:cNvSpPr/>
          <p:nvPr/>
        </p:nvSpPr>
        <p:spPr>
          <a:xfrm>
            <a:off x="2217662" y="2315835"/>
            <a:ext cx="14289" cy="1882455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Text 11"/>
          <p:cNvSpPr txBox="1"/>
          <p:nvPr/>
        </p:nvSpPr>
        <p:spPr>
          <a:xfrm>
            <a:off x="2341635" y="2439810"/>
            <a:ext cx="74564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4000"/>
              </a:lnSpc>
              <a:defRPr sz="1200">
                <a:latin typeface="Raleway Thin Regular"/>
                <a:ea typeface="Raleway Thin Regular"/>
                <a:cs typeface="Raleway Thin Regular"/>
                <a:sym typeface="Raleway Thin Regular"/>
              </a:defRPr>
            </a:pPr>
            <a:r>
              <a:t>🐳</a:t>
            </a:r>
            <a:r>
              <a:rPr>
                <a:solidFill>
                  <a:srgbClr val="3C3939"/>
                </a:solidFill>
              </a:rPr>
              <a:t> Docker</a:t>
            </a:r>
          </a:p>
        </p:txBody>
      </p:sp>
      <p:sp>
        <p:nvSpPr>
          <p:cNvPr id="1007" name="Text 12"/>
          <p:cNvSpPr txBox="1"/>
          <p:nvPr/>
        </p:nvSpPr>
        <p:spPr>
          <a:xfrm>
            <a:off x="2341635" y="2708073"/>
            <a:ext cx="3823173" cy="59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900">
                <a:solidFill>
                  <a:srgbClr val="3C3939"/>
                </a:solidFill>
                <a:latin typeface="Roboto Regular Bold"/>
                <a:ea typeface="Roboto Regular Bold"/>
                <a:cs typeface="Roboto Regular Bold"/>
                <a:sym typeface="Roboto Regular Bold"/>
              </a:defRPr>
            </a:pPr>
            <a:r>
              <a:t>Package and run applications.</a:t>
            </a:r>
            <a:r>
              <a:rPr>
                <a:latin typeface="Roboto Regular Regular"/>
                <a:ea typeface="Roboto Regular Regular"/>
                <a:cs typeface="Roboto Regular Regular"/>
                <a:sym typeface="Roboto Regular Regular"/>
              </a:rPr>
              <a:t> Docker bundles code, dependencies, and environment into a portable container that runs identically on any machine.</a:t>
            </a:r>
          </a:p>
        </p:txBody>
      </p:sp>
      <p:sp>
        <p:nvSpPr>
          <p:cNvPr id="1008" name="Text 13"/>
          <p:cNvSpPr txBox="1"/>
          <p:nvPr/>
        </p:nvSpPr>
        <p:spPr>
          <a:xfrm>
            <a:off x="2341635" y="3377873"/>
            <a:ext cx="3823173" cy="696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3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Dockerfile</a:t>
            </a:r>
            <a:r>
              <a:rPr>
                <a:latin typeface="Roboto Regular Regular"/>
                <a:ea typeface="Roboto Regular Regular"/>
                <a:cs typeface="Roboto Regular Regular"/>
                <a:sym typeface="Roboto Regular Regular"/>
              </a:rPr>
              <a:t> — define the environment</a:t>
            </a:r>
          </a:p>
          <a:p>
            <a:pPr marL="342900" indent="-342900">
              <a:lnSpc>
                <a:spcPct val="13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docker build</a:t>
            </a:r>
            <a:r>
              <a:rPr>
                <a:latin typeface="Roboto Regular Regular"/>
                <a:ea typeface="Roboto Regular Regular"/>
                <a:cs typeface="Roboto Regular Regular"/>
                <a:sym typeface="Roboto Regular Regular"/>
              </a:rPr>
              <a:t> — create the image</a:t>
            </a:r>
          </a:p>
          <a:p>
            <a:pPr marL="342900" indent="-342900">
              <a:lnSpc>
                <a:spcPct val="13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docker run</a:t>
            </a:r>
            <a:r>
              <a:rPr>
                <a:latin typeface="Roboto Regular Regular"/>
                <a:ea typeface="Roboto Regular Regular"/>
                <a:cs typeface="Roboto Regular Regular"/>
                <a:sym typeface="Roboto Regular Regular"/>
              </a:rPr>
              <a:t> — start the container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