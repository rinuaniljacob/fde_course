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9144000" cy="5143500"/>
  <p:notesSz cx="5143500" cy="9144000"/>
  <p:embeddedFontLst>
    <p:embeddedFont>
      <p:font typeface="Raleway"/>
      <p:regular r:id="rId63"/>
    </p:embeddedFont>
    <p:embeddedFont>
      <p:font typeface="Raleway"/>
      <p:regular r:id="rId64"/>
    </p:embeddedFont>
    <p:embeddedFont>
      <p:font typeface="Raleway"/>
      <p:regular r:id="rId65"/>
    </p:embeddedFont>
    <p:embeddedFont>
      <p:font typeface="Raleway"/>
      <p:regular r:id="rId66"/>
    </p:embeddedFont>
    <p:embeddedFont>
      <p:font typeface="Roboto"/>
      <p:regular r:id="rId67"/>
    </p:embeddedFont>
    <p:embeddedFont>
      <p:font typeface="Roboto"/>
      <p:regular r:id="rId68"/>
    </p:embeddedFont>
    <p:embeddedFont>
      <p:font typeface="Roboto"/>
      <p:regular r:id="rId69"/>
    </p:embeddedFont>
    <p:embeddedFont>
      <p:font typeface="Roboto"/>
      <p:regular r:id="rId7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63" Type="http://schemas.openxmlformats.org/officeDocument/2006/relationships/font" Target="fonts/font1.fntdata"/><Relationship Id="rId64" Type="http://schemas.openxmlformats.org/officeDocument/2006/relationships/font" Target="fonts/font2.fntdata"/><Relationship Id="rId65" Type="http://schemas.openxmlformats.org/officeDocument/2006/relationships/font" Target="fonts/font3.fntdata"/><Relationship Id="rId66" Type="http://schemas.openxmlformats.org/officeDocument/2006/relationships/font" Target="fonts/font4.fntdata"/><Relationship Id="rId67" Type="http://schemas.openxmlformats.org/officeDocument/2006/relationships/font" Target="fonts/font5.fntdata"/><Relationship Id="rId68" Type="http://schemas.openxmlformats.org/officeDocument/2006/relationships/font" Target="fonts/font6.fntdata"/><Relationship Id="rId69" Type="http://schemas.openxmlformats.org/officeDocument/2006/relationships/font" Target="fonts/font7.fntdata"/><Relationship Id="rId7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svg"/><Relationship Id="rId12" Type="http://schemas.openxmlformats.org/officeDocument/2006/relationships/slideLayout" Target="../slideLayouts/slideLayout10.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7.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svg"/><Relationship Id="rId4" Type="http://schemas.openxmlformats.org/officeDocument/2006/relationships/image" Target="../media/image-22-4.png"/><Relationship Id="rId5" Type="http://schemas.openxmlformats.org/officeDocument/2006/relationships/image" Target="../media/image-22-5.svg"/><Relationship Id="rId6" Type="http://schemas.openxmlformats.org/officeDocument/2006/relationships/image" Target="../media/image-22-6.png"/><Relationship Id="rId7" Type="http://schemas.openxmlformats.org/officeDocument/2006/relationships/image" Target="../media/image-22-7.svg"/><Relationship Id="rId8" Type="http://schemas.openxmlformats.org/officeDocument/2006/relationships/image" Target="../media/image-22-8.png"/><Relationship Id="rId9" Type="http://schemas.openxmlformats.org/officeDocument/2006/relationships/image" Target="../media/image-22-9.svg"/><Relationship Id="rId10" Type="http://schemas.openxmlformats.org/officeDocument/2006/relationships/image" Target="../media/image-22-10.png"/><Relationship Id="rId11" Type="http://schemas.openxmlformats.org/officeDocument/2006/relationships/image" Target="../media/image-22-11.svg"/><Relationship Id="rId12" Type="http://schemas.openxmlformats.org/officeDocument/2006/relationships/slideLayout" Target="../slideLayouts/slideLayout23.xml"/><Relationship Id="rId1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8.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0.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image" Target="../media/image-34-5.png"/><Relationship Id="rId6" Type="http://schemas.openxmlformats.org/officeDocument/2006/relationships/image" Target="../media/image-34-6.svg"/><Relationship Id="rId7" Type="http://schemas.openxmlformats.org/officeDocument/2006/relationships/image" Target="../media/image-34-7.png"/><Relationship Id="rId8" Type="http://schemas.openxmlformats.org/officeDocument/2006/relationships/image" Target="../media/image-34-8.svg"/><Relationship Id="rId9" Type="http://schemas.openxmlformats.org/officeDocument/2006/relationships/slideLayout" Target="../slideLayouts/slideLayout35.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image" Target="../media/image-35-5.png"/><Relationship Id="rId6" Type="http://schemas.openxmlformats.org/officeDocument/2006/relationships/image" Target="../media/image-35-6.svg"/><Relationship Id="rId7" Type="http://schemas.openxmlformats.org/officeDocument/2006/relationships/slideLayout" Target="../slideLayouts/slideLayout36.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9.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0.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42-5.png"/><Relationship Id="rId6" Type="http://schemas.openxmlformats.org/officeDocument/2006/relationships/image" Target="../media/image-42-6.svg"/><Relationship Id="rId7" Type="http://schemas.openxmlformats.org/officeDocument/2006/relationships/slideLayout" Target="../slideLayouts/slideLayout43.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5.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7.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image" Target="../media/image-47-3.png"/><Relationship Id="rId4" Type="http://schemas.openxmlformats.org/officeDocument/2006/relationships/image" Target="../media/image-47-4.svg"/><Relationship Id="rId5" Type="http://schemas.openxmlformats.org/officeDocument/2006/relationships/image" Target="../media/image-47-5.png"/><Relationship Id="rId6" Type="http://schemas.openxmlformats.org/officeDocument/2006/relationships/image" Target="../media/image-47-6.svg"/><Relationship Id="rId7" Type="http://schemas.openxmlformats.org/officeDocument/2006/relationships/slideLayout" Target="../slideLayouts/slideLayout48.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9.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50.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5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5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55.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57.xml"/><Relationship Id="rId4"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945109"/>
            <a:ext cx="623292" cy="233214"/>
          </a:xfrm>
          <a:prstGeom prst="roundRect">
            <a:avLst>
              <a:gd name="adj" fmla="val 17872"/>
            </a:avLst>
          </a:prstGeom>
          <a:solidFill>
            <a:srgbClr val="E1E1EA"/>
          </a:solidFill>
          <a:ln/>
        </p:spPr>
      </p:sp>
      <p:sp>
        <p:nvSpPr>
          <p:cNvPr id="5" name="Text 2"/>
          <p:cNvSpPr/>
          <p:nvPr/>
        </p:nvSpPr>
        <p:spPr>
          <a:xfrm>
            <a:off x="570533" y="1982316"/>
            <a:ext cx="474464"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MODULE 4</a:t>
            </a:r>
            <a:endParaRPr lang="en-US" sz="750" dirty="0"/>
          </a:p>
        </p:txBody>
      </p:sp>
      <p:sp>
        <p:nvSpPr>
          <p:cNvPr id="6" name="Text 3"/>
          <p:cNvSpPr/>
          <p:nvPr/>
        </p:nvSpPr>
        <p:spPr>
          <a:xfrm>
            <a:off x="496119" y="2227883"/>
            <a:ext cx="359516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Data Flow in Applications</a:t>
            </a:r>
            <a:endParaRPr lang="en-US" sz="2400" dirty="0"/>
          </a:p>
        </p:txBody>
      </p:sp>
      <p:sp>
        <p:nvSpPr>
          <p:cNvPr id="7" name="Text 4"/>
          <p:cNvSpPr/>
          <p:nvPr/>
        </p:nvSpPr>
        <p:spPr>
          <a:xfrm>
            <a:off x="496119" y="2801466"/>
            <a:ext cx="4722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How backend systems store, manage, and persist data — from simple in-memory variables to structured CSV-based storage with full CRUD operations.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599233"/>
            <a:ext cx="1951509" cy="242739"/>
          </a:xfrm>
          <a:prstGeom prst="roundRect">
            <a:avLst>
              <a:gd name="adj" fmla="val 17171"/>
            </a:avLst>
          </a:prstGeom>
          <a:noFill/>
          <a:ln w="4763">
            <a:solidFill>
              <a:srgbClr val="1B1B27"/>
            </a:solidFill>
            <a:prstDash val="solid"/>
          </a:ln>
        </p:spPr>
      </p:sp>
      <p:sp>
        <p:nvSpPr>
          <p:cNvPr id="3" name="Text 1"/>
          <p:cNvSpPr/>
          <p:nvPr/>
        </p:nvSpPr>
        <p:spPr>
          <a:xfrm>
            <a:off x="575295" y="1641202"/>
            <a:ext cx="179315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DATA FLOW</a:t>
            </a:r>
            <a:endParaRPr lang="en-US" sz="750" dirty="0"/>
          </a:p>
        </p:txBody>
      </p:sp>
      <p:sp>
        <p:nvSpPr>
          <p:cNvPr id="4" name="Text 2"/>
          <p:cNvSpPr/>
          <p:nvPr/>
        </p:nvSpPr>
        <p:spPr>
          <a:xfrm>
            <a:off x="496119" y="1891531"/>
            <a:ext cx="427955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Understanding</a:t>
            </a:r>
            <a:endParaRPr lang="en-US" sz="3350" dirty="0"/>
          </a:p>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Data Flow</a:t>
            </a:r>
            <a:endParaRPr lang="en-US" sz="3350" dirty="0"/>
          </a:p>
        </p:txBody>
      </p:sp>
      <p:sp>
        <p:nvSpPr>
          <p:cNvPr id="5" name="Text 3"/>
          <p:cNvSpPr/>
          <p:nvPr/>
        </p:nvSpPr>
        <p:spPr>
          <a:xfrm>
            <a:off x="496119" y="3147343"/>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Before we write a single line of persistent storage, we need to understand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why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backends need to remember things — and what happens when they don't.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72901" y="341858"/>
            <a:ext cx="467097" cy="218554"/>
          </a:xfrm>
          <a:prstGeom prst="roundRect">
            <a:avLst>
              <a:gd name="adj" fmla="val 18177"/>
            </a:avLst>
          </a:prstGeom>
          <a:solidFill>
            <a:srgbClr val="E1E1EA"/>
          </a:solidFill>
          <a:ln/>
        </p:spPr>
      </p:sp>
      <p:sp>
        <p:nvSpPr>
          <p:cNvPr id="3" name="Text 1"/>
          <p:cNvSpPr/>
          <p:nvPr/>
        </p:nvSpPr>
        <p:spPr>
          <a:xfrm>
            <a:off x="543818" y="377279"/>
            <a:ext cx="325264" cy="147712"/>
          </a:xfrm>
          <a:prstGeom prst="rect">
            <a:avLst/>
          </a:prstGeom>
          <a:noFill/>
          <a:ln/>
        </p:spPr>
        <p:txBody>
          <a:bodyPr wrap="none" lIns="0" tIns="0" rIns="0" bIns="0" rtlCol="0" anchor="t"/>
          <a:lstStyle/>
          <a:p>
            <a:pPr algn="l" indent="0" marL="0">
              <a:lnSpc>
                <a:spcPts val="1150"/>
              </a:lnSpc>
              <a:buNone/>
            </a:pPr>
            <a:r>
              <a:rPr lang="en-US" sz="700" dirty="0">
                <a:solidFill>
                  <a:srgbClr val="3C3939"/>
                </a:solidFill>
                <a:latin typeface="Roboto" pitchFamily="34" charset="0"/>
                <a:ea typeface="Roboto" pitchFamily="34" charset="-122"/>
                <a:cs typeface="Roboto" pitchFamily="34" charset="-120"/>
              </a:rPr>
              <a:t>SLIDE 1</a:t>
            </a:r>
            <a:endParaRPr lang="en-US" sz="700" dirty="0"/>
          </a:p>
        </p:txBody>
      </p:sp>
      <p:sp>
        <p:nvSpPr>
          <p:cNvPr id="4" name="Text 2"/>
          <p:cNvSpPr/>
          <p:nvPr/>
        </p:nvSpPr>
        <p:spPr>
          <a:xfrm>
            <a:off x="472901" y="605433"/>
            <a:ext cx="3426023" cy="369466"/>
          </a:xfrm>
          <a:prstGeom prst="rect">
            <a:avLst/>
          </a:prstGeom>
          <a:noFill/>
          <a:ln/>
        </p:spPr>
        <p:txBody>
          <a:bodyPr wrap="none" lIns="0" tIns="0" rIns="0" bIns="0" rtlCol="0" anchor="t"/>
          <a:lstStyle/>
          <a:p>
            <a:pPr algn="l" indent="0" marL="0">
              <a:lnSpc>
                <a:spcPts val="2900"/>
              </a:lnSpc>
              <a:buNone/>
            </a:pPr>
            <a:r>
              <a:rPr lang="en-US" sz="2300" dirty="0">
                <a:solidFill>
                  <a:srgbClr val="1B1B27"/>
                </a:solidFill>
                <a:latin typeface="Raleway" pitchFamily="34" charset="0"/>
                <a:ea typeface="Raleway" pitchFamily="34" charset="-122"/>
                <a:cs typeface="Raleway" pitchFamily="34" charset="-120"/>
              </a:rPr>
              <a:t>Data Flow in Applications</a:t>
            </a:r>
            <a:endParaRPr lang="en-US" sz="2300" dirty="0"/>
          </a:p>
        </p:txBody>
      </p:sp>
      <p:sp>
        <p:nvSpPr>
          <p:cNvPr id="5" name="Text 3"/>
          <p:cNvSpPr/>
          <p:nvPr/>
        </p:nvSpPr>
        <p:spPr>
          <a:xfrm>
            <a:off x="472901" y="1143893"/>
            <a:ext cx="8198197" cy="554087"/>
          </a:xfrm>
          <a:prstGeom prst="rect">
            <a:avLst/>
          </a:prstGeom>
          <a:noFill/>
          <a:ln/>
        </p:spPr>
        <p:txBody>
          <a:bodyPr wrap="square" lIns="0" tIns="0" rIns="0" bIns="0" rtlCol="0" anchor="t"/>
          <a:lstStyle/>
          <a:p>
            <a:pPr algn="l" indent="0" marL="0">
              <a:lnSpc>
                <a:spcPts val="1450"/>
              </a:lnSpc>
              <a:buNone/>
            </a:pPr>
            <a:r>
              <a:rPr lang="en-US" sz="900" dirty="0">
                <a:solidFill>
                  <a:srgbClr val="3C3939"/>
                </a:solidFill>
                <a:latin typeface="Roboto" pitchFamily="34" charset="0"/>
                <a:ea typeface="Roboto" pitchFamily="34" charset="-122"/>
                <a:cs typeface="Roboto" pitchFamily="34" charset="-120"/>
              </a:rPr>
              <a:t>Every web application has a backend that receives requests, processes logic, and returns responses. But where does the </a:t>
            </a:r>
            <a:pPr algn="l" indent="0" marL="0">
              <a:lnSpc>
                <a:spcPts val="1450"/>
              </a:lnSpc>
              <a:buNone/>
            </a:pPr>
            <a:r>
              <a:rPr lang="en-US" sz="900" b="1" dirty="0">
                <a:solidFill>
                  <a:srgbClr val="3C3939"/>
                </a:solidFill>
                <a:latin typeface="Roboto" pitchFamily="34" charset="0"/>
                <a:ea typeface="Roboto" pitchFamily="34" charset="-122"/>
                <a:cs typeface="Roboto" pitchFamily="34" charset="-120"/>
              </a:rPr>
              <a:t>data live</a:t>
            </a:r>
            <a:pPr algn="l" indent="0" marL="0">
              <a:lnSpc>
                <a:spcPts val="1450"/>
              </a:lnSpc>
              <a:buNone/>
            </a:pPr>
            <a:r>
              <a:rPr lang="en-US" sz="900" dirty="0">
                <a:solidFill>
                  <a:srgbClr val="3C3939"/>
                </a:solidFill>
                <a:latin typeface="Roboto" pitchFamily="34" charset="0"/>
                <a:ea typeface="Roboto" pitchFamily="34" charset="-122"/>
                <a:cs typeface="Roboto" pitchFamily="34" charset="-120"/>
              </a:rPr>
              <a:t> between those requests? Understanding data flow means understanding how information moves through your system — from the client, through your API, all the way to storage and back.</a:t>
            </a:r>
            <a:endParaRPr lang="en-US" sz="900" dirty="0"/>
          </a:p>
        </p:txBody>
      </p:sp>
      <p:pic>
        <p:nvPicPr>
          <p:cNvPr id="6" name="Image 0" descr="preencoded.png">    </p:cNvPr>
          <p:cNvPicPr>
            <a:picLocks noChangeAspect="1"/>
          </p:cNvPicPr>
          <p:nvPr/>
        </p:nvPicPr>
        <p:blipFill>
          <a:blip r:embed="rId1"/>
          <a:stretch>
            <a:fillRect/>
          </a:stretch>
        </p:blipFill>
        <p:spPr>
          <a:xfrm>
            <a:off x="890364" y="1824707"/>
            <a:ext cx="7363271" cy="2665512"/>
          </a:xfrm>
          <a:prstGeom prst="rect">
            <a:avLst/>
          </a:prstGeom>
        </p:spPr>
      </p:pic>
      <p:sp>
        <p:nvSpPr>
          <p:cNvPr id="7" name="Text 4"/>
          <p:cNvSpPr/>
          <p:nvPr/>
        </p:nvSpPr>
        <p:spPr>
          <a:xfrm>
            <a:off x="1430892" y="3839568"/>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Response</a:t>
            </a:r>
            <a:endParaRPr lang="en-US" sz="1450" dirty="0"/>
          </a:p>
        </p:txBody>
      </p:sp>
      <p:sp>
        <p:nvSpPr>
          <p:cNvPr id="8" name="Text 5"/>
          <p:cNvSpPr/>
          <p:nvPr/>
        </p:nvSpPr>
        <p:spPr>
          <a:xfrm>
            <a:off x="1430892" y="3036156"/>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Backend Logic</a:t>
            </a:r>
            <a:endParaRPr lang="en-US" sz="1450" dirty="0"/>
          </a:p>
        </p:txBody>
      </p:sp>
      <p:sp>
        <p:nvSpPr>
          <p:cNvPr id="9" name="Text 6"/>
          <p:cNvSpPr/>
          <p:nvPr/>
        </p:nvSpPr>
        <p:spPr>
          <a:xfrm>
            <a:off x="1430892" y="2224546"/>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Client Request</a:t>
            </a:r>
            <a:endParaRPr lang="en-US" sz="1450" dirty="0"/>
          </a:p>
        </p:txBody>
      </p:sp>
      <p:sp>
        <p:nvSpPr>
          <p:cNvPr id="10" name="Text 7"/>
          <p:cNvSpPr/>
          <p:nvPr/>
        </p:nvSpPr>
        <p:spPr>
          <a:xfrm>
            <a:off x="472901" y="4616946"/>
            <a:ext cx="8198197" cy="184696"/>
          </a:xfrm>
          <a:prstGeom prst="rect">
            <a:avLst/>
          </a:prstGeom>
          <a:noFill/>
          <a:ln/>
        </p:spPr>
        <p:txBody>
          <a:bodyPr wrap="none" lIns="0" tIns="0" rIns="0" bIns="0" rtlCol="0" anchor="t"/>
          <a:lstStyle/>
          <a:p>
            <a:pPr algn="l" indent="0" marL="0">
              <a:lnSpc>
                <a:spcPts val="1450"/>
              </a:lnSpc>
              <a:buNone/>
            </a:pPr>
            <a:r>
              <a:rPr lang="en-US" sz="900" dirty="0">
                <a:solidFill>
                  <a:srgbClr val="3C3939"/>
                </a:solidFill>
                <a:latin typeface="Roboto" pitchFamily="34" charset="0"/>
                <a:ea typeface="Roboto" pitchFamily="34" charset="-122"/>
                <a:cs typeface="Roboto" pitchFamily="34" charset="-120"/>
              </a:rPr>
              <a:t>This module focuses on what happens in between: how data is stored, retrieved, and modified persistently.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1120378"/>
            <a:ext cx="490017" cy="233214"/>
          </a:xfrm>
          <a:prstGeom prst="roundRect">
            <a:avLst>
              <a:gd name="adj" fmla="val 17872"/>
            </a:avLst>
          </a:prstGeom>
          <a:solidFill>
            <a:srgbClr val="E1E1EA"/>
          </a:solidFill>
          <a:ln/>
        </p:spPr>
      </p:sp>
      <p:sp>
        <p:nvSpPr>
          <p:cNvPr id="3" name="Text 1"/>
          <p:cNvSpPr/>
          <p:nvPr/>
        </p:nvSpPr>
        <p:spPr>
          <a:xfrm>
            <a:off x="570533" y="1157585"/>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a:t>
            </a:r>
            <a:endParaRPr lang="en-US" sz="750" dirty="0"/>
          </a:p>
        </p:txBody>
      </p:sp>
      <p:sp>
        <p:nvSpPr>
          <p:cNvPr id="4" name="Text 2"/>
          <p:cNvSpPr/>
          <p:nvPr/>
        </p:nvSpPr>
        <p:spPr>
          <a:xfrm>
            <a:off x="496119" y="140315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We Built Earlier</a:t>
            </a:r>
            <a:endParaRPr lang="en-US" sz="2400" dirty="0"/>
          </a:p>
        </p:txBody>
      </p:sp>
      <p:sp>
        <p:nvSpPr>
          <p:cNvPr id="5" name="Text 3"/>
          <p:cNvSpPr/>
          <p:nvPr/>
        </p:nvSpPr>
        <p:spPr>
          <a:xfrm>
            <a:off x="496119" y="1976735"/>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 previous modules, we created a basic FastAPI backend that responds to HTTP requests. The pattern was simple — a request comes in, logic runs, and a response goes out.</a:t>
            </a:r>
            <a:endParaRPr lang="en-US" sz="950" dirty="0"/>
          </a:p>
        </p:txBody>
      </p:sp>
      <p:sp>
        <p:nvSpPr>
          <p:cNvPr id="6" name="Shape 4"/>
          <p:cNvSpPr/>
          <p:nvPr/>
        </p:nvSpPr>
        <p:spPr>
          <a:xfrm>
            <a:off x="496119" y="2513186"/>
            <a:ext cx="8151763" cy="843335"/>
          </a:xfrm>
          <a:prstGeom prst="roundRect">
            <a:avLst>
              <a:gd name="adj" fmla="val 6178"/>
            </a:avLst>
          </a:prstGeom>
          <a:solidFill>
            <a:srgbClr val="F2F2F2"/>
          </a:solidFill>
          <a:ln/>
        </p:spPr>
      </p:sp>
      <p:sp>
        <p:nvSpPr>
          <p:cNvPr id="7" name="Shape 5"/>
          <p:cNvSpPr/>
          <p:nvPr/>
        </p:nvSpPr>
        <p:spPr>
          <a:xfrm>
            <a:off x="489942" y="2513186"/>
            <a:ext cx="8164116" cy="843335"/>
          </a:xfrm>
          <a:prstGeom prst="roundRect">
            <a:avLst>
              <a:gd name="adj" fmla="val 2206"/>
            </a:avLst>
          </a:prstGeom>
          <a:solidFill>
            <a:srgbClr val="F2F2F2"/>
          </a:solidFill>
          <a:ln/>
        </p:spPr>
      </p:sp>
      <p:sp>
        <p:nvSpPr>
          <p:cNvPr id="8" name="Text 6"/>
          <p:cNvSpPr/>
          <p:nvPr/>
        </p:nvSpPr>
        <p:spPr>
          <a:xfrm>
            <a:off x="644947" y="2637160"/>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@app.get("/")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def home():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{"message": "hello"}</a:t>
            </a:r>
            <a:endParaRPr lang="en-US" sz="950" dirty="0"/>
          </a:p>
        </p:txBody>
      </p:sp>
      <p:sp>
        <p:nvSpPr>
          <p:cNvPr id="9" name="Shape 7"/>
          <p:cNvSpPr/>
          <p:nvPr/>
        </p:nvSpPr>
        <p:spPr>
          <a:xfrm>
            <a:off x="496119" y="3496047"/>
            <a:ext cx="8151763" cy="527000"/>
          </a:xfrm>
          <a:prstGeom prst="roundRect">
            <a:avLst>
              <a:gd name="adj" fmla="val 9886"/>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680594"/>
            <a:ext cx="155004" cy="123974"/>
          </a:xfrm>
          <a:prstGeom prst="rect">
            <a:avLst/>
          </a:prstGeom>
        </p:spPr>
      </p:pic>
      <p:sp>
        <p:nvSpPr>
          <p:cNvPr id="11" name="Text 8"/>
          <p:cNvSpPr/>
          <p:nvPr/>
        </p:nvSpPr>
        <p:spPr>
          <a:xfrm>
            <a:off x="899071" y="3650977"/>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is a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stateless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endpoint — it processes the request and immediately forgets it ever happened. No data is saved.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214884"/>
            <a:ext cx="490017" cy="233214"/>
          </a:xfrm>
          <a:prstGeom prst="roundRect">
            <a:avLst>
              <a:gd name="adj" fmla="val 17872"/>
            </a:avLst>
          </a:prstGeom>
          <a:solidFill>
            <a:srgbClr val="E1E1EA"/>
          </a:solidFill>
          <a:ln/>
        </p:spPr>
      </p:sp>
      <p:sp>
        <p:nvSpPr>
          <p:cNvPr id="5" name="Text 2"/>
          <p:cNvSpPr/>
          <p:nvPr/>
        </p:nvSpPr>
        <p:spPr>
          <a:xfrm>
            <a:off x="570533" y="1252091"/>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a:t>
            </a:r>
            <a:endParaRPr lang="en-US" sz="750" dirty="0"/>
          </a:p>
        </p:txBody>
      </p:sp>
      <p:sp>
        <p:nvSpPr>
          <p:cNvPr id="6" name="Text 3"/>
          <p:cNvSpPr/>
          <p:nvPr/>
        </p:nvSpPr>
        <p:spPr>
          <a:xfrm>
            <a:off x="496119" y="149765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The Problem</a:t>
            </a:r>
            <a:endParaRPr lang="en-US" sz="2400" dirty="0"/>
          </a:p>
        </p:txBody>
      </p:sp>
      <p:sp>
        <p:nvSpPr>
          <p:cNvPr id="7" name="Text 4"/>
          <p:cNvSpPr/>
          <p:nvPr/>
        </p:nvSpPr>
        <p:spPr>
          <a:xfrm>
            <a:off x="496119" y="2071241"/>
            <a:ext cx="4722763" cy="992312"/>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Our backend currently has a critical limitation: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it forgets everything after every request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Each time a new HTTP request arrives, the server starts fresh with no memory of previous interactions. This is fine for a simple greeting, but completely inadequate for any real-world application that needs to track users, orders, or messages.</a:t>
            </a:r>
            <a:endParaRPr lang="en-US" sz="950" dirty="0"/>
          </a:p>
        </p:txBody>
      </p:sp>
      <p:sp>
        <p:nvSpPr>
          <p:cNvPr id="8" name="Shape 5"/>
          <p:cNvSpPr/>
          <p:nvPr/>
        </p:nvSpPr>
        <p:spPr>
          <a:xfrm>
            <a:off x="496119" y="3203079"/>
            <a:ext cx="4722763" cy="725463"/>
          </a:xfrm>
          <a:prstGeom prst="roundRect">
            <a:avLst>
              <a:gd name="adj" fmla="val 7182"/>
            </a:avLst>
          </a:prstGeom>
          <a:solidFill>
            <a:srgbClr val="FCF2B5"/>
          </a:solidFill>
          <a:ln/>
        </p:spPr>
      </p:sp>
      <p:pic>
        <p:nvPicPr>
          <p:cNvPr id="9" name="Image 1" descr="preencoded.png">    </p:cNvPr>
          <p:cNvPicPr>
            <a:picLocks noChangeAspect="1"/>
          </p:cNvPicPr>
          <p:nvPr/>
        </p:nvPicPr>
        <p:blipFill>
          <a:blip r:embed="rId2"/>
          <a:stretch>
            <a:fillRect/>
          </a:stretch>
        </p:blipFill>
        <p:spPr>
          <a:xfrm>
            <a:off x="620092" y="3387626"/>
            <a:ext cx="155004" cy="123974"/>
          </a:xfrm>
          <a:prstGeom prst="rect">
            <a:avLst/>
          </a:prstGeom>
        </p:spPr>
      </p:pic>
      <p:sp>
        <p:nvSpPr>
          <p:cNvPr id="10" name="Text 6"/>
          <p:cNvSpPr/>
          <p:nvPr/>
        </p:nvSpPr>
        <p:spPr>
          <a:xfrm>
            <a:off x="899071" y="3358009"/>
            <a:ext cx="4195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Without persistent storage, your backend cannot build any meaningful product.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513210"/>
            <a:ext cx="490017" cy="233214"/>
          </a:xfrm>
          <a:prstGeom prst="roundRect">
            <a:avLst>
              <a:gd name="adj" fmla="val 17872"/>
            </a:avLst>
          </a:prstGeom>
          <a:solidFill>
            <a:srgbClr val="E1E1EA"/>
          </a:solidFill>
          <a:ln/>
        </p:spPr>
      </p:sp>
      <p:sp>
        <p:nvSpPr>
          <p:cNvPr id="3" name="Text 1"/>
          <p:cNvSpPr/>
          <p:nvPr/>
        </p:nvSpPr>
        <p:spPr>
          <a:xfrm>
            <a:off x="570533" y="1550417"/>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a:t>
            </a:r>
            <a:endParaRPr lang="en-US" sz="750" dirty="0"/>
          </a:p>
        </p:txBody>
      </p:sp>
      <p:sp>
        <p:nvSpPr>
          <p:cNvPr id="4" name="Text 2"/>
          <p:cNvSpPr/>
          <p:nvPr/>
        </p:nvSpPr>
        <p:spPr>
          <a:xfrm>
            <a:off x="496119" y="1795983"/>
            <a:ext cx="535148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Why Real Applications Need Memory</a:t>
            </a:r>
            <a:endParaRPr lang="en-US" sz="2400" dirty="0"/>
          </a:p>
        </p:txBody>
      </p:sp>
      <p:sp>
        <p:nvSpPr>
          <p:cNvPr id="5" name="Text 3"/>
          <p:cNvSpPr/>
          <p:nvPr/>
        </p:nvSpPr>
        <p:spPr>
          <a:xfrm>
            <a:off x="496119" y="2369567"/>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application you use daily relies on a backend that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remembers state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Think about what breaks without it:</a:t>
            </a:r>
            <a:endParaRPr lang="en-US" sz="950" dirty="0"/>
          </a:p>
        </p:txBody>
      </p:sp>
      <p:sp>
        <p:nvSpPr>
          <p:cNvPr id="6" name="Shape 4"/>
          <p:cNvSpPr/>
          <p:nvPr/>
        </p:nvSpPr>
        <p:spPr>
          <a:xfrm>
            <a:off x="496119" y="2707556"/>
            <a:ext cx="2634555" cy="922660"/>
          </a:xfrm>
          <a:prstGeom prst="roundRect">
            <a:avLst>
              <a:gd name="adj" fmla="val 5647"/>
            </a:avLst>
          </a:prstGeom>
          <a:solidFill>
            <a:srgbClr val="E1E1EA"/>
          </a:solidFill>
          <a:ln w="4763">
            <a:solidFill>
              <a:srgbClr val="C7C7D0"/>
            </a:solidFill>
            <a:prstDash val="solid"/>
          </a:ln>
        </p:spPr>
      </p:sp>
      <p:sp>
        <p:nvSpPr>
          <p:cNvPr id="7" name="Text 5"/>
          <p:cNvSpPr/>
          <p:nvPr/>
        </p:nvSpPr>
        <p:spPr>
          <a:xfrm>
            <a:off x="624855" y="283629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Instagram</a:t>
            </a:r>
            <a:endParaRPr lang="en-US" sz="1200" dirty="0"/>
          </a:p>
        </p:txBody>
      </p:sp>
      <p:sp>
        <p:nvSpPr>
          <p:cNvPr id="8" name="Text 6"/>
          <p:cNvSpPr/>
          <p:nvPr/>
        </p:nvSpPr>
        <p:spPr>
          <a:xfrm>
            <a:off x="624855" y="310455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Remembers your account, followers, and every post you've ever uploaded.</a:t>
            </a:r>
            <a:endParaRPr lang="en-US" sz="950" dirty="0"/>
          </a:p>
        </p:txBody>
      </p:sp>
      <p:sp>
        <p:nvSpPr>
          <p:cNvPr id="9" name="Shape 7"/>
          <p:cNvSpPr/>
          <p:nvPr/>
        </p:nvSpPr>
        <p:spPr>
          <a:xfrm>
            <a:off x="3254648" y="2707556"/>
            <a:ext cx="2634630" cy="922660"/>
          </a:xfrm>
          <a:prstGeom prst="roundRect">
            <a:avLst>
              <a:gd name="adj" fmla="val 5647"/>
            </a:avLst>
          </a:prstGeom>
          <a:solidFill>
            <a:srgbClr val="E1E1EA"/>
          </a:solidFill>
          <a:ln w="4763">
            <a:solidFill>
              <a:srgbClr val="C7C7D0"/>
            </a:solidFill>
            <a:prstDash val="solid"/>
          </a:ln>
        </p:spPr>
      </p:sp>
      <p:sp>
        <p:nvSpPr>
          <p:cNvPr id="10" name="Text 8"/>
          <p:cNvSpPr/>
          <p:nvPr/>
        </p:nvSpPr>
        <p:spPr>
          <a:xfrm>
            <a:off x="3383384" y="283629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Amazon</a:t>
            </a:r>
            <a:endParaRPr lang="en-US" sz="1200" dirty="0"/>
          </a:p>
        </p:txBody>
      </p:sp>
      <p:sp>
        <p:nvSpPr>
          <p:cNvPr id="11" name="Text 9"/>
          <p:cNvSpPr/>
          <p:nvPr/>
        </p:nvSpPr>
        <p:spPr>
          <a:xfrm>
            <a:off x="3383384" y="3104555"/>
            <a:ext cx="237715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Tracks your orders, cart items, and purchase history across sessions.</a:t>
            </a:r>
            <a:endParaRPr lang="en-US" sz="950" dirty="0"/>
          </a:p>
        </p:txBody>
      </p:sp>
      <p:sp>
        <p:nvSpPr>
          <p:cNvPr id="12" name="Shape 10"/>
          <p:cNvSpPr/>
          <p:nvPr/>
        </p:nvSpPr>
        <p:spPr>
          <a:xfrm>
            <a:off x="6013252" y="2707556"/>
            <a:ext cx="2634555" cy="922660"/>
          </a:xfrm>
          <a:prstGeom prst="roundRect">
            <a:avLst>
              <a:gd name="adj" fmla="val 5647"/>
            </a:avLst>
          </a:prstGeom>
          <a:solidFill>
            <a:srgbClr val="E1E1EA"/>
          </a:solidFill>
          <a:ln w="4763">
            <a:solidFill>
              <a:srgbClr val="C7C7D0"/>
            </a:solidFill>
            <a:prstDash val="solid"/>
          </a:ln>
        </p:spPr>
      </p:sp>
      <p:sp>
        <p:nvSpPr>
          <p:cNvPr id="13" name="Text 11"/>
          <p:cNvSpPr/>
          <p:nvPr/>
        </p:nvSpPr>
        <p:spPr>
          <a:xfrm>
            <a:off x="6141988" y="283629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WhatsApp</a:t>
            </a:r>
            <a:endParaRPr lang="en-US" sz="1200" dirty="0"/>
          </a:p>
        </p:txBody>
      </p:sp>
      <p:sp>
        <p:nvSpPr>
          <p:cNvPr id="14" name="Text 12"/>
          <p:cNvSpPr/>
          <p:nvPr/>
        </p:nvSpPr>
        <p:spPr>
          <a:xfrm>
            <a:off x="6141988" y="310455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Stores every message, media file, and conversation thread persistently.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438945"/>
            <a:ext cx="490017" cy="233214"/>
          </a:xfrm>
          <a:prstGeom prst="roundRect">
            <a:avLst>
              <a:gd name="adj" fmla="val 17872"/>
            </a:avLst>
          </a:prstGeom>
          <a:solidFill>
            <a:srgbClr val="E1E1EA"/>
          </a:solidFill>
          <a:ln/>
        </p:spPr>
      </p:sp>
      <p:sp>
        <p:nvSpPr>
          <p:cNvPr id="3" name="Text 1"/>
          <p:cNvSpPr/>
          <p:nvPr/>
        </p:nvSpPr>
        <p:spPr>
          <a:xfrm>
            <a:off x="570533" y="1476152"/>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5</a:t>
            </a:r>
            <a:endParaRPr lang="en-US" sz="750" dirty="0"/>
          </a:p>
        </p:txBody>
      </p:sp>
      <p:sp>
        <p:nvSpPr>
          <p:cNvPr id="4" name="Text 2"/>
          <p:cNvSpPr/>
          <p:nvPr/>
        </p:nvSpPr>
        <p:spPr>
          <a:xfrm>
            <a:off x="496119" y="1721718"/>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is State?</a:t>
            </a:r>
            <a:endParaRPr lang="en-US" sz="2400" dirty="0"/>
          </a:p>
        </p:txBody>
      </p:sp>
      <p:sp>
        <p:nvSpPr>
          <p:cNvPr id="5" name="Shape 3"/>
          <p:cNvSpPr/>
          <p:nvPr/>
        </p:nvSpPr>
        <p:spPr>
          <a:xfrm>
            <a:off x="406822" y="2295302"/>
            <a:ext cx="4103191" cy="1409179"/>
          </a:xfrm>
          <a:prstGeom prst="roundRect">
            <a:avLst>
              <a:gd name="adj" fmla="val 6338"/>
            </a:avLst>
          </a:prstGeom>
          <a:solidFill>
            <a:srgbClr val="1B1B27">
              <a:alpha val="95000"/>
            </a:srgbClr>
          </a:solidFill>
          <a:ln/>
        </p:spPr>
      </p:sp>
      <p:sp>
        <p:nvSpPr>
          <p:cNvPr id="6" name="Text 4"/>
          <p:cNvSpPr/>
          <p:nvPr/>
        </p:nvSpPr>
        <p:spPr>
          <a:xfrm>
            <a:off x="530796" y="241927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Definition</a:t>
            </a:r>
            <a:endParaRPr lang="en-US" sz="1200" dirty="0"/>
          </a:p>
        </p:txBody>
      </p:sp>
      <p:sp>
        <p:nvSpPr>
          <p:cNvPr id="7" name="Text 5"/>
          <p:cNvSpPr/>
          <p:nvPr/>
        </p:nvSpPr>
        <p:spPr>
          <a:xfrm>
            <a:off x="530796" y="2737098"/>
            <a:ext cx="3855244" cy="595387"/>
          </a:xfrm>
          <a:prstGeom prst="rect">
            <a:avLst/>
          </a:prstGeom>
          <a:noFill/>
          <a:ln/>
        </p:spPr>
        <p:txBody>
          <a:bodyPr wrap="square" lIns="0" tIns="0" rIns="0" bIns="0" rtlCol="0" anchor="t"/>
          <a:lstStyle/>
          <a:p>
            <a:pPr algn="l" indent="0" marL="0">
              <a:lnSpc>
                <a:spcPts val="1550"/>
              </a:lnSpc>
              <a:buNone/>
            </a:pPr>
            <a:r>
              <a:rPr lang="en-US" sz="950" b="1" dirty="0">
                <a:solidFill>
                  <a:srgbClr val="FFFFFF"/>
                </a:solidFill>
                <a:latin typeface="Roboto" pitchFamily="34" charset="0"/>
                <a:ea typeface="Roboto" pitchFamily="34" charset="-122"/>
                <a:cs typeface="Roboto" pitchFamily="34" charset="-120"/>
              </a:rPr>
              <a:t>State</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is any information that a system remembers over time. It's the difference between a calculator and a database — one forgets, the other remembers.</a:t>
            </a:r>
            <a:endParaRPr lang="en-US" sz="950" dirty="0"/>
          </a:p>
        </p:txBody>
      </p:sp>
      <p:sp>
        <p:nvSpPr>
          <p:cNvPr id="8" name="Text 6"/>
          <p:cNvSpPr/>
          <p:nvPr/>
        </p:nvSpPr>
        <p:spPr>
          <a:xfrm>
            <a:off x="4728046" y="2419276"/>
            <a:ext cx="1995562"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Common Examples of State</a:t>
            </a:r>
            <a:endParaRPr lang="en-US" sz="1200" dirty="0"/>
          </a:p>
        </p:txBody>
      </p:sp>
      <p:sp>
        <p:nvSpPr>
          <p:cNvPr id="9" name="Text 7"/>
          <p:cNvSpPr/>
          <p:nvPr/>
        </p:nvSpPr>
        <p:spPr>
          <a:xfrm>
            <a:off x="4728046" y="2737098"/>
            <a:ext cx="3924598" cy="923999"/>
          </a:xfrm>
          <a:prstGeom prst="rect">
            <a:avLst/>
          </a:prstGeom>
          <a:noFill/>
          <a:ln/>
        </p:spPr>
        <p:txBody>
          <a:bodyPr wrap="square" lIns="0" tIns="0" rIns="0" bIns="0" rtlCol="0" anchor="t"/>
          <a:lstStyle/>
          <a:p>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Users</a:t>
            </a:r>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 — account details, login status, preferences</a:t>
            </a:r>
            <a:endParaRPr lang="en-US" sz="950" dirty="0"/>
          </a:p>
          <a:p>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Orders</a:t>
            </a:r>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 — items purchased, delivery status, history</a:t>
            </a:r>
            <a:endParaRPr lang="en-US" sz="950" dirty="0"/>
          </a:p>
          <a:p>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Messages</a:t>
            </a:r>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 — chat history, read receipts, timestamps</a:t>
            </a:r>
            <a:endParaRPr lang="en-US" sz="950" dirty="0"/>
          </a:p>
          <a:p>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Sessions</a:t>
            </a:r>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 — who is currently logged in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1209526"/>
            <a:ext cx="490017" cy="233214"/>
          </a:xfrm>
          <a:prstGeom prst="roundRect">
            <a:avLst>
              <a:gd name="adj" fmla="val 17872"/>
            </a:avLst>
          </a:prstGeom>
          <a:solidFill>
            <a:srgbClr val="E1E1EA"/>
          </a:solidFill>
          <a:ln/>
        </p:spPr>
      </p:sp>
      <p:sp>
        <p:nvSpPr>
          <p:cNvPr id="3" name="Text 1"/>
          <p:cNvSpPr/>
          <p:nvPr/>
        </p:nvSpPr>
        <p:spPr>
          <a:xfrm>
            <a:off x="570533" y="1246733"/>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6</a:t>
            </a:r>
            <a:endParaRPr lang="en-US" sz="750" dirty="0"/>
          </a:p>
        </p:txBody>
      </p:sp>
      <p:sp>
        <p:nvSpPr>
          <p:cNvPr id="4" name="Text 2"/>
          <p:cNvSpPr/>
          <p:nvPr/>
        </p:nvSpPr>
        <p:spPr>
          <a:xfrm>
            <a:off x="496119" y="149230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Without State</a:t>
            </a:r>
            <a:endParaRPr lang="en-US" sz="2400" dirty="0"/>
          </a:p>
        </p:txBody>
      </p:sp>
      <p:sp>
        <p:nvSpPr>
          <p:cNvPr id="5" name="Text 3"/>
          <p:cNvSpPr/>
          <p:nvPr/>
        </p:nvSpPr>
        <p:spPr>
          <a:xfrm>
            <a:off x="496119" y="2065883"/>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Imagine a real conversation with a stateless backend:</a:t>
            </a:r>
            <a:endParaRPr lang="en-US" sz="950" dirty="0"/>
          </a:p>
        </p:txBody>
      </p:sp>
      <p:pic>
        <p:nvPicPr>
          <p:cNvPr id="6" name="Image 0" descr="preencoded.png">    </p:cNvPr>
          <p:cNvPicPr>
            <a:picLocks noChangeAspect="1"/>
          </p:cNvPicPr>
          <p:nvPr/>
        </p:nvPicPr>
        <p:blipFill>
          <a:blip r:embed="rId1"/>
          <a:stretch>
            <a:fillRect/>
          </a:stretch>
        </p:blipFill>
        <p:spPr>
          <a:xfrm>
            <a:off x="496119" y="2403872"/>
            <a:ext cx="4013895" cy="863575"/>
          </a:xfrm>
          <a:prstGeom prst="rect">
            <a:avLst/>
          </a:prstGeom>
        </p:spPr>
      </p:pic>
      <p:sp>
        <p:nvSpPr>
          <p:cNvPr id="7" name="Text 4"/>
          <p:cNvSpPr/>
          <p:nvPr/>
        </p:nvSpPr>
        <p:spPr>
          <a:xfrm>
            <a:off x="620092" y="252784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User</a:t>
            </a:r>
            <a:endParaRPr lang="en-US" sz="1200" dirty="0"/>
          </a:p>
        </p:txBody>
      </p:sp>
      <p:sp>
        <p:nvSpPr>
          <p:cNvPr id="8" name="Text 5"/>
          <p:cNvSpPr/>
          <p:nvPr/>
        </p:nvSpPr>
        <p:spPr>
          <a:xfrm>
            <a:off x="620092" y="2796108"/>
            <a:ext cx="376594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"Show me my previous order."</a:t>
            </a:r>
            <a:endParaRPr lang="en-US" sz="950" dirty="0"/>
          </a:p>
        </p:txBody>
      </p:sp>
      <p:pic>
        <p:nvPicPr>
          <p:cNvPr id="9" name="Image 1" descr="preencoded.png">    </p:cNvPr>
          <p:cNvPicPr>
            <a:picLocks noChangeAspect="1"/>
          </p:cNvPicPr>
          <p:nvPr/>
        </p:nvPicPr>
        <p:blipFill>
          <a:blip r:embed="rId2"/>
          <a:stretch>
            <a:fillRect/>
          </a:stretch>
        </p:blipFill>
        <p:spPr>
          <a:xfrm>
            <a:off x="4633987" y="2403872"/>
            <a:ext cx="4013895" cy="863575"/>
          </a:xfrm>
          <a:prstGeom prst="rect">
            <a:avLst/>
          </a:prstGeom>
        </p:spPr>
      </p:pic>
      <p:sp>
        <p:nvSpPr>
          <p:cNvPr id="10" name="Text 6"/>
          <p:cNvSpPr/>
          <p:nvPr/>
        </p:nvSpPr>
        <p:spPr>
          <a:xfrm>
            <a:off x="4757961" y="252784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Backend</a:t>
            </a:r>
            <a:endParaRPr lang="en-US" sz="1200" dirty="0"/>
          </a:p>
        </p:txBody>
      </p:sp>
      <p:sp>
        <p:nvSpPr>
          <p:cNvPr id="11" name="Text 7"/>
          <p:cNvSpPr/>
          <p:nvPr/>
        </p:nvSpPr>
        <p:spPr>
          <a:xfrm>
            <a:off x="4757961" y="2796108"/>
            <a:ext cx="376594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"I'm sorry — I forgot everything the moment your last request ended."</a:t>
            </a:r>
            <a:endParaRPr lang="en-US" sz="950" dirty="0"/>
          </a:p>
        </p:txBody>
      </p:sp>
      <p:sp>
        <p:nvSpPr>
          <p:cNvPr id="12" name="Shape 8"/>
          <p:cNvSpPr/>
          <p:nvPr/>
        </p:nvSpPr>
        <p:spPr>
          <a:xfrm>
            <a:off x="496119" y="3406973"/>
            <a:ext cx="8151763" cy="527000"/>
          </a:xfrm>
          <a:prstGeom prst="roundRect">
            <a:avLst>
              <a:gd name="adj" fmla="val 9886"/>
            </a:avLst>
          </a:prstGeom>
          <a:solidFill>
            <a:srgbClr val="FCF2B5"/>
          </a:solidFill>
          <a:ln/>
        </p:spPr>
      </p:sp>
      <p:pic>
        <p:nvPicPr>
          <p:cNvPr id="13" name="Image 2" descr="preencoded.png">    </p:cNvPr>
          <p:cNvPicPr>
            <a:picLocks noChangeAspect="1"/>
          </p:cNvPicPr>
          <p:nvPr/>
        </p:nvPicPr>
        <p:blipFill>
          <a:blip r:embed="rId3"/>
          <a:stretch>
            <a:fillRect/>
          </a:stretch>
        </p:blipFill>
        <p:spPr>
          <a:xfrm>
            <a:off x="620092" y="3591520"/>
            <a:ext cx="155004" cy="123974"/>
          </a:xfrm>
          <a:prstGeom prst="rect">
            <a:avLst/>
          </a:prstGeom>
        </p:spPr>
      </p:pic>
      <p:sp>
        <p:nvSpPr>
          <p:cNvPr id="14" name="Text 9"/>
          <p:cNvSpPr/>
          <p:nvPr/>
        </p:nvSpPr>
        <p:spPr>
          <a:xfrm>
            <a:off x="899071" y="3561904"/>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 stateless backend cannot support login systems, shopping carts, order history, or any feature that depends on remembering the past.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49610" y="327943"/>
            <a:ext cx="444029" cy="204564"/>
          </a:xfrm>
          <a:prstGeom prst="roundRect">
            <a:avLst>
              <a:gd name="adj" fmla="val 18465"/>
            </a:avLst>
          </a:prstGeom>
          <a:solidFill>
            <a:srgbClr val="E1E1EA"/>
          </a:solidFill>
          <a:ln/>
        </p:spPr>
      </p:sp>
      <p:sp>
        <p:nvSpPr>
          <p:cNvPr id="3" name="Text 1"/>
          <p:cNvSpPr/>
          <p:nvPr/>
        </p:nvSpPr>
        <p:spPr>
          <a:xfrm>
            <a:off x="517029" y="361652"/>
            <a:ext cx="309190" cy="137145"/>
          </a:xfrm>
          <a:prstGeom prst="rect">
            <a:avLst/>
          </a:prstGeom>
          <a:noFill/>
          <a:ln/>
        </p:spPr>
        <p:txBody>
          <a:bodyPr wrap="none" lIns="0" tIns="0" rIns="0" bIns="0" rtlCol="0" anchor="t"/>
          <a:lstStyle/>
          <a:p>
            <a:pPr algn="l" indent="0" marL="0">
              <a:lnSpc>
                <a:spcPts val="1050"/>
              </a:lnSpc>
              <a:buNone/>
            </a:pPr>
            <a:r>
              <a:rPr lang="en-US" sz="700" dirty="0">
                <a:solidFill>
                  <a:srgbClr val="3C3939"/>
                </a:solidFill>
                <a:latin typeface="Roboto" pitchFamily="34" charset="0"/>
                <a:ea typeface="Roboto" pitchFamily="34" charset="-122"/>
                <a:cs typeface="Roboto" pitchFamily="34" charset="-120"/>
              </a:rPr>
              <a:t>SLIDE 7</a:t>
            </a:r>
            <a:endParaRPr lang="en-US" sz="700" dirty="0"/>
          </a:p>
        </p:txBody>
      </p:sp>
      <p:sp>
        <p:nvSpPr>
          <p:cNvPr id="4" name="Text 2"/>
          <p:cNvSpPr/>
          <p:nvPr/>
        </p:nvSpPr>
        <p:spPr>
          <a:xfrm>
            <a:off x="449610" y="573212"/>
            <a:ext cx="2810396" cy="351309"/>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Core Backend Flow</a:t>
            </a:r>
            <a:endParaRPr lang="en-US" sz="2200" dirty="0"/>
          </a:p>
        </p:txBody>
      </p:sp>
      <p:sp>
        <p:nvSpPr>
          <p:cNvPr id="5" name="Text 3"/>
          <p:cNvSpPr/>
          <p:nvPr/>
        </p:nvSpPr>
        <p:spPr>
          <a:xfrm>
            <a:off x="449610" y="1077292"/>
            <a:ext cx="8244780" cy="171450"/>
          </a:xfrm>
          <a:prstGeom prst="rect">
            <a:avLst/>
          </a:prstGeom>
          <a:noFill/>
          <a:ln/>
        </p:spPr>
        <p:txBody>
          <a:bodyPr wrap="none" lIns="0" tIns="0" rIns="0" bIns="0" rtlCol="0" anchor="t"/>
          <a:lstStyle/>
          <a:p>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A complete backend system doesn't just respond — it reads and writes to storage on every meaningful operation. Here is the full data flow we will be building toward:</a:t>
            </a:r>
            <a:endParaRPr lang="en-US" sz="850" dirty="0"/>
          </a:p>
        </p:txBody>
      </p:sp>
      <p:pic>
        <p:nvPicPr>
          <p:cNvPr id="6" name="Image 0" descr="preencoded.png">    </p:cNvPr>
          <p:cNvPicPr>
            <a:picLocks noChangeAspect="1"/>
          </p:cNvPicPr>
          <p:nvPr/>
        </p:nvPicPr>
        <p:blipFill>
          <a:blip r:embed="rId1"/>
          <a:stretch>
            <a:fillRect/>
          </a:stretch>
        </p:blipFill>
        <p:spPr>
          <a:xfrm>
            <a:off x="581620" y="1363340"/>
            <a:ext cx="7980685" cy="2994720"/>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7214" y="2126149"/>
            <a:ext cx="412235" cy="412235"/>
          </a:xfrm>
          <a:prstGeom prst="rect">
            <a:avLst/>
          </a:prstGeom>
        </p:spPr>
      </p:pic>
      <p:sp>
        <p:nvSpPr>
          <p:cNvPr id="8" name="Text 4"/>
          <p:cNvSpPr/>
          <p:nvPr/>
        </p:nvSpPr>
        <p:spPr>
          <a:xfrm>
            <a:off x="7029938" y="3631064"/>
            <a:ext cx="1203726" cy="231882"/>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Response</a:t>
            </a:r>
            <a:endParaRPr lang="en-US" sz="14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88048" y="2126922"/>
            <a:ext cx="412235" cy="412235"/>
          </a:xfrm>
          <a:prstGeom prst="rect">
            <a:avLst/>
          </a:prstGeom>
        </p:spPr>
      </p:pic>
      <p:sp>
        <p:nvSpPr>
          <p:cNvPr id="10" name="Text 5"/>
          <p:cNvSpPr/>
          <p:nvPr/>
        </p:nvSpPr>
        <p:spPr>
          <a:xfrm>
            <a:off x="5512913" y="3631064"/>
            <a:ext cx="1203726" cy="231882"/>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Storage</a:t>
            </a:r>
            <a:endParaRPr lang="en-US" sz="14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79268" y="2126922"/>
            <a:ext cx="412235" cy="412235"/>
          </a:xfrm>
          <a:prstGeom prst="rect">
            <a:avLst/>
          </a:prstGeom>
        </p:spPr>
      </p:pic>
      <p:sp>
        <p:nvSpPr>
          <p:cNvPr id="12" name="Text 6"/>
          <p:cNvSpPr/>
          <p:nvPr/>
        </p:nvSpPr>
        <p:spPr>
          <a:xfrm>
            <a:off x="4004134" y="3515123"/>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Business Logic</a:t>
            </a:r>
            <a:endParaRPr lang="en-US" sz="14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70488" y="2126922"/>
            <a:ext cx="412235" cy="412235"/>
          </a:xfrm>
          <a:prstGeom prst="rect">
            <a:avLst/>
          </a:prstGeom>
        </p:spPr>
      </p:pic>
      <p:sp>
        <p:nvSpPr>
          <p:cNvPr id="14" name="Text 7"/>
          <p:cNvSpPr/>
          <p:nvPr/>
        </p:nvSpPr>
        <p:spPr>
          <a:xfrm>
            <a:off x="2495354" y="3631064"/>
            <a:ext cx="1203726" cy="231882"/>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API Route</a:t>
            </a:r>
            <a:endParaRPr lang="en-US" sz="145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3464" y="2126922"/>
            <a:ext cx="412235" cy="412235"/>
          </a:xfrm>
          <a:prstGeom prst="rect">
            <a:avLst/>
          </a:prstGeom>
        </p:spPr>
      </p:pic>
      <p:sp>
        <p:nvSpPr>
          <p:cNvPr id="16" name="Text 8"/>
          <p:cNvSpPr/>
          <p:nvPr/>
        </p:nvSpPr>
        <p:spPr>
          <a:xfrm>
            <a:off x="953596" y="3631064"/>
            <a:ext cx="1203726" cy="231882"/>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Client</a:t>
            </a:r>
            <a:endParaRPr lang="en-US" sz="1450" dirty="0"/>
          </a:p>
        </p:txBody>
      </p:sp>
      <p:sp>
        <p:nvSpPr>
          <p:cNvPr id="17" name="Text 9"/>
          <p:cNvSpPr/>
          <p:nvPr/>
        </p:nvSpPr>
        <p:spPr>
          <a:xfrm>
            <a:off x="449610" y="4472657"/>
            <a:ext cx="8244780" cy="342900"/>
          </a:xfrm>
          <a:prstGeom prst="rect">
            <a:avLst/>
          </a:prstGeom>
          <a:noFill/>
          <a:ln/>
        </p:spPr>
        <p:txBody>
          <a:bodyPr wrap="square" lIns="0" tIns="0" rIns="0" bIns="0" rtlCol="0" anchor="t"/>
          <a:lstStyle/>
          <a:p>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Each stage has a clear responsibility. The </a:t>
            </a:r>
            <a:pPr algn="l" indent="0" marL="0">
              <a:lnSpc>
                <a:spcPts val="1300"/>
              </a:lnSpc>
              <a:buNone/>
            </a:pPr>
            <a:r>
              <a:rPr lang="en-US" sz="850" b="1" dirty="0">
                <a:solidFill>
                  <a:srgbClr val="3C3939"/>
                </a:solidFill>
                <a:latin typeface="Roboto" pitchFamily="34" charset="0"/>
                <a:ea typeface="Roboto" pitchFamily="34" charset="-122"/>
                <a:cs typeface="Roboto" pitchFamily="34" charset="-120"/>
              </a:rPr>
              <a:t>API Route</a:t>
            </a:r>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 receives the request, </a:t>
            </a:r>
            <a:pPr algn="l" indent="0" marL="0">
              <a:lnSpc>
                <a:spcPts val="1300"/>
              </a:lnSpc>
              <a:buNone/>
            </a:pPr>
            <a:r>
              <a:rPr lang="en-US" sz="850" b="1" dirty="0">
                <a:solidFill>
                  <a:srgbClr val="3C3939"/>
                </a:solidFill>
                <a:latin typeface="Roboto" pitchFamily="34" charset="0"/>
                <a:ea typeface="Roboto" pitchFamily="34" charset="-122"/>
                <a:cs typeface="Roboto" pitchFamily="34" charset="-120"/>
              </a:rPr>
              <a:t>Business Logic</a:t>
            </a:r>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 processes it, and </a:t>
            </a:r>
            <a:pPr algn="l" indent="0" marL="0">
              <a:lnSpc>
                <a:spcPts val="1300"/>
              </a:lnSpc>
              <a:buNone/>
            </a:pPr>
            <a:r>
              <a:rPr lang="en-US" sz="850" b="1" dirty="0">
                <a:solidFill>
                  <a:srgbClr val="3C3939"/>
                </a:solidFill>
                <a:latin typeface="Roboto" pitchFamily="34" charset="0"/>
                <a:ea typeface="Roboto" pitchFamily="34" charset="-122"/>
                <a:cs typeface="Roboto" pitchFamily="34" charset="-120"/>
              </a:rPr>
              <a:t>Storage</a:t>
            </a:r>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 holds the data between requests — making the system truly useful.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797272"/>
            <a:ext cx="490017" cy="233214"/>
          </a:xfrm>
          <a:prstGeom prst="roundRect">
            <a:avLst>
              <a:gd name="adj" fmla="val 17872"/>
            </a:avLst>
          </a:prstGeom>
          <a:solidFill>
            <a:srgbClr val="E1E1EA"/>
          </a:solidFill>
          <a:ln/>
        </p:spPr>
      </p:sp>
      <p:sp>
        <p:nvSpPr>
          <p:cNvPr id="3" name="Text 1"/>
          <p:cNvSpPr/>
          <p:nvPr/>
        </p:nvSpPr>
        <p:spPr>
          <a:xfrm>
            <a:off x="570533" y="834479"/>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8</a:t>
            </a:r>
            <a:endParaRPr lang="en-US" sz="750" dirty="0"/>
          </a:p>
        </p:txBody>
      </p:sp>
      <p:sp>
        <p:nvSpPr>
          <p:cNvPr id="4" name="Text 2"/>
          <p:cNvSpPr/>
          <p:nvPr/>
        </p:nvSpPr>
        <p:spPr>
          <a:xfrm>
            <a:off x="496119" y="108004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We Will Build</a:t>
            </a:r>
            <a:endParaRPr lang="en-US" sz="2400" dirty="0"/>
          </a:p>
        </p:txBody>
      </p:sp>
      <p:sp>
        <p:nvSpPr>
          <p:cNvPr id="5" name="Text 3"/>
          <p:cNvSpPr/>
          <p:nvPr/>
        </p:nvSpPr>
        <p:spPr>
          <a:xfrm>
            <a:off x="496119" y="1653629"/>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By the end of this module, you will have a working backend system with real, persistent data. Here's what we're building:</a:t>
            </a:r>
            <a:endParaRPr lang="en-US" sz="950" dirty="0"/>
          </a:p>
        </p:txBody>
      </p:sp>
      <p:sp>
        <p:nvSpPr>
          <p:cNvPr id="6" name="Shape 4"/>
          <p:cNvSpPr/>
          <p:nvPr/>
        </p:nvSpPr>
        <p:spPr>
          <a:xfrm>
            <a:off x="496119" y="1991618"/>
            <a:ext cx="4013895" cy="1115318"/>
          </a:xfrm>
          <a:prstGeom prst="roundRect">
            <a:avLst>
              <a:gd name="adj" fmla="val 4671"/>
            </a:avLst>
          </a:prstGeom>
          <a:solidFill>
            <a:srgbClr val="FFFFFF">
              <a:alpha val="95000"/>
            </a:srgbClr>
          </a:solidFill>
          <a:ln w="14288">
            <a:solidFill>
              <a:srgbClr val="C7C7D0"/>
            </a:solidFill>
            <a:prstDash val="solid"/>
          </a:ln>
        </p:spPr>
      </p:sp>
      <p:sp>
        <p:nvSpPr>
          <p:cNvPr id="7" name="Shape 5"/>
          <p:cNvSpPr/>
          <p:nvPr/>
        </p:nvSpPr>
        <p:spPr>
          <a:xfrm>
            <a:off x="510406" y="2005905"/>
            <a:ext cx="3985320" cy="372070"/>
          </a:xfrm>
          <a:prstGeom prst="roundRect">
            <a:avLst>
              <a:gd name="adj" fmla="val 9395"/>
            </a:avLst>
          </a:prstGeom>
          <a:solidFill>
            <a:srgbClr val="E1E1EA"/>
          </a:solidFill>
          <a:ln/>
        </p:spPr>
      </p:sp>
      <p:sp>
        <p:nvSpPr>
          <p:cNvPr id="8" name="Text 6"/>
          <p:cNvSpPr/>
          <p:nvPr/>
        </p:nvSpPr>
        <p:spPr>
          <a:xfrm>
            <a:off x="2410048" y="2073250"/>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1</a:t>
            </a:r>
            <a:endParaRPr lang="en-US" sz="1450" dirty="0"/>
          </a:p>
        </p:txBody>
      </p:sp>
      <p:sp>
        <p:nvSpPr>
          <p:cNvPr id="9" name="Text 7"/>
          <p:cNvSpPr/>
          <p:nvPr/>
        </p:nvSpPr>
        <p:spPr>
          <a:xfrm>
            <a:off x="634380" y="250195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Persistent Storage</a:t>
            </a:r>
            <a:endParaRPr lang="en-US" sz="1200" dirty="0"/>
          </a:p>
        </p:txBody>
      </p:sp>
      <p:sp>
        <p:nvSpPr>
          <p:cNvPr id="10" name="Text 8"/>
          <p:cNvSpPr/>
          <p:nvPr/>
        </p:nvSpPr>
        <p:spPr>
          <a:xfrm>
            <a:off x="634380" y="2770212"/>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Data that survives server restarts using CSV files.</a:t>
            </a:r>
            <a:endParaRPr lang="en-US" sz="950" dirty="0"/>
          </a:p>
        </p:txBody>
      </p:sp>
      <p:sp>
        <p:nvSpPr>
          <p:cNvPr id="11" name="Shape 9"/>
          <p:cNvSpPr/>
          <p:nvPr/>
        </p:nvSpPr>
        <p:spPr>
          <a:xfrm>
            <a:off x="4633987" y="1991618"/>
            <a:ext cx="4013895" cy="1115318"/>
          </a:xfrm>
          <a:prstGeom prst="roundRect">
            <a:avLst>
              <a:gd name="adj" fmla="val 4671"/>
            </a:avLst>
          </a:prstGeom>
          <a:solidFill>
            <a:srgbClr val="FFFFFF">
              <a:alpha val="95000"/>
            </a:srgbClr>
          </a:solidFill>
          <a:ln w="14288">
            <a:solidFill>
              <a:srgbClr val="C7C7D0"/>
            </a:solidFill>
            <a:prstDash val="solid"/>
          </a:ln>
        </p:spPr>
      </p:sp>
      <p:sp>
        <p:nvSpPr>
          <p:cNvPr id="12" name="Shape 10"/>
          <p:cNvSpPr/>
          <p:nvPr/>
        </p:nvSpPr>
        <p:spPr>
          <a:xfrm>
            <a:off x="4648274" y="2005905"/>
            <a:ext cx="3985320" cy="372070"/>
          </a:xfrm>
          <a:prstGeom prst="roundRect">
            <a:avLst>
              <a:gd name="adj" fmla="val 9395"/>
            </a:avLst>
          </a:prstGeom>
          <a:solidFill>
            <a:srgbClr val="E1E1EA"/>
          </a:solidFill>
          <a:ln/>
        </p:spPr>
      </p:sp>
      <p:sp>
        <p:nvSpPr>
          <p:cNvPr id="13" name="Text 11"/>
          <p:cNvSpPr/>
          <p:nvPr/>
        </p:nvSpPr>
        <p:spPr>
          <a:xfrm>
            <a:off x="6547917" y="2073250"/>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2</a:t>
            </a:r>
            <a:endParaRPr lang="en-US" sz="1450" dirty="0"/>
          </a:p>
        </p:txBody>
      </p:sp>
      <p:sp>
        <p:nvSpPr>
          <p:cNvPr id="14" name="Text 12"/>
          <p:cNvSpPr/>
          <p:nvPr/>
        </p:nvSpPr>
        <p:spPr>
          <a:xfrm>
            <a:off x="4772248" y="250195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CRUD Operations</a:t>
            </a:r>
            <a:endParaRPr lang="en-US" sz="1200" dirty="0"/>
          </a:p>
        </p:txBody>
      </p:sp>
      <p:sp>
        <p:nvSpPr>
          <p:cNvPr id="15" name="Text 13"/>
          <p:cNvSpPr/>
          <p:nvPr/>
        </p:nvSpPr>
        <p:spPr>
          <a:xfrm>
            <a:off x="4772248" y="2770212"/>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Full Create, Read, Update, and Delete endpoints.</a:t>
            </a:r>
            <a:endParaRPr lang="en-US" sz="950" dirty="0"/>
          </a:p>
        </p:txBody>
      </p:sp>
      <p:sp>
        <p:nvSpPr>
          <p:cNvPr id="16" name="Shape 14"/>
          <p:cNvSpPr/>
          <p:nvPr/>
        </p:nvSpPr>
        <p:spPr>
          <a:xfrm>
            <a:off x="496119" y="3230910"/>
            <a:ext cx="4013895" cy="1115318"/>
          </a:xfrm>
          <a:prstGeom prst="roundRect">
            <a:avLst>
              <a:gd name="adj" fmla="val 4671"/>
            </a:avLst>
          </a:prstGeom>
          <a:solidFill>
            <a:srgbClr val="FFFFFF">
              <a:alpha val="95000"/>
            </a:srgbClr>
          </a:solidFill>
          <a:ln w="14288">
            <a:solidFill>
              <a:srgbClr val="C7C7D0"/>
            </a:solidFill>
            <a:prstDash val="solid"/>
          </a:ln>
        </p:spPr>
      </p:sp>
      <p:sp>
        <p:nvSpPr>
          <p:cNvPr id="17" name="Shape 15"/>
          <p:cNvSpPr/>
          <p:nvPr/>
        </p:nvSpPr>
        <p:spPr>
          <a:xfrm>
            <a:off x="510406" y="3245197"/>
            <a:ext cx="3985320" cy="372070"/>
          </a:xfrm>
          <a:prstGeom prst="roundRect">
            <a:avLst>
              <a:gd name="adj" fmla="val 9395"/>
            </a:avLst>
          </a:prstGeom>
          <a:solidFill>
            <a:srgbClr val="E1E1EA"/>
          </a:solidFill>
          <a:ln/>
        </p:spPr>
      </p:sp>
      <p:sp>
        <p:nvSpPr>
          <p:cNvPr id="18" name="Text 16"/>
          <p:cNvSpPr/>
          <p:nvPr/>
        </p:nvSpPr>
        <p:spPr>
          <a:xfrm>
            <a:off x="2410048" y="3312542"/>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3</a:t>
            </a:r>
            <a:endParaRPr lang="en-US" sz="1450" dirty="0"/>
          </a:p>
        </p:txBody>
      </p:sp>
      <p:sp>
        <p:nvSpPr>
          <p:cNvPr id="19" name="Text 17"/>
          <p:cNvSpPr/>
          <p:nvPr/>
        </p:nvSpPr>
        <p:spPr>
          <a:xfrm>
            <a:off x="634380" y="374124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CSV as a Database</a:t>
            </a:r>
            <a:endParaRPr lang="en-US" sz="1200" dirty="0"/>
          </a:p>
        </p:txBody>
      </p:sp>
      <p:sp>
        <p:nvSpPr>
          <p:cNvPr id="20" name="Text 18"/>
          <p:cNvSpPr/>
          <p:nvPr/>
        </p:nvSpPr>
        <p:spPr>
          <a:xfrm>
            <a:off x="634380" y="4009504"/>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Use pandas to read, modify, and save structured data.</a:t>
            </a:r>
            <a:endParaRPr lang="en-US" sz="950" dirty="0"/>
          </a:p>
        </p:txBody>
      </p:sp>
      <p:sp>
        <p:nvSpPr>
          <p:cNvPr id="21" name="Shape 19"/>
          <p:cNvSpPr/>
          <p:nvPr/>
        </p:nvSpPr>
        <p:spPr>
          <a:xfrm>
            <a:off x="4633987" y="3230910"/>
            <a:ext cx="4013895" cy="1115318"/>
          </a:xfrm>
          <a:prstGeom prst="roundRect">
            <a:avLst>
              <a:gd name="adj" fmla="val 4671"/>
            </a:avLst>
          </a:prstGeom>
          <a:solidFill>
            <a:srgbClr val="FFFFFF">
              <a:alpha val="95000"/>
            </a:srgbClr>
          </a:solidFill>
          <a:ln w="14288">
            <a:solidFill>
              <a:srgbClr val="C7C7D0"/>
            </a:solidFill>
            <a:prstDash val="solid"/>
          </a:ln>
        </p:spPr>
      </p:sp>
      <p:sp>
        <p:nvSpPr>
          <p:cNvPr id="22" name="Shape 20"/>
          <p:cNvSpPr/>
          <p:nvPr/>
        </p:nvSpPr>
        <p:spPr>
          <a:xfrm>
            <a:off x="4648274" y="3245197"/>
            <a:ext cx="3985320" cy="372070"/>
          </a:xfrm>
          <a:prstGeom prst="roundRect">
            <a:avLst>
              <a:gd name="adj" fmla="val 9395"/>
            </a:avLst>
          </a:prstGeom>
          <a:solidFill>
            <a:srgbClr val="E1E1EA"/>
          </a:solidFill>
          <a:ln/>
        </p:spPr>
      </p:sp>
      <p:sp>
        <p:nvSpPr>
          <p:cNvPr id="23" name="Text 21"/>
          <p:cNvSpPr/>
          <p:nvPr/>
        </p:nvSpPr>
        <p:spPr>
          <a:xfrm>
            <a:off x="6547917" y="3312542"/>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4</a:t>
            </a:r>
            <a:endParaRPr lang="en-US" sz="1450" dirty="0"/>
          </a:p>
        </p:txBody>
      </p:sp>
      <p:sp>
        <p:nvSpPr>
          <p:cNvPr id="24" name="Text 22"/>
          <p:cNvSpPr/>
          <p:nvPr/>
        </p:nvSpPr>
        <p:spPr>
          <a:xfrm>
            <a:off x="4772248" y="374124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Live Data Flow</a:t>
            </a:r>
            <a:endParaRPr lang="en-US" sz="1200" dirty="0"/>
          </a:p>
        </p:txBody>
      </p:sp>
      <p:sp>
        <p:nvSpPr>
          <p:cNvPr id="25" name="Text 23"/>
          <p:cNvSpPr/>
          <p:nvPr/>
        </p:nvSpPr>
        <p:spPr>
          <a:xfrm>
            <a:off x="4772248" y="4009504"/>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See how real-time changes are reflected through the API.</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1599233"/>
            <a:ext cx="1245915" cy="242739"/>
          </a:xfrm>
          <a:prstGeom prst="roundRect">
            <a:avLst>
              <a:gd name="adj" fmla="val 17171"/>
            </a:avLst>
          </a:prstGeom>
          <a:noFill/>
          <a:ln w="4763">
            <a:solidFill>
              <a:srgbClr val="1B1B27"/>
            </a:solidFill>
            <a:prstDash val="solid"/>
          </a:ln>
        </p:spPr>
      </p:sp>
      <p:sp>
        <p:nvSpPr>
          <p:cNvPr id="3" name="Text 1"/>
          <p:cNvSpPr/>
          <p:nvPr/>
        </p:nvSpPr>
        <p:spPr>
          <a:xfrm>
            <a:off x="575295" y="1641202"/>
            <a:ext cx="1087562"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CSV STORAGE</a:t>
            </a:r>
            <a:endParaRPr lang="en-US" sz="750" dirty="0"/>
          </a:p>
        </p:txBody>
      </p:sp>
      <p:sp>
        <p:nvSpPr>
          <p:cNvPr id="4" name="Text 2"/>
          <p:cNvSpPr/>
          <p:nvPr/>
        </p:nvSpPr>
        <p:spPr>
          <a:xfrm>
            <a:off x="496119" y="1891531"/>
            <a:ext cx="427955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CSV</a:t>
            </a:r>
            <a:endParaRPr lang="en-US" sz="3350" dirty="0"/>
          </a:p>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Storage</a:t>
            </a:r>
            <a:endParaRPr lang="en-US" sz="3350" dirty="0"/>
          </a:p>
        </p:txBody>
      </p:sp>
      <p:sp>
        <p:nvSpPr>
          <p:cNvPr id="5" name="Text 3"/>
          <p:cNvSpPr/>
          <p:nvPr/>
        </p:nvSpPr>
        <p:spPr>
          <a:xfrm>
            <a:off x="496119" y="3147343"/>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We'll start with a simple but powerful approach: using a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CSV file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as our data store. It's human-readable, easy to inspect, and a perfect first step before moving to a full database.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1120378"/>
            <a:ext cx="490017" cy="233214"/>
          </a:xfrm>
          <a:prstGeom prst="roundRect">
            <a:avLst>
              <a:gd name="adj" fmla="val 17872"/>
            </a:avLst>
          </a:prstGeom>
          <a:solidFill>
            <a:srgbClr val="E1E1EA"/>
          </a:solidFill>
          <a:ln/>
        </p:spPr>
      </p:sp>
      <p:sp>
        <p:nvSpPr>
          <p:cNvPr id="3" name="Text 1"/>
          <p:cNvSpPr/>
          <p:nvPr/>
        </p:nvSpPr>
        <p:spPr>
          <a:xfrm>
            <a:off x="570533" y="1157585"/>
            <a:ext cx="341188"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9</a:t>
            </a:r>
            <a:endParaRPr lang="en-US" sz="750" dirty="0"/>
          </a:p>
        </p:txBody>
      </p:sp>
      <p:sp>
        <p:nvSpPr>
          <p:cNvPr id="4" name="Text 2"/>
          <p:cNvSpPr/>
          <p:nvPr/>
        </p:nvSpPr>
        <p:spPr>
          <a:xfrm>
            <a:off x="496119" y="140315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Project Structure</a:t>
            </a:r>
            <a:endParaRPr lang="en-US" sz="2400" dirty="0"/>
          </a:p>
        </p:txBody>
      </p:sp>
      <p:sp>
        <p:nvSpPr>
          <p:cNvPr id="5" name="Text 3"/>
          <p:cNvSpPr/>
          <p:nvPr/>
        </p:nvSpPr>
        <p:spPr>
          <a:xfrm>
            <a:off x="496119" y="1976735"/>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Our project is intentionally minimal. Two files: one for backend logic, one for data. This separation is the foundation of good architecture —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code and data live separately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6" name="Shape 4"/>
          <p:cNvSpPr/>
          <p:nvPr/>
        </p:nvSpPr>
        <p:spPr>
          <a:xfrm>
            <a:off x="496119" y="2513186"/>
            <a:ext cx="8151763" cy="843335"/>
          </a:xfrm>
          <a:prstGeom prst="roundRect">
            <a:avLst>
              <a:gd name="adj" fmla="val 6178"/>
            </a:avLst>
          </a:prstGeom>
          <a:solidFill>
            <a:srgbClr val="F2F2F2"/>
          </a:solidFill>
          <a:ln/>
        </p:spPr>
      </p:sp>
      <p:sp>
        <p:nvSpPr>
          <p:cNvPr id="7" name="Shape 5"/>
          <p:cNvSpPr/>
          <p:nvPr/>
        </p:nvSpPr>
        <p:spPr>
          <a:xfrm>
            <a:off x="489942" y="2513186"/>
            <a:ext cx="8164116" cy="843335"/>
          </a:xfrm>
          <a:prstGeom prst="roundRect">
            <a:avLst>
              <a:gd name="adj" fmla="val 2206"/>
            </a:avLst>
          </a:prstGeom>
          <a:solidFill>
            <a:srgbClr val="F2F2F2"/>
          </a:solidFill>
          <a:ln/>
        </p:spPr>
      </p:sp>
      <p:sp>
        <p:nvSpPr>
          <p:cNvPr id="8" name="Text 6"/>
          <p:cNvSpPr/>
          <p:nvPr/>
        </p:nvSpPr>
        <p:spPr>
          <a:xfrm>
            <a:off x="644947" y="2637160"/>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backend_course/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main.py       ← FastAPI application</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items.csv     ← Persistent data store</a:t>
            </a:r>
            <a:endParaRPr lang="en-US" sz="950" dirty="0"/>
          </a:p>
        </p:txBody>
      </p:sp>
      <p:sp>
        <p:nvSpPr>
          <p:cNvPr id="9" name="Shape 7"/>
          <p:cNvSpPr/>
          <p:nvPr/>
        </p:nvSpPr>
        <p:spPr>
          <a:xfrm>
            <a:off x="496119" y="3496047"/>
            <a:ext cx="8151763" cy="527000"/>
          </a:xfrm>
          <a:prstGeom prst="roundRect">
            <a:avLst>
              <a:gd name="adj" fmla="val 9886"/>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680594"/>
            <a:ext cx="155004" cy="123974"/>
          </a:xfrm>
          <a:prstGeom prst="rect">
            <a:avLst/>
          </a:prstGeom>
        </p:spPr>
      </p:pic>
      <p:sp>
        <p:nvSpPr>
          <p:cNvPr id="11" name="Text 8"/>
          <p:cNvSpPr/>
          <p:nvPr/>
        </p:nvSpPr>
        <p:spPr>
          <a:xfrm>
            <a:off x="899071" y="3650977"/>
            <a:ext cx="7624837" cy="198462"/>
          </a:xfrm>
          <a:prstGeom prst="rect">
            <a:avLst/>
          </a:prstGeom>
          <a:noFill/>
          <a:ln/>
        </p:spPr>
        <p:txBody>
          <a:bodyPr wrap="none" lIns="0" tIns="0" rIns="0" bIns="0" rtlCol="0" anchor="t"/>
          <a:lstStyle/>
          <a:p>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main.py</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contains all route definitions and logic.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items.csv</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acts as our database — it persists between server restarts.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96119" y="559147"/>
            <a:ext cx="545753" cy="233214"/>
          </a:xfrm>
          <a:prstGeom prst="roundRect">
            <a:avLst>
              <a:gd name="adj" fmla="val 17872"/>
            </a:avLst>
          </a:prstGeom>
          <a:solidFill>
            <a:srgbClr val="E1E1EA"/>
          </a:solidFill>
          <a:ln/>
        </p:spPr>
      </p:sp>
      <p:sp>
        <p:nvSpPr>
          <p:cNvPr id="3" name="Text 1"/>
          <p:cNvSpPr/>
          <p:nvPr/>
        </p:nvSpPr>
        <p:spPr>
          <a:xfrm>
            <a:off x="570533" y="596354"/>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10</a:t>
            </a:r>
            <a:endParaRPr lang="en-US" sz="750" dirty="0"/>
          </a:p>
        </p:txBody>
      </p:sp>
      <p:sp>
        <p:nvSpPr>
          <p:cNvPr id="4" name="Text 2"/>
          <p:cNvSpPr/>
          <p:nvPr/>
        </p:nvSpPr>
        <p:spPr>
          <a:xfrm>
            <a:off x="496119" y="841921"/>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CSV Dataset</a:t>
            </a:r>
            <a:endParaRPr lang="en-US" sz="2400" dirty="0"/>
          </a:p>
        </p:txBody>
      </p:sp>
      <p:sp>
        <p:nvSpPr>
          <p:cNvPr id="5" name="Text 3"/>
          <p:cNvSpPr/>
          <p:nvPr/>
        </p:nvSpPr>
        <p:spPr>
          <a:xfrm>
            <a:off x="496119" y="141550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Our data file contains a simple product inventory. Each row represents one item, and the header row defines the columns — just like a spreadsheet or database table.</a:t>
            </a:r>
            <a:endParaRPr lang="en-US" sz="950" dirty="0"/>
          </a:p>
        </p:txBody>
      </p:sp>
      <p:sp>
        <p:nvSpPr>
          <p:cNvPr id="6" name="Shape 4"/>
          <p:cNvSpPr/>
          <p:nvPr/>
        </p:nvSpPr>
        <p:spPr>
          <a:xfrm>
            <a:off x="496119" y="1951955"/>
            <a:ext cx="8151763" cy="1041797"/>
          </a:xfrm>
          <a:prstGeom prst="roundRect">
            <a:avLst>
              <a:gd name="adj" fmla="val 5001"/>
            </a:avLst>
          </a:prstGeom>
          <a:solidFill>
            <a:srgbClr val="F2F2F2"/>
          </a:solidFill>
          <a:ln/>
        </p:spPr>
      </p:sp>
      <p:sp>
        <p:nvSpPr>
          <p:cNvPr id="7" name="Shape 5"/>
          <p:cNvSpPr/>
          <p:nvPr/>
        </p:nvSpPr>
        <p:spPr>
          <a:xfrm>
            <a:off x="489942" y="1951955"/>
            <a:ext cx="8164116" cy="1041797"/>
          </a:xfrm>
          <a:prstGeom prst="roundRect">
            <a:avLst>
              <a:gd name="adj" fmla="val 1786"/>
            </a:avLst>
          </a:prstGeom>
          <a:solidFill>
            <a:srgbClr val="F2F2F2"/>
          </a:solidFill>
          <a:ln/>
        </p:spPr>
      </p:sp>
      <p:sp>
        <p:nvSpPr>
          <p:cNvPr id="8" name="Text 6"/>
          <p:cNvSpPr/>
          <p:nvPr/>
        </p:nvSpPr>
        <p:spPr>
          <a:xfrm>
            <a:off x="644947" y="2075929"/>
            <a:ext cx="7854107" cy="793849"/>
          </a:xfrm>
          <a:prstGeom prst="rect">
            <a:avLst/>
          </a:prstGeom>
          <a:noFill/>
          <a:ln/>
        </p:spPr>
        <p:txBody>
          <a:bodyPr wrap="square" lIns="0" tIns="0" rIns="0" bIns="0" rtlCol="0" anchor="t"/>
          <a:lstStyle/>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id,name,price,quantity</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1,Laptop,50000,2</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2,Phone,20000,5</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3,Mouse,500,10</a:t>
            </a:r>
            <a:endParaRPr lang="en-US" sz="950" dirty="0"/>
          </a:p>
        </p:txBody>
      </p:sp>
      <p:sp>
        <p:nvSpPr>
          <p:cNvPr id="9" name="Shape 7"/>
          <p:cNvSpPr/>
          <p:nvPr/>
        </p:nvSpPr>
        <p:spPr>
          <a:xfrm>
            <a:off x="496119" y="3133279"/>
            <a:ext cx="8151763" cy="1451074"/>
          </a:xfrm>
          <a:prstGeom prst="roundRect">
            <a:avLst>
              <a:gd name="adj" fmla="val 3590"/>
            </a:avLst>
          </a:prstGeom>
          <a:noFill/>
          <a:ln w="4763">
            <a:solidFill>
              <a:srgbClr val="000000">
                <a:alpha val="8000"/>
              </a:srgbClr>
            </a:solidFill>
            <a:prstDash val="solid"/>
          </a:ln>
        </p:spPr>
      </p:sp>
      <p:sp>
        <p:nvSpPr>
          <p:cNvPr id="10" name="Text 8"/>
          <p:cNvSpPr/>
          <p:nvPr/>
        </p:nvSpPr>
        <p:spPr>
          <a:xfrm>
            <a:off x="625004" y="3217218"/>
            <a:ext cx="178519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id</a:t>
            </a:r>
            <a:endParaRPr lang="en-US" sz="950" dirty="0"/>
          </a:p>
        </p:txBody>
      </p:sp>
      <p:sp>
        <p:nvSpPr>
          <p:cNvPr id="11" name="Text 9"/>
          <p:cNvSpPr/>
          <p:nvPr/>
        </p:nvSpPr>
        <p:spPr>
          <a:xfrm>
            <a:off x="2662907" y="3217218"/>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name</a:t>
            </a:r>
            <a:endParaRPr lang="en-US" sz="950" dirty="0"/>
          </a:p>
        </p:txBody>
      </p:sp>
      <p:sp>
        <p:nvSpPr>
          <p:cNvPr id="12" name="Text 10"/>
          <p:cNvSpPr/>
          <p:nvPr/>
        </p:nvSpPr>
        <p:spPr>
          <a:xfrm>
            <a:off x="4698429" y="3217218"/>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price</a:t>
            </a:r>
            <a:endParaRPr lang="en-US" sz="950" dirty="0"/>
          </a:p>
        </p:txBody>
      </p:sp>
      <p:sp>
        <p:nvSpPr>
          <p:cNvPr id="13" name="Text 11"/>
          <p:cNvSpPr/>
          <p:nvPr/>
        </p:nvSpPr>
        <p:spPr>
          <a:xfrm>
            <a:off x="6733952" y="3217218"/>
            <a:ext cx="178519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quantity</a:t>
            </a:r>
            <a:endParaRPr lang="en-US" sz="950" dirty="0"/>
          </a:p>
        </p:txBody>
      </p:sp>
      <p:sp>
        <p:nvSpPr>
          <p:cNvPr id="14" name="Text 12"/>
          <p:cNvSpPr/>
          <p:nvPr/>
        </p:nvSpPr>
        <p:spPr>
          <a:xfrm>
            <a:off x="625004" y="3578796"/>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1</a:t>
            </a:r>
            <a:endParaRPr lang="en-US" sz="950" dirty="0"/>
          </a:p>
        </p:txBody>
      </p:sp>
      <p:sp>
        <p:nvSpPr>
          <p:cNvPr id="15" name="Text 13"/>
          <p:cNvSpPr/>
          <p:nvPr/>
        </p:nvSpPr>
        <p:spPr>
          <a:xfrm>
            <a:off x="2662907" y="3578796"/>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Laptop</a:t>
            </a:r>
            <a:endParaRPr lang="en-US" sz="950" dirty="0"/>
          </a:p>
        </p:txBody>
      </p:sp>
      <p:sp>
        <p:nvSpPr>
          <p:cNvPr id="16" name="Text 14"/>
          <p:cNvSpPr/>
          <p:nvPr/>
        </p:nvSpPr>
        <p:spPr>
          <a:xfrm>
            <a:off x="4698429" y="3578796"/>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50000</a:t>
            </a:r>
            <a:endParaRPr lang="en-US" sz="950" dirty="0"/>
          </a:p>
        </p:txBody>
      </p:sp>
      <p:sp>
        <p:nvSpPr>
          <p:cNvPr id="17" name="Text 15"/>
          <p:cNvSpPr/>
          <p:nvPr/>
        </p:nvSpPr>
        <p:spPr>
          <a:xfrm>
            <a:off x="6733952" y="3578796"/>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2</a:t>
            </a:r>
            <a:endParaRPr lang="en-US" sz="950" dirty="0"/>
          </a:p>
        </p:txBody>
      </p:sp>
      <p:sp>
        <p:nvSpPr>
          <p:cNvPr id="18" name="Text 16"/>
          <p:cNvSpPr/>
          <p:nvPr/>
        </p:nvSpPr>
        <p:spPr>
          <a:xfrm>
            <a:off x="625004" y="3940373"/>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2</a:t>
            </a:r>
            <a:endParaRPr lang="en-US" sz="950" dirty="0"/>
          </a:p>
        </p:txBody>
      </p:sp>
      <p:sp>
        <p:nvSpPr>
          <p:cNvPr id="19" name="Text 17"/>
          <p:cNvSpPr/>
          <p:nvPr/>
        </p:nvSpPr>
        <p:spPr>
          <a:xfrm>
            <a:off x="2662907" y="3940373"/>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Phone</a:t>
            </a:r>
            <a:endParaRPr lang="en-US" sz="950" dirty="0"/>
          </a:p>
        </p:txBody>
      </p:sp>
      <p:sp>
        <p:nvSpPr>
          <p:cNvPr id="20" name="Text 18"/>
          <p:cNvSpPr/>
          <p:nvPr/>
        </p:nvSpPr>
        <p:spPr>
          <a:xfrm>
            <a:off x="4698429" y="3940373"/>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20000</a:t>
            </a:r>
            <a:endParaRPr lang="en-US" sz="950" dirty="0"/>
          </a:p>
        </p:txBody>
      </p:sp>
      <p:sp>
        <p:nvSpPr>
          <p:cNvPr id="21" name="Text 19"/>
          <p:cNvSpPr/>
          <p:nvPr/>
        </p:nvSpPr>
        <p:spPr>
          <a:xfrm>
            <a:off x="6733952" y="3940373"/>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5</a:t>
            </a:r>
            <a:endParaRPr lang="en-US" sz="950" dirty="0"/>
          </a:p>
        </p:txBody>
      </p:sp>
      <p:sp>
        <p:nvSpPr>
          <p:cNvPr id="22" name="Text 20"/>
          <p:cNvSpPr/>
          <p:nvPr/>
        </p:nvSpPr>
        <p:spPr>
          <a:xfrm>
            <a:off x="625004" y="4301951"/>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3</a:t>
            </a:r>
            <a:endParaRPr lang="en-US" sz="950" dirty="0"/>
          </a:p>
        </p:txBody>
      </p:sp>
      <p:sp>
        <p:nvSpPr>
          <p:cNvPr id="23" name="Text 21"/>
          <p:cNvSpPr/>
          <p:nvPr/>
        </p:nvSpPr>
        <p:spPr>
          <a:xfrm>
            <a:off x="2662907" y="4301951"/>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Mouse</a:t>
            </a:r>
            <a:endParaRPr lang="en-US" sz="950" dirty="0"/>
          </a:p>
        </p:txBody>
      </p:sp>
      <p:sp>
        <p:nvSpPr>
          <p:cNvPr id="24" name="Text 22"/>
          <p:cNvSpPr/>
          <p:nvPr/>
        </p:nvSpPr>
        <p:spPr>
          <a:xfrm>
            <a:off x="4698429" y="4301951"/>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500</a:t>
            </a:r>
            <a:endParaRPr lang="en-US" sz="950" dirty="0"/>
          </a:p>
        </p:txBody>
      </p:sp>
      <p:sp>
        <p:nvSpPr>
          <p:cNvPr id="25" name="Text 23"/>
          <p:cNvSpPr/>
          <p:nvPr/>
        </p:nvSpPr>
        <p:spPr>
          <a:xfrm>
            <a:off x="6733952" y="4301951"/>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1438945"/>
            <a:ext cx="545753" cy="233214"/>
          </a:xfrm>
          <a:prstGeom prst="roundRect">
            <a:avLst>
              <a:gd name="adj" fmla="val 17872"/>
            </a:avLst>
          </a:prstGeom>
          <a:solidFill>
            <a:srgbClr val="E1E1EA"/>
          </a:solidFill>
          <a:ln/>
        </p:spPr>
      </p:sp>
      <p:sp>
        <p:nvSpPr>
          <p:cNvPr id="3" name="Text 1"/>
          <p:cNvSpPr/>
          <p:nvPr/>
        </p:nvSpPr>
        <p:spPr>
          <a:xfrm>
            <a:off x="570533" y="1476152"/>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11</a:t>
            </a:r>
            <a:endParaRPr lang="en-US" sz="750" dirty="0"/>
          </a:p>
        </p:txBody>
      </p:sp>
      <p:sp>
        <p:nvSpPr>
          <p:cNvPr id="4" name="Text 2"/>
          <p:cNvSpPr/>
          <p:nvPr/>
        </p:nvSpPr>
        <p:spPr>
          <a:xfrm>
            <a:off x="496119" y="1721718"/>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CSV as Storage</a:t>
            </a:r>
            <a:endParaRPr lang="en-US" sz="2400" dirty="0"/>
          </a:p>
        </p:txBody>
      </p:sp>
      <p:sp>
        <p:nvSpPr>
          <p:cNvPr id="5" name="Shape 3"/>
          <p:cNvSpPr/>
          <p:nvPr/>
        </p:nvSpPr>
        <p:spPr>
          <a:xfrm>
            <a:off x="406822" y="2295302"/>
            <a:ext cx="4103191" cy="1409179"/>
          </a:xfrm>
          <a:prstGeom prst="roundRect">
            <a:avLst>
              <a:gd name="adj" fmla="val 6338"/>
            </a:avLst>
          </a:prstGeom>
          <a:solidFill>
            <a:srgbClr val="1B1B27">
              <a:alpha val="95000"/>
            </a:srgbClr>
          </a:solidFill>
          <a:ln/>
        </p:spPr>
      </p:sp>
      <p:sp>
        <p:nvSpPr>
          <p:cNvPr id="6" name="Text 4"/>
          <p:cNvSpPr/>
          <p:nvPr/>
        </p:nvSpPr>
        <p:spPr>
          <a:xfrm>
            <a:off x="530796" y="2419276"/>
            <a:ext cx="2066851"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Think of it as a Mini Database</a:t>
            </a:r>
            <a:endParaRPr lang="en-US" sz="1200" dirty="0"/>
          </a:p>
        </p:txBody>
      </p:sp>
      <p:sp>
        <p:nvSpPr>
          <p:cNvPr id="7" name="Text 5"/>
          <p:cNvSpPr/>
          <p:nvPr/>
        </p:nvSpPr>
        <p:spPr>
          <a:xfrm>
            <a:off x="530796" y="2737098"/>
            <a:ext cx="3855244" cy="595387"/>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A CSV file gives you everything a basic database provides: structured rows, named columns, and the ability to read and write data. For learning purposes, it's perfect.</a:t>
            </a:r>
            <a:endParaRPr lang="en-US" sz="950" dirty="0"/>
          </a:p>
        </p:txBody>
      </p:sp>
      <p:sp>
        <p:nvSpPr>
          <p:cNvPr id="8" name="Text 6"/>
          <p:cNvSpPr/>
          <p:nvPr/>
        </p:nvSpPr>
        <p:spPr>
          <a:xfrm>
            <a:off x="4728046" y="241927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What makes it work?</a:t>
            </a:r>
            <a:endParaRPr lang="en-US" sz="1200" dirty="0"/>
          </a:p>
        </p:txBody>
      </p:sp>
      <p:sp>
        <p:nvSpPr>
          <p:cNvPr id="9" name="Text 7"/>
          <p:cNvSpPr/>
          <p:nvPr/>
        </p:nvSpPr>
        <p:spPr>
          <a:xfrm>
            <a:off x="4728046" y="2737098"/>
            <a:ext cx="3924598" cy="923999"/>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Lives on </a:t>
            </a:r>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disk</a:t>
            </a:r>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 not just in memory</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Survives server </a:t>
            </a:r>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restarts</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Readable and editable as plain text</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Pandas makes it easy to </a:t>
            </a:r>
            <a:pPr algn="l" marL="342900" indent="-342900">
              <a:lnSpc>
                <a:spcPts val="1550"/>
              </a:lnSpc>
              <a:buSzPct val="100000"/>
              <a:buChar char="•"/>
            </a:pPr>
            <a:r>
              <a:rPr lang="en-US" sz="950" b="1" dirty="0">
                <a:solidFill>
                  <a:srgbClr val="3C3939"/>
                </a:solidFill>
                <a:latin typeface="Roboto" pitchFamily="34" charset="0"/>
                <a:ea typeface="Roboto" pitchFamily="34" charset="-122"/>
                <a:cs typeface="Roboto" pitchFamily="34" charset="-120"/>
              </a:rPr>
              <a:t>query and modify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96119" y="1319510"/>
            <a:ext cx="545753" cy="233214"/>
          </a:xfrm>
          <a:prstGeom prst="roundRect">
            <a:avLst>
              <a:gd name="adj" fmla="val 17872"/>
            </a:avLst>
          </a:prstGeom>
          <a:solidFill>
            <a:srgbClr val="E1E1EA"/>
          </a:solidFill>
          <a:ln/>
        </p:spPr>
      </p:sp>
      <p:sp>
        <p:nvSpPr>
          <p:cNvPr id="3" name="Text 1"/>
          <p:cNvSpPr/>
          <p:nvPr/>
        </p:nvSpPr>
        <p:spPr>
          <a:xfrm>
            <a:off x="570533" y="1356717"/>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12</a:t>
            </a:r>
            <a:endParaRPr lang="en-US" sz="750" dirty="0"/>
          </a:p>
        </p:txBody>
      </p:sp>
      <p:sp>
        <p:nvSpPr>
          <p:cNvPr id="4" name="Text 2"/>
          <p:cNvSpPr/>
          <p:nvPr/>
        </p:nvSpPr>
        <p:spPr>
          <a:xfrm>
            <a:off x="496119" y="1602284"/>
            <a:ext cx="3451250"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Installing Dependencies</a:t>
            </a:r>
            <a:endParaRPr lang="en-US" sz="2400" dirty="0"/>
          </a:p>
        </p:txBody>
      </p:sp>
      <p:sp>
        <p:nvSpPr>
          <p:cNvPr id="5" name="Text 3"/>
          <p:cNvSpPr/>
          <p:nvPr/>
        </p:nvSpPr>
        <p:spPr>
          <a:xfrm>
            <a:off x="496119" y="2175867"/>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Before we write any code, install the required libraries. Run this command in your terminal inside your project directory:</a:t>
            </a:r>
            <a:endParaRPr lang="en-US" sz="950" dirty="0"/>
          </a:p>
        </p:txBody>
      </p:sp>
      <p:sp>
        <p:nvSpPr>
          <p:cNvPr id="6" name="Shape 4"/>
          <p:cNvSpPr/>
          <p:nvPr/>
        </p:nvSpPr>
        <p:spPr>
          <a:xfrm>
            <a:off x="496119" y="2513856"/>
            <a:ext cx="8151763" cy="446410"/>
          </a:xfrm>
          <a:prstGeom prst="roundRect">
            <a:avLst>
              <a:gd name="adj" fmla="val 11671"/>
            </a:avLst>
          </a:prstGeom>
          <a:solidFill>
            <a:srgbClr val="F2F2F2"/>
          </a:solidFill>
          <a:ln/>
        </p:spPr>
      </p:sp>
      <p:sp>
        <p:nvSpPr>
          <p:cNvPr id="7" name="Shape 5"/>
          <p:cNvSpPr/>
          <p:nvPr/>
        </p:nvSpPr>
        <p:spPr>
          <a:xfrm>
            <a:off x="489942" y="2513856"/>
            <a:ext cx="8164116" cy="446410"/>
          </a:xfrm>
          <a:prstGeom prst="roundRect">
            <a:avLst>
              <a:gd name="adj" fmla="val 4168"/>
            </a:avLst>
          </a:prstGeom>
          <a:solidFill>
            <a:srgbClr val="F2F2F2"/>
          </a:solidFill>
          <a:ln/>
        </p:spPr>
      </p:sp>
      <p:sp>
        <p:nvSpPr>
          <p:cNvPr id="8" name="Text 6"/>
          <p:cNvSpPr/>
          <p:nvPr/>
        </p:nvSpPr>
        <p:spPr>
          <a:xfrm>
            <a:off x="644947" y="2637830"/>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pip install fastapi uvicorn pandas</a:t>
            </a:r>
            <a:endParaRPr lang="en-US" sz="950" dirty="0"/>
          </a:p>
        </p:txBody>
      </p:sp>
      <p:sp>
        <p:nvSpPr>
          <p:cNvPr id="9" name="Shape 7"/>
          <p:cNvSpPr/>
          <p:nvPr/>
        </p:nvSpPr>
        <p:spPr>
          <a:xfrm>
            <a:off x="496119" y="3099792"/>
            <a:ext cx="2634555" cy="724198"/>
          </a:xfrm>
          <a:prstGeom prst="roundRect">
            <a:avLst>
              <a:gd name="adj" fmla="val 7194"/>
            </a:avLst>
          </a:prstGeom>
          <a:solidFill>
            <a:srgbClr val="E1E1EA"/>
          </a:solidFill>
          <a:ln w="4763">
            <a:solidFill>
              <a:srgbClr val="C7C7D0"/>
            </a:solidFill>
            <a:prstDash val="solid"/>
          </a:ln>
        </p:spPr>
      </p:sp>
      <p:sp>
        <p:nvSpPr>
          <p:cNvPr id="10" name="Text 8"/>
          <p:cNvSpPr/>
          <p:nvPr/>
        </p:nvSpPr>
        <p:spPr>
          <a:xfrm>
            <a:off x="624855"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fastapi</a:t>
            </a:r>
            <a:endParaRPr lang="en-US" sz="1200" dirty="0"/>
          </a:p>
        </p:txBody>
      </p:sp>
      <p:sp>
        <p:nvSpPr>
          <p:cNvPr id="11" name="Text 9"/>
          <p:cNvSpPr/>
          <p:nvPr/>
        </p:nvSpPr>
        <p:spPr>
          <a:xfrm>
            <a:off x="624855" y="3496791"/>
            <a:ext cx="237708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Web framework for building APIs</a:t>
            </a:r>
            <a:endParaRPr lang="en-US" sz="950" dirty="0"/>
          </a:p>
        </p:txBody>
      </p:sp>
      <p:sp>
        <p:nvSpPr>
          <p:cNvPr id="12" name="Shape 10"/>
          <p:cNvSpPr/>
          <p:nvPr/>
        </p:nvSpPr>
        <p:spPr>
          <a:xfrm>
            <a:off x="3254648" y="3099792"/>
            <a:ext cx="2634630" cy="724198"/>
          </a:xfrm>
          <a:prstGeom prst="roundRect">
            <a:avLst>
              <a:gd name="adj" fmla="val 7194"/>
            </a:avLst>
          </a:prstGeom>
          <a:solidFill>
            <a:srgbClr val="E1E1EA"/>
          </a:solidFill>
          <a:ln w="4763">
            <a:solidFill>
              <a:srgbClr val="C7C7D0"/>
            </a:solidFill>
            <a:prstDash val="solid"/>
          </a:ln>
        </p:spPr>
      </p:sp>
      <p:sp>
        <p:nvSpPr>
          <p:cNvPr id="13" name="Text 11"/>
          <p:cNvSpPr/>
          <p:nvPr/>
        </p:nvSpPr>
        <p:spPr>
          <a:xfrm>
            <a:off x="3383384"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uvicorn</a:t>
            </a:r>
            <a:endParaRPr lang="en-US" sz="1200" dirty="0"/>
          </a:p>
        </p:txBody>
      </p:sp>
      <p:sp>
        <p:nvSpPr>
          <p:cNvPr id="14" name="Text 12"/>
          <p:cNvSpPr/>
          <p:nvPr/>
        </p:nvSpPr>
        <p:spPr>
          <a:xfrm>
            <a:off x="3383384" y="3496791"/>
            <a:ext cx="237715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ASGI server to run FastAPI</a:t>
            </a:r>
            <a:endParaRPr lang="en-US" sz="950" dirty="0"/>
          </a:p>
        </p:txBody>
      </p:sp>
      <p:sp>
        <p:nvSpPr>
          <p:cNvPr id="15" name="Shape 13"/>
          <p:cNvSpPr/>
          <p:nvPr/>
        </p:nvSpPr>
        <p:spPr>
          <a:xfrm>
            <a:off x="6013252" y="3099792"/>
            <a:ext cx="2634555" cy="724198"/>
          </a:xfrm>
          <a:prstGeom prst="roundRect">
            <a:avLst>
              <a:gd name="adj" fmla="val 7194"/>
            </a:avLst>
          </a:prstGeom>
          <a:solidFill>
            <a:srgbClr val="E1E1EA"/>
          </a:solidFill>
          <a:ln w="4763">
            <a:solidFill>
              <a:srgbClr val="C7C7D0"/>
            </a:solidFill>
            <a:prstDash val="solid"/>
          </a:ln>
        </p:spPr>
      </p:sp>
      <p:sp>
        <p:nvSpPr>
          <p:cNvPr id="16" name="Text 14"/>
          <p:cNvSpPr/>
          <p:nvPr/>
        </p:nvSpPr>
        <p:spPr>
          <a:xfrm>
            <a:off x="6141988"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pandas</a:t>
            </a:r>
            <a:endParaRPr lang="en-US" sz="1200" dirty="0"/>
          </a:p>
        </p:txBody>
      </p:sp>
      <p:sp>
        <p:nvSpPr>
          <p:cNvPr id="17" name="Text 15"/>
          <p:cNvSpPr/>
          <p:nvPr/>
        </p:nvSpPr>
        <p:spPr>
          <a:xfrm>
            <a:off x="6141988" y="3496791"/>
            <a:ext cx="237708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Data manipulation library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96119" y="1542752"/>
            <a:ext cx="545753" cy="233214"/>
          </a:xfrm>
          <a:prstGeom prst="roundRect">
            <a:avLst>
              <a:gd name="adj" fmla="val 17872"/>
            </a:avLst>
          </a:prstGeom>
          <a:solidFill>
            <a:srgbClr val="E1E1EA"/>
          </a:solidFill>
          <a:ln/>
        </p:spPr>
      </p:sp>
      <p:sp>
        <p:nvSpPr>
          <p:cNvPr id="3" name="Text 1"/>
          <p:cNvSpPr/>
          <p:nvPr/>
        </p:nvSpPr>
        <p:spPr>
          <a:xfrm>
            <a:off x="570533" y="1579959"/>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13</a:t>
            </a:r>
            <a:endParaRPr lang="en-US" sz="750" dirty="0"/>
          </a:p>
        </p:txBody>
      </p:sp>
      <p:sp>
        <p:nvSpPr>
          <p:cNvPr id="4" name="Text 2"/>
          <p:cNvSpPr/>
          <p:nvPr/>
        </p:nvSpPr>
        <p:spPr>
          <a:xfrm>
            <a:off x="496119" y="182552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Why Pandas?</a:t>
            </a:r>
            <a:endParaRPr lang="en-US" sz="2400" dirty="0"/>
          </a:p>
        </p:txBody>
      </p:sp>
      <p:sp>
        <p:nvSpPr>
          <p:cNvPr id="5" name="Text 3"/>
          <p:cNvSpPr/>
          <p:nvPr/>
        </p:nvSpPr>
        <p:spPr>
          <a:xfrm>
            <a:off x="496119" y="239910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Pandas is the standard Python library for working with structured data. It turns your CSV file into a powerful, in-memory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DataFrame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that you can query, modify, and save with just a few lines of code.</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2627" y="2939355"/>
            <a:ext cx="186035" cy="186035"/>
          </a:xfrm>
          <a:prstGeom prst="rect">
            <a:avLst/>
          </a:prstGeom>
        </p:spPr>
      </p:pic>
      <p:sp>
        <p:nvSpPr>
          <p:cNvPr id="7" name="Text 4"/>
          <p:cNvSpPr/>
          <p:nvPr/>
        </p:nvSpPr>
        <p:spPr>
          <a:xfrm>
            <a:off x="899145" y="293556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Read CSV</a:t>
            </a:r>
            <a:endParaRPr lang="en-US" sz="1200" dirty="0"/>
          </a:p>
        </p:txBody>
      </p:sp>
      <p:sp>
        <p:nvSpPr>
          <p:cNvPr id="8" name="Text 5"/>
          <p:cNvSpPr/>
          <p:nvPr/>
        </p:nvSpPr>
        <p:spPr>
          <a:xfrm>
            <a:off x="899145" y="3203823"/>
            <a:ext cx="221084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Load the file into a DataFrame with a single line</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1500" y="2939355"/>
            <a:ext cx="186035" cy="186035"/>
          </a:xfrm>
          <a:prstGeom prst="rect">
            <a:avLst/>
          </a:prstGeom>
        </p:spPr>
      </p:pic>
      <p:sp>
        <p:nvSpPr>
          <p:cNvPr id="10" name="Text 6"/>
          <p:cNvSpPr/>
          <p:nvPr/>
        </p:nvSpPr>
        <p:spPr>
          <a:xfrm>
            <a:off x="3668018" y="293556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Modify Rows</a:t>
            </a:r>
            <a:endParaRPr lang="en-US" sz="1200" dirty="0"/>
          </a:p>
        </p:txBody>
      </p:sp>
      <p:sp>
        <p:nvSpPr>
          <p:cNvPr id="11" name="Text 7"/>
          <p:cNvSpPr/>
          <p:nvPr/>
        </p:nvSpPr>
        <p:spPr>
          <a:xfrm>
            <a:off x="3668018" y="3203823"/>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Filter, update, and append rows using simple syntax</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447" y="2939355"/>
            <a:ext cx="186035" cy="186035"/>
          </a:xfrm>
          <a:prstGeom prst="rect">
            <a:avLst/>
          </a:prstGeom>
        </p:spPr>
      </p:pic>
      <p:sp>
        <p:nvSpPr>
          <p:cNvPr id="13" name="Text 8"/>
          <p:cNvSpPr/>
          <p:nvPr/>
        </p:nvSpPr>
        <p:spPr>
          <a:xfrm>
            <a:off x="6436965" y="293556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Save Files</a:t>
            </a:r>
            <a:endParaRPr lang="en-US" sz="1200" dirty="0"/>
          </a:p>
        </p:txBody>
      </p:sp>
      <p:sp>
        <p:nvSpPr>
          <p:cNvPr id="14" name="Text 9"/>
          <p:cNvSpPr/>
          <p:nvPr/>
        </p:nvSpPr>
        <p:spPr>
          <a:xfrm>
            <a:off x="6436965" y="3203823"/>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Write changes back to disk, making them persistent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96119" y="1117997"/>
            <a:ext cx="545753" cy="233214"/>
          </a:xfrm>
          <a:prstGeom prst="roundRect">
            <a:avLst>
              <a:gd name="adj" fmla="val 17872"/>
            </a:avLst>
          </a:prstGeom>
          <a:solidFill>
            <a:srgbClr val="E1E1EA"/>
          </a:solidFill>
          <a:ln/>
        </p:spPr>
      </p:sp>
      <p:sp>
        <p:nvSpPr>
          <p:cNvPr id="3" name="Text 1"/>
          <p:cNvSpPr/>
          <p:nvPr/>
        </p:nvSpPr>
        <p:spPr>
          <a:xfrm>
            <a:off x="570533" y="1155204"/>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14</a:t>
            </a:r>
            <a:endParaRPr lang="en-US" sz="750" dirty="0"/>
          </a:p>
        </p:txBody>
      </p:sp>
      <p:sp>
        <p:nvSpPr>
          <p:cNvPr id="4" name="Text 2"/>
          <p:cNvSpPr/>
          <p:nvPr/>
        </p:nvSpPr>
        <p:spPr>
          <a:xfrm>
            <a:off x="496119" y="140077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Reading CSV Files</a:t>
            </a:r>
            <a:endParaRPr lang="en-US" sz="2400" dirty="0"/>
          </a:p>
        </p:txBody>
      </p:sp>
      <p:sp>
        <p:nvSpPr>
          <p:cNvPr id="5" name="Text 3"/>
          <p:cNvSpPr/>
          <p:nvPr/>
        </p:nvSpPr>
        <p:spPr>
          <a:xfrm>
            <a:off x="496119" y="1974354"/>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first step in any CSV-backed API is loading the data file into memory. Pandas makes this a single line:</a:t>
            </a:r>
            <a:endParaRPr lang="en-US" sz="950" dirty="0"/>
          </a:p>
        </p:txBody>
      </p:sp>
      <p:sp>
        <p:nvSpPr>
          <p:cNvPr id="6" name="Shape 4"/>
          <p:cNvSpPr/>
          <p:nvPr/>
        </p:nvSpPr>
        <p:spPr>
          <a:xfrm>
            <a:off x="496119" y="2312343"/>
            <a:ext cx="8151763" cy="843335"/>
          </a:xfrm>
          <a:prstGeom prst="roundRect">
            <a:avLst>
              <a:gd name="adj" fmla="val 6178"/>
            </a:avLst>
          </a:prstGeom>
          <a:solidFill>
            <a:srgbClr val="F2F2F2"/>
          </a:solidFill>
          <a:ln/>
        </p:spPr>
      </p:sp>
      <p:sp>
        <p:nvSpPr>
          <p:cNvPr id="7" name="Shape 5"/>
          <p:cNvSpPr/>
          <p:nvPr/>
        </p:nvSpPr>
        <p:spPr>
          <a:xfrm>
            <a:off x="489942" y="2312343"/>
            <a:ext cx="8164116" cy="843335"/>
          </a:xfrm>
          <a:prstGeom prst="roundRect">
            <a:avLst>
              <a:gd name="adj" fmla="val 2206"/>
            </a:avLst>
          </a:prstGeom>
          <a:solidFill>
            <a:srgbClr val="F2F2F2"/>
          </a:solidFill>
          <a:ln/>
        </p:spPr>
      </p:sp>
      <p:sp>
        <p:nvSpPr>
          <p:cNvPr id="8" name="Text 6"/>
          <p:cNvSpPr/>
          <p:nvPr/>
        </p:nvSpPr>
        <p:spPr>
          <a:xfrm>
            <a:off x="644947" y="2436316"/>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import pandas as pd</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df = pd.read_csv("items.csv")</a:t>
            </a:r>
            <a:endParaRPr lang="en-US" sz="950" dirty="0"/>
          </a:p>
        </p:txBody>
      </p:sp>
      <p:sp>
        <p:nvSpPr>
          <p:cNvPr id="9" name="Shape 7"/>
          <p:cNvSpPr/>
          <p:nvPr/>
        </p:nvSpPr>
        <p:spPr>
          <a:xfrm>
            <a:off x="496119" y="3295204"/>
            <a:ext cx="8151763" cy="730225"/>
          </a:xfrm>
          <a:prstGeom prst="roundRect">
            <a:avLst>
              <a:gd name="adj" fmla="val 713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479750"/>
            <a:ext cx="155004" cy="123974"/>
          </a:xfrm>
          <a:prstGeom prst="rect">
            <a:avLst/>
          </a:prstGeom>
        </p:spPr>
      </p:pic>
      <p:sp>
        <p:nvSpPr>
          <p:cNvPr id="11" name="Text 8"/>
          <p:cNvSpPr/>
          <p:nvPr/>
        </p:nvSpPr>
        <p:spPr>
          <a:xfrm>
            <a:off x="899071" y="3450134"/>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reads the entire CSV file and stores it as a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DataFrame</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 a table-like structure with rows and columns. The variable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df</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now holds all your data in memory, ready to be queried.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1145084"/>
            <a:ext cx="545753" cy="233214"/>
          </a:xfrm>
          <a:prstGeom prst="roundRect">
            <a:avLst>
              <a:gd name="adj" fmla="val 17872"/>
            </a:avLst>
          </a:prstGeom>
          <a:solidFill>
            <a:srgbClr val="E1E1EA"/>
          </a:solidFill>
          <a:ln/>
        </p:spPr>
      </p:sp>
      <p:sp>
        <p:nvSpPr>
          <p:cNvPr id="3" name="Text 1"/>
          <p:cNvSpPr/>
          <p:nvPr/>
        </p:nvSpPr>
        <p:spPr>
          <a:xfrm>
            <a:off x="570533" y="118229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15</a:t>
            </a:r>
            <a:endParaRPr lang="en-US" sz="750" dirty="0"/>
          </a:p>
        </p:txBody>
      </p:sp>
      <p:sp>
        <p:nvSpPr>
          <p:cNvPr id="4" name="Text 2"/>
          <p:cNvSpPr/>
          <p:nvPr/>
        </p:nvSpPr>
        <p:spPr>
          <a:xfrm>
            <a:off x="496119" y="1427857"/>
            <a:ext cx="3554239"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Converting Data to JSON</a:t>
            </a:r>
            <a:endParaRPr lang="en-US" sz="2400" dirty="0"/>
          </a:p>
        </p:txBody>
      </p:sp>
      <p:sp>
        <p:nvSpPr>
          <p:cNvPr id="5" name="Text 3"/>
          <p:cNvSpPr/>
          <p:nvPr/>
        </p:nvSpPr>
        <p:spPr>
          <a:xfrm>
            <a:off x="496119" y="2001441"/>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returns Python dictionaries and lists as JSON automatically. To convert a DataFrame into a format FastAPI can return, use:</a:t>
            </a:r>
            <a:endParaRPr lang="en-US" sz="950" dirty="0"/>
          </a:p>
        </p:txBody>
      </p:sp>
      <p:sp>
        <p:nvSpPr>
          <p:cNvPr id="6" name="Shape 4"/>
          <p:cNvSpPr/>
          <p:nvPr/>
        </p:nvSpPr>
        <p:spPr>
          <a:xfrm>
            <a:off x="496119" y="2339429"/>
            <a:ext cx="8151763" cy="446410"/>
          </a:xfrm>
          <a:prstGeom prst="roundRect">
            <a:avLst>
              <a:gd name="adj" fmla="val 11671"/>
            </a:avLst>
          </a:prstGeom>
          <a:solidFill>
            <a:srgbClr val="F2F2F2"/>
          </a:solidFill>
          <a:ln/>
        </p:spPr>
      </p:sp>
      <p:sp>
        <p:nvSpPr>
          <p:cNvPr id="7" name="Shape 5"/>
          <p:cNvSpPr/>
          <p:nvPr/>
        </p:nvSpPr>
        <p:spPr>
          <a:xfrm>
            <a:off x="489942" y="2339429"/>
            <a:ext cx="8164116" cy="446410"/>
          </a:xfrm>
          <a:prstGeom prst="roundRect">
            <a:avLst>
              <a:gd name="adj" fmla="val 4168"/>
            </a:avLst>
          </a:prstGeom>
          <a:solidFill>
            <a:srgbClr val="F2F2F2"/>
          </a:solidFill>
          <a:ln/>
        </p:spPr>
      </p:sp>
      <p:sp>
        <p:nvSpPr>
          <p:cNvPr id="8" name="Text 6"/>
          <p:cNvSpPr/>
          <p:nvPr/>
        </p:nvSpPr>
        <p:spPr>
          <a:xfrm>
            <a:off x="644947" y="2463403"/>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df.to_dict(orient="records")</a:t>
            </a:r>
            <a:endParaRPr lang="en-US" sz="950" dirty="0"/>
          </a:p>
        </p:txBody>
      </p:sp>
      <p:sp>
        <p:nvSpPr>
          <p:cNvPr id="9" name="Shape 7"/>
          <p:cNvSpPr/>
          <p:nvPr/>
        </p:nvSpPr>
        <p:spPr>
          <a:xfrm>
            <a:off x="496119" y="2925366"/>
            <a:ext cx="8151763" cy="730225"/>
          </a:xfrm>
          <a:prstGeom prst="roundRect">
            <a:avLst>
              <a:gd name="adj" fmla="val 713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109913"/>
            <a:ext cx="155004" cy="123974"/>
          </a:xfrm>
          <a:prstGeom prst="rect">
            <a:avLst/>
          </a:prstGeom>
        </p:spPr>
      </p:pic>
      <p:sp>
        <p:nvSpPr>
          <p:cNvPr id="11" name="Text 8"/>
          <p:cNvSpPr/>
          <p:nvPr/>
        </p:nvSpPr>
        <p:spPr>
          <a:xfrm>
            <a:off x="899071" y="3080296"/>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orient="records"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option converts each row into a dictionary where keys are column names. The result is a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list of dictionaries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 exactly what JSON arrays look like.</a:t>
            </a:r>
            <a:endParaRPr lang="en-US" sz="950" dirty="0"/>
          </a:p>
        </p:txBody>
      </p:sp>
      <p:sp>
        <p:nvSpPr>
          <p:cNvPr id="12" name="Text 9"/>
          <p:cNvSpPr/>
          <p:nvPr/>
        </p:nvSpPr>
        <p:spPr>
          <a:xfrm>
            <a:off x="496119" y="3795117"/>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Example output: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[{"id": 1, "name": "Laptop", "price": 50000, "quantity": 2}, ...]</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919535"/>
            <a:ext cx="545753" cy="233214"/>
          </a:xfrm>
          <a:prstGeom prst="roundRect">
            <a:avLst>
              <a:gd name="adj" fmla="val 17872"/>
            </a:avLst>
          </a:prstGeom>
          <a:solidFill>
            <a:srgbClr val="E1E1EA"/>
          </a:solidFill>
          <a:ln/>
        </p:spPr>
      </p:sp>
      <p:sp>
        <p:nvSpPr>
          <p:cNvPr id="3" name="Text 1"/>
          <p:cNvSpPr/>
          <p:nvPr/>
        </p:nvSpPr>
        <p:spPr>
          <a:xfrm>
            <a:off x="570533" y="956742"/>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16</a:t>
            </a:r>
            <a:endParaRPr lang="en-US" sz="750" dirty="0"/>
          </a:p>
        </p:txBody>
      </p:sp>
      <p:sp>
        <p:nvSpPr>
          <p:cNvPr id="4" name="Text 2"/>
          <p:cNvSpPr/>
          <p:nvPr/>
        </p:nvSpPr>
        <p:spPr>
          <a:xfrm>
            <a:off x="496119" y="1202308"/>
            <a:ext cx="3671441"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Creating the API Endpoint</a:t>
            </a:r>
            <a:endParaRPr lang="en-US" sz="2400" dirty="0"/>
          </a:p>
        </p:txBody>
      </p:sp>
      <p:sp>
        <p:nvSpPr>
          <p:cNvPr id="5" name="Text 3"/>
          <p:cNvSpPr/>
          <p:nvPr/>
        </p:nvSpPr>
        <p:spPr>
          <a:xfrm>
            <a:off x="496119" y="1775892"/>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Now we connect the CSV read to a live API route. When a client sends a GET request to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backend reads the CSV and returns all items as JSON:</a:t>
            </a:r>
            <a:endParaRPr lang="en-US" sz="950" dirty="0"/>
          </a:p>
        </p:txBody>
      </p:sp>
      <p:sp>
        <p:nvSpPr>
          <p:cNvPr id="6" name="Shape 4"/>
          <p:cNvSpPr/>
          <p:nvPr/>
        </p:nvSpPr>
        <p:spPr>
          <a:xfrm>
            <a:off x="496119" y="2317105"/>
            <a:ext cx="8151763" cy="1041797"/>
          </a:xfrm>
          <a:prstGeom prst="roundRect">
            <a:avLst>
              <a:gd name="adj" fmla="val 5001"/>
            </a:avLst>
          </a:prstGeom>
          <a:solidFill>
            <a:srgbClr val="F2F2F2"/>
          </a:solidFill>
          <a:ln/>
        </p:spPr>
      </p:sp>
      <p:sp>
        <p:nvSpPr>
          <p:cNvPr id="7" name="Shape 5"/>
          <p:cNvSpPr/>
          <p:nvPr/>
        </p:nvSpPr>
        <p:spPr>
          <a:xfrm>
            <a:off x="489942" y="2317105"/>
            <a:ext cx="8164116" cy="1041797"/>
          </a:xfrm>
          <a:prstGeom prst="roundRect">
            <a:avLst>
              <a:gd name="adj" fmla="val 1786"/>
            </a:avLst>
          </a:prstGeom>
          <a:solidFill>
            <a:srgbClr val="F2F2F2"/>
          </a:solidFill>
          <a:ln/>
        </p:spPr>
      </p:sp>
      <p:sp>
        <p:nvSpPr>
          <p:cNvPr id="8" name="Text 6"/>
          <p:cNvSpPr/>
          <p:nvPr/>
        </p:nvSpPr>
        <p:spPr>
          <a:xfrm>
            <a:off x="644947" y="2441079"/>
            <a:ext cx="7854107" cy="793849"/>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@app.get("/items")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get_items():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df = pd.read_csv("items.csv")</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df.to_dict(orient="records")</a:t>
            </a:r>
            <a:endParaRPr lang="en-US" sz="950" dirty="0"/>
          </a:p>
        </p:txBody>
      </p:sp>
      <p:sp>
        <p:nvSpPr>
          <p:cNvPr id="9" name="Shape 7"/>
          <p:cNvSpPr/>
          <p:nvPr/>
        </p:nvSpPr>
        <p:spPr>
          <a:xfrm>
            <a:off x="496119" y="3498428"/>
            <a:ext cx="8151763" cy="725463"/>
          </a:xfrm>
          <a:prstGeom prst="roundRect">
            <a:avLst>
              <a:gd name="adj" fmla="val 7182"/>
            </a:avLst>
          </a:prstGeom>
          <a:solidFill>
            <a:srgbClr val="B6FCB8"/>
          </a:solidFill>
          <a:ln/>
        </p:spPr>
      </p:sp>
      <p:pic>
        <p:nvPicPr>
          <p:cNvPr id="10" name="Image 0" descr="preencoded.png">    </p:cNvPr>
          <p:cNvPicPr>
            <a:picLocks noChangeAspect="1"/>
          </p:cNvPicPr>
          <p:nvPr/>
        </p:nvPicPr>
        <p:blipFill>
          <a:blip r:embed="rId1"/>
          <a:stretch>
            <a:fillRect/>
          </a:stretch>
        </p:blipFill>
        <p:spPr>
          <a:xfrm>
            <a:off x="620092" y="3682975"/>
            <a:ext cx="155004" cy="123974"/>
          </a:xfrm>
          <a:prstGeom prst="rect">
            <a:avLst/>
          </a:prstGeom>
        </p:spPr>
      </p:pic>
      <p:sp>
        <p:nvSpPr>
          <p:cNvPr id="11" name="Text 8"/>
          <p:cNvSpPr/>
          <p:nvPr/>
        </p:nvSpPr>
        <p:spPr>
          <a:xfrm>
            <a:off x="899071" y="3653358"/>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Every time this endpoint is called, it reads the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latest version</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of the CSV — so any manual edits to the file are immediately reflected in the API response.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945109"/>
            <a:ext cx="545753" cy="233214"/>
          </a:xfrm>
          <a:prstGeom prst="roundRect">
            <a:avLst>
              <a:gd name="adj" fmla="val 17872"/>
            </a:avLst>
          </a:prstGeom>
          <a:solidFill>
            <a:srgbClr val="E1E1EA"/>
          </a:solidFill>
          <a:ln/>
        </p:spPr>
      </p:sp>
      <p:sp>
        <p:nvSpPr>
          <p:cNvPr id="5" name="Text 2"/>
          <p:cNvSpPr/>
          <p:nvPr/>
        </p:nvSpPr>
        <p:spPr>
          <a:xfrm>
            <a:off x="570533" y="198231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17</a:t>
            </a:r>
            <a:endParaRPr lang="en-US" sz="750" dirty="0"/>
          </a:p>
        </p:txBody>
      </p:sp>
      <p:sp>
        <p:nvSpPr>
          <p:cNvPr id="6" name="Text 3"/>
          <p:cNvSpPr/>
          <p:nvPr/>
        </p:nvSpPr>
        <p:spPr>
          <a:xfrm>
            <a:off x="1306934" y="2227883"/>
            <a:ext cx="3101132" cy="387548"/>
          </a:xfrm>
          <a:prstGeom prst="rect">
            <a:avLst/>
          </a:prstGeom>
          <a:noFill/>
          <a:ln/>
        </p:spPr>
        <p:txBody>
          <a:bodyPr wrap="none" lIns="0" tIns="0" rIns="0" bIns="0" rtlCol="0" anchor="t"/>
          <a:lstStyle/>
          <a:p>
            <a:pPr algn="ctr"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7" name="Text 4"/>
          <p:cNvSpPr/>
          <p:nvPr/>
        </p:nvSpPr>
        <p:spPr>
          <a:xfrm>
            <a:off x="496119" y="2801466"/>
            <a:ext cx="4722763" cy="396925"/>
          </a:xfrm>
          <a:prstGeom prst="rect">
            <a:avLst/>
          </a:prstGeom>
          <a:noFill/>
          <a:ln/>
        </p:spPr>
        <p:txBody>
          <a:bodyPr wrap="square" lIns="0" tIns="0" rIns="0" bIns="0" rtlCol="0" anchor="t"/>
          <a:lstStyle/>
          <a:p>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Let's build the CSV-based backend API step by step — setting up the project structure, creating the data file, and wiring up the first GET endpoint.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96119" y="1214884"/>
            <a:ext cx="545753" cy="233214"/>
          </a:xfrm>
          <a:prstGeom prst="roundRect">
            <a:avLst>
              <a:gd name="adj" fmla="val 17872"/>
            </a:avLst>
          </a:prstGeom>
          <a:solidFill>
            <a:srgbClr val="E1E1EA"/>
          </a:solidFill>
          <a:ln/>
        </p:spPr>
      </p:sp>
      <p:sp>
        <p:nvSpPr>
          <p:cNvPr id="3" name="Text 1"/>
          <p:cNvSpPr/>
          <p:nvPr/>
        </p:nvSpPr>
        <p:spPr>
          <a:xfrm>
            <a:off x="570533" y="125209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18</a:t>
            </a:r>
            <a:endParaRPr lang="en-US" sz="750" dirty="0"/>
          </a:p>
        </p:txBody>
      </p:sp>
      <p:sp>
        <p:nvSpPr>
          <p:cNvPr id="4" name="Text 2"/>
          <p:cNvSpPr/>
          <p:nvPr/>
        </p:nvSpPr>
        <p:spPr>
          <a:xfrm>
            <a:off x="496119" y="149765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Testing the API</a:t>
            </a:r>
            <a:endParaRPr lang="en-US" sz="2400" dirty="0"/>
          </a:p>
        </p:txBody>
      </p:sp>
      <p:sp>
        <p:nvSpPr>
          <p:cNvPr id="5" name="Text 3"/>
          <p:cNvSpPr/>
          <p:nvPr/>
        </p:nvSpPr>
        <p:spPr>
          <a:xfrm>
            <a:off x="496119" y="2071241"/>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Once your server is running with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uvicorn main:app --reload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open your browser and navigate to the items endpoint:</a:t>
            </a:r>
            <a:endParaRPr lang="en-US" sz="950" dirty="0"/>
          </a:p>
        </p:txBody>
      </p:sp>
      <p:sp>
        <p:nvSpPr>
          <p:cNvPr id="6" name="Shape 4"/>
          <p:cNvSpPr/>
          <p:nvPr/>
        </p:nvSpPr>
        <p:spPr>
          <a:xfrm>
            <a:off x="496119" y="2413992"/>
            <a:ext cx="8151763" cy="644872"/>
          </a:xfrm>
          <a:prstGeom prst="roundRect">
            <a:avLst>
              <a:gd name="adj" fmla="val 8079"/>
            </a:avLst>
          </a:prstGeom>
          <a:solidFill>
            <a:srgbClr val="F2F2F2"/>
          </a:solidFill>
          <a:ln/>
        </p:spPr>
      </p:sp>
      <p:sp>
        <p:nvSpPr>
          <p:cNvPr id="7" name="Shape 5"/>
          <p:cNvSpPr/>
          <p:nvPr/>
        </p:nvSpPr>
        <p:spPr>
          <a:xfrm>
            <a:off x="489942" y="2413992"/>
            <a:ext cx="8164116" cy="644872"/>
          </a:xfrm>
          <a:prstGeom prst="roundRect">
            <a:avLst>
              <a:gd name="adj" fmla="val 2885"/>
            </a:avLst>
          </a:prstGeom>
          <a:solidFill>
            <a:srgbClr val="F2F2F2"/>
          </a:solidFill>
          <a:ln/>
        </p:spPr>
      </p:sp>
      <p:sp>
        <p:nvSpPr>
          <p:cNvPr id="8" name="Text 6"/>
          <p:cNvSpPr/>
          <p:nvPr/>
        </p:nvSpPr>
        <p:spPr>
          <a:xfrm>
            <a:off x="644947" y="2537966"/>
            <a:ext cx="785410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 /items</a:t>
            </a:r>
            <a:endParaRPr lang="en-US" sz="950" dirty="0"/>
          </a:p>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 http://127.0.0.1:8000/items</a:t>
            </a:r>
            <a:endParaRPr lang="en-US" sz="950" dirty="0"/>
          </a:p>
        </p:txBody>
      </p:sp>
      <p:sp>
        <p:nvSpPr>
          <p:cNvPr id="9" name="Shape 7"/>
          <p:cNvSpPr/>
          <p:nvPr/>
        </p:nvSpPr>
        <p:spPr>
          <a:xfrm>
            <a:off x="496119" y="3198391"/>
            <a:ext cx="8151763" cy="730225"/>
          </a:xfrm>
          <a:prstGeom prst="roundRect">
            <a:avLst>
              <a:gd name="adj" fmla="val 7135"/>
            </a:avLst>
          </a:prstGeom>
          <a:solidFill>
            <a:srgbClr val="B6FCB8"/>
          </a:solidFill>
          <a:ln/>
        </p:spPr>
      </p:sp>
      <p:pic>
        <p:nvPicPr>
          <p:cNvPr id="10" name="Image 0" descr="preencoded.png">    </p:cNvPr>
          <p:cNvPicPr>
            <a:picLocks noChangeAspect="1"/>
          </p:cNvPicPr>
          <p:nvPr/>
        </p:nvPicPr>
        <p:blipFill>
          <a:blip r:embed="rId1"/>
          <a:stretch>
            <a:fillRect/>
          </a:stretch>
        </p:blipFill>
        <p:spPr>
          <a:xfrm>
            <a:off x="620092" y="3382938"/>
            <a:ext cx="155004" cy="123974"/>
          </a:xfrm>
          <a:prstGeom prst="rect">
            <a:avLst/>
          </a:prstGeom>
        </p:spPr>
      </p:pic>
      <p:sp>
        <p:nvSpPr>
          <p:cNvPr id="11" name="Text 8"/>
          <p:cNvSpPr/>
          <p:nvPr/>
        </p:nvSpPr>
        <p:spPr>
          <a:xfrm>
            <a:off x="899071" y="3353321"/>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You should see a JSON array with all items from your CSV file. Try editing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items.csv</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directly — add a row, save, and refresh the browser. The API will instantly reflect your changes without restarting the server.</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88379" y="340370"/>
            <a:ext cx="537121" cy="228302"/>
          </a:xfrm>
          <a:prstGeom prst="roundRect">
            <a:avLst>
              <a:gd name="adj" fmla="val 17971"/>
            </a:avLst>
          </a:prstGeom>
          <a:solidFill>
            <a:srgbClr val="E1E1EA"/>
          </a:solidFill>
          <a:ln/>
        </p:spPr>
      </p:sp>
      <p:sp>
        <p:nvSpPr>
          <p:cNvPr id="3" name="Text 1"/>
          <p:cNvSpPr/>
          <p:nvPr/>
        </p:nvSpPr>
        <p:spPr>
          <a:xfrm>
            <a:off x="561603" y="376982"/>
            <a:ext cx="390674" cy="155079"/>
          </a:xfrm>
          <a:prstGeom prst="rect">
            <a:avLst/>
          </a:prstGeom>
          <a:noFill/>
          <a:ln/>
        </p:spPr>
        <p:txBody>
          <a:bodyPr wrap="none" lIns="0" tIns="0" rIns="0" bIns="0" rtlCol="0" anchor="t"/>
          <a:lstStyle/>
          <a:p>
            <a:pPr algn="l" indent="0" marL="0">
              <a:lnSpc>
                <a:spcPts val="1200"/>
              </a:lnSpc>
              <a:buNone/>
            </a:pPr>
            <a:r>
              <a:rPr lang="en-US" sz="750" dirty="0">
                <a:solidFill>
                  <a:srgbClr val="3C3939"/>
                </a:solidFill>
                <a:latin typeface="Roboto" pitchFamily="34" charset="0"/>
                <a:ea typeface="Roboto" pitchFamily="34" charset="-122"/>
                <a:cs typeface="Roboto" pitchFamily="34" charset="-120"/>
              </a:rPr>
              <a:t>SLIDE 19</a:t>
            </a:r>
            <a:endParaRPr lang="en-US" sz="750" dirty="0"/>
          </a:p>
        </p:txBody>
      </p:sp>
      <p:sp>
        <p:nvSpPr>
          <p:cNvPr id="4" name="Text 2"/>
          <p:cNvSpPr/>
          <p:nvPr/>
        </p:nvSpPr>
        <p:spPr>
          <a:xfrm>
            <a:off x="488379" y="616744"/>
            <a:ext cx="3866257" cy="381521"/>
          </a:xfrm>
          <a:prstGeom prst="rect">
            <a:avLst/>
          </a:prstGeom>
          <a:noFill/>
          <a:ln/>
        </p:spPr>
        <p:txBody>
          <a:bodyPr wrap="none" lIns="0" tIns="0" rIns="0" bIns="0" rtlCol="0" anchor="t"/>
          <a:lstStyle/>
          <a:p>
            <a:pPr algn="l" indent="0" marL="0">
              <a:lnSpc>
                <a:spcPts val="3000"/>
              </a:lnSpc>
              <a:buNone/>
            </a:pPr>
            <a:r>
              <a:rPr lang="en-US" sz="2400" dirty="0">
                <a:solidFill>
                  <a:srgbClr val="1B1B27"/>
                </a:solidFill>
                <a:latin typeface="Raleway" pitchFamily="34" charset="0"/>
                <a:ea typeface="Raleway" pitchFamily="34" charset="-122"/>
                <a:cs typeface="Raleway" pitchFamily="34" charset="-120"/>
              </a:rPr>
              <a:t>What Happened Internally?</a:t>
            </a:r>
            <a:endParaRPr lang="en-US" sz="2400" dirty="0"/>
          </a:p>
        </p:txBody>
      </p:sp>
      <p:sp>
        <p:nvSpPr>
          <p:cNvPr id="5" name="Text 3"/>
          <p:cNvSpPr/>
          <p:nvPr/>
        </p:nvSpPr>
        <p:spPr>
          <a:xfrm>
            <a:off x="488379" y="1178496"/>
            <a:ext cx="8167241" cy="193849"/>
          </a:xfrm>
          <a:prstGeom prst="rect">
            <a:avLst/>
          </a:prstGeom>
          <a:noFill/>
          <a:ln/>
        </p:spPr>
        <p:txBody>
          <a:bodyPr wrap="none" lIns="0" tIns="0" rIns="0" bIns="0" rtlCol="0" anchor="t"/>
          <a:lstStyle/>
          <a:p>
            <a:pPr algn="l" indent="0" marL="0">
              <a:lnSpc>
                <a:spcPts val="1500"/>
              </a:lnSpc>
              <a:buNone/>
            </a:pPr>
            <a:r>
              <a:rPr lang="en-US" sz="950" dirty="0">
                <a:solidFill>
                  <a:srgbClr val="3C3939"/>
                </a:solidFill>
                <a:latin typeface="Roboto" pitchFamily="34" charset="0"/>
                <a:ea typeface="Roboto" pitchFamily="34" charset="-122"/>
                <a:cs typeface="Roboto" pitchFamily="34" charset="-120"/>
              </a:rPr>
              <a:t>Let's trace exactly what occurred when you hit </a:t>
            </a:r>
            <a:pPr algn="l" indent="0" marL="0">
              <a:lnSpc>
                <a:spcPts val="15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 /items</a:t>
            </a:r>
            <a:pPr algn="l" indent="0" marL="0">
              <a:lnSpc>
                <a:spcPts val="1500"/>
              </a:lnSpc>
              <a:buNone/>
            </a:pPr>
            <a:r>
              <a:rPr lang="en-US" sz="950" dirty="0">
                <a:solidFill>
                  <a:srgbClr val="3C3939"/>
                </a:solidFill>
                <a:latin typeface="Roboto" pitchFamily="34" charset="0"/>
                <a:ea typeface="Roboto" pitchFamily="34" charset="-122"/>
                <a:cs typeface="Roboto" pitchFamily="34" charset="-120"/>
              </a:rPr>
              <a:t>. Every step happens in milliseconds:</a:t>
            </a:r>
            <a:endParaRPr lang="en-US" sz="950" dirty="0"/>
          </a:p>
        </p:txBody>
      </p:sp>
      <p:pic>
        <p:nvPicPr>
          <p:cNvPr id="6" name="Image 0" descr="preencoded.png">    </p:cNvPr>
          <p:cNvPicPr>
            <a:picLocks noChangeAspect="1"/>
          </p:cNvPicPr>
          <p:nvPr/>
        </p:nvPicPr>
        <p:blipFill>
          <a:blip r:embed="rId1"/>
          <a:stretch>
            <a:fillRect/>
          </a:stretch>
        </p:blipFill>
        <p:spPr>
          <a:xfrm>
            <a:off x="619199" y="1507554"/>
            <a:ext cx="7905601" cy="2966517"/>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70644" y="2263179"/>
            <a:ext cx="408352" cy="408353"/>
          </a:xfrm>
          <a:prstGeom prst="rect">
            <a:avLst/>
          </a:prstGeom>
        </p:spPr>
      </p:pic>
      <p:sp>
        <p:nvSpPr>
          <p:cNvPr id="8" name="Text 4"/>
          <p:cNvSpPr/>
          <p:nvPr/>
        </p:nvSpPr>
        <p:spPr>
          <a:xfrm>
            <a:off x="7006827" y="3639073"/>
            <a:ext cx="1192390" cy="459397"/>
          </a:xfrm>
          <a:prstGeom prst="rect">
            <a:avLst/>
          </a:prstGeom>
          <a:noFill/>
          <a:ln/>
        </p:spPr>
        <p:txBody>
          <a:bodyPr wrap="square" lIns="0" tIns="0" rIns="0" bIns="0" rtlCol="0" anchor="t"/>
          <a:lstStyle/>
          <a:p>
            <a:pPr algn="ctr" indent="0" marL="0">
              <a:lnSpc>
                <a:spcPts val="1800"/>
              </a:lnSpc>
              <a:buNone/>
            </a:pPr>
            <a:r>
              <a:rPr lang="en-US" sz="1400" dirty="0">
                <a:solidFill>
                  <a:srgbClr val="3C3939"/>
                </a:solidFill>
                <a:latin typeface="Raleway" pitchFamily="34" charset="0"/>
                <a:ea typeface="Raleway" pitchFamily="34" charset="-122"/>
                <a:cs typeface="Raleway" pitchFamily="34" charset="-120"/>
              </a:rPr>
              <a:t>HTTP Response</a:t>
            </a:r>
            <a:endParaRPr lang="en-US" sz="14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75690" y="2263945"/>
            <a:ext cx="408353" cy="408353"/>
          </a:xfrm>
          <a:prstGeom prst="rect">
            <a:avLst/>
          </a:prstGeom>
        </p:spPr>
      </p:pic>
      <p:sp>
        <p:nvSpPr>
          <p:cNvPr id="10" name="Text 5"/>
          <p:cNvSpPr/>
          <p:nvPr/>
        </p:nvSpPr>
        <p:spPr>
          <a:xfrm>
            <a:off x="5504090" y="3639073"/>
            <a:ext cx="1192389" cy="459397"/>
          </a:xfrm>
          <a:prstGeom prst="rect">
            <a:avLst/>
          </a:prstGeom>
          <a:noFill/>
          <a:ln/>
        </p:spPr>
        <p:txBody>
          <a:bodyPr wrap="square" lIns="0" tIns="0" rIns="0" bIns="0" rtlCol="0" anchor="t"/>
          <a:lstStyle/>
          <a:p>
            <a:pPr algn="ctr" indent="0" marL="0">
              <a:lnSpc>
                <a:spcPts val="1800"/>
              </a:lnSpc>
              <a:buNone/>
            </a:pPr>
            <a:r>
              <a:rPr lang="en-US" sz="1400" dirty="0">
                <a:solidFill>
                  <a:srgbClr val="3C3939"/>
                </a:solidFill>
                <a:latin typeface="Raleway" pitchFamily="34" charset="0"/>
                <a:ea typeface="Raleway" pitchFamily="34" charset="-122"/>
                <a:cs typeface="Raleway" pitchFamily="34" charset="-120"/>
              </a:rPr>
              <a:t>Convert to JSON</a:t>
            </a:r>
            <a:endParaRPr lang="en-US" sz="14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81120" y="2263945"/>
            <a:ext cx="408352" cy="408353"/>
          </a:xfrm>
          <a:prstGeom prst="rect">
            <a:avLst/>
          </a:prstGeom>
        </p:spPr>
      </p:pic>
      <p:sp>
        <p:nvSpPr>
          <p:cNvPr id="12" name="Text 6"/>
          <p:cNvSpPr/>
          <p:nvPr/>
        </p:nvSpPr>
        <p:spPr>
          <a:xfrm>
            <a:off x="4009519" y="3639073"/>
            <a:ext cx="1192389" cy="459397"/>
          </a:xfrm>
          <a:prstGeom prst="rect">
            <a:avLst/>
          </a:prstGeom>
          <a:noFill/>
          <a:ln/>
        </p:spPr>
        <p:txBody>
          <a:bodyPr wrap="square" lIns="0" tIns="0" rIns="0" bIns="0" rtlCol="0" anchor="t"/>
          <a:lstStyle/>
          <a:p>
            <a:pPr algn="ctr" indent="0" marL="0">
              <a:lnSpc>
                <a:spcPts val="1800"/>
              </a:lnSpc>
              <a:buNone/>
            </a:pPr>
            <a:r>
              <a:rPr lang="en-US" sz="1400" dirty="0">
                <a:solidFill>
                  <a:srgbClr val="3C3939"/>
                </a:solidFill>
                <a:latin typeface="Raleway" pitchFamily="34" charset="0"/>
                <a:ea typeface="Raleway" pitchFamily="34" charset="-122"/>
                <a:cs typeface="Raleway" pitchFamily="34" charset="-120"/>
              </a:rPr>
              <a:t>Load DataFrame</a:t>
            </a:r>
            <a:endParaRPr lang="en-US" sz="14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86549" y="2263945"/>
            <a:ext cx="408353" cy="408353"/>
          </a:xfrm>
          <a:prstGeom prst="rect">
            <a:avLst/>
          </a:prstGeom>
        </p:spPr>
      </p:pic>
      <p:sp>
        <p:nvSpPr>
          <p:cNvPr id="14" name="Text 7"/>
          <p:cNvSpPr/>
          <p:nvPr/>
        </p:nvSpPr>
        <p:spPr>
          <a:xfrm>
            <a:off x="2514948" y="3753922"/>
            <a:ext cx="1192390" cy="229698"/>
          </a:xfrm>
          <a:prstGeom prst="rect">
            <a:avLst/>
          </a:prstGeom>
          <a:noFill/>
          <a:ln/>
        </p:spPr>
        <p:txBody>
          <a:bodyPr wrap="none" lIns="0" tIns="0" rIns="0" bIns="0" rtlCol="0" anchor="t"/>
          <a:lstStyle/>
          <a:p>
            <a:pPr algn="ctr" indent="0" marL="0">
              <a:lnSpc>
                <a:spcPts val="1800"/>
              </a:lnSpc>
              <a:buNone/>
            </a:pPr>
            <a:r>
              <a:rPr lang="en-US" sz="1400" dirty="0">
                <a:solidFill>
                  <a:srgbClr val="3C3939"/>
                </a:solidFill>
                <a:latin typeface="Raleway" pitchFamily="34" charset="0"/>
                <a:ea typeface="Raleway" pitchFamily="34" charset="-122"/>
                <a:cs typeface="Raleway" pitchFamily="34" charset="-120"/>
              </a:rPr>
              <a:t>Read CSV</a:t>
            </a:r>
            <a:endParaRPr lang="en-US" sz="140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83811" y="2263945"/>
            <a:ext cx="408353" cy="408353"/>
          </a:xfrm>
          <a:prstGeom prst="rect">
            <a:avLst/>
          </a:prstGeom>
        </p:spPr>
      </p:pic>
      <p:sp>
        <p:nvSpPr>
          <p:cNvPr id="16" name="Text 8"/>
          <p:cNvSpPr/>
          <p:nvPr/>
        </p:nvSpPr>
        <p:spPr>
          <a:xfrm>
            <a:off x="987709" y="3639073"/>
            <a:ext cx="1192390" cy="459397"/>
          </a:xfrm>
          <a:prstGeom prst="rect">
            <a:avLst/>
          </a:prstGeom>
          <a:noFill/>
          <a:ln/>
        </p:spPr>
        <p:txBody>
          <a:bodyPr wrap="square" lIns="0" tIns="0" rIns="0" bIns="0" rtlCol="0" anchor="t"/>
          <a:lstStyle/>
          <a:p>
            <a:pPr algn="ctr" indent="0" marL="0">
              <a:lnSpc>
                <a:spcPts val="1800"/>
              </a:lnSpc>
              <a:buNone/>
            </a:pPr>
            <a:r>
              <a:rPr lang="en-US" sz="1400" dirty="0">
                <a:solidFill>
                  <a:srgbClr val="3C3939"/>
                </a:solidFill>
                <a:latin typeface="Raleway" pitchFamily="34" charset="0"/>
                <a:ea typeface="Raleway" pitchFamily="34" charset="-122"/>
                <a:cs typeface="Raleway" pitchFamily="34" charset="-120"/>
              </a:rPr>
              <a:t>HTTP Request</a:t>
            </a:r>
            <a:endParaRPr lang="en-US" sz="1400" dirty="0"/>
          </a:p>
        </p:txBody>
      </p:sp>
      <p:sp>
        <p:nvSpPr>
          <p:cNvPr id="17" name="Text 9"/>
          <p:cNvSpPr/>
          <p:nvPr/>
        </p:nvSpPr>
        <p:spPr>
          <a:xfrm>
            <a:off x="488379" y="4609281"/>
            <a:ext cx="8167241" cy="193849"/>
          </a:xfrm>
          <a:prstGeom prst="rect">
            <a:avLst/>
          </a:prstGeom>
          <a:noFill/>
          <a:ln/>
        </p:spPr>
        <p:txBody>
          <a:bodyPr wrap="none" lIns="0" tIns="0" rIns="0" bIns="0" rtlCol="0" anchor="t"/>
          <a:lstStyle/>
          <a:p>
            <a:pPr algn="l" indent="0" marL="0">
              <a:lnSpc>
                <a:spcPts val="1500"/>
              </a:lnSpc>
              <a:buNone/>
            </a:pPr>
            <a:r>
              <a:rPr lang="en-US" sz="950" dirty="0">
                <a:solidFill>
                  <a:srgbClr val="3C3939"/>
                </a:solidFill>
                <a:latin typeface="Roboto" pitchFamily="34" charset="0"/>
                <a:ea typeface="Roboto" pitchFamily="34" charset="-122"/>
                <a:cs typeface="Roboto" pitchFamily="34" charset="-120"/>
              </a:rPr>
              <a:t>Notice that the CSV is re-read on </a:t>
            </a:r>
            <a:pPr algn="l" indent="0" marL="0">
              <a:lnSpc>
                <a:spcPts val="1500"/>
              </a:lnSpc>
              <a:buNone/>
            </a:pPr>
            <a:r>
              <a:rPr lang="en-US" sz="950" b="1" dirty="0">
                <a:solidFill>
                  <a:srgbClr val="3C3939"/>
                </a:solidFill>
                <a:latin typeface="Roboto" pitchFamily="34" charset="0"/>
                <a:ea typeface="Roboto" pitchFamily="34" charset="-122"/>
                <a:cs typeface="Roboto" pitchFamily="34" charset="-120"/>
              </a:rPr>
              <a:t>every request</a:t>
            </a:r>
            <a:pPr algn="l" indent="0" marL="0">
              <a:lnSpc>
                <a:spcPts val="1500"/>
              </a:lnSpc>
              <a:buNone/>
            </a:pPr>
            <a:r>
              <a:rPr lang="en-US" sz="950" dirty="0">
                <a:solidFill>
                  <a:srgbClr val="3C3939"/>
                </a:solidFill>
                <a:latin typeface="Roboto" pitchFamily="34" charset="0"/>
                <a:ea typeface="Roboto" pitchFamily="34" charset="-122"/>
                <a:cs typeface="Roboto" pitchFamily="34" charset="-120"/>
              </a:rPr>
              <a:t>. This is intentional — it ensures the response always reflects the latest data on disk.</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96119" y="1332756"/>
            <a:ext cx="545753" cy="233214"/>
          </a:xfrm>
          <a:prstGeom prst="roundRect">
            <a:avLst>
              <a:gd name="adj" fmla="val 17872"/>
            </a:avLst>
          </a:prstGeom>
          <a:solidFill>
            <a:srgbClr val="E1E1EA"/>
          </a:solidFill>
          <a:ln/>
        </p:spPr>
      </p:sp>
      <p:sp>
        <p:nvSpPr>
          <p:cNvPr id="3" name="Text 1"/>
          <p:cNvSpPr/>
          <p:nvPr/>
        </p:nvSpPr>
        <p:spPr>
          <a:xfrm>
            <a:off x="570533" y="1369963"/>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20</a:t>
            </a:r>
            <a:endParaRPr lang="en-US" sz="750" dirty="0"/>
          </a:p>
        </p:txBody>
      </p:sp>
      <p:sp>
        <p:nvSpPr>
          <p:cNvPr id="4" name="Text 2"/>
          <p:cNvSpPr/>
          <p:nvPr/>
        </p:nvSpPr>
        <p:spPr>
          <a:xfrm>
            <a:off x="496119" y="1615529"/>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Live Dataset Updates</a:t>
            </a:r>
            <a:endParaRPr lang="en-US" sz="2400" dirty="0"/>
          </a:p>
        </p:txBody>
      </p:sp>
      <p:sp>
        <p:nvSpPr>
          <p:cNvPr id="5" name="Shape 3"/>
          <p:cNvSpPr/>
          <p:nvPr/>
        </p:nvSpPr>
        <p:spPr>
          <a:xfrm>
            <a:off x="406822" y="2189113"/>
            <a:ext cx="4103191" cy="955104"/>
          </a:xfrm>
          <a:prstGeom prst="roundRect">
            <a:avLst>
              <a:gd name="adj" fmla="val 9351"/>
            </a:avLst>
          </a:prstGeom>
          <a:solidFill>
            <a:srgbClr val="1B1B27">
              <a:alpha val="95000"/>
            </a:srgbClr>
          </a:solidFill>
          <a:ln/>
        </p:spPr>
      </p:sp>
      <p:sp>
        <p:nvSpPr>
          <p:cNvPr id="6" name="Text 4"/>
          <p:cNvSpPr/>
          <p:nvPr/>
        </p:nvSpPr>
        <p:spPr>
          <a:xfrm>
            <a:off x="530796" y="231308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Step 1: Edit the CSV</a:t>
            </a:r>
            <a:endParaRPr lang="en-US" sz="1200" dirty="0"/>
          </a:p>
        </p:txBody>
      </p:sp>
      <p:sp>
        <p:nvSpPr>
          <p:cNvPr id="7" name="Text 5"/>
          <p:cNvSpPr/>
          <p:nvPr/>
        </p:nvSpPr>
        <p:spPr>
          <a:xfrm>
            <a:off x="530796" y="2630909"/>
            <a:ext cx="3855244" cy="401687"/>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Open </a:t>
            </a:r>
            <a:pPr algn="l" indent="0" marL="0">
              <a:lnSpc>
                <a:spcPts val="1550"/>
              </a:lnSpc>
              <a:buNone/>
            </a:pPr>
            <a:r>
              <a:rPr lang="en-US" sz="950" dirty="0">
                <a:solidFill>
                  <a:srgbClr val="FFFFFF"/>
                </a:solidFill>
                <a:highlight>
                  <a:srgbClr val="282834"/>
                </a:highlight>
                <a:latin typeface="Consolas" pitchFamily="34" charset="0"/>
                <a:ea typeface="Consolas" pitchFamily="34" charset="-122"/>
                <a:cs typeface="Consolas" pitchFamily="34" charset="-120"/>
              </a:rPr>
              <a:t>items.csv</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in any text editor. Add a new row, change a price, or modify a quantity. Save the file.</a:t>
            </a:r>
            <a:endParaRPr lang="en-US" sz="950" dirty="0"/>
          </a:p>
        </p:txBody>
      </p:sp>
      <p:sp>
        <p:nvSpPr>
          <p:cNvPr id="8" name="Text 6"/>
          <p:cNvSpPr/>
          <p:nvPr/>
        </p:nvSpPr>
        <p:spPr>
          <a:xfrm>
            <a:off x="4728046" y="2313087"/>
            <a:ext cx="1614115"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Step 2: Refresh the API</a:t>
            </a:r>
            <a:endParaRPr lang="en-US" sz="1200" dirty="0"/>
          </a:p>
        </p:txBody>
      </p:sp>
      <p:sp>
        <p:nvSpPr>
          <p:cNvPr id="9" name="Text 7"/>
          <p:cNvSpPr/>
          <p:nvPr/>
        </p:nvSpPr>
        <p:spPr>
          <a:xfrm>
            <a:off x="4728046" y="2630909"/>
            <a:ext cx="3924598"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Hit your browser or Swagger UI again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No server restart needed — the updated data appears immediately in the response.</a:t>
            </a:r>
            <a:endParaRPr lang="en-US" sz="950" dirty="0"/>
          </a:p>
        </p:txBody>
      </p:sp>
      <p:sp>
        <p:nvSpPr>
          <p:cNvPr id="10" name="Shape 8"/>
          <p:cNvSpPr/>
          <p:nvPr/>
        </p:nvSpPr>
        <p:spPr>
          <a:xfrm>
            <a:off x="496119" y="3283744"/>
            <a:ext cx="8151763" cy="527000"/>
          </a:xfrm>
          <a:prstGeom prst="roundRect">
            <a:avLst>
              <a:gd name="adj" fmla="val 9886"/>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468291"/>
            <a:ext cx="155004" cy="123974"/>
          </a:xfrm>
          <a:prstGeom prst="rect">
            <a:avLst/>
          </a:prstGeom>
        </p:spPr>
      </p:pic>
      <p:sp>
        <p:nvSpPr>
          <p:cNvPr id="12" name="Text 9"/>
          <p:cNvSpPr/>
          <p:nvPr/>
        </p:nvSpPr>
        <p:spPr>
          <a:xfrm>
            <a:off x="899071" y="3438674"/>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demonstrates the power of reading from disk on every request. The API and the file are always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in sync</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Shape 1"/>
          <p:cNvSpPr/>
          <p:nvPr/>
        </p:nvSpPr>
        <p:spPr>
          <a:xfrm>
            <a:off x="3925119" y="1413346"/>
            <a:ext cx="545753" cy="233214"/>
          </a:xfrm>
          <a:prstGeom prst="roundRect">
            <a:avLst>
              <a:gd name="adj" fmla="val 17872"/>
            </a:avLst>
          </a:prstGeom>
          <a:solidFill>
            <a:srgbClr val="E1E1EA"/>
          </a:solidFill>
          <a:ln/>
        </p:spPr>
      </p:sp>
      <p:sp>
        <p:nvSpPr>
          <p:cNvPr id="5" name="Text 2"/>
          <p:cNvSpPr/>
          <p:nvPr/>
        </p:nvSpPr>
        <p:spPr>
          <a:xfrm>
            <a:off x="3999533" y="1450553"/>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21</a:t>
            </a:r>
            <a:endParaRPr lang="en-US" sz="750" dirty="0"/>
          </a:p>
        </p:txBody>
      </p:sp>
      <p:sp>
        <p:nvSpPr>
          <p:cNvPr id="6" name="Text 3"/>
          <p:cNvSpPr/>
          <p:nvPr/>
        </p:nvSpPr>
        <p:spPr>
          <a:xfrm>
            <a:off x="3925119" y="1696120"/>
            <a:ext cx="4332238"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Backend + Storage Connected</a:t>
            </a:r>
            <a:endParaRPr lang="en-US" sz="2400" dirty="0"/>
          </a:p>
        </p:txBody>
      </p:sp>
      <p:sp>
        <p:nvSpPr>
          <p:cNvPr id="7" name="Text 4"/>
          <p:cNvSpPr/>
          <p:nvPr/>
        </p:nvSpPr>
        <p:spPr>
          <a:xfrm>
            <a:off x="3925119" y="2269703"/>
            <a:ext cx="4722763"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Your backend now reads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live, stored data</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from disk on every API call. This is a fundamental shift — you've moved from a hardcoded response to a dynamic system driven by real data. The backend and storage layer are now fully connected.</a:t>
            </a:r>
            <a:endParaRPr lang="en-US" sz="950" dirty="0"/>
          </a:p>
        </p:txBody>
      </p:sp>
      <p:sp>
        <p:nvSpPr>
          <p:cNvPr id="8" name="Shape 5"/>
          <p:cNvSpPr/>
          <p:nvPr/>
        </p:nvSpPr>
        <p:spPr>
          <a:xfrm>
            <a:off x="3925119" y="3004617"/>
            <a:ext cx="4722763" cy="725463"/>
          </a:xfrm>
          <a:prstGeom prst="roundRect">
            <a:avLst>
              <a:gd name="adj" fmla="val 7182"/>
            </a:avLst>
          </a:prstGeom>
          <a:solidFill>
            <a:srgbClr val="B6FCB8"/>
          </a:solidFill>
          <a:ln/>
        </p:spPr>
      </p:sp>
      <p:pic>
        <p:nvPicPr>
          <p:cNvPr id="9" name="Image 1" descr="preencoded.png">    </p:cNvPr>
          <p:cNvPicPr>
            <a:picLocks noChangeAspect="1"/>
          </p:cNvPicPr>
          <p:nvPr/>
        </p:nvPicPr>
        <p:blipFill>
          <a:blip r:embed="rId2"/>
          <a:stretch>
            <a:fillRect/>
          </a:stretch>
        </p:blipFill>
        <p:spPr>
          <a:xfrm>
            <a:off x="4049092" y="3189163"/>
            <a:ext cx="155004" cy="123974"/>
          </a:xfrm>
          <a:prstGeom prst="rect">
            <a:avLst/>
          </a:prstGeom>
        </p:spPr>
      </p:pic>
      <p:sp>
        <p:nvSpPr>
          <p:cNvPr id="10" name="Text 6"/>
          <p:cNvSpPr/>
          <p:nvPr/>
        </p:nvSpPr>
        <p:spPr>
          <a:xfrm>
            <a:off x="4328071" y="3159547"/>
            <a:ext cx="4195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is the foundation every real-world API is built on. Data lives in storage; the API serves it on demand.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96119" y="1698427"/>
            <a:ext cx="1820094" cy="242739"/>
          </a:xfrm>
          <a:prstGeom prst="roundRect">
            <a:avLst>
              <a:gd name="adj" fmla="val 17171"/>
            </a:avLst>
          </a:prstGeom>
          <a:noFill/>
          <a:ln w="4763">
            <a:solidFill>
              <a:srgbClr val="1B1B27"/>
            </a:solidFill>
            <a:prstDash val="solid"/>
          </a:ln>
        </p:spPr>
      </p:sp>
      <p:sp>
        <p:nvSpPr>
          <p:cNvPr id="3" name="Text 1"/>
          <p:cNvSpPr/>
          <p:nvPr/>
        </p:nvSpPr>
        <p:spPr>
          <a:xfrm>
            <a:off x="575295" y="1740396"/>
            <a:ext cx="1661740"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MEMORY VS PERSISTENCE</a:t>
            </a:r>
            <a:endParaRPr lang="en-US" sz="750" dirty="0"/>
          </a:p>
        </p:txBody>
      </p:sp>
      <p:sp>
        <p:nvSpPr>
          <p:cNvPr id="4" name="Text 2"/>
          <p:cNvSpPr/>
          <p:nvPr/>
        </p:nvSpPr>
        <p:spPr>
          <a:xfrm>
            <a:off x="496119" y="1990725"/>
            <a:ext cx="427955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Memory vs</a:t>
            </a:r>
            <a:endParaRPr lang="en-US" sz="3350" dirty="0"/>
          </a:p>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Persistence</a:t>
            </a:r>
            <a:endParaRPr lang="en-US" sz="3350" dirty="0"/>
          </a:p>
        </p:txBody>
      </p:sp>
      <p:sp>
        <p:nvSpPr>
          <p:cNvPr id="5" name="Text 3"/>
          <p:cNvSpPr/>
          <p:nvPr/>
        </p:nvSpPr>
        <p:spPr>
          <a:xfrm>
            <a:off x="496119" y="3246537"/>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Not all storage is equal. We'll now explore the critical difference between data stored in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RAM</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(temporary) and data stored on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disk</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(persistent).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96119" y="1318840"/>
            <a:ext cx="545753" cy="233214"/>
          </a:xfrm>
          <a:prstGeom prst="roundRect">
            <a:avLst>
              <a:gd name="adj" fmla="val 17872"/>
            </a:avLst>
          </a:prstGeom>
          <a:solidFill>
            <a:srgbClr val="E1E1EA"/>
          </a:solidFill>
          <a:ln/>
        </p:spPr>
      </p:sp>
      <p:sp>
        <p:nvSpPr>
          <p:cNvPr id="3" name="Text 1"/>
          <p:cNvSpPr/>
          <p:nvPr/>
        </p:nvSpPr>
        <p:spPr>
          <a:xfrm>
            <a:off x="570533" y="1356047"/>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22</a:t>
            </a:r>
            <a:endParaRPr lang="en-US" sz="750" dirty="0"/>
          </a:p>
        </p:txBody>
      </p:sp>
      <p:sp>
        <p:nvSpPr>
          <p:cNvPr id="4" name="Text 2"/>
          <p:cNvSpPr/>
          <p:nvPr/>
        </p:nvSpPr>
        <p:spPr>
          <a:xfrm>
            <a:off x="496119" y="1601614"/>
            <a:ext cx="4078263"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Temporary Storage Example</a:t>
            </a:r>
            <a:endParaRPr lang="en-US" sz="2400" dirty="0"/>
          </a:p>
        </p:txBody>
      </p:sp>
      <p:sp>
        <p:nvSpPr>
          <p:cNvPr id="5" name="Text 3"/>
          <p:cNvSpPr/>
          <p:nvPr/>
        </p:nvSpPr>
        <p:spPr>
          <a:xfrm>
            <a:off x="496119" y="2175197"/>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Let's look at the simplest form of "storage" — a Python variable. This is what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in-memory state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looks like:</a:t>
            </a:r>
            <a:endParaRPr lang="en-US" sz="950" dirty="0"/>
          </a:p>
        </p:txBody>
      </p:sp>
      <p:sp>
        <p:nvSpPr>
          <p:cNvPr id="6" name="Shape 4"/>
          <p:cNvSpPr/>
          <p:nvPr/>
        </p:nvSpPr>
        <p:spPr>
          <a:xfrm>
            <a:off x="496119" y="2513186"/>
            <a:ext cx="8151763" cy="446410"/>
          </a:xfrm>
          <a:prstGeom prst="roundRect">
            <a:avLst>
              <a:gd name="adj" fmla="val 11671"/>
            </a:avLst>
          </a:prstGeom>
          <a:solidFill>
            <a:srgbClr val="F2F2F2"/>
          </a:solidFill>
          <a:ln/>
        </p:spPr>
      </p:sp>
      <p:sp>
        <p:nvSpPr>
          <p:cNvPr id="7" name="Shape 5"/>
          <p:cNvSpPr/>
          <p:nvPr/>
        </p:nvSpPr>
        <p:spPr>
          <a:xfrm>
            <a:off x="489942" y="2513186"/>
            <a:ext cx="8164116" cy="446410"/>
          </a:xfrm>
          <a:prstGeom prst="roundRect">
            <a:avLst>
              <a:gd name="adj" fmla="val 4168"/>
            </a:avLst>
          </a:prstGeom>
          <a:solidFill>
            <a:srgbClr val="F2F2F2"/>
          </a:solidFill>
          <a:ln/>
        </p:spPr>
      </p:sp>
      <p:sp>
        <p:nvSpPr>
          <p:cNvPr id="8" name="Text 6"/>
          <p:cNvSpPr/>
          <p:nvPr/>
        </p:nvSpPr>
        <p:spPr>
          <a:xfrm>
            <a:off x="644947" y="2637160"/>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counter = 0</a:t>
            </a:r>
            <a:endParaRPr lang="en-US" sz="950" dirty="0"/>
          </a:p>
        </p:txBody>
      </p:sp>
      <p:sp>
        <p:nvSpPr>
          <p:cNvPr id="9" name="Shape 7"/>
          <p:cNvSpPr/>
          <p:nvPr/>
        </p:nvSpPr>
        <p:spPr>
          <a:xfrm>
            <a:off x="496119" y="3099122"/>
            <a:ext cx="8151763" cy="725463"/>
          </a:xfrm>
          <a:prstGeom prst="roundRect">
            <a:avLst>
              <a:gd name="adj" fmla="val 7182"/>
            </a:avLst>
          </a:prstGeom>
          <a:solidFill>
            <a:srgbClr val="FCF2B5"/>
          </a:solidFill>
          <a:ln/>
        </p:spPr>
      </p:sp>
      <p:pic>
        <p:nvPicPr>
          <p:cNvPr id="10" name="Image 0" descr="preencoded.png">    </p:cNvPr>
          <p:cNvPicPr>
            <a:picLocks noChangeAspect="1"/>
          </p:cNvPicPr>
          <p:nvPr/>
        </p:nvPicPr>
        <p:blipFill>
          <a:blip r:embed="rId1"/>
          <a:stretch>
            <a:fillRect/>
          </a:stretch>
        </p:blipFill>
        <p:spPr>
          <a:xfrm>
            <a:off x="620092" y="3283669"/>
            <a:ext cx="155004" cy="123974"/>
          </a:xfrm>
          <a:prstGeom prst="rect">
            <a:avLst/>
          </a:prstGeom>
        </p:spPr>
      </p:pic>
      <p:sp>
        <p:nvSpPr>
          <p:cNvPr id="11" name="Text 8"/>
          <p:cNvSpPr/>
          <p:nvPr/>
        </p:nvSpPr>
        <p:spPr>
          <a:xfrm>
            <a:off x="899071" y="3254053"/>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variable lives entirely in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RAM</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It exists only while the Python process is running. The moment the server stops or crashes, this value is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permanently lost</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There is no file, no database — nothing saved to disk.</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96119" y="723454"/>
            <a:ext cx="545753" cy="233214"/>
          </a:xfrm>
          <a:prstGeom prst="roundRect">
            <a:avLst>
              <a:gd name="adj" fmla="val 17872"/>
            </a:avLst>
          </a:prstGeom>
          <a:solidFill>
            <a:srgbClr val="E1E1EA"/>
          </a:solidFill>
          <a:ln/>
        </p:spPr>
      </p:sp>
      <p:sp>
        <p:nvSpPr>
          <p:cNvPr id="3" name="Text 1"/>
          <p:cNvSpPr/>
          <p:nvPr/>
        </p:nvSpPr>
        <p:spPr>
          <a:xfrm>
            <a:off x="570533" y="76066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23</a:t>
            </a:r>
            <a:endParaRPr lang="en-US" sz="750" dirty="0"/>
          </a:p>
        </p:txBody>
      </p:sp>
      <p:sp>
        <p:nvSpPr>
          <p:cNvPr id="4" name="Text 2"/>
          <p:cNvSpPr/>
          <p:nvPr/>
        </p:nvSpPr>
        <p:spPr>
          <a:xfrm>
            <a:off x="496119" y="100622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Counter API</a:t>
            </a:r>
            <a:endParaRPr lang="en-US" sz="2400" dirty="0"/>
          </a:p>
        </p:txBody>
      </p:sp>
      <p:sp>
        <p:nvSpPr>
          <p:cNvPr id="5" name="Text 3"/>
          <p:cNvSpPr/>
          <p:nvPr/>
        </p:nvSpPr>
        <p:spPr>
          <a:xfrm>
            <a:off x="496119" y="1579811"/>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Let's build a simple counter endpoint to demonstrate in-memory state. Each request increments the counter and returns the new value:</a:t>
            </a:r>
            <a:endParaRPr lang="en-US" sz="950" dirty="0"/>
          </a:p>
        </p:txBody>
      </p:sp>
      <p:sp>
        <p:nvSpPr>
          <p:cNvPr id="6" name="Shape 4"/>
          <p:cNvSpPr/>
          <p:nvPr/>
        </p:nvSpPr>
        <p:spPr>
          <a:xfrm>
            <a:off x="496119" y="1917799"/>
            <a:ext cx="8151763" cy="1637184"/>
          </a:xfrm>
          <a:prstGeom prst="roundRect">
            <a:avLst>
              <a:gd name="adj" fmla="val 3182"/>
            </a:avLst>
          </a:prstGeom>
          <a:solidFill>
            <a:srgbClr val="F2F2F2"/>
          </a:solidFill>
          <a:ln/>
        </p:spPr>
      </p:sp>
      <p:sp>
        <p:nvSpPr>
          <p:cNvPr id="7" name="Shape 5"/>
          <p:cNvSpPr/>
          <p:nvPr/>
        </p:nvSpPr>
        <p:spPr>
          <a:xfrm>
            <a:off x="489942" y="1917799"/>
            <a:ext cx="8164116" cy="1637184"/>
          </a:xfrm>
          <a:prstGeom prst="roundRect">
            <a:avLst>
              <a:gd name="adj" fmla="val 1137"/>
            </a:avLst>
          </a:prstGeom>
          <a:solidFill>
            <a:srgbClr val="F2F2F2"/>
          </a:solidFill>
          <a:ln/>
        </p:spPr>
      </p:sp>
      <p:sp>
        <p:nvSpPr>
          <p:cNvPr id="8" name="Text 6"/>
          <p:cNvSpPr/>
          <p:nvPr/>
        </p:nvSpPr>
        <p:spPr>
          <a:xfrm>
            <a:off x="644947" y="2041773"/>
            <a:ext cx="7854107" cy="1389236"/>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counter = 0</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@app.get("/count")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def increment():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global counter</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counter += 1</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{"count": counter}</a:t>
            </a:r>
            <a:endParaRPr lang="en-US" sz="950" dirty="0"/>
          </a:p>
        </p:txBody>
      </p:sp>
      <p:sp>
        <p:nvSpPr>
          <p:cNvPr id="9" name="Shape 7"/>
          <p:cNvSpPr/>
          <p:nvPr/>
        </p:nvSpPr>
        <p:spPr>
          <a:xfrm>
            <a:off x="496119" y="3694509"/>
            <a:ext cx="8151763" cy="725463"/>
          </a:xfrm>
          <a:prstGeom prst="roundRect">
            <a:avLst>
              <a:gd name="adj" fmla="val 7182"/>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879056"/>
            <a:ext cx="155004" cy="123974"/>
          </a:xfrm>
          <a:prstGeom prst="rect">
            <a:avLst/>
          </a:prstGeom>
        </p:spPr>
      </p:pic>
      <p:sp>
        <p:nvSpPr>
          <p:cNvPr id="11" name="Text 8"/>
          <p:cNvSpPr/>
          <p:nvPr/>
        </p:nvSpPr>
        <p:spPr>
          <a:xfrm>
            <a:off x="899071" y="3849439"/>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works correctly</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while the server is running. Hit the endpoint five times and get back 1, 2, 3, 4, 5. But what happens when you restart the server?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945109"/>
            <a:ext cx="545753" cy="233214"/>
          </a:xfrm>
          <a:prstGeom prst="roundRect">
            <a:avLst>
              <a:gd name="adj" fmla="val 17872"/>
            </a:avLst>
          </a:prstGeom>
          <a:solidFill>
            <a:srgbClr val="E1E1EA"/>
          </a:solidFill>
          <a:ln/>
        </p:spPr>
      </p:sp>
      <p:sp>
        <p:nvSpPr>
          <p:cNvPr id="5" name="Text 2"/>
          <p:cNvSpPr/>
          <p:nvPr/>
        </p:nvSpPr>
        <p:spPr>
          <a:xfrm>
            <a:off x="570533" y="198231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24</a:t>
            </a:r>
            <a:endParaRPr lang="en-US" sz="750" dirty="0"/>
          </a:p>
        </p:txBody>
      </p:sp>
      <p:sp>
        <p:nvSpPr>
          <p:cNvPr id="6" name="Text 3"/>
          <p:cNvSpPr/>
          <p:nvPr/>
        </p:nvSpPr>
        <p:spPr>
          <a:xfrm>
            <a:off x="1306934" y="2227883"/>
            <a:ext cx="3101132" cy="387548"/>
          </a:xfrm>
          <a:prstGeom prst="rect">
            <a:avLst/>
          </a:prstGeom>
          <a:noFill/>
          <a:ln/>
        </p:spPr>
        <p:txBody>
          <a:bodyPr wrap="none" lIns="0" tIns="0" rIns="0" bIns="0" rtlCol="0" anchor="t"/>
          <a:lstStyle/>
          <a:p>
            <a:pPr algn="ctr"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7" name="Text 4"/>
          <p:cNvSpPr/>
          <p:nvPr/>
        </p:nvSpPr>
        <p:spPr>
          <a:xfrm>
            <a:off x="496119" y="2801466"/>
            <a:ext cx="4722763" cy="396925"/>
          </a:xfrm>
          <a:prstGeom prst="rect">
            <a:avLst/>
          </a:prstGeom>
          <a:noFill/>
          <a:ln/>
        </p:spPr>
        <p:txBody>
          <a:bodyPr wrap="square" lIns="0" tIns="0" rIns="0" bIns="0" rtlCol="0" anchor="t"/>
          <a:lstStyle/>
          <a:p>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Let's run the counter API live — observe it incrementing correctly, then restart the server and watch what happens to the stored value.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96119" y="1235869"/>
            <a:ext cx="545753" cy="233214"/>
          </a:xfrm>
          <a:prstGeom prst="roundRect">
            <a:avLst>
              <a:gd name="adj" fmla="val 17872"/>
            </a:avLst>
          </a:prstGeom>
          <a:solidFill>
            <a:srgbClr val="E1E1EA"/>
          </a:solidFill>
          <a:ln/>
        </p:spPr>
      </p:sp>
      <p:sp>
        <p:nvSpPr>
          <p:cNvPr id="3" name="Text 1"/>
          <p:cNvSpPr/>
          <p:nvPr/>
        </p:nvSpPr>
        <p:spPr>
          <a:xfrm>
            <a:off x="570533" y="127307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25</a:t>
            </a:r>
            <a:endParaRPr lang="en-US" sz="750" dirty="0"/>
          </a:p>
        </p:txBody>
      </p:sp>
      <p:sp>
        <p:nvSpPr>
          <p:cNvPr id="4" name="Text 2"/>
          <p:cNvSpPr/>
          <p:nvPr/>
        </p:nvSpPr>
        <p:spPr>
          <a:xfrm>
            <a:off x="496119" y="1518642"/>
            <a:ext cx="4150221"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Happens After Restart?</a:t>
            </a:r>
            <a:endParaRPr lang="en-US" sz="2400" dirty="0"/>
          </a:p>
        </p:txBody>
      </p:sp>
      <p:sp>
        <p:nvSpPr>
          <p:cNvPr id="5" name="Shape 3"/>
          <p:cNvSpPr/>
          <p:nvPr/>
        </p:nvSpPr>
        <p:spPr>
          <a:xfrm>
            <a:off x="406822" y="2092226"/>
            <a:ext cx="4103191" cy="950342"/>
          </a:xfrm>
          <a:prstGeom prst="roundRect">
            <a:avLst>
              <a:gd name="adj" fmla="val 9398"/>
            </a:avLst>
          </a:prstGeom>
          <a:solidFill>
            <a:srgbClr val="1B1B27">
              <a:alpha val="95000"/>
            </a:srgbClr>
          </a:solidFill>
          <a:ln/>
        </p:spPr>
      </p:sp>
      <p:sp>
        <p:nvSpPr>
          <p:cNvPr id="6" name="Text 4"/>
          <p:cNvSpPr/>
          <p:nvPr/>
        </p:nvSpPr>
        <p:spPr>
          <a:xfrm>
            <a:off x="530796" y="221620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Before Restart</a:t>
            </a:r>
            <a:endParaRPr lang="en-US" sz="1200" dirty="0"/>
          </a:p>
        </p:txBody>
      </p:sp>
      <p:sp>
        <p:nvSpPr>
          <p:cNvPr id="7" name="Text 5"/>
          <p:cNvSpPr/>
          <p:nvPr/>
        </p:nvSpPr>
        <p:spPr>
          <a:xfrm>
            <a:off x="530796" y="2534022"/>
            <a:ext cx="3855244" cy="396925"/>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Counter is at </a:t>
            </a:r>
            <a:pPr algn="l" indent="0" marL="0">
              <a:lnSpc>
                <a:spcPts val="1550"/>
              </a:lnSpc>
              <a:buNone/>
            </a:pPr>
            <a:r>
              <a:rPr lang="en-US" sz="950" b="1" dirty="0">
                <a:solidFill>
                  <a:srgbClr val="FFFFFF"/>
                </a:solidFill>
                <a:latin typeface="Roboto" pitchFamily="34" charset="0"/>
                <a:ea typeface="Roboto" pitchFamily="34" charset="-122"/>
                <a:cs typeface="Roboto" pitchFamily="34" charset="-120"/>
              </a:rPr>
              <a:t>42</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after many requests. Everything looks fine while the server is running.</a:t>
            </a:r>
            <a:endParaRPr lang="en-US" sz="950" dirty="0"/>
          </a:p>
        </p:txBody>
      </p:sp>
      <p:sp>
        <p:nvSpPr>
          <p:cNvPr id="8" name="Text 6"/>
          <p:cNvSpPr/>
          <p:nvPr/>
        </p:nvSpPr>
        <p:spPr>
          <a:xfrm>
            <a:off x="4728046" y="221620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After Restart</a:t>
            </a:r>
            <a:endParaRPr lang="en-US" sz="1200" dirty="0"/>
          </a:p>
        </p:txBody>
      </p:sp>
      <p:sp>
        <p:nvSpPr>
          <p:cNvPr id="9" name="Text 7"/>
          <p:cNvSpPr/>
          <p:nvPr/>
        </p:nvSpPr>
        <p:spPr>
          <a:xfrm>
            <a:off x="4728046" y="2534022"/>
            <a:ext cx="392459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Counter resets to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0</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All accumulated state is gone — as if those 42 requests never happened.</a:t>
            </a:r>
            <a:endParaRPr lang="en-US" sz="950" dirty="0"/>
          </a:p>
        </p:txBody>
      </p:sp>
      <p:sp>
        <p:nvSpPr>
          <p:cNvPr id="10" name="Shape 8"/>
          <p:cNvSpPr/>
          <p:nvPr/>
        </p:nvSpPr>
        <p:spPr>
          <a:xfrm>
            <a:off x="496119" y="3182094"/>
            <a:ext cx="8151763" cy="725463"/>
          </a:xfrm>
          <a:prstGeom prst="roundRect">
            <a:avLst>
              <a:gd name="adj" fmla="val 7182"/>
            </a:avLst>
          </a:prstGeom>
          <a:solidFill>
            <a:srgbClr val="FCF2B5"/>
          </a:solidFill>
          <a:ln/>
        </p:spPr>
      </p:sp>
      <p:pic>
        <p:nvPicPr>
          <p:cNvPr id="11" name="Image 0" descr="preencoded.png">    </p:cNvPr>
          <p:cNvPicPr>
            <a:picLocks noChangeAspect="1"/>
          </p:cNvPicPr>
          <p:nvPr/>
        </p:nvPicPr>
        <p:blipFill>
          <a:blip r:embed="rId1"/>
          <a:stretch>
            <a:fillRect/>
          </a:stretch>
        </p:blipFill>
        <p:spPr>
          <a:xfrm>
            <a:off x="620092" y="3366641"/>
            <a:ext cx="155004" cy="123974"/>
          </a:xfrm>
          <a:prstGeom prst="rect">
            <a:avLst/>
          </a:prstGeom>
        </p:spPr>
      </p:pic>
      <p:sp>
        <p:nvSpPr>
          <p:cNvPr id="12" name="Text 9"/>
          <p:cNvSpPr/>
          <p:nvPr/>
        </p:nvSpPr>
        <p:spPr>
          <a:xfrm>
            <a:off x="899071" y="3337024"/>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is not a bug — it's the expected behavior of in-memory variables. RAM is cleared when a process ends. This is why production systems never rely on variables alone for important data.</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96119" y="1305223"/>
            <a:ext cx="545753" cy="233214"/>
          </a:xfrm>
          <a:prstGeom prst="roundRect">
            <a:avLst>
              <a:gd name="adj" fmla="val 17872"/>
            </a:avLst>
          </a:prstGeom>
          <a:solidFill>
            <a:srgbClr val="E1E1EA"/>
          </a:solidFill>
          <a:ln/>
        </p:spPr>
      </p:sp>
      <p:sp>
        <p:nvSpPr>
          <p:cNvPr id="3" name="Text 1"/>
          <p:cNvSpPr/>
          <p:nvPr/>
        </p:nvSpPr>
        <p:spPr>
          <a:xfrm>
            <a:off x="570533" y="1342430"/>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26</a:t>
            </a:r>
            <a:endParaRPr lang="en-US" sz="750" dirty="0"/>
          </a:p>
        </p:txBody>
      </p:sp>
      <p:sp>
        <p:nvSpPr>
          <p:cNvPr id="4" name="Text 2"/>
          <p:cNvSpPr/>
          <p:nvPr/>
        </p:nvSpPr>
        <p:spPr>
          <a:xfrm>
            <a:off x="496119" y="158799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Why Did It Reset?</a:t>
            </a:r>
            <a:endParaRPr lang="en-US" sz="2400" dirty="0"/>
          </a:p>
        </p:txBody>
      </p:sp>
      <p:sp>
        <p:nvSpPr>
          <p:cNvPr id="5" name="Text 3"/>
          <p:cNvSpPr/>
          <p:nvPr/>
        </p:nvSpPr>
        <p:spPr>
          <a:xfrm>
            <a:off x="496119" y="216158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answer lies in how computers work. When a Python process starts, it allocates space in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RAM</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to hold all variables. When that process ends — by restart, crash, or shutdown — that memory is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released and cleared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6" name="Shape 4"/>
          <p:cNvSpPr/>
          <p:nvPr/>
        </p:nvSpPr>
        <p:spPr>
          <a:xfrm>
            <a:off x="496119" y="2698031"/>
            <a:ext cx="4013895" cy="1140172"/>
          </a:xfrm>
          <a:prstGeom prst="roundRect">
            <a:avLst>
              <a:gd name="adj" fmla="val 6015"/>
            </a:avLst>
          </a:prstGeom>
          <a:solidFill>
            <a:srgbClr val="FFFFFF">
              <a:alpha val="95000"/>
            </a:srgbClr>
          </a:solidFill>
          <a:ln w="14288">
            <a:solidFill>
              <a:srgbClr val="C7C7D0"/>
            </a:solidFill>
            <a:prstDash val="solid"/>
          </a:ln>
        </p:spPr>
      </p:sp>
      <p:sp>
        <p:nvSpPr>
          <p:cNvPr id="7" name="Shape 5"/>
          <p:cNvSpPr/>
          <p:nvPr/>
        </p:nvSpPr>
        <p:spPr>
          <a:xfrm>
            <a:off x="481831" y="2698031"/>
            <a:ext cx="57150" cy="1140172"/>
          </a:xfrm>
          <a:prstGeom prst="roundRect">
            <a:avLst>
              <a:gd name="adj" fmla="val 91163"/>
            </a:avLst>
          </a:prstGeom>
          <a:solidFill>
            <a:srgbClr val="1B1B27"/>
          </a:solidFill>
          <a:ln/>
        </p:spPr>
      </p:sp>
      <p:sp>
        <p:nvSpPr>
          <p:cNvPr id="8" name="Text 6"/>
          <p:cNvSpPr/>
          <p:nvPr/>
        </p:nvSpPr>
        <p:spPr>
          <a:xfrm>
            <a:off x="677242" y="2836292"/>
            <a:ext cx="2252588"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RAM (Random Access Memory)</a:t>
            </a:r>
            <a:endParaRPr lang="en-US" sz="1200" dirty="0"/>
          </a:p>
        </p:txBody>
      </p:sp>
      <p:sp>
        <p:nvSpPr>
          <p:cNvPr id="9" name="Text 7"/>
          <p:cNvSpPr/>
          <p:nvPr/>
        </p:nvSpPr>
        <p:spPr>
          <a:xfrm>
            <a:off x="677242" y="3104555"/>
            <a:ext cx="3694509"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Extremely fast but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volatile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 contents are lost when power is removed or the process ends. Great for speed, terrible for persistence.</a:t>
            </a:r>
            <a:endParaRPr lang="en-US" sz="950" dirty="0"/>
          </a:p>
        </p:txBody>
      </p:sp>
      <p:sp>
        <p:nvSpPr>
          <p:cNvPr id="10" name="Shape 8"/>
          <p:cNvSpPr/>
          <p:nvPr/>
        </p:nvSpPr>
        <p:spPr>
          <a:xfrm>
            <a:off x="4633987" y="2698031"/>
            <a:ext cx="4013895" cy="1140172"/>
          </a:xfrm>
          <a:prstGeom prst="roundRect">
            <a:avLst>
              <a:gd name="adj" fmla="val 6015"/>
            </a:avLst>
          </a:prstGeom>
          <a:solidFill>
            <a:srgbClr val="FFFFFF">
              <a:alpha val="95000"/>
            </a:srgbClr>
          </a:solidFill>
          <a:ln w="14288">
            <a:solidFill>
              <a:srgbClr val="C7C7D0"/>
            </a:solidFill>
            <a:prstDash val="solid"/>
          </a:ln>
        </p:spPr>
      </p:sp>
      <p:sp>
        <p:nvSpPr>
          <p:cNvPr id="11" name="Shape 9"/>
          <p:cNvSpPr/>
          <p:nvPr/>
        </p:nvSpPr>
        <p:spPr>
          <a:xfrm>
            <a:off x="4619699" y="2698031"/>
            <a:ext cx="57150" cy="1140172"/>
          </a:xfrm>
          <a:prstGeom prst="roundRect">
            <a:avLst>
              <a:gd name="adj" fmla="val 91163"/>
            </a:avLst>
          </a:prstGeom>
          <a:solidFill>
            <a:srgbClr val="1B1B27"/>
          </a:solidFill>
          <a:ln/>
        </p:spPr>
      </p:sp>
      <p:sp>
        <p:nvSpPr>
          <p:cNvPr id="12" name="Text 10"/>
          <p:cNvSpPr/>
          <p:nvPr/>
        </p:nvSpPr>
        <p:spPr>
          <a:xfrm>
            <a:off x="4815111" y="283629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Disk Storage</a:t>
            </a:r>
            <a:endParaRPr lang="en-US" sz="1200" dirty="0"/>
          </a:p>
        </p:txBody>
      </p:sp>
      <p:sp>
        <p:nvSpPr>
          <p:cNvPr id="13" name="Text 11"/>
          <p:cNvSpPr/>
          <p:nvPr/>
        </p:nvSpPr>
        <p:spPr>
          <a:xfrm>
            <a:off x="4815111" y="3104555"/>
            <a:ext cx="3694509"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Slower than RAM but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non-volatile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 data survives restarts, crashes, and power loss. This is where databases and files live.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96119" y="1068214"/>
            <a:ext cx="545753" cy="233214"/>
          </a:xfrm>
          <a:prstGeom prst="roundRect">
            <a:avLst>
              <a:gd name="adj" fmla="val 17872"/>
            </a:avLst>
          </a:prstGeom>
          <a:solidFill>
            <a:srgbClr val="E1E1EA"/>
          </a:solidFill>
          <a:ln/>
        </p:spPr>
      </p:sp>
      <p:sp>
        <p:nvSpPr>
          <p:cNvPr id="3" name="Text 1"/>
          <p:cNvSpPr/>
          <p:nvPr/>
        </p:nvSpPr>
        <p:spPr>
          <a:xfrm>
            <a:off x="570533" y="110542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27</a:t>
            </a:r>
            <a:endParaRPr lang="en-US" sz="750" dirty="0"/>
          </a:p>
        </p:txBody>
      </p:sp>
      <p:sp>
        <p:nvSpPr>
          <p:cNvPr id="4" name="Text 2"/>
          <p:cNvSpPr/>
          <p:nvPr/>
        </p:nvSpPr>
        <p:spPr>
          <a:xfrm>
            <a:off x="496119" y="135098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CSV vs Memory</a:t>
            </a:r>
            <a:endParaRPr lang="en-US" sz="2400" dirty="0"/>
          </a:p>
        </p:txBody>
      </p:sp>
      <p:sp>
        <p:nvSpPr>
          <p:cNvPr id="5" name="Text 3"/>
          <p:cNvSpPr/>
          <p:nvPr/>
        </p:nvSpPr>
        <p:spPr>
          <a:xfrm>
            <a:off x="496119" y="1924571"/>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Here's the core tradeoff every backend developer must understand:</a:t>
            </a:r>
            <a:endParaRPr lang="en-US" sz="950" dirty="0"/>
          </a:p>
        </p:txBody>
      </p:sp>
      <p:sp>
        <p:nvSpPr>
          <p:cNvPr id="6" name="Shape 4"/>
          <p:cNvSpPr/>
          <p:nvPr/>
        </p:nvSpPr>
        <p:spPr>
          <a:xfrm>
            <a:off x="496119" y="2262560"/>
            <a:ext cx="8151763" cy="1812652"/>
          </a:xfrm>
          <a:prstGeom prst="roundRect">
            <a:avLst>
              <a:gd name="adj" fmla="val 2874"/>
            </a:avLst>
          </a:prstGeom>
          <a:noFill/>
          <a:ln w="4763">
            <a:solidFill>
              <a:srgbClr val="000000">
                <a:alpha val="8000"/>
              </a:srgbClr>
            </a:solidFill>
            <a:prstDash val="solid"/>
          </a:ln>
        </p:spPr>
      </p:sp>
      <p:sp>
        <p:nvSpPr>
          <p:cNvPr id="7" name="Text 5"/>
          <p:cNvSpPr/>
          <p:nvPr/>
        </p:nvSpPr>
        <p:spPr>
          <a:xfrm>
            <a:off x="625748" y="2346499"/>
            <a:ext cx="2463180"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Feature</a:t>
            </a:r>
            <a:endParaRPr lang="en-US" sz="950" dirty="0"/>
          </a:p>
        </p:txBody>
      </p:sp>
      <p:sp>
        <p:nvSpPr>
          <p:cNvPr id="8" name="Text 6"/>
          <p:cNvSpPr/>
          <p:nvPr/>
        </p:nvSpPr>
        <p:spPr>
          <a:xfrm>
            <a:off x="3341638" y="2346499"/>
            <a:ext cx="2460799"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In-Memory Variable</a:t>
            </a:r>
            <a:endParaRPr lang="en-US" sz="950" dirty="0"/>
          </a:p>
        </p:txBody>
      </p:sp>
      <p:sp>
        <p:nvSpPr>
          <p:cNvPr id="9" name="Text 7"/>
          <p:cNvSpPr/>
          <p:nvPr/>
        </p:nvSpPr>
        <p:spPr>
          <a:xfrm>
            <a:off x="6055147" y="2346499"/>
            <a:ext cx="2463180"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CSV File</a:t>
            </a:r>
            <a:endParaRPr lang="en-US" sz="950" dirty="0"/>
          </a:p>
        </p:txBody>
      </p:sp>
      <p:sp>
        <p:nvSpPr>
          <p:cNvPr id="10" name="Text 8"/>
          <p:cNvSpPr/>
          <p:nvPr/>
        </p:nvSpPr>
        <p:spPr>
          <a:xfrm>
            <a:off x="625748" y="2708077"/>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Speed</a:t>
            </a:r>
            <a:endParaRPr lang="en-US" sz="950" dirty="0"/>
          </a:p>
        </p:txBody>
      </p:sp>
      <p:sp>
        <p:nvSpPr>
          <p:cNvPr id="11" name="Text 9"/>
          <p:cNvSpPr/>
          <p:nvPr/>
        </p:nvSpPr>
        <p:spPr>
          <a:xfrm>
            <a:off x="3341638" y="2708077"/>
            <a:ext cx="2460799"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Very fast</a:t>
            </a:r>
            <a:endParaRPr lang="en-US" sz="950" dirty="0"/>
          </a:p>
        </p:txBody>
      </p:sp>
      <p:sp>
        <p:nvSpPr>
          <p:cNvPr id="12" name="Text 10"/>
          <p:cNvSpPr/>
          <p:nvPr/>
        </p:nvSpPr>
        <p:spPr>
          <a:xfrm>
            <a:off x="6055147" y="2708077"/>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Slower (disk I/O)</a:t>
            </a:r>
            <a:endParaRPr lang="en-US" sz="950" dirty="0"/>
          </a:p>
        </p:txBody>
      </p:sp>
      <p:sp>
        <p:nvSpPr>
          <p:cNvPr id="13" name="Text 11"/>
          <p:cNvSpPr/>
          <p:nvPr/>
        </p:nvSpPr>
        <p:spPr>
          <a:xfrm>
            <a:off x="625748" y="3069654"/>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Persistence</a:t>
            </a:r>
            <a:endParaRPr lang="en-US" sz="950" dirty="0"/>
          </a:p>
        </p:txBody>
      </p:sp>
      <p:sp>
        <p:nvSpPr>
          <p:cNvPr id="14" name="Text 12"/>
          <p:cNvSpPr/>
          <p:nvPr/>
        </p:nvSpPr>
        <p:spPr>
          <a:xfrm>
            <a:off x="3341638" y="3069654"/>
            <a:ext cx="2460799"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Lost on restart</a:t>
            </a:r>
            <a:endParaRPr lang="en-US" sz="950" dirty="0"/>
          </a:p>
        </p:txBody>
      </p:sp>
      <p:sp>
        <p:nvSpPr>
          <p:cNvPr id="15" name="Text 13"/>
          <p:cNvSpPr/>
          <p:nvPr/>
        </p:nvSpPr>
        <p:spPr>
          <a:xfrm>
            <a:off x="6055147" y="3069654"/>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Survives restart</a:t>
            </a:r>
            <a:endParaRPr lang="en-US" sz="950" dirty="0"/>
          </a:p>
        </p:txBody>
      </p:sp>
      <p:sp>
        <p:nvSpPr>
          <p:cNvPr id="16" name="Text 14"/>
          <p:cNvSpPr/>
          <p:nvPr/>
        </p:nvSpPr>
        <p:spPr>
          <a:xfrm>
            <a:off x="625748" y="3431232"/>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Capacity</a:t>
            </a:r>
            <a:endParaRPr lang="en-US" sz="950" dirty="0"/>
          </a:p>
        </p:txBody>
      </p:sp>
      <p:sp>
        <p:nvSpPr>
          <p:cNvPr id="17" name="Text 15"/>
          <p:cNvSpPr/>
          <p:nvPr/>
        </p:nvSpPr>
        <p:spPr>
          <a:xfrm>
            <a:off x="3341638" y="3431232"/>
            <a:ext cx="2460799"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Limited by RAM</a:t>
            </a:r>
            <a:endParaRPr lang="en-US" sz="950" dirty="0"/>
          </a:p>
        </p:txBody>
      </p:sp>
      <p:sp>
        <p:nvSpPr>
          <p:cNvPr id="18" name="Text 16"/>
          <p:cNvSpPr/>
          <p:nvPr/>
        </p:nvSpPr>
        <p:spPr>
          <a:xfrm>
            <a:off x="6055147" y="3431232"/>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Limited by disk</a:t>
            </a:r>
            <a:endParaRPr lang="en-US" sz="950" dirty="0"/>
          </a:p>
        </p:txBody>
      </p:sp>
      <p:sp>
        <p:nvSpPr>
          <p:cNvPr id="19" name="Text 17"/>
          <p:cNvSpPr/>
          <p:nvPr/>
        </p:nvSpPr>
        <p:spPr>
          <a:xfrm>
            <a:off x="625748" y="3792810"/>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Use case</a:t>
            </a:r>
            <a:endParaRPr lang="en-US" sz="950" dirty="0"/>
          </a:p>
        </p:txBody>
      </p:sp>
      <p:sp>
        <p:nvSpPr>
          <p:cNvPr id="20" name="Text 18"/>
          <p:cNvSpPr/>
          <p:nvPr/>
        </p:nvSpPr>
        <p:spPr>
          <a:xfrm>
            <a:off x="3341638" y="3792810"/>
            <a:ext cx="2460799"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Temporary calculations</a:t>
            </a:r>
            <a:endParaRPr lang="en-US" sz="950" dirty="0"/>
          </a:p>
        </p:txBody>
      </p:sp>
      <p:sp>
        <p:nvSpPr>
          <p:cNvPr id="21" name="Text 19"/>
          <p:cNvSpPr/>
          <p:nvPr/>
        </p:nvSpPr>
        <p:spPr>
          <a:xfrm>
            <a:off x="6055147" y="3792810"/>
            <a:ext cx="246318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Persistent data storage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96119" y="1105719"/>
            <a:ext cx="545753" cy="233214"/>
          </a:xfrm>
          <a:prstGeom prst="roundRect">
            <a:avLst>
              <a:gd name="adj" fmla="val 17872"/>
            </a:avLst>
          </a:prstGeom>
          <a:solidFill>
            <a:srgbClr val="E1E1EA"/>
          </a:solidFill>
          <a:ln/>
        </p:spPr>
      </p:sp>
      <p:sp>
        <p:nvSpPr>
          <p:cNvPr id="3" name="Text 1"/>
          <p:cNvSpPr/>
          <p:nvPr/>
        </p:nvSpPr>
        <p:spPr>
          <a:xfrm>
            <a:off x="570533" y="114292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28</a:t>
            </a:r>
            <a:endParaRPr lang="en-US" sz="750" dirty="0"/>
          </a:p>
        </p:txBody>
      </p:sp>
      <p:sp>
        <p:nvSpPr>
          <p:cNvPr id="4" name="Text 2"/>
          <p:cNvSpPr/>
          <p:nvPr/>
        </p:nvSpPr>
        <p:spPr>
          <a:xfrm>
            <a:off x="496119" y="138849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Why Databases Exist</a:t>
            </a:r>
            <a:endParaRPr lang="en-US" sz="2400" dirty="0"/>
          </a:p>
        </p:txBody>
      </p:sp>
      <p:sp>
        <p:nvSpPr>
          <p:cNvPr id="5" name="Shape 3"/>
          <p:cNvSpPr/>
          <p:nvPr/>
        </p:nvSpPr>
        <p:spPr>
          <a:xfrm>
            <a:off x="406822" y="1962076"/>
            <a:ext cx="4103191" cy="1409179"/>
          </a:xfrm>
          <a:prstGeom prst="roundRect">
            <a:avLst>
              <a:gd name="adj" fmla="val 6338"/>
            </a:avLst>
          </a:prstGeom>
          <a:solidFill>
            <a:srgbClr val="1B1B27">
              <a:alpha val="95000"/>
            </a:srgbClr>
          </a:solidFill>
          <a:ln/>
        </p:spPr>
      </p:sp>
      <p:sp>
        <p:nvSpPr>
          <p:cNvPr id="6" name="Text 4"/>
          <p:cNvSpPr/>
          <p:nvPr/>
        </p:nvSpPr>
        <p:spPr>
          <a:xfrm>
            <a:off x="530796" y="2086049"/>
            <a:ext cx="1913260"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The Fundamental Problem</a:t>
            </a:r>
            <a:endParaRPr lang="en-US" sz="1200" dirty="0"/>
          </a:p>
        </p:txBody>
      </p:sp>
      <p:sp>
        <p:nvSpPr>
          <p:cNvPr id="7" name="Text 5"/>
          <p:cNvSpPr/>
          <p:nvPr/>
        </p:nvSpPr>
        <p:spPr>
          <a:xfrm>
            <a:off x="530796" y="2403872"/>
            <a:ext cx="3855244" cy="396925"/>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RAM is fast but temporary. Applications need storage that is </a:t>
            </a:r>
            <a:pPr algn="l" indent="0" marL="0">
              <a:lnSpc>
                <a:spcPts val="1550"/>
              </a:lnSpc>
              <a:buNone/>
            </a:pPr>
            <a:r>
              <a:rPr lang="en-US" sz="950" b="1" dirty="0">
                <a:solidFill>
                  <a:srgbClr val="FFFFFF"/>
                </a:solidFill>
                <a:latin typeface="Roboto" pitchFamily="34" charset="0"/>
                <a:ea typeface="Roboto" pitchFamily="34" charset="-122"/>
                <a:cs typeface="Roboto" pitchFamily="34" charset="-120"/>
              </a:rPr>
              <a:t>both reliable and permanent</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 data that outlives any single server process.</a:t>
            </a:r>
            <a:endParaRPr lang="en-US" sz="950" dirty="0"/>
          </a:p>
        </p:txBody>
      </p:sp>
      <p:sp>
        <p:nvSpPr>
          <p:cNvPr id="8" name="Text 6"/>
          <p:cNvSpPr/>
          <p:nvPr/>
        </p:nvSpPr>
        <p:spPr>
          <a:xfrm>
            <a:off x="4728046" y="2086049"/>
            <a:ext cx="2280121"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The Solution: Persistent Storage</a:t>
            </a:r>
            <a:endParaRPr lang="en-US" sz="1200" dirty="0"/>
          </a:p>
        </p:txBody>
      </p:sp>
      <p:sp>
        <p:nvSpPr>
          <p:cNvPr id="9" name="Text 7"/>
          <p:cNvSpPr/>
          <p:nvPr/>
        </p:nvSpPr>
        <p:spPr>
          <a:xfrm>
            <a:off x="4728046" y="2403872"/>
            <a:ext cx="3924598" cy="923999"/>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CSV files → great for learning</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SQLite → local file-based database</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PostgreSQL / MySQL → production databases</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All survive restarts and power loss</a:t>
            </a:r>
            <a:endParaRPr lang="en-US" sz="950" dirty="0"/>
          </a:p>
        </p:txBody>
      </p:sp>
      <p:sp>
        <p:nvSpPr>
          <p:cNvPr id="10" name="Shape 8"/>
          <p:cNvSpPr/>
          <p:nvPr/>
        </p:nvSpPr>
        <p:spPr>
          <a:xfrm>
            <a:off x="496119" y="3510781"/>
            <a:ext cx="8151763" cy="527000"/>
          </a:xfrm>
          <a:prstGeom prst="roundRect">
            <a:avLst>
              <a:gd name="adj" fmla="val 9886"/>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695328"/>
            <a:ext cx="155004" cy="123974"/>
          </a:xfrm>
          <a:prstGeom prst="rect">
            <a:avLst/>
          </a:prstGeom>
        </p:spPr>
      </p:pic>
      <p:sp>
        <p:nvSpPr>
          <p:cNvPr id="12" name="Text 9"/>
          <p:cNvSpPr/>
          <p:nvPr/>
        </p:nvSpPr>
        <p:spPr>
          <a:xfrm>
            <a:off x="899071" y="3665711"/>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CSV is our stepping stone. The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exact same concepts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apply when you move to a real database later in this course.</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96119" y="1599233"/>
            <a:ext cx="1471092" cy="242739"/>
          </a:xfrm>
          <a:prstGeom prst="roundRect">
            <a:avLst>
              <a:gd name="adj" fmla="val 17171"/>
            </a:avLst>
          </a:prstGeom>
          <a:noFill/>
          <a:ln w="4763">
            <a:solidFill>
              <a:srgbClr val="1B1B27"/>
            </a:solidFill>
            <a:prstDash val="solid"/>
          </a:ln>
        </p:spPr>
      </p:sp>
      <p:sp>
        <p:nvSpPr>
          <p:cNvPr id="3" name="Text 1"/>
          <p:cNvSpPr/>
          <p:nvPr/>
        </p:nvSpPr>
        <p:spPr>
          <a:xfrm>
            <a:off x="575295" y="1641202"/>
            <a:ext cx="1312738"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CRUD OPERATIONS</a:t>
            </a:r>
            <a:endParaRPr lang="en-US" sz="750" dirty="0"/>
          </a:p>
        </p:txBody>
      </p:sp>
      <p:sp>
        <p:nvSpPr>
          <p:cNvPr id="4" name="Text 2"/>
          <p:cNvSpPr/>
          <p:nvPr/>
        </p:nvSpPr>
        <p:spPr>
          <a:xfrm>
            <a:off x="496119" y="1891531"/>
            <a:ext cx="427955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CRUD</a:t>
            </a:r>
            <a:endParaRPr lang="en-US" sz="3350" dirty="0"/>
          </a:p>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Operations</a:t>
            </a:r>
            <a:endParaRPr lang="en-US" sz="3350" dirty="0"/>
          </a:p>
        </p:txBody>
      </p:sp>
      <p:sp>
        <p:nvSpPr>
          <p:cNvPr id="5" name="Text 3"/>
          <p:cNvSpPr/>
          <p:nvPr/>
        </p:nvSpPr>
        <p:spPr>
          <a:xfrm>
            <a:off x="496119" y="3147343"/>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four fundamental operations that every data-driven backend must support: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Create, Read, Update, Delete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We'll implement each one using FastAPI and pandas.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96119" y="692348"/>
            <a:ext cx="545753" cy="233214"/>
          </a:xfrm>
          <a:prstGeom prst="roundRect">
            <a:avLst>
              <a:gd name="adj" fmla="val 17872"/>
            </a:avLst>
          </a:prstGeom>
          <a:solidFill>
            <a:srgbClr val="E1E1EA"/>
          </a:solidFill>
          <a:ln/>
        </p:spPr>
      </p:sp>
      <p:sp>
        <p:nvSpPr>
          <p:cNvPr id="3" name="Text 1"/>
          <p:cNvSpPr/>
          <p:nvPr/>
        </p:nvSpPr>
        <p:spPr>
          <a:xfrm>
            <a:off x="570533" y="729555"/>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29</a:t>
            </a:r>
            <a:endParaRPr lang="en-US" sz="750" dirty="0"/>
          </a:p>
        </p:txBody>
      </p:sp>
      <p:sp>
        <p:nvSpPr>
          <p:cNvPr id="4" name="Text 2"/>
          <p:cNvSpPr/>
          <p:nvPr/>
        </p:nvSpPr>
        <p:spPr>
          <a:xfrm>
            <a:off x="496119" y="97512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CRUD Operations</a:t>
            </a:r>
            <a:endParaRPr lang="en-US" sz="2400" dirty="0"/>
          </a:p>
        </p:txBody>
      </p:sp>
      <p:sp>
        <p:nvSpPr>
          <p:cNvPr id="5" name="Text 3"/>
          <p:cNvSpPr/>
          <p:nvPr/>
        </p:nvSpPr>
        <p:spPr>
          <a:xfrm>
            <a:off x="496119" y="1548705"/>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CRUD is the backbone of every data-driven application. Every interaction a user has with stored data maps to one of these four operations:</a:t>
            </a:r>
            <a:endParaRPr lang="en-US" sz="950" dirty="0"/>
          </a:p>
        </p:txBody>
      </p:sp>
      <p:sp>
        <p:nvSpPr>
          <p:cNvPr id="6" name="Shape 4"/>
          <p:cNvSpPr/>
          <p:nvPr/>
        </p:nvSpPr>
        <p:spPr>
          <a:xfrm>
            <a:off x="496119" y="1886694"/>
            <a:ext cx="4013895" cy="1220242"/>
          </a:xfrm>
          <a:prstGeom prst="roundRect">
            <a:avLst>
              <a:gd name="adj" fmla="val 4270"/>
            </a:avLst>
          </a:prstGeom>
          <a:solidFill>
            <a:srgbClr val="E1E1EA"/>
          </a:solidFill>
          <a:ln w="4763">
            <a:solidFill>
              <a:srgbClr val="C7C7D0"/>
            </a:solidFill>
            <a:prstDash val="solid"/>
          </a:ln>
        </p:spPr>
      </p:sp>
      <p:sp>
        <p:nvSpPr>
          <p:cNvPr id="7" name="Shape 5"/>
          <p:cNvSpPr/>
          <p:nvPr/>
        </p:nvSpPr>
        <p:spPr>
          <a:xfrm>
            <a:off x="624855" y="2015430"/>
            <a:ext cx="372070" cy="372070"/>
          </a:xfrm>
          <a:prstGeom prst="roundRect">
            <a:avLst>
              <a:gd name="adj" fmla="val 15358477"/>
            </a:avLst>
          </a:prstGeom>
          <a:solidFill>
            <a:srgbClr val="1B1B27"/>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117675"/>
            <a:ext cx="167432" cy="167432"/>
          </a:xfrm>
          <a:prstGeom prst="rect">
            <a:avLst/>
          </a:prstGeom>
        </p:spPr>
      </p:pic>
      <p:sp>
        <p:nvSpPr>
          <p:cNvPr id="9" name="Text 6"/>
          <p:cNvSpPr/>
          <p:nvPr/>
        </p:nvSpPr>
        <p:spPr>
          <a:xfrm>
            <a:off x="624855" y="251147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Create</a:t>
            </a:r>
            <a:endParaRPr lang="en-US" sz="1200" dirty="0"/>
          </a:p>
        </p:txBody>
      </p:sp>
      <p:sp>
        <p:nvSpPr>
          <p:cNvPr id="10" name="Text 7"/>
          <p:cNvSpPr/>
          <p:nvPr/>
        </p:nvSpPr>
        <p:spPr>
          <a:xfrm>
            <a:off x="624855" y="2779737"/>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 new records to storage</a:t>
            </a:r>
            <a:endParaRPr lang="en-US" sz="950" dirty="0"/>
          </a:p>
        </p:txBody>
      </p:sp>
      <p:sp>
        <p:nvSpPr>
          <p:cNvPr id="11" name="Shape 8"/>
          <p:cNvSpPr/>
          <p:nvPr/>
        </p:nvSpPr>
        <p:spPr>
          <a:xfrm>
            <a:off x="4633987" y="1886694"/>
            <a:ext cx="4013895" cy="1220242"/>
          </a:xfrm>
          <a:prstGeom prst="roundRect">
            <a:avLst>
              <a:gd name="adj" fmla="val 4270"/>
            </a:avLst>
          </a:prstGeom>
          <a:solidFill>
            <a:srgbClr val="E1E1EA"/>
          </a:solidFill>
          <a:ln w="4763">
            <a:solidFill>
              <a:srgbClr val="C7C7D0"/>
            </a:solidFill>
            <a:prstDash val="solid"/>
          </a:ln>
        </p:spPr>
      </p:sp>
      <p:sp>
        <p:nvSpPr>
          <p:cNvPr id="12" name="Shape 9"/>
          <p:cNvSpPr/>
          <p:nvPr/>
        </p:nvSpPr>
        <p:spPr>
          <a:xfrm>
            <a:off x="4762723" y="2015430"/>
            <a:ext cx="372070" cy="372070"/>
          </a:xfrm>
          <a:prstGeom prst="roundRect">
            <a:avLst>
              <a:gd name="adj" fmla="val 15358477"/>
            </a:avLst>
          </a:prstGeom>
          <a:solidFill>
            <a:srgbClr val="1B1B27"/>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5043" y="2117675"/>
            <a:ext cx="167432" cy="167432"/>
          </a:xfrm>
          <a:prstGeom prst="rect">
            <a:avLst/>
          </a:prstGeom>
        </p:spPr>
      </p:pic>
      <p:sp>
        <p:nvSpPr>
          <p:cNvPr id="14" name="Text 10"/>
          <p:cNvSpPr/>
          <p:nvPr/>
        </p:nvSpPr>
        <p:spPr>
          <a:xfrm>
            <a:off x="4762723" y="251147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Read</a:t>
            </a:r>
            <a:endParaRPr lang="en-US" sz="1200" dirty="0"/>
          </a:p>
        </p:txBody>
      </p:sp>
      <p:sp>
        <p:nvSpPr>
          <p:cNvPr id="15" name="Text 11"/>
          <p:cNvSpPr/>
          <p:nvPr/>
        </p:nvSpPr>
        <p:spPr>
          <a:xfrm>
            <a:off x="4762723" y="2779737"/>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Retrieve existing records</a:t>
            </a:r>
            <a:endParaRPr lang="en-US" sz="950" dirty="0"/>
          </a:p>
        </p:txBody>
      </p:sp>
      <p:sp>
        <p:nvSpPr>
          <p:cNvPr id="16" name="Shape 12"/>
          <p:cNvSpPr/>
          <p:nvPr/>
        </p:nvSpPr>
        <p:spPr>
          <a:xfrm>
            <a:off x="496119" y="3230910"/>
            <a:ext cx="4013895" cy="1220242"/>
          </a:xfrm>
          <a:prstGeom prst="roundRect">
            <a:avLst>
              <a:gd name="adj" fmla="val 4270"/>
            </a:avLst>
          </a:prstGeom>
          <a:solidFill>
            <a:srgbClr val="E1E1EA"/>
          </a:solidFill>
          <a:ln w="4763">
            <a:solidFill>
              <a:srgbClr val="C7C7D0"/>
            </a:solidFill>
            <a:prstDash val="solid"/>
          </a:ln>
        </p:spPr>
      </p:sp>
      <p:sp>
        <p:nvSpPr>
          <p:cNvPr id="17" name="Shape 13"/>
          <p:cNvSpPr/>
          <p:nvPr/>
        </p:nvSpPr>
        <p:spPr>
          <a:xfrm>
            <a:off x="624855" y="3359646"/>
            <a:ext cx="372070" cy="372070"/>
          </a:xfrm>
          <a:prstGeom prst="roundRect">
            <a:avLst>
              <a:gd name="adj" fmla="val 15358477"/>
            </a:avLst>
          </a:prstGeom>
          <a:solidFill>
            <a:srgbClr val="1B1B27"/>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174" y="3461891"/>
            <a:ext cx="167432" cy="167432"/>
          </a:xfrm>
          <a:prstGeom prst="rect">
            <a:avLst/>
          </a:prstGeom>
        </p:spPr>
      </p:pic>
      <p:sp>
        <p:nvSpPr>
          <p:cNvPr id="19" name="Text 14"/>
          <p:cNvSpPr/>
          <p:nvPr/>
        </p:nvSpPr>
        <p:spPr>
          <a:xfrm>
            <a:off x="624855" y="385569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Update</a:t>
            </a:r>
            <a:endParaRPr lang="en-US" sz="1200" dirty="0"/>
          </a:p>
        </p:txBody>
      </p:sp>
      <p:sp>
        <p:nvSpPr>
          <p:cNvPr id="20" name="Text 15"/>
          <p:cNvSpPr/>
          <p:nvPr/>
        </p:nvSpPr>
        <p:spPr>
          <a:xfrm>
            <a:off x="624855" y="4123953"/>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Modify existing records</a:t>
            </a:r>
            <a:endParaRPr lang="en-US" sz="950" dirty="0"/>
          </a:p>
        </p:txBody>
      </p:sp>
      <p:sp>
        <p:nvSpPr>
          <p:cNvPr id="21" name="Shape 16"/>
          <p:cNvSpPr/>
          <p:nvPr/>
        </p:nvSpPr>
        <p:spPr>
          <a:xfrm>
            <a:off x="4633987" y="3230910"/>
            <a:ext cx="4013895" cy="1220242"/>
          </a:xfrm>
          <a:prstGeom prst="roundRect">
            <a:avLst>
              <a:gd name="adj" fmla="val 4270"/>
            </a:avLst>
          </a:prstGeom>
          <a:solidFill>
            <a:srgbClr val="E1E1EA"/>
          </a:solidFill>
          <a:ln w="4763">
            <a:solidFill>
              <a:srgbClr val="C7C7D0"/>
            </a:solidFill>
            <a:prstDash val="solid"/>
          </a:ln>
        </p:spPr>
      </p:sp>
      <p:sp>
        <p:nvSpPr>
          <p:cNvPr id="22" name="Shape 17"/>
          <p:cNvSpPr/>
          <p:nvPr/>
        </p:nvSpPr>
        <p:spPr>
          <a:xfrm>
            <a:off x="4762723" y="3359646"/>
            <a:ext cx="372070" cy="372070"/>
          </a:xfrm>
          <a:prstGeom prst="roundRect">
            <a:avLst>
              <a:gd name="adj" fmla="val 15358477"/>
            </a:avLst>
          </a:prstGeom>
          <a:solidFill>
            <a:srgbClr val="1B1B27"/>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5043" y="3461891"/>
            <a:ext cx="167432" cy="167432"/>
          </a:xfrm>
          <a:prstGeom prst="rect">
            <a:avLst/>
          </a:prstGeom>
        </p:spPr>
      </p:pic>
      <p:sp>
        <p:nvSpPr>
          <p:cNvPr id="24" name="Text 18"/>
          <p:cNvSpPr/>
          <p:nvPr/>
        </p:nvSpPr>
        <p:spPr>
          <a:xfrm>
            <a:off x="4762723" y="385569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Delete</a:t>
            </a:r>
            <a:endParaRPr lang="en-US" sz="1200" dirty="0"/>
          </a:p>
        </p:txBody>
      </p:sp>
      <p:sp>
        <p:nvSpPr>
          <p:cNvPr id="25" name="Text 19"/>
          <p:cNvSpPr/>
          <p:nvPr/>
        </p:nvSpPr>
        <p:spPr>
          <a:xfrm>
            <a:off x="4762723" y="4123953"/>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Remove records permanently</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96119" y="1249784"/>
            <a:ext cx="545753" cy="233214"/>
          </a:xfrm>
          <a:prstGeom prst="roundRect">
            <a:avLst>
              <a:gd name="adj" fmla="val 17872"/>
            </a:avLst>
          </a:prstGeom>
          <a:solidFill>
            <a:srgbClr val="E1E1EA"/>
          </a:solidFill>
          <a:ln/>
        </p:spPr>
      </p:sp>
      <p:sp>
        <p:nvSpPr>
          <p:cNvPr id="3" name="Text 1"/>
          <p:cNvSpPr/>
          <p:nvPr/>
        </p:nvSpPr>
        <p:spPr>
          <a:xfrm>
            <a:off x="570533" y="128699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30</a:t>
            </a:r>
            <a:endParaRPr lang="en-US" sz="750" dirty="0"/>
          </a:p>
        </p:txBody>
      </p:sp>
      <p:sp>
        <p:nvSpPr>
          <p:cNvPr id="4" name="Text 2"/>
          <p:cNvSpPr/>
          <p:nvPr/>
        </p:nvSpPr>
        <p:spPr>
          <a:xfrm>
            <a:off x="496119" y="1532558"/>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READ Operation</a:t>
            </a:r>
            <a:endParaRPr lang="en-US" sz="2400" dirty="0"/>
          </a:p>
        </p:txBody>
      </p:sp>
      <p:sp>
        <p:nvSpPr>
          <p:cNvPr id="5" name="Text 3"/>
          <p:cNvSpPr/>
          <p:nvPr/>
        </p:nvSpPr>
        <p:spPr>
          <a:xfrm>
            <a:off x="496119" y="210614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READ operation retrieves stored data and returns it to the client. It's the most common operation in any API — users constantly request to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view</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information.</a:t>
            </a:r>
            <a:endParaRPr lang="en-US" sz="950" dirty="0"/>
          </a:p>
        </p:txBody>
      </p:sp>
      <p:sp>
        <p:nvSpPr>
          <p:cNvPr id="6" name="Shape 4"/>
          <p:cNvSpPr/>
          <p:nvPr/>
        </p:nvSpPr>
        <p:spPr>
          <a:xfrm>
            <a:off x="496119" y="2642592"/>
            <a:ext cx="8151763" cy="446410"/>
          </a:xfrm>
          <a:prstGeom prst="roundRect">
            <a:avLst>
              <a:gd name="adj" fmla="val 11671"/>
            </a:avLst>
          </a:prstGeom>
          <a:solidFill>
            <a:srgbClr val="F2F2F2"/>
          </a:solidFill>
          <a:ln/>
        </p:spPr>
      </p:sp>
      <p:sp>
        <p:nvSpPr>
          <p:cNvPr id="7" name="Shape 5"/>
          <p:cNvSpPr/>
          <p:nvPr/>
        </p:nvSpPr>
        <p:spPr>
          <a:xfrm>
            <a:off x="489942" y="2642592"/>
            <a:ext cx="8164116" cy="446410"/>
          </a:xfrm>
          <a:prstGeom prst="roundRect">
            <a:avLst>
              <a:gd name="adj" fmla="val 4168"/>
            </a:avLst>
          </a:prstGeom>
          <a:solidFill>
            <a:srgbClr val="F2F2F2"/>
          </a:solidFill>
          <a:ln/>
        </p:spPr>
      </p:sp>
      <p:sp>
        <p:nvSpPr>
          <p:cNvPr id="8" name="Text 6"/>
          <p:cNvSpPr/>
          <p:nvPr/>
        </p:nvSpPr>
        <p:spPr>
          <a:xfrm>
            <a:off x="644947" y="2766566"/>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 /items</a:t>
            </a:r>
            <a:endParaRPr lang="en-US" sz="9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2627" y="3232324"/>
            <a:ext cx="186035" cy="186035"/>
          </a:xfrm>
          <a:prstGeom prst="rect">
            <a:avLst/>
          </a:prstGeom>
        </p:spPr>
      </p:pic>
      <p:sp>
        <p:nvSpPr>
          <p:cNvPr id="10" name="Text 7"/>
          <p:cNvSpPr/>
          <p:nvPr/>
        </p:nvSpPr>
        <p:spPr>
          <a:xfrm>
            <a:off x="899145" y="3228529"/>
            <a:ext cx="1742554"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Client sends GET /items</a:t>
            </a:r>
            <a:endParaRPr lang="en-US" sz="1200" dirty="0"/>
          </a:p>
        </p:txBody>
      </p:sp>
      <p:sp>
        <p:nvSpPr>
          <p:cNvPr id="11" name="Text 8"/>
          <p:cNvSpPr/>
          <p:nvPr/>
        </p:nvSpPr>
        <p:spPr>
          <a:xfrm>
            <a:off x="899145" y="3496791"/>
            <a:ext cx="221084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An HTTP GET request arrives at the server</a:t>
            </a:r>
            <a:endParaRPr lang="en-US" sz="9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1500" y="3232324"/>
            <a:ext cx="186035" cy="186035"/>
          </a:xfrm>
          <a:prstGeom prst="rect">
            <a:avLst/>
          </a:prstGeom>
        </p:spPr>
      </p:pic>
      <p:sp>
        <p:nvSpPr>
          <p:cNvPr id="13" name="Text 9"/>
          <p:cNvSpPr/>
          <p:nvPr/>
        </p:nvSpPr>
        <p:spPr>
          <a:xfrm>
            <a:off x="3668018"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Backend reads CSV</a:t>
            </a:r>
            <a:endParaRPr lang="en-US" sz="1200" dirty="0"/>
          </a:p>
        </p:txBody>
      </p:sp>
      <p:sp>
        <p:nvSpPr>
          <p:cNvPr id="14" name="Text 10"/>
          <p:cNvSpPr/>
          <p:nvPr/>
        </p:nvSpPr>
        <p:spPr>
          <a:xfrm>
            <a:off x="3668018" y="3496791"/>
            <a:ext cx="2210916"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Pandas loads the file into a DataFrame</a:t>
            </a:r>
            <a:endParaRPr lang="en-US" sz="9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447" y="3232324"/>
            <a:ext cx="186035" cy="186035"/>
          </a:xfrm>
          <a:prstGeom prst="rect">
            <a:avLst/>
          </a:prstGeom>
        </p:spPr>
      </p:pic>
      <p:sp>
        <p:nvSpPr>
          <p:cNvPr id="16" name="Text 11"/>
          <p:cNvSpPr/>
          <p:nvPr/>
        </p:nvSpPr>
        <p:spPr>
          <a:xfrm>
            <a:off x="6436965" y="3228529"/>
            <a:ext cx="2005459"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Response returned as JSON</a:t>
            </a:r>
            <a:endParaRPr lang="en-US" sz="1200" dirty="0"/>
          </a:p>
        </p:txBody>
      </p:sp>
      <p:sp>
        <p:nvSpPr>
          <p:cNvPr id="17" name="Text 12"/>
          <p:cNvSpPr/>
          <p:nvPr/>
        </p:nvSpPr>
        <p:spPr>
          <a:xfrm>
            <a:off x="6436965" y="3496791"/>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All rows are converted to a list of dictionaries</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96119" y="1219646"/>
            <a:ext cx="545753" cy="233214"/>
          </a:xfrm>
          <a:prstGeom prst="roundRect">
            <a:avLst>
              <a:gd name="adj" fmla="val 17872"/>
            </a:avLst>
          </a:prstGeom>
          <a:solidFill>
            <a:srgbClr val="E1E1EA"/>
          </a:solidFill>
          <a:ln/>
        </p:spPr>
      </p:sp>
      <p:sp>
        <p:nvSpPr>
          <p:cNvPr id="3" name="Text 1"/>
          <p:cNvSpPr/>
          <p:nvPr/>
        </p:nvSpPr>
        <p:spPr>
          <a:xfrm>
            <a:off x="570533" y="1256854"/>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31</a:t>
            </a:r>
            <a:endParaRPr lang="en-US" sz="750" dirty="0"/>
          </a:p>
        </p:txBody>
      </p:sp>
      <p:sp>
        <p:nvSpPr>
          <p:cNvPr id="4" name="Text 2"/>
          <p:cNvSpPr/>
          <p:nvPr/>
        </p:nvSpPr>
        <p:spPr>
          <a:xfrm>
            <a:off x="496119" y="150242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CREATE Operation</a:t>
            </a:r>
            <a:endParaRPr lang="en-US" sz="2400" dirty="0"/>
          </a:p>
        </p:txBody>
      </p:sp>
      <p:sp>
        <p:nvSpPr>
          <p:cNvPr id="5" name="Text 3"/>
          <p:cNvSpPr/>
          <p:nvPr/>
        </p:nvSpPr>
        <p:spPr>
          <a:xfrm>
            <a:off x="496119" y="207600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CREATE operation adds a new item to storage. Clients send data in the request body via HTTP POST, and the backend saves it persistently to the CSV file.</a:t>
            </a:r>
            <a:endParaRPr lang="en-US" sz="950" dirty="0"/>
          </a:p>
        </p:txBody>
      </p:sp>
      <p:sp>
        <p:nvSpPr>
          <p:cNvPr id="6" name="Shape 4"/>
          <p:cNvSpPr/>
          <p:nvPr/>
        </p:nvSpPr>
        <p:spPr>
          <a:xfrm>
            <a:off x="496119" y="2612454"/>
            <a:ext cx="8151763" cy="446410"/>
          </a:xfrm>
          <a:prstGeom prst="roundRect">
            <a:avLst>
              <a:gd name="adj" fmla="val 11671"/>
            </a:avLst>
          </a:prstGeom>
          <a:solidFill>
            <a:srgbClr val="F2F2F2"/>
          </a:solidFill>
          <a:ln/>
        </p:spPr>
      </p:sp>
      <p:sp>
        <p:nvSpPr>
          <p:cNvPr id="7" name="Shape 5"/>
          <p:cNvSpPr/>
          <p:nvPr/>
        </p:nvSpPr>
        <p:spPr>
          <a:xfrm>
            <a:off x="489942" y="2612454"/>
            <a:ext cx="8164116" cy="446410"/>
          </a:xfrm>
          <a:prstGeom prst="roundRect">
            <a:avLst>
              <a:gd name="adj" fmla="val 4168"/>
            </a:avLst>
          </a:prstGeom>
          <a:solidFill>
            <a:srgbClr val="F2F2F2"/>
          </a:solidFill>
          <a:ln/>
        </p:spPr>
      </p:sp>
      <p:sp>
        <p:nvSpPr>
          <p:cNvPr id="8" name="Text 6"/>
          <p:cNvSpPr/>
          <p:nvPr/>
        </p:nvSpPr>
        <p:spPr>
          <a:xfrm>
            <a:off x="644947" y="2736428"/>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POST /items</a:t>
            </a:r>
            <a:endParaRPr lang="en-US" sz="950" dirty="0"/>
          </a:p>
        </p:txBody>
      </p:sp>
      <p:sp>
        <p:nvSpPr>
          <p:cNvPr id="9" name="Shape 7"/>
          <p:cNvSpPr/>
          <p:nvPr/>
        </p:nvSpPr>
        <p:spPr>
          <a:xfrm>
            <a:off x="496119" y="3198391"/>
            <a:ext cx="8151763" cy="725463"/>
          </a:xfrm>
          <a:prstGeom prst="roundRect">
            <a:avLst>
              <a:gd name="adj" fmla="val 7182"/>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382938"/>
            <a:ext cx="155004" cy="123974"/>
          </a:xfrm>
          <a:prstGeom prst="rect">
            <a:avLst/>
          </a:prstGeom>
        </p:spPr>
      </p:pic>
      <p:sp>
        <p:nvSpPr>
          <p:cNvPr id="11" name="Text 8"/>
          <p:cNvSpPr/>
          <p:nvPr/>
        </p:nvSpPr>
        <p:spPr>
          <a:xfrm>
            <a:off x="899071" y="3353321"/>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Unlike GET requests (which only read),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POST requests carry a body</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 the data for the new item. FastAPI reads this body, validates it, and saves it to the CSV. The new item is then available in all future GET requests.</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96119" y="724123"/>
            <a:ext cx="545753" cy="233214"/>
          </a:xfrm>
          <a:prstGeom prst="roundRect">
            <a:avLst>
              <a:gd name="adj" fmla="val 17872"/>
            </a:avLst>
          </a:prstGeom>
          <a:solidFill>
            <a:srgbClr val="E1E1EA"/>
          </a:solidFill>
          <a:ln/>
        </p:spPr>
      </p:sp>
      <p:sp>
        <p:nvSpPr>
          <p:cNvPr id="3" name="Text 1"/>
          <p:cNvSpPr/>
          <p:nvPr/>
        </p:nvSpPr>
        <p:spPr>
          <a:xfrm>
            <a:off x="570533" y="761330"/>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32</a:t>
            </a:r>
            <a:endParaRPr lang="en-US" sz="750" dirty="0"/>
          </a:p>
        </p:txBody>
      </p:sp>
      <p:sp>
        <p:nvSpPr>
          <p:cNvPr id="4" name="Text 2"/>
          <p:cNvSpPr/>
          <p:nvPr/>
        </p:nvSpPr>
        <p:spPr>
          <a:xfrm>
            <a:off x="496119" y="100689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Pydantic Validation</a:t>
            </a:r>
            <a:endParaRPr lang="en-US" sz="2400" dirty="0"/>
          </a:p>
        </p:txBody>
      </p:sp>
      <p:sp>
        <p:nvSpPr>
          <p:cNvPr id="5" name="Text 3"/>
          <p:cNvSpPr/>
          <p:nvPr/>
        </p:nvSpPr>
        <p:spPr>
          <a:xfrm>
            <a:off x="496119" y="158048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Before saving any data, we need to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validate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it. FastAPI uses Pydantic models to automatically check that incoming data has the right types and structure.</a:t>
            </a:r>
            <a:endParaRPr lang="en-US" sz="950" dirty="0"/>
          </a:p>
        </p:txBody>
      </p:sp>
      <p:sp>
        <p:nvSpPr>
          <p:cNvPr id="6" name="Shape 4"/>
          <p:cNvSpPr/>
          <p:nvPr/>
        </p:nvSpPr>
        <p:spPr>
          <a:xfrm>
            <a:off x="496119" y="2116931"/>
            <a:ext cx="8151763" cy="1438721"/>
          </a:xfrm>
          <a:prstGeom prst="roundRect">
            <a:avLst>
              <a:gd name="adj" fmla="val 3621"/>
            </a:avLst>
          </a:prstGeom>
          <a:solidFill>
            <a:srgbClr val="F2F2F2"/>
          </a:solidFill>
          <a:ln/>
        </p:spPr>
      </p:sp>
      <p:sp>
        <p:nvSpPr>
          <p:cNvPr id="7" name="Shape 5"/>
          <p:cNvSpPr/>
          <p:nvPr/>
        </p:nvSpPr>
        <p:spPr>
          <a:xfrm>
            <a:off x="489942" y="2116931"/>
            <a:ext cx="8164116" cy="1438721"/>
          </a:xfrm>
          <a:prstGeom prst="roundRect">
            <a:avLst>
              <a:gd name="adj" fmla="val 1293"/>
            </a:avLst>
          </a:prstGeom>
          <a:solidFill>
            <a:srgbClr val="F2F2F2"/>
          </a:solidFill>
          <a:ln/>
        </p:spPr>
      </p:sp>
      <p:sp>
        <p:nvSpPr>
          <p:cNvPr id="8" name="Text 6"/>
          <p:cNvSpPr/>
          <p:nvPr/>
        </p:nvSpPr>
        <p:spPr>
          <a:xfrm>
            <a:off x="644947" y="2240905"/>
            <a:ext cx="7854107" cy="1190774"/>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from pydantic import BaseModel</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class Item(BaseModel):</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name: str</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price: float</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quantity: int</a:t>
            </a:r>
            <a:endParaRPr lang="en-US" sz="950" dirty="0"/>
          </a:p>
        </p:txBody>
      </p:sp>
      <p:sp>
        <p:nvSpPr>
          <p:cNvPr id="9" name="Shape 7"/>
          <p:cNvSpPr/>
          <p:nvPr/>
        </p:nvSpPr>
        <p:spPr>
          <a:xfrm>
            <a:off x="496119" y="3695179"/>
            <a:ext cx="2634555" cy="724198"/>
          </a:xfrm>
          <a:prstGeom prst="roundRect">
            <a:avLst>
              <a:gd name="adj" fmla="val 7194"/>
            </a:avLst>
          </a:prstGeom>
          <a:solidFill>
            <a:srgbClr val="E1E1EA"/>
          </a:solidFill>
          <a:ln w="4763">
            <a:solidFill>
              <a:srgbClr val="C7C7D0"/>
            </a:solidFill>
            <a:prstDash val="solid"/>
          </a:ln>
        </p:spPr>
      </p:sp>
      <p:sp>
        <p:nvSpPr>
          <p:cNvPr id="10" name="Text 8"/>
          <p:cNvSpPr/>
          <p:nvPr/>
        </p:nvSpPr>
        <p:spPr>
          <a:xfrm>
            <a:off x="624855" y="382391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Types</a:t>
            </a:r>
            <a:endParaRPr lang="en-US" sz="1200" dirty="0"/>
          </a:p>
        </p:txBody>
      </p:sp>
      <p:sp>
        <p:nvSpPr>
          <p:cNvPr id="11" name="Text 9"/>
          <p:cNvSpPr/>
          <p:nvPr/>
        </p:nvSpPr>
        <p:spPr>
          <a:xfrm>
            <a:off x="624855" y="4092178"/>
            <a:ext cx="237708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Ensures price is a number, not text</a:t>
            </a:r>
            <a:endParaRPr lang="en-US" sz="950" dirty="0"/>
          </a:p>
        </p:txBody>
      </p:sp>
      <p:sp>
        <p:nvSpPr>
          <p:cNvPr id="12" name="Shape 10"/>
          <p:cNvSpPr/>
          <p:nvPr/>
        </p:nvSpPr>
        <p:spPr>
          <a:xfrm>
            <a:off x="3254648" y="3695179"/>
            <a:ext cx="2634630" cy="724198"/>
          </a:xfrm>
          <a:prstGeom prst="roundRect">
            <a:avLst>
              <a:gd name="adj" fmla="val 7194"/>
            </a:avLst>
          </a:prstGeom>
          <a:solidFill>
            <a:srgbClr val="E1E1EA"/>
          </a:solidFill>
          <a:ln w="4763">
            <a:solidFill>
              <a:srgbClr val="C7C7D0"/>
            </a:solidFill>
            <a:prstDash val="solid"/>
          </a:ln>
        </p:spPr>
      </p:sp>
      <p:sp>
        <p:nvSpPr>
          <p:cNvPr id="13" name="Text 11"/>
          <p:cNvSpPr/>
          <p:nvPr/>
        </p:nvSpPr>
        <p:spPr>
          <a:xfrm>
            <a:off x="3383384" y="382391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Missing Fields</a:t>
            </a:r>
            <a:endParaRPr lang="en-US" sz="1200" dirty="0"/>
          </a:p>
        </p:txBody>
      </p:sp>
      <p:sp>
        <p:nvSpPr>
          <p:cNvPr id="14" name="Text 12"/>
          <p:cNvSpPr/>
          <p:nvPr/>
        </p:nvSpPr>
        <p:spPr>
          <a:xfrm>
            <a:off x="3383384" y="4092178"/>
            <a:ext cx="237715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Rejects requests without required data</a:t>
            </a:r>
            <a:endParaRPr lang="en-US" sz="950" dirty="0"/>
          </a:p>
        </p:txBody>
      </p:sp>
      <p:sp>
        <p:nvSpPr>
          <p:cNvPr id="15" name="Shape 13"/>
          <p:cNvSpPr/>
          <p:nvPr/>
        </p:nvSpPr>
        <p:spPr>
          <a:xfrm>
            <a:off x="6013252" y="3695179"/>
            <a:ext cx="2634555" cy="724198"/>
          </a:xfrm>
          <a:prstGeom prst="roundRect">
            <a:avLst>
              <a:gd name="adj" fmla="val 7194"/>
            </a:avLst>
          </a:prstGeom>
          <a:solidFill>
            <a:srgbClr val="E1E1EA"/>
          </a:solidFill>
          <a:ln w="4763">
            <a:solidFill>
              <a:srgbClr val="C7C7D0"/>
            </a:solidFill>
            <a:prstDash val="solid"/>
          </a:ln>
        </p:spPr>
      </p:sp>
      <p:sp>
        <p:nvSpPr>
          <p:cNvPr id="16" name="Text 14"/>
          <p:cNvSpPr/>
          <p:nvPr/>
        </p:nvSpPr>
        <p:spPr>
          <a:xfrm>
            <a:off x="6141988" y="382391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Structure</a:t>
            </a:r>
            <a:endParaRPr lang="en-US" sz="1200" dirty="0"/>
          </a:p>
        </p:txBody>
      </p:sp>
      <p:sp>
        <p:nvSpPr>
          <p:cNvPr id="17" name="Text 15"/>
          <p:cNvSpPr/>
          <p:nvPr/>
        </p:nvSpPr>
        <p:spPr>
          <a:xfrm>
            <a:off x="6141988" y="4092178"/>
            <a:ext cx="237708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Confirms the shape of the input</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96119" y="1120378"/>
            <a:ext cx="545753" cy="233214"/>
          </a:xfrm>
          <a:prstGeom prst="roundRect">
            <a:avLst>
              <a:gd name="adj" fmla="val 17872"/>
            </a:avLst>
          </a:prstGeom>
          <a:solidFill>
            <a:srgbClr val="E1E1EA"/>
          </a:solidFill>
          <a:ln/>
        </p:spPr>
      </p:sp>
      <p:sp>
        <p:nvSpPr>
          <p:cNvPr id="3" name="Text 1"/>
          <p:cNvSpPr/>
          <p:nvPr/>
        </p:nvSpPr>
        <p:spPr>
          <a:xfrm>
            <a:off x="570533" y="1157585"/>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33</a:t>
            </a:r>
            <a:endParaRPr lang="en-US" sz="750" dirty="0"/>
          </a:p>
        </p:txBody>
      </p:sp>
      <p:sp>
        <p:nvSpPr>
          <p:cNvPr id="4" name="Text 2"/>
          <p:cNvSpPr/>
          <p:nvPr/>
        </p:nvSpPr>
        <p:spPr>
          <a:xfrm>
            <a:off x="496119" y="140315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Generating IDs</a:t>
            </a:r>
            <a:endParaRPr lang="en-US" sz="2400" dirty="0"/>
          </a:p>
        </p:txBody>
      </p:sp>
      <p:sp>
        <p:nvSpPr>
          <p:cNvPr id="5" name="Text 3"/>
          <p:cNvSpPr/>
          <p:nvPr/>
        </p:nvSpPr>
        <p:spPr>
          <a:xfrm>
            <a:off x="496119" y="1976735"/>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Each new item needs a unique identifier. Rather than letting the user provide one (which could conflict), we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auto-generate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next ID from the existing data:</a:t>
            </a:r>
            <a:endParaRPr lang="en-US" sz="950" dirty="0"/>
          </a:p>
        </p:txBody>
      </p:sp>
      <p:sp>
        <p:nvSpPr>
          <p:cNvPr id="6" name="Shape 4"/>
          <p:cNvSpPr/>
          <p:nvPr/>
        </p:nvSpPr>
        <p:spPr>
          <a:xfrm>
            <a:off x="496119" y="2513186"/>
            <a:ext cx="8151763" cy="644872"/>
          </a:xfrm>
          <a:prstGeom prst="roundRect">
            <a:avLst>
              <a:gd name="adj" fmla="val 8079"/>
            </a:avLst>
          </a:prstGeom>
          <a:solidFill>
            <a:srgbClr val="F2F2F2"/>
          </a:solidFill>
          <a:ln/>
        </p:spPr>
      </p:sp>
      <p:sp>
        <p:nvSpPr>
          <p:cNvPr id="7" name="Shape 5"/>
          <p:cNvSpPr/>
          <p:nvPr/>
        </p:nvSpPr>
        <p:spPr>
          <a:xfrm>
            <a:off x="489942" y="2513186"/>
            <a:ext cx="8164116" cy="644872"/>
          </a:xfrm>
          <a:prstGeom prst="roundRect">
            <a:avLst>
              <a:gd name="adj" fmla="val 2885"/>
            </a:avLst>
          </a:prstGeom>
          <a:solidFill>
            <a:srgbClr val="F2F2F2"/>
          </a:solidFill>
          <a:ln/>
        </p:spPr>
      </p:sp>
      <p:sp>
        <p:nvSpPr>
          <p:cNvPr id="8" name="Text 6"/>
          <p:cNvSpPr/>
          <p:nvPr/>
        </p:nvSpPr>
        <p:spPr>
          <a:xfrm>
            <a:off x="644947" y="2637160"/>
            <a:ext cx="7854107" cy="396925"/>
          </a:xfrm>
          <a:prstGeom prst="rect">
            <a:avLst/>
          </a:prstGeom>
          <a:noFill/>
          <a:ln/>
        </p:spPr>
        <p:txBody>
          <a:bodyPr wrap="square" lIns="0" tIns="0" rIns="0" bIns="0" rtlCol="0" anchor="t"/>
          <a:lstStyle/>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df = pd.read_csv("items.csv")</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new_id = int(df["id"].max()) + 1</a:t>
            </a:r>
            <a:endParaRPr lang="en-US" sz="950" dirty="0"/>
          </a:p>
        </p:txBody>
      </p:sp>
      <p:sp>
        <p:nvSpPr>
          <p:cNvPr id="9" name="Shape 7"/>
          <p:cNvSpPr/>
          <p:nvPr/>
        </p:nvSpPr>
        <p:spPr>
          <a:xfrm>
            <a:off x="496119" y="3297585"/>
            <a:ext cx="8151763" cy="725463"/>
          </a:xfrm>
          <a:prstGeom prst="roundRect">
            <a:avLst>
              <a:gd name="adj" fmla="val 7182"/>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482132"/>
            <a:ext cx="155004" cy="123974"/>
          </a:xfrm>
          <a:prstGeom prst="rect">
            <a:avLst/>
          </a:prstGeom>
        </p:spPr>
      </p:pic>
      <p:sp>
        <p:nvSpPr>
          <p:cNvPr id="11" name="Text 8"/>
          <p:cNvSpPr/>
          <p:nvPr/>
        </p:nvSpPr>
        <p:spPr>
          <a:xfrm>
            <a:off x="899071" y="3452515"/>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finds the current highest ID in the DataFrame and adds 1. If the file has items with IDs 1, 2, and 3, the next item will get ID 4. This guarantees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uniqueness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without requiring a separate ID counter.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96119" y="919535"/>
            <a:ext cx="545753" cy="233214"/>
          </a:xfrm>
          <a:prstGeom prst="roundRect">
            <a:avLst>
              <a:gd name="adj" fmla="val 17872"/>
            </a:avLst>
          </a:prstGeom>
          <a:solidFill>
            <a:srgbClr val="E1E1EA"/>
          </a:solidFill>
          <a:ln/>
        </p:spPr>
      </p:sp>
      <p:sp>
        <p:nvSpPr>
          <p:cNvPr id="3" name="Text 1"/>
          <p:cNvSpPr/>
          <p:nvPr/>
        </p:nvSpPr>
        <p:spPr>
          <a:xfrm>
            <a:off x="570533" y="956742"/>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34</a:t>
            </a:r>
            <a:endParaRPr lang="en-US" sz="750" dirty="0"/>
          </a:p>
        </p:txBody>
      </p:sp>
      <p:sp>
        <p:nvSpPr>
          <p:cNvPr id="4" name="Text 2"/>
          <p:cNvSpPr/>
          <p:nvPr/>
        </p:nvSpPr>
        <p:spPr>
          <a:xfrm>
            <a:off x="496119" y="1202308"/>
            <a:ext cx="3178373"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Appending New Rows</a:t>
            </a:r>
            <a:endParaRPr lang="en-US" sz="2400" dirty="0"/>
          </a:p>
        </p:txBody>
      </p:sp>
      <p:sp>
        <p:nvSpPr>
          <p:cNvPr id="5" name="Text 3"/>
          <p:cNvSpPr/>
          <p:nvPr/>
        </p:nvSpPr>
        <p:spPr>
          <a:xfrm>
            <a:off x="496119" y="1775892"/>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Once the new item is validated and an ID is generated, we add it to the DataFrame as a new row:</a:t>
            </a:r>
            <a:endParaRPr lang="en-US" sz="950" dirty="0"/>
          </a:p>
        </p:txBody>
      </p:sp>
      <p:sp>
        <p:nvSpPr>
          <p:cNvPr id="6" name="Shape 4"/>
          <p:cNvSpPr/>
          <p:nvPr/>
        </p:nvSpPr>
        <p:spPr>
          <a:xfrm>
            <a:off x="496119" y="2113880"/>
            <a:ext cx="8151763" cy="1240259"/>
          </a:xfrm>
          <a:prstGeom prst="roundRect">
            <a:avLst>
              <a:gd name="adj" fmla="val 4201"/>
            </a:avLst>
          </a:prstGeom>
          <a:solidFill>
            <a:srgbClr val="F2F2F2"/>
          </a:solidFill>
          <a:ln/>
        </p:spPr>
      </p:sp>
      <p:sp>
        <p:nvSpPr>
          <p:cNvPr id="7" name="Shape 5"/>
          <p:cNvSpPr/>
          <p:nvPr/>
        </p:nvSpPr>
        <p:spPr>
          <a:xfrm>
            <a:off x="489942" y="2113880"/>
            <a:ext cx="8164116" cy="1240259"/>
          </a:xfrm>
          <a:prstGeom prst="roundRect">
            <a:avLst>
              <a:gd name="adj" fmla="val 1500"/>
            </a:avLst>
          </a:prstGeom>
          <a:solidFill>
            <a:srgbClr val="F2F2F2"/>
          </a:solidFill>
          <a:ln/>
        </p:spPr>
      </p:sp>
      <p:sp>
        <p:nvSpPr>
          <p:cNvPr id="8" name="Text 6"/>
          <p:cNvSpPr/>
          <p:nvPr/>
        </p:nvSpPr>
        <p:spPr>
          <a:xfrm>
            <a:off x="644947" y="2237854"/>
            <a:ext cx="7854107" cy="992312"/>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new_row = {"id": new_id, "name": item.name,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"price": item.price,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"quantity": item.quantity}</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df.loc[len(df)] = new_row</a:t>
            </a:r>
            <a:endParaRPr lang="en-US" sz="950" dirty="0"/>
          </a:p>
        </p:txBody>
      </p:sp>
      <p:sp>
        <p:nvSpPr>
          <p:cNvPr id="9" name="Shape 7"/>
          <p:cNvSpPr/>
          <p:nvPr/>
        </p:nvSpPr>
        <p:spPr>
          <a:xfrm>
            <a:off x="496119" y="3493666"/>
            <a:ext cx="8151763" cy="730225"/>
          </a:xfrm>
          <a:prstGeom prst="roundRect">
            <a:avLst>
              <a:gd name="adj" fmla="val 713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678213"/>
            <a:ext cx="155004" cy="123974"/>
          </a:xfrm>
          <a:prstGeom prst="rect">
            <a:avLst/>
          </a:prstGeom>
        </p:spPr>
      </p:pic>
      <p:sp>
        <p:nvSpPr>
          <p:cNvPr id="11" name="Text 8"/>
          <p:cNvSpPr/>
          <p:nvPr/>
        </p:nvSpPr>
        <p:spPr>
          <a:xfrm>
            <a:off x="899071" y="3648596"/>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df.loc[len(df)]</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adds the new row at the end of the DataFrame. The DataFrame now holds the original data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plus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the new item — but it's still only in memory until we save it.</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96119" y="1316459"/>
            <a:ext cx="545753" cy="233214"/>
          </a:xfrm>
          <a:prstGeom prst="roundRect">
            <a:avLst>
              <a:gd name="adj" fmla="val 17872"/>
            </a:avLst>
          </a:prstGeom>
          <a:solidFill>
            <a:srgbClr val="E1E1EA"/>
          </a:solidFill>
          <a:ln/>
        </p:spPr>
      </p:sp>
      <p:sp>
        <p:nvSpPr>
          <p:cNvPr id="3" name="Text 1"/>
          <p:cNvSpPr/>
          <p:nvPr/>
        </p:nvSpPr>
        <p:spPr>
          <a:xfrm>
            <a:off x="570533" y="135366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35</a:t>
            </a:r>
            <a:endParaRPr lang="en-US" sz="750" dirty="0"/>
          </a:p>
        </p:txBody>
      </p:sp>
      <p:sp>
        <p:nvSpPr>
          <p:cNvPr id="4" name="Text 2"/>
          <p:cNvSpPr/>
          <p:nvPr/>
        </p:nvSpPr>
        <p:spPr>
          <a:xfrm>
            <a:off x="496119" y="1599233"/>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Saving the CSV</a:t>
            </a:r>
            <a:endParaRPr lang="en-US" sz="2400" dirty="0"/>
          </a:p>
        </p:txBody>
      </p:sp>
      <p:sp>
        <p:nvSpPr>
          <p:cNvPr id="5" name="Text 3"/>
          <p:cNvSpPr/>
          <p:nvPr/>
        </p:nvSpPr>
        <p:spPr>
          <a:xfrm>
            <a:off x="496119" y="2172816"/>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After modifying the DataFrame, we must write it back to disk. This is the step that makes the change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permanent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6" name="Shape 4"/>
          <p:cNvSpPr/>
          <p:nvPr/>
        </p:nvSpPr>
        <p:spPr>
          <a:xfrm>
            <a:off x="496119" y="2510805"/>
            <a:ext cx="8151763" cy="446410"/>
          </a:xfrm>
          <a:prstGeom prst="roundRect">
            <a:avLst>
              <a:gd name="adj" fmla="val 11671"/>
            </a:avLst>
          </a:prstGeom>
          <a:solidFill>
            <a:srgbClr val="F2F2F2"/>
          </a:solidFill>
          <a:ln/>
        </p:spPr>
      </p:sp>
      <p:sp>
        <p:nvSpPr>
          <p:cNvPr id="7" name="Shape 5"/>
          <p:cNvSpPr/>
          <p:nvPr/>
        </p:nvSpPr>
        <p:spPr>
          <a:xfrm>
            <a:off x="489942" y="2510805"/>
            <a:ext cx="8164116" cy="446410"/>
          </a:xfrm>
          <a:prstGeom prst="roundRect">
            <a:avLst>
              <a:gd name="adj" fmla="val 4168"/>
            </a:avLst>
          </a:prstGeom>
          <a:solidFill>
            <a:srgbClr val="F2F2F2"/>
          </a:solidFill>
          <a:ln/>
        </p:spPr>
      </p:sp>
      <p:sp>
        <p:nvSpPr>
          <p:cNvPr id="8" name="Text 6"/>
          <p:cNvSpPr/>
          <p:nvPr/>
        </p:nvSpPr>
        <p:spPr>
          <a:xfrm>
            <a:off x="644947" y="2634779"/>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df.to_csv("items.csv", index=False)</a:t>
            </a:r>
            <a:endParaRPr lang="en-US" sz="950" dirty="0"/>
          </a:p>
        </p:txBody>
      </p:sp>
      <p:sp>
        <p:nvSpPr>
          <p:cNvPr id="9" name="Shape 7"/>
          <p:cNvSpPr/>
          <p:nvPr/>
        </p:nvSpPr>
        <p:spPr>
          <a:xfrm>
            <a:off x="496119" y="3096741"/>
            <a:ext cx="8151763" cy="730225"/>
          </a:xfrm>
          <a:prstGeom prst="roundRect">
            <a:avLst>
              <a:gd name="adj" fmla="val 7135"/>
            </a:avLst>
          </a:prstGeom>
          <a:solidFill>
            <a:srgbClr val="B6FCB8"/>
          </a:solidFill>
          <a:ln/>
        </p:spPr>
      </p:sp>
      <p:pic>
        <p:nvPicPr>
          <p:cNvPr id="10" name="Image 0" descr="preencoded.png">    </p:cNvPr>
          <p:cNvPicPr>
            <a:picLocks noChangeAspect="1"/>
          </p:cNvPicPr>
          <p:nvPr/>
        </p:nvPicPr>
        <p:blipFill>
          <a:blip r:embed="rId1"/>
          <a:stretch>
            <a:fillRect/>
          </a:stretch>
        </p:blipFill>
        <p:spPr>
          <a:xfrm>
            <a:off x="620092" y="3281288"/>
            <a:ext cx="155004" cy="123974"/>
          </a:xfrm>
          <a:prstGeom prst="rect">
            <a:avLst/>
          </a:prstGeom>
        </p:spPr>
      </p:pic>
      <p:sp>
        <p:nvSpPr>
          <p:cNvPr id="11" name="Text 8"/>
          <p:cNvSpPr/>
          <p:nvPr/>
        </p:nvSpPr>
        <p:spPr>
          <a:xfrm>
            <a:off x="899071" y="3251671"/>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index=False</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parameter prevents pandas from adding an extra row-number column to the file. After this line executes, the new item is saved to disk and will persist across server restarts. Every future GET request will include this item.</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Shape 1"/>
          <p:cNvSpPr/>
          <p:nvPr/>
        </p:nvSpPr>
        <p:spPr>
          <a:xfrm>
            <a:off x="3925119" y="1942728"/>
            <a:ext cx="545753" cy="233214"/>
          </a:xfrm>
          <a:prstGeom prst="roundRect">
            <a:avLst>
              <a:gd name="adj" fmla="val 17872"/>
            </a:avLst>
          </a:prstGeom>
          <a:solidFill>
            <a:srgbClr val="E1E1EA"/>
          </a:solidFill>
          <a:ln/>
        </p:spPr>
      </p:sp>
      <p:sp>
        <p:nvSpPr>
          <p:cNvPr id="5" name="Text 2"/>
          <p:cNvSpPr/>
          <p:nvPr/>
        </p:nvSpPr>
        <p:spPr>
          <a:xfrm>
            <a:off x="3999533" y="1979935"/>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36</a:t>
            </a:r>
            <a:endParaRPr lang="en-US" sz="750" dirty="0"/>
          </a:p>
        </p:txBody>
      </p:sp>
      <p:sp>
        <p:nvSpPr>
          <p:cNvPr id="6" name="Text 3"/>
          <p:cNvSpPr/>
          <p:nvPr/>
        </p:nvSpPr>
        <p:spPr>
          <a:xfrm>
            <a:off x="4735934" y="2225501"/>
            <a:ext cx="3101132" cy="387548"/>
          </a:xfrm>
          <a:prstGeom prst="rect">
            <a:avLst/>
          </a:prstGeom>
          <a:noFill/>
          <a:ln/>
        </p:spPr>
        <p:txBody>
          <a:bodyPr wrap="none" lIns="0" tIns="0" rIns="0" bIns="0" rtlCol="0" anchor="t"/>
          <a:lstStyle/>
          <a:p>
            <a:pPr algn="ctr"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7" name="Text 4"/>
          <p:cNvSpPr/>
          <p:nvPr/>
        </p:nvSpPr>
        <p:spPr>
          <a:xfrm>
            <a:off x="3925119" y="2799085"/>
            <a:ext cx="4722763" cy="401687"/>
          </a:xfrm>
          <a:prstGeom prst="rect">
            <a:avLst/>
          </a:prstGeom>
          <a:noFill/>
          <a:ln/>
        </p:spPr>
        <p:txBody>
          <a:bodyPr wrap="square" lIns="0" tIns="0" rIns="0" bIns="0" rtlCol="0" anchor="t"/>
          <a:lstStyle/>
          <a:p>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Let's implement the full CREATE operation — the Pydantic model, ID generation, row append, and CSV save — then test it using Swagger UI at </a:t>
            </a:r>
            <a:pPr algn="ctr"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/docs</a:t>
            </a:r>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96119" y="1249784"/>
            <a:ext cx="545753" cy="233214"/>
          </a:xfrm>
          <a:prstGeom prst="roundRect">
            <a:avLst>
              <a:gd name="adj" fmla="val 17872"/>
            </a:avLst>
          </a:prstGeom>
          <a:solidFill>
            <a:srgbClr val="E1E1EA"/>
          </a:solidFill>
          <a:ln/>
        </p:spPr>
      </p:sp>
      <p:sp>
        <p:nvSpPr>
          <p:cNvPr id="3" name="Text 1"/>
          <p:cNvSpPr/>
          <p:nvPr/>
        </p:nvSpPr>
        <p:spPr>
          <a:xfrm>
            <a:off x="570533" y="1286991"/>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37</a:t>
            </a:r>
            <a:endParaRPr lang="en-US" sz="750" dirty="0"/>
          </a:p>
        </p:txBody>
      </p:sp>
      <p:sp>
        <p:nvSpPr>
          <p:cNvPr id="4" name="Text 2"/>
          <p:cNvSpPr/>
          <p:nvPr/>
        </p:nvSpPr>
        <p:spPr>
          <a:xfrm>
            <a:off x="496119" y="1532558"/>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UPDATE Operation</a:t>
            </a:r>
            <a:endParaRPr lang="en-US" sz="2400" dirty="0"/>
          </a:p>
        </p:txBody>
      </p:sp>
      <p:sp>
        <p:nvSpPr>
          <p:cNvPr id="5" name="Text 3"/>
          <p:cNvSpPr/>
          <p:nvPr/>
        </p:nvSpPr>
        <p:spPr>
          <a:xfrm>
            <a:off x="496119" y="210614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UPDATE operation modifies an existing item. The client specifies which item to update via its ID in the URL, and sends new values in the request body.</a:t>
            </a:r>
            <a:endParaRPr lang="en-US" sz="950" dirty="0"/>
          </a:p>
        </p:txBody>
      </p:sp>
      <p:sp>
        <p:nvSpPr>
          <p:cNvPr id="6" name="Shape 4"/>
          <p:cNvSpPr/>
          <p:nvPr/>
        </p:nvSpPr>
        <p:spPr>
          <a:xfrm>
            <a:off x="496119" y="2642592"/>
            <a:ext cx="8151763" cy="446410"/>
          </a:xfrm>
          <a:prstGeom prst="roundRect">
            <a:avLst>
              <a:gd name="adj" fmla="val 11671"/>
            </a:avLst>
          </a:prstGeom>
          <a:solidFill>
            <a:srgbClr val="F2F2F2"/>
          </a:solidFill>
          <a:ln/>
        </p:spPr>
      </p:sp>
      <p:sp>
        <p:nvSpPr>
          <p:cNvPr id="7" name="Shape 5"/>
          <p:cNvSpPr/>
          <p:nvPr/>
        </p:nvSpPr>
        <p:spPr>
          <a:xfrm>
            <a:off x="489942" y="2642592"/>
            <a:ext cx="8164116" cy="446410"/>
          </a:xfrm>
          <a:prstGeom prst="roundRect">
            <a:avLst>
              <a:gd name="adj" fmla="val 4168"/>
            </a:avLst>
          </a:prstGeom>
          <a:solidFill>
            <a:srgbClr val="F2F2F2"/>
          </a:solidFill>
          <a:ln/>
        </p:spPr>
      </p:sp>
      <p:sp>
        <p:nvSpPr>
          <p:cNvPr id="8" name="Text 6"/>
          <p:cNvSpPr/>
          <p:nvPr/>
        </p:nvSpPr>
        <p:spPr>
          <a:xfrm>
            <a:off x="644947" y="2766566"/>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PUT /items/{item_id}</a:t>
            </a:r>
            <a:endParaRPr lang="en-US" sz="9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2627" y="3232324"/>
            <a:ext cx="186035" cy="186035"/>
          </a:xfrm>
          <a:prstGeom prst="rect">
            <a:avLst/>
          </a:prstGeom>
        </p:spPr>
      </p:pic>
      <p:sp>
        <p:nvSpPr>
          <p:cNvPr id="10" name="Text 7"/>
          <p:cNvSpPr/>
          <p:nvPr/>
        </p:nvSpPr>
        <p:spPr>
          <a:xfrm>
            <a:off x="899145"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Find the item</a:t>
            </a:r>
            <a:endParaRPr lang="en-US" sz="1200" dirty="0"/>
          </a:p>
        </p:txBody>
      </p:sp>
      <p:sp>
        <p:nvSpPr>
          <p:cNvPr id="11" name="Text 8"/>
          <p:cNvSpPr/>
          <p:nvPr/>
        </p:nvSpPr>
        <p:spPr>
          <a:xfrm>
            <a:off x="899145" y="3496791"/>
            <a:ext cx="221084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Locate the row where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id == item_id</a:t>
            </a:r>
            <a:endParaRPr lang="en-US" sz="9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1500" y="3232324"/>
            <a:ext cx="186035" cy="186035"/>
          </a:xfrm>
          <a:prstGeom prst="rect">
            <a:avLst/>
          </a:prstGeom>
        </p:spPr>
      </p:pic>
      <p:sp>
        <p:nvSpPr>
          <p:cNvPr id="13" name="Text 9"/>
          <p:cNvSpPr/>
          <p:nvPr/>
        </p:nvSpPr>
        <p:spPr>
          <a:xfrm>
            <a:off x="3668018"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Apply changes</a:t>
            </a:r>
            <a:endParaRPr lang="en-US" sz="1200" dirty="0"/>
          </a:p>
        </p:txBody>
      </p:sp>
      <p:sp>
        <p:nvSpPr>
          <p:cNvPr id="14" name="Text 10"/>
          <p:cNvSpPr/>
          <p:nvPr/>
        </p:nvSpPr>
        <p:spPr>
          <a:xfrm>
            <a:off x="3668018" y="3496791"/>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Overwrite the row's fields with new values</a:t>
            </a:r>
            <a:endParaRPr lang="en-US" sz="9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447" y="3232324"/>
            <a:ext cx="186035" cy="186035"/>
          </a:xfrm>
          <a:prstGeom prst="rect">
            <a:avLst/>
          </a:prstGeom>
        </p:spPr>
      </p:pic>
      <p:sp>
        <p:nvSpPr>
          <p:cNvPr id="16" name="Text 11"/>
          <p:cNvSpPr/>
          <p:nvPr/>
        </p:nvSpPr>
        <p:spPr>
          <a:xfrm>
            <a:off x="6436965" y="32285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Save to disk</a:t>
            </a:r>
            <a:endParaRPr lang="en-US" sz="1200" dirty="0"/>
          </a:p>
        </p:txBody>
      </p:sp>
      <p:sp>
        <p:nvSpPr>
          <p:cNvPr id="17" name="Text 12"/>
          <p:cNvSpPr/>
          <p:nvPr/>
        </p:nvSpPr>
        <p:spPr>
          <a:xfrm>
            <a:off x="6436965" y="3496791"/>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Write the updated DataFrame back to CSV</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96119" y="820341"/>
            <a:ext cx="545753" cy="233214"/>
          </a:xfrm>
          <a:prstGeom prst="roundRect">
            <a:avLst>
              <a:gd name="adj" fmla="val 17872"/>
            </a:avLst>
          </a:prstGeom>
          <a:solidFill>
            <a:srgbClr val="E1E1EA"/>
          </a:solidFill>
          <a:ln/>
        </p:spPr>
      </p:sp>
      <p:sp>
        <p:nvSpPr>
          <p:cNvPr id="3" name="Text 1"/>
          <p:cNvSpPr/>
          <p:nvPr/>
        </p:nvSpPr>
        <p:spPr>
          <a:xfrm>
            <a:off x="570533" y="857548"/>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38</a:t>
            </a:r>
            <a:endParaRPr lang="en-US" sz="750" dirty="0"/>
          </a:p>
        </p:txBody>
      </p:sp>
      <p:sp>
        <p:nvSpPr>
          <p:cNvPr id="4" name="Text 2"/>
          <p:cNvSpPr/>
          <p:nvPr/>
        </p:nvSpPr>
        <p:spPr>
          <a:xfrm>
            <a:off x="496119" y="1103114"/>
            <a:ext cx="3326606"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Finding Matching Rows</a:t>
            </a:r>
            <a:endParaRPr lang="en-US" sz="2400" dirty="0"/>
          </a:p>
        </p:txBody>
      </p:sp>
      <p:sp>
        <p:nvSpPr>
          <p:cNvPr id="5" name="Text 3"/>
          <p:cNvSpPr/>
          <p:nvPr/>
        </p:nvSpPr>
        <p:spPr>
          <a:xfrm>
            <a:off x="496119" y="1676698"/>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Before updating, we need to verify the item exists. Pandas makes it easy to filter rows by a condition:</a:t>
            </a:r>
            <a:endParaRPr lang="en-US" sz="950" dirty="0"/>
          </a:p>
        </p:txBody>
      </p:sp>
      <p:sp>
        <p:nvSpPr>
          <p:cNvPr id="6" name="Shape 4"/>
          <p:cNvSpPr/>
          <p:nvPr/>
        </p:nvSpPr>
        <p:spPr>
          <a:xfrm>
            <a:off x="496119" y="2014686"/>
            <a:ext cx="8151763" cy="1438721"/>
          </a:xfrm>
          <a:prstGeom prst="roundRect">
            <a:avLst>
              <a:gd name="adj" fmla="val 3621"/>
            </a:avLst>
          </a:prstGeom>
          <a:solidFill>
            <a:srgbClr val="F2F2F2"/>
          </a:solidFill>
          <a:ln/>
        </p:spPr>
      </p:sp>
      <p:sp>
        <p:nvSpPr>
          <p:cNvPr id="7" name="Shape 5"/>
          <p:cNvSpPr/>
          <p:nvPr/>
        </p:nvSpPr>
        <p:spPr>
          <a:xfrm>
            <a:off x="489942" y="2014686"/>
            <a:ext cx="8164116" cy="1438721"/>
          </a:xfrm>
          <a:prstGeom prst="roundRect">
            <a:avLst>
              <a:gd name="adj" fmla="val 1293"/>
            </a:avLst>
          </a:prstGeom>
          <a:solidFill>
            <a:srgbClr val="F2F2F2"/>
          </a:solidFill>
          <a:ln/>
        </p:spPr>
      </p:sp>
      <p:sp>
        <p:nvSpPr>
          <p:cNvPr id="8" name="Text 6"/>
          <p:cNvSpPr/>
          <p:nvPr/>
        </p:nvSpPr>
        <p:spPr>
          <a:xfrm>
            <a:off x="644947" y="2138660"/>
            <a:ext cx="7854107" cy="1190774"/>
          </a:xfrm>
          <a:prstGeom prst="rect">
            <a:avLst/>
          </a:prstGeom>
          <a:noFill/>
          <a:ln/>
        </p:spPr>
        <p:txBody>
          <a:bodyPr wrap="square" lIns="0" tIns="0" rIns="0" bIns="0" rtlCol="0" anchor="t"/>
          <a:lstStyle/>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df = pd.read_csv("items.csv")</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match = df[df["id"] == item_id]</a:t>
            </a:r>
            <a:endParaRPr lang="en-US" sz="950" dirty="0"/>
          </a:p>
          <a:p>
            <a:pPr algn="l" indent="0" marL="0">
              <a:lnSpc>
                <a:spcPts val="1550"/>
              </a:lnSpc>
              <a:buNone/>
            </a:pP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if match.empty:</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    raise HTTPException(status_code=404,</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                        detail="Item not found")</a:t>
            </a:r>
            <a:endParaRPr lang="en-US" sz="950" dirty="0"/>
          </a:p>
        </p:txBody>
      </p:sp>
      <p:sp>
        <p:nvSpPr>
          <p:cNvPr id="9" name="Shape 7"/>
          <p:cNvSpPr/>
          <p:nvPr/>
        </p:nvSpPr>
        <p:spPr>
          <a:xfrm>
            <a:off x="496119" y="3592934"/>
            <a:ext cx="8151763" cy="730225"/>
          </a:xfrm>
          <a:prstGeom prst="roundRect">
            <a:avLst>
              <a:gd name="adj" fmla="val 713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777481"/>
            <a:ext cx="155004" cy="123974"/>
          </a:xfrm>
          <a:prstGeom prst="rect">
            <a:avLst/>
          </a:prstGeom>
        </p:spPr>
      </p:pic>
      <p:sp>
        <p:nvSpPr>
          <p:cNvPr id="11" name="Text 8"/>
          <p:cNvSpPr/>
          <p:nvPr/>
        </p:nvSpPr>
        <p:spPr>
          <a:xfrm>
            <a:off x="899071" y="3747864"/>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expression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df["id"] == item_id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creates a boolean mask — a True/False value for every row. This is how pandas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filters</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rows. If no rows match, we return a 404 error before attempting any update.</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96119" y="820341"/>
            <a:ext cx="545753" cy="233214"/>
          </a:xfrm>
          <a:prstGeom prst="roundRect">
            <a:avLst>
              <a:gd name="adj" fmla="val 17872"/>
            </a:avLst>
          </a:prstGeom>
          <a:solidFill>
            <a:srgbClr val="E1E1EA"/>
          </a:solidFill>
          <a:ln/>
        </p:spPr>
      </p:sp>
      <p:sp>
        <p:nvSpPr>
          <p:cNvPr id="3" name="Text 1"/>
          <p:cNvSpPr/>
          <p:nvPr/>
        </p:nvSpPr>
        <p:spPr>
          <a:xfrm>
            <a:off x="570533" y="857548"/>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39</a:t>
            </a:r>
            <a:endParaRPr lang="en-US" sz="750" dirty="0"/>
          </a:p>
        </p:txBody>
      </p:sp>
      <p:sp>
        <p:nvSpPr>
          <p:cNvPr id="4" name="Text 2"/>
          <p:cNvSpPr/>
          <p:nvPr/>
        </p:nvSpPr>
        <p:spPr>
          <a:xfrm>
            <a:off x="496119" y="110311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Updating Rows</a:t>
            </a:r>
            <a:endParaRPr lang="en-US" sz="2400" dirty="0"/>
          </a:p>
        </p:txBody>
      </p:sp>
      <p:sp>
        <p:nvSpPr>
          <p:cNvPr id="5" name="Text 3"/>
          <p:cNvSpPr/>
          <p:nvPr/>
        </p:nvSpPr>
        <p:spPr>
          <a:xfrm>
            <a:off x="496119" y="1676698"/>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Once we've confirmed the item exists, we update its fields directly in the DataFrame using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.loc</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6" name="Shape 4"/>
          <p:cNvSpPr/>
          <p:nvPr/>
        </p:nvSpPr>
        <p:spPr>
          <a:xfrm>
            <a:off x="496119" y="2019449"/>
            <a:ext cx="8151763" cy="1438721"/>
          </a:xfrm>
          <a:prstGeom prst="roundRect">
            <a:avLst>
              <a:gd name="adj" fmla="val 3621"/>
            </a:avLst>
          </a:prstGeom>
          <a:solidFill>
            <a:srgbClr val="F2F2F2"/>
          </a:solidFill>
          <a:ln/>
        </p:spPr>
      </p:sp>
      <p:sp>
        <p:nvSpPr>
          <p:cNvPr id="7" name="Shape 5"/>
          <p:cNvSpPr/>
          <p:nvPr/>
        </p:nvSpPr>
        <p:spPr>
          <a:xfrm>
            <a:off x="489942" y="2019449"/>
            <a:ext cx="8164116" cy="1438721"/>
          </a:xfrm>
          <a:prstGeom prst="roundRect">
            <a:avLst>
              <a:gd name="adj" fmla="val 1293"/>
            </a:avLst>
          </a:prstGeom>
          <a:solidFill>
            <a:srgbClr val="F2F2F2"/>
          </a:solidFill>
          <a:ln/>
        </p:spPr>
      </p:sp>
      <p:sp>
        <p:nvSpPr>
          <p:cNvPr id="8" name="Text 6"/>
          <p:cNvSpPr/>
          <p:nvPr/>
        </p:nvSpPr>
        <p:spPr>
          <a:xfrm>
            <a:off x="644947" y="2143423"/>
            <a:ext cx="7854107" cy="1190774"/>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df.loc[df["id"] == item_id,</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["name", "price", "quantity"]] = [</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item.name,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item.price,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item.quantity</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a:t>
            </a:r>
            <a:endParaRPr lang="en-US" sz="950" dirty="0"/>
          </a:p>
        </p:txBody>
      </p:sp>
      <p:sp>
        <p:nvSpPr>
          <p:cNvPr id="9" name="Shape 7"/>
          <p:cNvSpPr/>
          <p:nvPr/>
        </p:nvSpPr>
        <p:spPr>
          <a:xfrm>
            <a:off x="496119" y="3597697"/>
            <a:ext cx="8151763" cy="725463"/>
          </a:xfrm>
          <a:prstGeom prst="roundRect">
            <a:avLst>
              <a:gd name="adj" fmla="val 7182"/>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782244"/>
            <a:ext cx="155004" cy="123974"/>
          </a:xfrm>
          <a:prstGeom prst="rect">
            <a:avLst/>
          </a:prstGeom>
        </p:spPr>
      </p:pic>
      <p:sp>
        <p:nvSpPr>
          <p:cNvPr id="11" name="Text 8"/>
          <p:cNvSpPr/>
          <p:nvPr/>
        </p:nvSpPr>
        <p:spPr>
          <a:xfrm>
            <a:off x="899071" y="3752627"/>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This targets only the row(s) where the ID matches and updates only the specified columns. The rest of the DataFrame — all other rows — is left completely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unchanged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96119" y="1359098"/>
            <a:ext cx="545753" cy="233214"/>
          </a:xfrm>
          <a:prstGeom prst="roundRect">
            <a:avLst>
              <a:gd name="adj" fmla="val 17872"/>
            </a:avLst>
          </a:prstGeom>
          <a:solidFill>
            <a:srgbClr val="E1E1EA"/>
          </a:solidFill>
          <a:ln/>
        </p:spPr>
      </p:sp>
      <p:sp>
        <p:nvSpPr>
          <p:cNvPr id="3" name="Text 1"/>
          <p:cNvSpPr/>
          <p:nvPr/>
        </p:nvSpPr>
        <p:spPr>
          <a:xfrm>
            <a:off x="570533" y="1396305"/>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40</a:t>
            </a:r>
            <a:endParaRPr lang="en-US" sz="750" dirty="0"/>
          </a:p>
        </p:txBody>
      </p:sp>
      <p:sp>
        <p:nvSpPr>
          <p:cNvPr id="4" name="Text 2"/>
          <p:cNvSpPr/>
          <p:nvPr/>
        </p:nvSpPr>
        <p:spPr>
          <a:xfrm>
            <a:off x="496119" y="1641872"/>
            <a:ext cx="3527896"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Saving the Updated CSV</a:t>
            </a:r>
            <a:endParaRPr lang="en-US" sz="2400" dirty="0"/>
          </a:p>
        </p:txBody>
      </p:sp>
      <p:sp>
        <p:nvSpPr>
          <p:cNvPr id="5" name="Shape 3"/>
          <p:cNvSpPr/>
          <p:nvPr/>
        </p:nvSpPr>
        <p:spPr>
          <a:xfrm>
            <a:off x="406822" y="2215455"/>
            <a:ext cx="4103191" cy="1568946"/>
          </a:xfrm>
          <a:prstGeom prst="roundRect">
            <a:avLst>
              <a:gd name="adj" fmla="val 5693"/>
            </a:avLst>
          </a:prstGeom>
          <a:solidFill>
            <a:srgbClr val="1B1B27">
              <a:alpha val="95000"/>
            </a:srgbClr>
          </a:solidFill>
          <a:ln/>
        </p:spPr>
      </p:sp>
      <p:sp>
        <p:nvSpPr>
          <p:cNvPr id="6" name="Text 4"/>
          <p:cNvSpPr/>
          <p:nvPr/>
        </p:nvSpPr>
        <p:spPr>
          <a:xfrm>
            <a:off x="530796" y="23394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In Memory vs On Disk</a:t>
            </a:r>
            <a:endParaRPr lang="en-US" sz="1200" dirty="0"/>
          </a:p>
        </p:txBody>
      </p:sp>
      <p:sp>
        <p:nvSpPr>
          <p:cNvPr id="7" name="Text 5"/>
          <p:cNvSpPr/>
          <p:nvPr/>
        </p:nvSpPr>
        <p:spPr>
          <a:xfrm>
            <a:off x="530796" y="2657252"/>
            <a:ext cx="3855244" cy="396925"/>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After updating the DataFrame, the change exists </a:t>
            </a:r>
            <a:pPr algn="l" indent="0" marL="0">
              <a:lnSpc>
                <a:spcPts val="1550"/>
              </a:lnSpc>
              <a:buNone/>
            </a:pPr>
            <a:r>
              <a:rPr lang="en-US" sz="950" b="1" dirty="0">
                <a:solidFill>
                  <a:srgbClr val="FFFFFF"/>
                </a:solidFill>
                <a:latin typeface="Roboto" pitchFamily="34" charset="0"/>
                <a:ea typeface="Roboto" pitchFamily="34" charset="-122"/>
                <a:cs typeface="Roboto" pitchFamily="34" charset="-120"/>
              </a:rPr>
              <a:t>only in RAM</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Without saving, a server restart would revert the item to its original values.</a:t>
            </a:r>
            <a:endParaRPr lang="en-US" sz="950" dirty="0"/>
          </a:p>
        </p:txBody>
      </p:sp>
      <p:sp>
        <p:nvSpPr>
          <p:cNvPr id="8" name="Text 6"/>
          <p:cNvSpPr/>
          <p:nvPr/>
        </p:nvSpPr>
        <p:spPr>
          <a:xfrm>
            <a:off x="4728046" y="233942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Making it Permanent</a:t>
            </a:r>
            <a:endParaRPr lang="en-US" sz="1200" dirty="0"/>
          </a:p>
        </p:txBody>
      </p:sp>
      <p:sp>
        <p:nvSpPr>
          <p:cNvPr id="9" name="Text 7"/>
          <p:cNvSpPr/>
          <p:nvPr/>
        </p:nvSpPr>
        <p:spPr>
          <a:xfrm>
            <a:off x="4728046" y="2657252"/>
            <a:ext cx="3924598"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same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to_csv()</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call writes the entire updated DataFrame back to disk, making the modification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persistent and permanent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10" name="Shape 8"/>
          <p:cNvSpPr/>
          <p:nvPr/>
        </p:nvSpPr>
        <p:spPr>
          <a:xfrm>
            <a:off x="4728046" y="3198465"/>
            <a:ext cx="3924598" cy="446410"/>
          </a:xfrm>
          <a:prstGeom prst="roundRect">
            <a:avLst>
              <a:gd name="adj" fmla="val 11671"/>
            </a:avLst>
          </a:prstGeom>
          <a:solidFill>
            <a:srgbClr val="F2F2F2"/>
          </a:solidFill>
          <a:ln/>
        </p:spPr>
      </p:sp>
      <p:sp>
        <p:nvSpPr>
          <p:cNvPr id="11" name="Shape 9"/>
          <p:cNvSpPr/>
          <p:nvPr/>
        </p:nvSpPr>
        <p:spPr>
          <a:xfrm>
            <a:off x="4721870" y="3198465"/>
            <a:ext cx="3936950" cy="446410"/>
          </a:xfrm>
          <a:prstGeom prst="roundRect">
            <a:avLst>
              <a:gd name="adj" fmla="val 4168"/>
            </a:avLst>
          </a:prstGeom>
          <a:solidFill>
            <a:srgbClr val="F2F2F2"/>
          </a:solidFill>
          <a:ln/>
        </p:spPr>
      </p:sp>
      <p:sp>
        <p:nvSpPr>
          <p:cNvPr id="12" name="Text 10"/>
          <p:cNvSpPr/>
          <p:nvPr/>
        </p:nvSpPr>
        <p:spPr>
          <a:xfrm>
            <a:off x="4876874" y="3322439"/>
            <a:ext cx="3626941"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df.to_csv("items.csv", index=False)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945109"/>
            <a:ext cx="545753" cy="233214"/>
          </a:xfrm>
          <a:prstGeom prst="roundRect">
            <a:avLst>
              <a:gd name="adj" fmla="val 17872"/>
            </a:avLst>
          </a:prstGeom>
          <a:solidFill>
            <a:srgbClr val="E1E1EA"/>
          </a:solidFill>
          <a:ln/>
        </p:spPr>
      </p:sp>
      <p:sp>
        <p:nvSpPr>
          <p:cNvPr id="5" name="Text 2"/>
          <p:cNvSpPr/>
          <p:nvPr/>
        </p:nvSpPr>
        <p:spPr>
          <a:xfrm>
            <a:off x="570533" y="198231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41</a:t>
            </a:r>
            <a:endParaRPr lang="en-US" sz="750" dirty="0"/>
          </a:p>
        </p:txBody>
      </p:sp>
      <p:sp>
        <p:nvSpPr>
          <p:cNvPr id="6" name="Text 3"/>
          <p:cNvSpPr/>
          <p:nvPr/>
        </p:nvSpPr>
        <p:spPr>
          <a:xfrm>
            <a:off x="1306934" y="2227883"/>
            <a:ext cx="3101132" cy="387548"/>
          </a:xfrm>
          <a:prstGeom prst="rect">
            <a:avLst/>
          </a:prstGeom>
          <a:noFill/>
          <a:ln/>
        </p:spPr>
        <p:txBody>
          <a:bodyPr wrap="none" lIns="0" tIns="0" rIns="0" bIns="0" rtlCol="0" anchor="t"/>
          <a:lstStyle/>
          <a:p>
            <a:pPr algn="ctr"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7" name="Text 4"/>
          <p:cNvSpPr/>
          <p:nvPr/>
        </p:nvSpPr>
        <p:spPr>
          <a:xfrm>
            <a:off x="496119" y="2801466"/>
            <a:ext cx="4722763" cy="396925"/>
          </a:xfrm>
          <a:prstGeom prst="rect">
            <a:avLst/>
          </a:prstGeom>
          <a:noFill/>
          <a:ln/>
        </p:spPr>
        <p:txBody>
          <a:bodyPr wrap="square" lIns="0" tIns="0" rIns="0" bIns="0" rtlCol="0" anchor="t"/>
          <a:lstStyle/>
          <a:p>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Let's implement the full UPDATE operation — finding the row, applying the changes, and saving back to disk. We'll verify the update persists after server restart.</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96119" y="1247403"/>
            <a:ext cx="545753" cy="233214"/>
          </a:xfrm>
          <a:prstGeom prst="roundRect">
            <a:avLst>
              <a:gd name="adj" fmla="val 17872"/>
            </a:avLst>
          </a:prstGeom>
          <a:solidFill>
            <a:srgbClr val="E1E1EA"/>
          </a:solidFill>
          <a:ln/>
        </p:spPr>
      </p:sp>
      <p:sp>
        <p:nvSpPr>
          <p:cNvPr id="3" name="Text 1"/>
          <p:cNvSpPr/>
          <p:nvPr/>
        </p:nvSpPr>
        <p:spPr>
          <a:xfrm>
            <a:off x="570533" y="1284610"/>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42</a:t>
            </a:r>
            <a:endParaRPr lang="en-US" sz="750" dirty="0"/>
          </a:p>
        </p:txBody>
      </p:sp>
      <p:sp>
        <p:nvSpPr>
          <p:cNvPr id="4" name="Text 2"/>
          <p:cNvSpPr/>
          <p:nvPr/>
        </p:nvSpPr>
        <p:spPr>
          <a:xfrm>
            <a:off x="496119" y="153017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DELETE Operation</a:t>
            </a:r>
            <a:endParaRPr lang="en-US" sz="2400" dirty="0"/>
          </a:p>
        </p:txBody>
      </p:sp>
      <p:sp>
        <p:nvSpPr>
          <p:cNvPr id="5" name="Text 3"/>
          <p:cNvSpPr/>
          <p:nvPr/>
        </p:nvSpPr>
        <p:spPr>
          <a:xfrm>
            <a:off x="496119" y="210376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DELETE operation permanently removes an item from storage. The client identifies the item by its ID in the URL path — no request body is needed.</a:t>
            </a:r>
            <a:endParaRPr lang="en-US" sz="950" dirty="0"/>
          </a:p>
        </p:txBody>
      </p:sp>
      <p:sp>
        <p:nvSpPr>
          <p:cNvPr id="6" name="Shape 4"/>
          <p:cNvSpPr/>
          <p:nvPr/>
        </p:nvSpPr>
        <p:spPr>
          <a:xfrm>
            <a:off x="496119" y="2640211"/>
            <a:ext cx="8151763" cy="446410"/>
          </a:xfrm>
          <a:prstGeom prst="roundRect">
            <a:avLst>
              <a:gd name="adj" fmla="val 11671"/>
            </a:avLst>
          </a:prstGeom>
          <a:solidFill>
            <a:srgbClr val="F2F2F2"/>
          </a:solidFill>
          <a:ln/>
        </p:spPr>
      </p:sp>
      <p:sp>
        <p:nvSpPr>
          <p:cNvPr id="7" name="Shape 5"/>
          <p:cNvSpPr/>
          <p:nvPr/>
        </p:nvSpPr>
        <p:spPr>
          <a:xfrm>
            <a:off x="489942" y="2640211"/>
            <a:ext cx="8164116" cy="446410"/>
          </a:xfrm>
          <a:prstGeom prst="roundRect">
            <a:avLst>
              <a:gd name="adj" fmla="val 4168"/>
            </a:avLst>
          </a:prstGeom>
          <a:solidFill>
            <a:srgbClr val="F2F2F2"/>
          </a:solidFill>
          <a:ln/>
        </p:spPr>
      </p:sp>
      <p:sp>
        <p:nvSpPr>
          <p:cNvPr id="8" name="Text 6"/>
          <p:cNvSpPr/>
          <p:nvPr/>
        </p:nvSpPr>
        <p:spPr>
          <a:xfrm>
            <a:off x="644947" y="2764185"/>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DELETE /items/{item_id}</a:t>
            </a:r>
            <a:endParaRPr lang="en-US" sz="9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2627" y="3229942"/>
            <a:ext cx="186035" cy="186035"/>
          </a:xfrm>
          <a:prstGeom prst="rect">
            <a:avLst/>
          </a:prstGeom>
        </p:spPr>
      </p:pic>
      <p:sp>
        <p:nvSpPr>
          <p:cNvPr id="10" name="Text 7"/>
          <p:cNvSpPr/>
          <p:nvPr/>
        </p:nvSpPr>
        <p:spPr>
          <a:xfrm>
            <a:off x="899145" y="322614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Receive the ID</a:t>
            </a:r>
            <a:endParaRPr lang="en-US" sz="1200" dirty="0"/>
          </a:p>
        </p:txBody>
      </p:sp>
      <p:sp>
        <p:nvSpPr>
          <p:cNvPr id="11" name="Text 8"/>
          <p:cNvSpPr/>
          <p:nvPr/>
        </p:nvSpPr>
        <p:spPr>
          <a:xfrm>
            <a:off x="899145" y="3494410"/>
            <a:ext cx="2210842"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Extract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item_id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from the URL path parameter</a:t>
            </a:r>
            <a:endParaRPr lang="en-US" sz="9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1500" y="3229942"/>
            <a:ext cx="186035" cy="186035"/>
          </a:xfrm>
          <a:prstGeom prst="rect">
            <a:avLst/>
          </a:prstGeom>
        </p:spPr>
      </p:pic>
      <p:sp>
        <p:nvSpPr>
          <p:cNvPr id="13" name="Text 9"/>
          <p:cNvSpPr/>
          <p:nvPr/>
        </p:nvSpPr>
        <p:spPr>
          <a:xfrm>
            <a:off x="3668018" y="322614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Filter the row out</a:t>
            </a:r>
            <a:endParaRPr lang="en-US" sz="1200" dirty="0"/>
          </a:p>
        </p:txBody>
      </p:sp>
      <p:sp>
        <p:nvSpPr>
          <p:cNvPr id="14" name="Text 10"/>
          <p:cNvSpPr/>
          <p:nvPr/>
        </p:nvSpPr>
        <p:spPr>
          <a:xfrm>
            <a:off x="3668018" y="3494410"/>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Keep all rows except the one matching the ID</a:t>
            </a:r>
            <a:endParaRPr lang="en-US" sz="9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447" y="3229942"/>
            <a:ext cx="186035" cy="186035"/>
          </a:xfrm>
          <a:prstGeom prst="rect">
            <a:avLst/>
          </a:prstGeom>
        </p:spPr>
      </p:pic>
      <p:sp>
        <p:nvSpPr>
          <p:cNvPr id="16" name="Text 11"/>
          <p:cNvSpPr/>
          <p:nvPr/>
        </p:nvSpPr>
        <p:spPr>
          <a:xfrm>
            <a:off x="6436965" y="322614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Save to disk</a:t>
            </a:r>
            <a:endParaRPr lang="en-US" sz="1200" dirty="0"/>
          </a:p>
        </p:txBody>
      </p:sp>
      <p:sp>
        <p:nvSpPr>
          <p:cNvPr id="17" name="Text 12"/>
          <p:cNvSpPr/>
          <p:nvPr/>
        </p:nvSpPr>
        <p:spPr>
          <a:xfrm>
            <a:off x="6436965" y="3494410"/>
            <a:ext cx="2210916"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Persist the filtered DataFrame back to CSV</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96119" y="1117997"/>
            <a:ext cx="545753" cy="233214"/>
          </a:xfrm>
          <a:prstGeom prst="roundRect">
            <a:avLst>
              <a:gd name="adj" fmla="val 17872"/>
            </a:avLst>
          </a:prstGeom>
          <a:solidFill>
            <a:srgbClr val="E1E1EA"/>
          </a:solidFill>
          <a:ln/>
        </p:spPr>
      </p:sp>
      <p:sp>
        <p:nvSpPr>
          <p:cNvPr id="3" name="Text 1"/>
          <p:cNvSpPr/>
          <p:nvPr/>
        </p:nvSpPr>
        <p:spPr>
          <a:xfrm>
            <a:off x="570533" y="1155204"/>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43</a:t>
            </a:r>
            <a:endParaRPr lang="en-US" sz="750" dirty="0"/>
          </a:p>
        </p:txBody>
      </p:sp>
      <p:sp>
        <p:nvSpPr>
          <p:cNvPr id="4" name="Text 2"/>
          <p:cNvSpPr/>
          <p:nvPr/>
        </p:nvSpPr>
        <p:spPr>
          <a:xfrm>
            <a:off x="496119" y="140077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Removing Rows</a:t>
            </a:r>
            <a:endParaRPr lang="en-US" sz="2400" dirty="0"/>
          </a:p>
        </p:txBody>
      </p:sp>
      <p:sp>
        <p:nvSpPr>
          <p:cNvPr id="5" name="Text 3"/>
          <p:cNvSpPr/>
          <p:nvPr/>
        </p:nvSpPr>
        <p:spPr>
          <a:xfrm>
            <a:off x="496119" y="197435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Deletion in pandas is done by keeping everything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except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matching row. This is an elegant approach — you create a new DataFrame without the unwanted item:</a:t>
            </a:r>
            <a:endParaRPr lang="en-US" sz="950" dirty="0"/>
          </a:p>
        </p:txBody>
      </p:sp>
      <p:sp>
        <p:nvSpPr>
          <p:cNvPr id="6" name="Shape 4"/>
          <p:cNvSpPr/>
          <p:nvPr/>
        </p:nvSpPr>
        <p:spPr>
          <a:xfrm>
            <a:off x="496119" y="2510805"/>
            <a:ext cx="8151763" cy="644872"/>
          </a:xfrm>
          <a:prstGeom prst="roundRect">
            <a:avLst>
              <a:gd name="adj" fmla="val 8079"/>
            </a:avLst>
          </a:prstGeom>
          <a:solidFill>
            <a:srgbClr val="F2F2F2"/>
          </a:solidFill>
          <a:ln/>
        </p:spPr>
      </p:sp>
      <p:sp>
        <p:nvSpPr>
          <p:cNvPr id="7" name="Shape 5"/>
          <p:cNvSpPr/>
          <p:nvPr/>
        </p:nvSpPr>
        <p:spPr>
          <a:xfrm>
            <a:off x="489942" y="2510805"/>
            <a:ext cx="8164116" cy="644872"/>
          </a:xfrm>
          <a:prstGeom prst="roundRect">
            <a:avLst>
              <a:gd name="adj" fmla="val 2885"/>
            </a:avLst>
          </a:prstGeom>
          <a:solidFill>
            <a:srgbClr val="F2F2F2"/>
          </a:solidFill>
          <a:ln/>
        </p:spPr>
      </p:sp>
      <p:sp>
        <p:nvSpPr>
          <p:cNvPr id="8" name="Text 6"/>
          <p:cNvSpPr/>
          <p:nvPr/>
        </p:nvSpPr>
        <p:spPr>
          <a:xfrm>
            <a:off x="644947" y="2634779"/>
            <a:ext cx="7854107" cy="396925"/>
          </a:xfrm>
          <a:prstGeom prst="rect">
            <a:avLst/>
          </a:prstGeom>
          <a:noFill/>
          <a:ln/>
        </p:spPr>
        <p:txBody>
          <a:bodyPr wrap="square" lIns="0" tIns="0" rIns="0" bIns="0" rtlCol="0" anchor="t"/>
          <a:lstStyle/>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df = pd.read_csv("items.csv")</a:t>
            </a:r>
            <a:endParaRPr lang="en-US" sz="950" dirty="0"/>
          </a:p>
          <a:p>
            <a:pPr algn="l" indent="0" marL="0">
              <a:lnSpc>
                <a:spcPts val="155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df = df[df["id"] != item_id]</a:t>
            </a:r>
            <a:endParaRPr lang="en-US" sz="950" dirty="0"/>
          </a:p>
        </p:txBody>
      </p:sp>
      <p:sp>
        <p:nvSpPr>
          <p:cNvPr id="9" name="Shape 7"/>
          <p:cNvSpPr/>
          <p:nvPr/>
        </p:nvSpPr>
        <p:spPr>
          <a:xfrm>
            <a:off x="496119" y="3295204"/>
            <a:ext cx="8151763" cy="730225"/>
          </a:xfrm>
          <a:prstGeom prst="roundRect">
            <a:avLst>
              <a:gd name="adj" fmla="val 713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20092" y="3479750"/>
            <a:ext cx="155004" cy="123974"/>
          </a:xfrm>
          <a:prstGeom prst="rect">
            <a:avLst/>
          </a:prstGeom>
        </p:spPr>
      </p:pic>
      <p:sp>
        <p:nvSpPr>
          <p:cNvPr id="11" name="Text 8"/>
          <p:cNvSpPr/>
          <p:nvPr/>
        </p:nvSpPr>
        <p:spPr>
          <a:xfrm>
            <a:off x="899071" y="3450134"/>
            <a:ext cx="7624837" cy="401687"/>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condition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df["id"] != item_id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evaluates to True for every row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except</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the one to delete. The result is a new DataFrame containing all rows except the deleted item. The original data is not mutated — a new filtered DataFrame is assigned.</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96119" y="1219646"/>
            <a:ext cx="545753" cy="233214"/>
          </a:xfrm>
          <a:prstGeom prst="roundRect">
            <a:avLst>
              <a:gd name="adj" fmla="val 17872"/>
            </a:avLst>
          </a:prstGeom>
          <a:solidFill>
            <a:srgbClr val="E1E1EA"/>
          </a:solidFill>
          <a:ln/>
        </p:spPr>
      </p:sp>
      <p:sp>
        <p:nvSpPr>
          <p:cNvPr id="3" name="Text 1"/>
          <p:cNvSpPr/>
          <p:nvPr/>
        </p:nvSpPr>
        <p:spPr>
          <a:xfrm>
            <a:off x="570533" y="1256854"/>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44</a:t>
            </a:r>
            <a:endParaRPr lang="en-US" sz="750" dirty="0"/>
          </a:p>
        </p:txBody>
      </p:sp>
      <p:sp>
        <p:nvSpPr>
          <p:cNvPr id="4" name="Text 2"/>
          <p:cNvSpPr/>
          <p:nvPr/>
        </p:nvSpPr>
        <p:spPr>
          <a:xfrm>
            <a:off x="496119" y="150242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Saving After Delete</a:t>
            </a:r>
            <a:endParaRPr lang="en-US" sz="2400" dirty="0"/>
          </a:p>
        </p:txBody>
      </p:sp>
      <p:sp>
        <p:nvSpPr>
          <p:cNvPr id="5" name="Text 3"/>
          <p:cNvSpPr/>
          <p:nvPr/>
        </p:nvSpPr>
        <p:spPr>
          <a:xfrm>
            <a:off x="496119" y="2076004"/>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Just like Create and Update, the deletion only becomes permanent once we write the updated DataFrame back to the CSV file:</a:t>
            </a:r>
            <a:endParaRPr lang="en-US" sz="950" dirty="0"/>
          </a:p>
        </p:txBody>
      </p:sp>
      <p:sp>
        <p:nvSpPr>
          <p:cNvPr id="6" name="Shape 4"/>
          <p:cNvSpPr/>
          <p:nvPr/>
        </p:nvSpPr>
        <p:spPr>
          <a:xfrm>
            <a:off x="496119" y="2413992"/>
            <a:ext cx="8151763" cy="644872"/>
          </a:xfrm>
          <a:prstGeom prst="roundRect">
            <a:avLst>
              <a:gd name="adj" fmla="val 8079"/>
            </a:avLst>
          </a:prstGeom>
          <a:solidFill>
            <a:srgbClr val="F2F2F2"/>
          </a:solidFill>
          <a:ln/>
        </p:spPr>
      </p:sp>
      <p:sp>
        <p:nvSpPr>
          <p:cNvPr id="7" name="Shape 5"/>
          <p:cNvSpPr/>
          <p:nvPr/>
        </p:nvSpPr>
        <p:spPr>
          <a:xfrm>
            <a:off x="489942" y="2413992"/>
            <a:ext cx="8164116" cy="644872"/>
          </a:xfrm>
          <a:prstGeom prst="roundRect">
            <a:avLst>
              <a:gd name="adj" fmla="val 2885"/>
            </a:avLst>
          </a:prstGeom>
          <a:solidFill>
            <a:srgbClr val="F2F2F2"/>
          </a:solidFill>
          <a:ln/>
        </p:spPr>
      </p:sp>
      <p:sp>
        <p:nvSpPr>
          <p:cNvPr id="8" name="Text 6"/>
          <p:cNvSpPr/>
          <p:nvPr/>
        </p:nvSpPr>
        <p:spPr>
          <a:xfrm>
            <a:off x="644947" y="2537966"/>
            <a:ext cx="785410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df.to_csv("items.csv", index=False)</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return {"message": f"Item {item_id} deleted"}</a:t>
            </a:r>
            <a:endParaRPr lang="en-US" sz="950" dirty="0"/>
          </a:p>
        </p:txBody>
      </p:sp>
      <p:sp>
        <p:nvSpPr>
          <p:cNvPr id="9" name="Shape 7"/>
          <p:cNvSpPr/>
          <p:nvPr/>
        </p:nvSpPr>
        <p:spPr>
          <a:xfrm>
            <a:off x="496119" y="3198391"/>
            <a:ext cx="8151763" cy="725463"/>
          </a:xfrm>
          <a:prstGeom prst="roundRect">
            <a:avLst>
              <a:gd name="adj" fmla="val 7182"/>
            </a:avLst>
          </a:prstGeom>
          <a:solidFill>
            <a:srgbClr val="FCF2B5"/>
          </a:solidFill>
          <a:ln/>
        </p:spPr>
      </p:sp>
      <p:pic>
        <p:nvPicPr>
          <p:cNvPr id="10" name="Image 0" descr="preencoded.png">    </p:cNvPr>
          <p:cNvPicPr>
            <a:picLocks noChangeAspect="1"/>
          </p:cNvPicPr>
          <p:nvPr/>
        </p:nvPicPr>
        <p:blipFill>
          <a:blip r:embed="rId1"/>
          <a:stretch>
            <a:fillRect/>
          </a:stretch>
        </p:blipFill>
        <p:spPr>
          <a:xfrm>
            <a:off x="620092" y="3382938"/>
            <a:ext cx="155004" cy="123974"/>
          </a:xfrm>
          <a:prstGeom prst="rect">
            <a:avLst/>
          </a:prstGeom>
        </p:spPr>
      </p:pic>
      <p:sp>
        <p:nvSpPr>
          <p:cNvPr id="11" name="Text 8"/>
          <p:cNvSpPr/>
          <p:nvPr/>
        </p:nvSpPr>
        <p:spPr>
          <a:xfrm>
            <a:off x="899071" y="3353321"/>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Deletion is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irreversible</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Once saved, there is no undo — the row is gone from the file. In production systems, you'd typically implement "soft deletes" (marking records as inactive) rather than physically removing them. For now, we keep it simple.</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945109"/>
            <a:ext cx="545753" cy="233214"/>
          </a:xfrm>
          <a:prstGeom prst="roundRect">
            <a:avLst>
              <a:gd name="adj" fmla="val 17872"/>
            </a:avLst>
          </a:prstGeom>
          <a:solidFill>
            <a:srgbClr val="E1E1EA"/>
          </a:solidFill>
          <a:ln/>
        </p:spPr>
      </p:sp>
      <p:sp>
        <p:nvSpPr>
          <p:cNvPr id="5" name="Text 2"/>
          <p:cNvSpPr/>
          <p:nvPr/>
        </p:nvSpPr>
        <p:spPr>
          <a:xfrm>
            <a:off x="570533" y="198231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45</a:t>
            </a:r>
            <a:endParaRPr lang="en-US" sz="750" dirty="0"/>
          </a:p>
        </p:txBody>
      </p:sp>
      <p:sp>
        <p:nvSpPr>
          <p:cNvPr id="6" name="Text 3"/>
          <p:cNvSpPr/>
          <p:nvPr/>
        </p:nvSpPr>
        <p:spPr>
          <a:xfrm>
            <a:off x="1306934" y="2227883"/>
            <a:ext cx="3101132" cy="387548"/>
          </a:xfrm>
          <a:prstGeom prst="rect">
            <a:avLst/>
          </a:prstGeom>
          <a:noFill/>
          <a:ln/>
        </p:spPr>
        <p:txBody>
          <a:bodyPr wrap="none" lIns="0" tIns="0" rIns="0" bIns="0" rtlCol="0" anchor="t"/>
          <a:lstStyle/>
          <a:p>
            <a:pPr algn="ctr"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7" name="Text 4"/>
          <p:cNvSpPr/>
          <p:nvPr/>
        </p:nvSpPr>
        <p:spPr>
          <a:xfrm>
            <a:off x="496119" y="2801466"/>
            <a:ext cx="4722763" cy="396925"/>
          </a:xfrm>
          <a:prstGeom prst="rect">
            <a:avLst/>
          </a:prstGeom>
          <a:noFill/>
          <a:ln/>
        </p:spPr>
        <p:txBody>
          <a:bodyPr wrap="square" lIns="0" tIns="0" rIns="0" bIns="0" rtlCol="0" anchor="t"/>
          <a:lstStyle/>
          <a:p>
            <a:pPr algn="ctr" indent="0" marL="0">
              <a:lnSpc>
                <a:spcPts val="1550"/>
              </a:lnSpc>
              <a:buNone/>
            </a:pPr>
            <a:r>
              <a:rPr lang="en-US" sz="950" dirty="0">
                <a:solidFill>
                  <a:srgbClr val="3C3939"/>
                </a:solidFill>
                <a:latin typeface="Roboto" pitchFamily="34" charset="0"/>
                <a:ea typeface="Roboto" pitchFamily="34" charset="-122"/>
                <a:cs typeface="Roboto" pitchFamily="34" charset="-120"/>
              </a:rPr>
              <a:t>Let's implement the full DELETE operation — filtering the row out of the DataFrame and saving the result. We'll then verify the item is gone from future GET requests.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96119" y="1058689"/>
            <a:ext cx="545753" cy="233214"/>
          </a:xfrm>
          <a:prstGeom prst="roundRect">
            <a:avLst>
              <a:gd name="adj" fmla="val 17872"/>
            </a:avLst>
          </a:prstGeom>
          <a:solidFill>
            <a:srgbClr val="E1E1EA"/>
          </a:solidFill>
          <a:ln/>
        </p:spPr>
      </p:sp>
      <p:sp>
        <p:nvSpPr>
          <p:cNvPr id="3" name="Text 1"/>
          <p:cNvSpPr/>
          <p:nvPr/>
        </p:nvSpPr>
        <p:spPr>
          <a:xfrm>
            <a:off x="570533" y="109589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46</a:t>
            </a:r>
            <a:endParaRPr lang="en-US" sz="750" dirty="0"/>
          </a:p>
        </p:txBody>
      </p:sp>
      <p:sp>
        <p:nvSpPr>
          <p:cNvPr id="4" name="Text 2"/>
          <p:cNvSpPr/>
          <p:nvPr/>
        </p:nvSpPr>
        <p:spPr>
          <a:xfrm>
            <a:off x="496119" y="1341462"/>
            <a:ext cx="3946475"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Full CRUD Backend System</a:t>
            </a:r>
            <a:endParaRPr lang="en-US" sz="2400" dirty="0"/>
          </a:p>
        </p:txBody>
      </p:sp>
      <p:sp>
        <p:nvSpPr>
          <p:cNvPr id="5" name="Text 3"/>
          <p:cNvSpPr/>
          <p:nvPr/>
        </p:nvSpPr>
        <p:spPr>
          <a:xfrm>
            <a:off x="496119" y="1915046"/>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With all four operations implemented, you now have a complete, functional backend. Here's the HTTP method mapping:</a:t>
            </a:r>
            <a:endParaRPr lang="en-US" sz="950" dirty="0"/>
          </a:p>
        </p:txBody>
      </p:sp>
      <p:sp>
        <p:nvSpPr>
          <p:cNvPr id="6" name="Shape 4"/>
          <p:cNvSpPr/>
          <p:nvPr/>
        </p:nvSpPr>
        <p:spPr>
          <a:xfrm>
            <a:off x="496119" y="2253035"/>
            <a:ext cx="8151763" cy="1831702"/>
          </a:xfrm>
          <a:prstGeom prst="roundRect">
            <a:avLst>
              <a:gd name="adj" fmla="val 2844"/>
            </a:avLst>
          </a:prstGeom>
          <a:noFill/>
          <a:ln w="4763">
            <a:solidFill>
              <a:srgbClr val="000000">
                <a:alpha val="8000"/>
              </a:srgbClr>
            </a:solidFill>
            <a:prstDash val="solid"/>
          </a:ln>
        </p:spPr>
      </p:sp>
      <p:sp>
        <p:nvSpPr>
          <p:cNvPr id="7" name="Text 5"/>
          <p:cNvSpPr/>
          <p:nvPr/>
        </p:nvSpPr>
        <p:spPr>
          <a:xfrm>
            <a:off x="625004" y="2336974"/>
            <a:ext cx="178519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HTTP Method</a:t>
            </a:r>
            <a:endParaRPr lang="en-US" sz="950" dirty="0"/>
          </a:p>
        </p:txBody>
      </p:sp>
      <p:sp>
        <p:nvSpPr>
          <p:cNvPr id="8" name="Text 6"/>
          <p:cNvSpPr/>
          <p:nvPr/>
        </p:nvSpPr>
        <p:spPr>
          <a:xfrm>
            <a:off x="2662907" y="2336974"/>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Route</a:t>
            </a:r>
            <a:endParaRPr lang="en-US" sz="950" dirty="0"/>
          </a:p>
        </p:txBody>
      </p:sp>
      <p:sp>
        <p:nvSpPr>
          <p:cNvPr id="9" name="Text 7"/>
          <p:cNvSpPr/>
          <p:nvPr/>
        </p:nvSpPr>
        <p:spPr>
          <a:xfrm>
            <a:off x="4698429" y="2336974"/>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Operation</a:t>
            </a:r>
            <a:endParaRPr lang="en-US" sz="950" dirty="0"/>
          </a:p>
        </p:txBody>
      </p:sp>
      <p:sp>
        <p:nvSpPr>
          <p:cNvPr id="10" name="Text 8"/>
          <p:cNvSpPr/>
          <p:nvPr/>
        </p:nvSpPr>
        <p:spPr>
          <a:xfrm>
            <a:off x="6733952" y="2336974"/>
            <a:ext cx="178519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Action</a:t>
            </a:r>
            <a:endParaRPr lang="en-US" sz="950" dirty="0"/>
          </a:p>
        </p:txBody>
      </p:sp>
      <p:sp>
        <p:nvSpPr>
          <p:cNvPr id="11" name="Text 9"/>
          <p:cNvSpPr/>
          <p:nvPr/>
        </p:nvSpPr>
        <p:spPr>
          <a:xfrm>
            <a:off x="625004" y="2698552"/>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POST</a:t>
            </a:r>
            <a:endParaRPr lang="en-US" sz="950" dirty="0"/>
          </a:p>
        </p:txBody>
      </p:sp>
      <p:sp>
        <p:nvSpPr>
          <p:cNvPr id="12" name="Text 10"/>
          <p:cNvSpPr/>
          <p:nvPr/>
        </p:nvSpPr>
        <p:spPr>
          <a:xfrm>
            <a:off x="2662907" y="2698552"/>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a:t>
            </a:r>
            <a:endParaRPr lang="en-US" sz="950" dirty="0"/>
          </a:p>
        </p:txBody>
      </p:sp>
      <p:sp>
        <p:nvSpPr>
          <p:cNvPr id="13" name="Text 11"/>
          <p:cNvSpPr/>
          <p:nvPr/>
        </p:nvSpPr>
        <p:spPr>
          <a:xfrm>
            <a:off x="4698429" y="2698552"/>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a:t>
            </a:r>
            <a:endParaRPr lang="en-US" sz="950" dirty="0"/>
          </a:p>
        </p:txBody>
      </p:sp>
      <p:sp>
        <p:nvSpPr>
          <p:cNvPr id="14" name="Text 12"/>
          <p:cNvSpPr/>
          <p:nvPr/>
        </p:nvSpPr>
        <p:spPr>
          <a:xfrm>
            <a:off x="6733952" y="2698552"/>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 a new item</a:t>
            </a:r>
            <a:endParaRPr lang="en-US" sz="950" dirty="0"/>
          </a:p>
        </p:txBody>
      </p:sp>
      <p:sp>
        <p:nvSpPr>
          <p:cNvPr id="15" name="Text 13"/>
          <p:cNvSpPr/>
          <p:nvPr/>
        </p:nvSpPr>
        <p:spPr>
          <a:xfrm>
            <a:off x="625004" y="3064892"/>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a:t>
            </a:r>
            <a:endParaRPr lang="en-US" sz="950" dirty="0"/>
          </a:p>
        </p:txBody>
      </p:sp>
      <p:sp>
        <p:nvSpPr>
          <p:cNvPr id="16" name="Text 14"/>
          <p:cNvSpPr/>
          <p:nvPr/>
        </p:nvSpPr>
        <p:spPr>
          <a:xfrm>
            <a:off x="2662907" y="3064892"/>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a:t>
            </a:r>
            <a:endParaRPr lang="en-US" sz="950" dirty="0"/>
          </a:p>
        </p:txBody>
      </p:sp>
      <p:sp>
        <p:nvSpPr>
          <p:cNvPr id="17" name="Text 15"/>
          <p:cNvSpPr/>
          <p:nvPr/>
        </p:nvSpPr>
        <p:spPr>
          <a:xfrm>
            <a:off x="4698429" y="3064892"/>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Read</a:t>
            </a:r>
            <a:endParaRPr lang="en-US" sz="950" dirty="0"/>
          </a:p>
        </p:txBody>
      </p:sp>
      <p:sp>
        <p:nvSpPr>
          <p:cNvPr id="18" name="Text 16"/>
          <p:cNvSpPr/>
          <p:nvPr/>
        </p:nvSpPr>
        <p:spPr>
          <a:xfrm>
            <a:off x="6733952" y="3064892"/>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Retrieve all items</a:t>
            </a:r>
            <a:endParaRPr lang="en-US" sz="950" dirty="0"/>
          </a:p>
        </p:txBody>
      </p:sp>
      <p:sp>
        <p:nvSpPr>
          <p:cNvPr id="19" name="Text 17"/>
          <p:cNvSpPr/>
          <p:nvPr/>
        </p:nvSpPr>
        <p:spPr>
          <a:xfrm>
            <a:off x="625004" y="3431232"/>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PUT</a:t>
            </a:r>
            <a:endParaRPr lang="en-US" sz="950" dirty="0"/>
          </a:p>
        </p:txBody>
      </p:sp>
      <p:sp>
        <p:nvSpPr>
          <p:cNvPr id="20" name="Text 18"/>
          <p:cNvSpPr/>
          <p:nvPr/>
        </p:nvSpPr>
        <p:spPr>
          <a:xfrm>
            <a:off x="2662907" y="3431232"/>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/items/{id}</a:t>
            </a:r>
            <a:endParaRPr lang="en-US" sz="950" dirty="0"/>
          </a:p>
        </p:txBody>
      </p:sp>
      <p:sp>
        <p:nvSpPr>
          <p:cNvPr id="21" name="Text 19"/>
          <p:cNvSpPr/>
          <p:nvPr/>
        </p:nvSpPr>
        <p:spPr>
          <a:xfrm>
            <a:off x="4698429" y="3431232"/>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Update</a:t>
            </a:r>
            <a:endParaRPr lang="en-US" sz="950" dirty="0"/>
          </a:p>
        </p:txBody>
      </p:sp>
      <p:sp>
        <p:nvSpPr>
          <p:cNvPr id="22" name="Text 20"/>
          <p:cNvSpPr/>
          <p:nvPr/>
        </p:nvSpPr>
        <p:spPr>
          <a:xfrm>
            <a:off x="6733952" y="3431232"/>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Modify existing item</a:t>
            </a:r>
            <a:endParaRPr lang="en-US" sz="950" dirty="0"/>
          </a:p>
        </p:txBody>
      </p:sp>
      <p:sp>
        <p:nvSpPr>
          <p:cNvPr id="23" name="Text 21"/>
          <p:cNvSpPr/>
          <p:nvPr/>
        </p:nvSpPr>
        <p:spPr>
          <a:xfrm>
            <a:off x="625004" y="3797573"/>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DELETE</a:t>
            </a:r>
            <a:endParaRPr lang="en-US" sz="950" dirty="0"/>
          </a:p>
        </p:txBody>
      </p:sp>
      <p:sp>
        <p:nvSpPr>
          <p:cNvPr id="24" name="Text 22"/>
          <p:cNvSpPr/>
          <p:nvPr/>
        </p:nvSpPr>
        <p:spPr>
          <a:xfrm>
            <a:off x="2662907" y="3797573"/>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/items/{id}</a:t>
            </a:r>
            <a:endParaRPr lang="en-US" sz="950" dirty="0"/>
          </a:p>
        </p:txBody>
      </p:sp>
      <p:sp>
        <p:nvSpPr>
          <p:cNvPr id="25" name="Text 23"/>
          <p:cNvSpPr/>
          <p:nvPr/>
        </p:nvSpPr>
        <p:spPr>
          <a:xfrm>
            <a:off x="4698429" y="3797573"/>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Delete</a:t>
            </a:r>
            <a:endParaRPr lang="en-US" sz="950" dirty="0"/>
          </a:p>
        </p:txBody>
      </p:sp>
      <p:sp>
        <p:nvSpPr>
          <p:cNvPr id="26" name="Text 24"/>
          <p:cNvSpPr/>
          <p:nvPr/>
        </p:nvSpPr>
        <p:spPr>
          <a:xfrm>
            <a:off x="6733952" y="3797573"/>
            <a:ext cx="17851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Remove an item</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248022" y="170557"/>
            <a:ext cx="272728" cy="96738"/>
          </a:xfrm>
          <a:prstGeom prst="roundRect">
            <a:avLst>
              <a:gd name="adj" fmla="val 21543"/>
            </a:avLst>
          </a:prstGeom>
          <a:solidFill>
            <a:srgbClr val="E1E1EA"/>
          </a:solidFill>
          <a:ln/>
        </p:spPr>
      </p:sp>
      <p:sp>
        <p:nvSpPr>
          <p:cNvPr id="3" name="Text 1"/>
          <p:cNvSpPr/>
          <p:nvPr/>
        </p:nvSpPr>
        <p:spPr>
          <a:xfrm>
            <a:off x="285229" y="189161"/>
            <a:ext cx="198313" cy="59531"/>
          </a:xfrm>
          <a:prstGeom prst="rect">
            <a:avLst/>
          </a:prstGeom>
          <a:noFill/>
          <a:ln/>
        </p:spPr>
        <p:txBody>
          <a:bodyPr wrap="none" lIns="0" tIns="0" rIns="0" bIns="0" rtlCol="0" anchor="t"/>
          <a:lstStyle/>
          <a:p>
            <a:pPr algn="l" indent="0" marL="0">
              <a:lnSpc>
                <a:spcPts val="450"/>
              </a:lnSpc>
              <a:buNone/>
            </a:pPr>
            <a:r>
              <a:rPr lang="en-US" sz="350" dirty="0">
                <a:solidFill>
                  <a:srgbClr val="3C3939"/>
                </a:solidFill>
                <a:latin typeface="Roboto" pitchFamily="34" charset="0"/>
                <a:ea typeface="Roboto" pitchFamily="34" charset="-122"/>
                <a:cs typeface="Roboto" pitchFamily="34" charset="-120"/>
              </a:rPr>
              <a:t>SLIDE 47</a:t>
            </a:r>
            <a:endParaRPr lang="en-US" sz="350" dirty="0"/>
          </a:p>
        </p:txBody>
      </p:sp>
      <p:sp>
        <p:nvSpPr>
          <p:cNvPr id="4" name="Text 2"/>
          <p:cNvSpPr/>
          <p:nvPr/>
        </p:nvSpPr>
        <p:spPr>
          <a:xfrm>
            <a:off x="248022" y="279648"/>
            <a:ext cx="229284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Complete Backend Architecture</a:t>
            </a:r>
            <a:endParaRPr lang="en-US" sz="1200" dirty="0"/>
          </a:p>
        </p:txBody>
      </p:sp>
      <p:sp>
        <p:nvSpPr>
          <p:cNvPr id="5" name="Text 3"/>
          <p:cNvSpPr/>
          <p:nvPr/>
        </p:nvSpPr>
        <p:spPr>
          <a:xfrm>
            <a:off x="248022" y="520005"/>
            <a:ext cx="8647956" cy="74340"/>
          </a:xfrm>
          <a:prstGeom prst="rect">
            <a:avLst/>
          </a:prstGeom>
          <a:noFill/>
          <a:ln/>
        </p:spPr>
        <p:txBody>
          <a:bodyPr wrap="none" lIns="0" tIns="0" rIns="0" bIns="0" rtlCol="0" anchor="t"/>
          <a:lstStyle/>
          <a:p>
            <a:pPr algn="l" indent="0" marL="0">
              <a:lnSpc>
                <a:spcPts val="550"/>
              </a:lnSpc>
              <a:buNone/>
            </a:pPr>
            <a:r>
              <a:rPr lang="en-US" sz="450" dirty="0">
                <a:solidFill>
                  <a:srgbClr val="3C3939"/>
                </a:solidFill>
                <a:latin typeface="Roboto" pitchFamily="34" charset="0"/>
                <a:ea typeface="Roboto" pitchFamily="34" charset="-122"/>
                <a:cs typeface="Roboto" pitchFamily="34" charset="-120"/>
              </a:rPr>
              <a:t>Let's trace the full path of a request through the complete system — from the client all the way to persistent storage and back:</a:t>
            </a:r>
            <a:endParaRPr lang="en-US" sz="450" dirty="0"/>
          </a:p>
        </p:txBody>
      </p:sp>
      <p:pic>
        <p:nvPicPr>
          <p:cNvPr id="6" name="Image 0" descr="preencoded.png">    </p:cNvPr>
          <p:cNvPicPr>
            <a:picLocks noChangeAspect="1"/>
          </p:cNvPicPr>
          <p:nvPr/>
        </p:nvPicPr>
        <p:blipFill>
          <a:blip r:embed="rId1"/>
          <a:stretch>
            <a:fillRect/>
          </a:stretch>
        </p:blipFill>
        <p:spPr>
          <a:xfrm>
            <a:off x="2166119" y="629171"/>
            <a:ext cx="4811688" cy="4811613"/>
          </a:xfrm>
          <a:prstGeom prst="rect">
            <a:avLst/>
          </a:prstGeom>
        </p:spPr>
      </p:pic>
      <p:sp>
        <p:nvSpPr>
          <p:cNvPr id="7" name="Text 4"/>
          <p:cNvSpPr/>
          <p:nvPr/>
        </p:nvSpPr>
        <p:spPr>
          <a:xfrm>
            <a:off x="2633463" y="1569057"/>
            <a:ext cx="1550398" cy="243221"/>
          </a:xfrm>
          <a:prstGeom prst="rect">
            <a:avLst/>
          </a:prstGeom>
          <a:noFill/>
          <a:ln/>
        </p:spPr>
        <p:txBody>
          <a:bodyPr wrap="none" lIns="0" tIns="0" rIns="0" bIns="0" rtlCol="0" anchor="t"/>
          <a:lstStyle/>
          <a:p>
            <a:pPr algn="ctr" indent="0" marL="0">
              <a:lnSpc>
                <a:spcPts val="1900"/>
              </a:lnSpc>
              <a:buNone/>
            </a:pPr>
            <a:r>
              <a:rPr lang="en-US" sz="1500" dirty="0">
                <a:solidFill>
                  <a:srgbClr val="FFFFFF"/>
                </a:solidFill>
                <a:latin typeface="Raleway" pitchFamily="34" charset="0"/>
                <a:ea typeface="Raleway" pitchFamily="34" charset="-122"/>
                <a:cs typeface="Raleway" pitchFamily="34" charset="-120"/>
              </a:rPr>
              <a:t>Client</a:t>
            </a:r>
            <a:endParaRPr lang="en-US" sz="1500" dirty="0"/>
          </a:p>
        </p:txBody>
      </p:sp>
      <p:sp>
        <p:nvSpPr>
          <p:cNvPr id="8" name="Text 5"/>
          <p:cNvSpPr/>
          <p:nvPr/>
        </p:nvSpPr>
        <p:spPr>
          <a:xfrm>
            <a:off x="2633463" y="1881461"/>
            <a:ext cx="1550398" cy="291865"/>
          </a:xfrm>
          <a:prstGeom prst="rect">
            <a:avLst/>
          </a:prstGeom>
          <a:noFill/>
          <a:ln/>
        </p:spPr>
        <p:txBody>
          <a:bodyPr wrap="square" lIns="0" tIns="0" rIns="0" bIns="0" rtlCol="0" anchor="t"/>
          <a:lstStyle/>
          <a:p>
            <a:pPr algn="ctr" indent="0" marL="0">
              <a:lnSpc>
                <a:spcPts val="1100"/>
              </a:lnSpc>
              <a:buNone/>
            </a:pPr>
            <a:r>
              <a:rPr lang="en-US" sz="1200" dirty="0">
                <a:solidFill>
                  <a:srgbClr val="FFFFFF"/>
                </a:solidFill>
                <a:latin typeface="Roboto" pitchFamily="34" charset="0"/>
                <a:ea typeface="Roboto" pitchFamily="34" charset="-122"/>
                <a:cs typeface="Roboto" pitchFamily="34" charset="-120"/>
              </a:rPr>
              <a:t>Initiates request to the backend system.</a:t>
            </a:r>
            <a:endParaRPr lang="en-US" sz="1200" dirty="0"/>
          </a:p>
        </p:txBody>
      </p:sp>
      <p:sp>
        <p:nvSpPr>
          <p:cNvPr id="9" name="Text 6"/>
          <p:cNvSpPr/>
          <p:nvPr/>
        </p:nvSpPr>
        <p:spPr>
          <a:xfrm>
            <a:off x="4968383" y="1496091"/>
            <a:ext cx="1550397" cy="243221"/>
          </a:xfrm>
          <a:prstGeom prst="rect">
            <a:avLst/>
          </a:prstGeom>
          <a:noFill/>
          <a:ln/>
        </p:spPr>
        <p:txBody>
          <a:bodyPr wrap="none" lIns="0" tIns="0" rIns="0" bIns="0" rtlCol="0" anchor="t"/>
          <a:lstStyle/>
          <a:p>
            <a:pPr algn="ctr" indent="0" marL="0">
              <a:lnSpc>
                <a:spcPts val="1900"/>
              </a:lnSpc>
              <a:buNone/>
            </a:pPr>
            <a:r>
              <a:rPr lang="en-US" sz="1500" dirty="0">
                <a:solidFill>
                  <a:srgbClr val="FFFFFF"/>
                </a:solidFill>
                <a:latin typeface="Raleway" pitchFamily="34" charset="0"/>
                <a:ea typeface="Raleway" pitchFamily="34" charset="-122"/>
                <a:cs typeface="Raleway" pitchFamily="34" charset="-120"/>
              </a:rPr>
              <a:t>FastAPI Routes</a:t>
            </a:r>
            <a:endParaRPr lang="en-US" sz="1500" dirty="0"/>
          </a:p>
        </p:txBody>
      </p:sp>
      <p:sp>
        <p:nvSpPr>
          <p:cNvPr id="10" name="Text 7"/>
          <p:cNvSpPr/>
          <p:nvPr/>
        </p:nvSpPr>
        <p:spPr>
          <a:xfrm>
            <a:off x="4968383" y="1808495"/>
            <a:ext cx="1550397" cy="437798"/>
          </a:xfrm>
          <a:prstGeom prst="rect">
            <a:avLst/>
          </a:prstGeom>
          <a:noFill/>
          <a:ln/>
        </p:spPr>
        <p:txBody>
          <a:bodyPr wrap="square" lIns="0" tIns="0" rIns="0" bIns="0" rtlCol="0" anchor="t"/>
          <a:lstStyle/>
          <a:p>
            <a:pPr algn="ctr" indent="0" marL="0">
              <a:lnSpc>
                <a:spcPts val="1100"/>
              </a:lnSpc>
              <a:buNone/>
            </a:pPr>
            <a:r>
              <a:rPr lang="en-US" sz="1200" dirty="0">
                <a:solidFill>
                  <a:srgbClr val="FFFFFF"/>
                </a:solidFill>
                <a:latin typeface="Roboto" pitchFamily="34" charset="0"/>
                <a:ea typeface="Roboto" pitchFamily="34" charset="-122"/>
                <a:cs typeface="Roboto" pitchFamily="34" charset="-120"/>
              </a:rPr>
              <a:t>Receives request and dispatches to handlers.</a:t>
            </a:r>
            <a:endParaRPr lang="en-US" sz="1200" dirty="0"/>
          </a:p>
        </p:txBody>
      </p:sp>
      <p:sp>
        <p:nvSpPr>
          <p:cNvPr id="11" name="Text 8"/>
          <p:cNvSpPr/>
          <p:nvPr/>
        </p:nvSpPr>
        <p:spPr>
          <a:xfrm>
            <a:off x="2633597" y="3709266"/>
            <a:ext cx="1550398" cy="486442"/>
          </a:xfrm>
          <a:prstGeom prst="rect">
            <a:avLst/>
          </a:prstGeom>
          <a:noFill/>
          <a:ln/>
        </p:spPr>
        <p:txBody>
          <a:bodyPr wrap="square" lIns="0" tIns="0" rIns="0" bIns="0" rtlCol="0" anchor="t"/>
          <a:lstStyle/>
          <a:p>
            <a:pPr algn="ctr" indent="0" marL="0">
              <a:lnSpc>
                <a:spcPts val="1900"/>
              </a:lnSpc>
              <a:buNone/>
            </a:pPr>
            <a:r>
              <a:rPr lang="en-US" sz="1500" dirty="0">
                <a:solidFill>
                  <a:srgbClr val="FFFFFF"/>
                </a:solidFill>
                <a:latin typeface="Raleway" pitchFamily="34" charset="0"/>
                <a:ea typeface="Raleway" pitchFamily="34" charset="-122"/>
                <a:cs typeface="Raleway" pitchFamily="34" charset="-120"/>
              </a:rPr>
              <a:t>Pydantic Validation</a:t>
            </a:r>
            <a:endParaRPr lang="en-US" sz="1500" dirty="0"/>
          </a:p>
        </p:txBody>
      </p:sp>
      <p:sp>
        <p:nvSpPr>
          <p:cNvPr id="12" name="Text 9"/>
          <p:cNvSpPr/>
          <p:nvPr/>
        </p:nvSpPr>
        <p:spPr>
          <a:xfrm>
            <a:off x="2633597" y="4264890"/>
            <a:ext cx="1550398" cy="437797"/>
          </a:xfrm>
          <a:prstGeom prst="rect">
            <a:avLst/>
          </a:prstGeom>
          <a:noFill/>
          <a:ln/>
        </p:spPr>
        <p:txBody>
          <a:bodyPr wrap="square" lIns="0" tIns="0" rIns="0" bIns="0" rtlCol="0" anchor="t"/>
          <a:lstStyle/>
          <a:p>
            <a:pPr algn="ctr" indent="0" marL="0">
              <a:lnSpc>
                <a:spcPts val="1100"/>
              </a:lnSpc>
              <a:buNone/>
            </a:pPr>
            <a:r>
              <a:rPr lang="en-US" sz="1200" dirty="0">
                <a:solidFill>
                  <a:srgbClr val="FFFFFF"/>
                </a:solidFill>
                <a:latin typeface="Roboto" pitchFamily="34" charset="0"/>
                <a:ea typeface="Roboto" pitchFamily="34" charset="-122"/>
                <a:cs typeface="Roboto" pitchFamily="34" charset="-120"/>
              </a:rPr>
              <a:t>Validates and sanitizes incoming data.</a:t>
            </a:r>
            <a:endParaRPr lang="en-US" sz="1200" dirty="0"/>
          </a:p>
        </p:txBody>
      </p:sp>
      <p:sp>
        <p:nvSpPr>
          <p:cNvPr id="13" name="Text 10"/>
          <p:cNvSpPr/>
          <p:nvPr/>
        </p:nvSpPr>
        <p:spPr>
          <a:xfrm>
            <a:off x="4968383" y="3830876"/>
            <a:ext cx="1550397" cy="243221"/>
          </a:xfrm>
          <a:prstGeom prst="rect">
            <a:avLst/>
          </a:prstGeom>
          <a:noFill/>
          <a:ln/>
        </p:spPr>
        <p:txBody>
          <a:bodyPr wrap="none" lIns="0" tIns="0" rIns="0" bIns="0" rtlCol="0" anchor="t"/>
          <a:lstStyle/>
          <a:p>
            <a:pPr algn="ctr" indent="0" marL="0">
              <a:lnSpc>
                <a:spcPts val="1900"/>
              </a:lnSpc>
              <a:buNone/>
            </a:pPr>
            <a:r>
              <a:rPr lang="en-US" sz="1500" dirty="0">
                <a:solidFill>
                  <a:srgbClr val="FFFFFF"/>
                </a:solidFill>
                <a:latin typeface="Raleway" pitchFamily="34" charset="0"/>
                <a:ea typeface="Raleway" pitchFamily="34" charset="-122"/>
                <a:cs typeface="Raleway" pitchFamily="34" charset="-120"/>
              </a:rPr>
              <a:t>Business Logic</a:t>
            </a:r>
            <a:endParaRPr lang="en-US" sz="1500" dirty="0"/>
          </a:p>
        </p:txBody>
      </p:sp>
      <p:sp>
        <p:nvSpPr>
          <p:cNvPr id="14" name="Text 11"/>
          <p:cNvSpPr/>
          <p:nvPr/>
        </p:nvSpPr>
        <p:spPr>
          <a:xfrm>
            <a:off x="4968383" y="4143280"/>
            <a:ext cx="1550397" cy="437798"/>
          </a:xfrm>
          <a:prstGeom prst="rect">
            <a:avLst/>
          </a:prstGeom>
          <a:noFill/>
          <a:ln/>
        </p:spPr>
        <p:txBody>
          <a:bodyPr wrap="square" lIns="0" tIns="0" rIns="0" bIns="0" rtlCol="0" anchor="t"/>
          <a:lstStyle/>
          <a:p>
            <a:pPr algn="ctr" indent="0" marL="0">
              <a:lnSpc>
                <a:spcPts val="1100"/>
              </a:lnSpc>
              <a:buNone/>
            </a:pPr>
            <a:r>
              <a:rPr lang="en-US" sz="1200" dirty="0">
                <a:solidFill>
                  <a:srgbClr val="FFFFFF"/>
                </a:solidFill>
                <a:latin typeface="Roboto" pitchFamily="34" charset="0"/>
                <a:ea typeface="Roboto" pitchFamily="34" charset="-122"/>
                <a:cs typeface="Roboto" pitchFamily="34" charset="-120"/>
              </a:rPr>
              <a:t>Processes rules and prepares storage payload.</a:t>
            </a:r>
            <a:endParaRPr lang="en-US" sz="1200" dirty="0"/>
          </a:p>
        </p:txBody>
      </p:sp>
      <p:sp>
        <p:nvSpPr>
          <p:cNvPr id="15" name="Text 12"/>
          <p:cNvSpPr/>
          <p:nvPr/>
        </p:nvSpPr>
        <p:spPr>
          <a:xfrm>
            <a:off x="248022" y="5475610"/>
            <a:ext cx="8647956" cy="74340"/>
          </a:xfrm>
          <a:prstGeom prst="rect">
            <a:avLst/>
          </a:prstGeom>
          <a:noFill/>
          <a:ln/>
        </p:spPr>
        <p:txBody>
          <a:bodyPr wrap="none" lIns="0" tIns="0" rIns="0" bIns="0" rtlCol="0" anchor="t"/>
          <a:lstStyle/>
          <a:p>
            <a:pPr algn="l" indent="0" marL="0">
              <a:lnSpc>
                <a:spcPts val="550"/>
              </a:lnSpc>
              <a:buNone/>
            </a:pPr>
            <a:r>
              <a:rPr lang="en-US" sz="450" dirty="0">
                <a:solidFill>
                  <a:srgbClr val="3C3939"/>
                </a:solidFill>
                <a:latin typeface="Roboto" pitchFamily="34" charset="0"/>
                <a:ea typeface="Roboto" pitchFamily="34" charset="-122"/>
                <a:cs typeface="Roboto" pitchFamily="34" charset="-120"/>
              </a:rPr>
              <a:t>Every request flows through this exact pipeline. Validation protects your data layer. Business logic handles the rules. CSV storage makes changes permanent. The response confirms the result to the client.</a:t>
            </a:r>
            <a:endParaRPr lang="en-US" sz="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96119" y="1698427"/>
            <a:ext cx="1449884" cy="242739"/>
          </a:xfrm>
          <a:prstGeom prst="roundRect">
            <a:avLst>
              <a:gd name="adj" fmla="val 17171"/>
            </a:avLst>
          </a:prstGeom>
          <a:noFill/>
          <a:ln w="4763">
            <a:solidFill>
              <a:srgbClr val="1B1B27"/>
            </a:solidFill>
            <a:prstDash val="solid"/>
          </a:ln>
        </p:spPr>
      </p:sp>
      <p:sp>
        <p:nvSpPr>
          <p:cNvPr id="3" name="Text 1"/>
          <p:cNvSpPr/>
          <p:nvPr/>
        </p:nvSpPr>
        <p:spPr>
          <a:xfrm>
            <a:off x="575295" y="1740396"/>
            <a:ext cx="1291530"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MODULE WRAP-UP</a:t>
            </a:r>
            <a:endParaRPr lang="en-US" sz="750" dirty="0"/>
          </a:p>
        </p:txBody>
      </p:sp>
      <p:sp>
        <p:nvSpPr>
          <p:cNvPr id="4" name="Text 2"/>
          <p:cNvSpPr/>
          <p:nvPr/>
        </p:nvSpPr>
        <p:spPr>
          <a:xfrm>
            <a:off x="496119" y="1990725"/>
            <a:ext cx="427955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Module</a:t>
            </a:r>
            <a:endParaRPr lang="en-US" sz="3350" dirty="0"/>
          </a:p>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Wrap-Up</a:t>
            </a:r>
            <a:endParaRPr lang="en-US" sz="3350" dirty="0"/>
          </a:p>
        </p:txBody>
      </p:sp>
      <p:sp>
        <p:nvSpPr>
          <p:cNvPr id="5" name="Text 3"/>
          <p:cNvSpPr/>
          <p:nvPr/>
        </p:nvSpPr>
        <p:spPr>
          <a:xfrm>
            <a:off x="496119" y="3246537"/>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Let's consolidate what you've built and learned — and understand why these concepts form the foundation of every real-world backend system.</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509215"/>
            <a:ext cx="545753" cy="233214"/>
          </a:xfrm>
          <a:prstGeom prst="roundRect">
            <a:avLst>
              <a:gd name="adj" fmla="val 17872"/>
            </a:avLst>
          </a:prstGeom>
          <a:solidFill>
            <a:srgbClr val="E1E1EA"/>
          </a:solidFill>
          <a:ln/>
        </p:spPr>
      </p:sp>
      <p:sp>
        <p:nvSpPr>
          <p:cNvPr id="5" name="Text 2"/>
          <p:cNvSpPr/>
          <p:nvPr/>
        </p:nvSpPr>
        <p:spPr>
          <a:xfrm>
            <a:off x="570533" y="546422"/>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48</a:t>
            </a:r>
            <a:endParaRPr lang="en-US" sz="750" dirty="0"/>
          </a:p>
        </p:txBody>
      </p:sp>
      <p:sp>
        <p:nvSpPr>
          <p:cNvPr id="6" name="Text 3"/>
          <p:cNvSpPr/>
          <p:nvPr/>
        </p:nvSpPr>
        <p:spPr>
          <a:xfrm>
            <a:off x="496119" y="791989"/>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You Built</a:t>
            </a:r>
            <a:endParaRPr lang="en-US" sz="2400" dirty="0"/>
          </a:p>
        </p:txBody>
      </p:sp>
      <p:sp>
        <p:nvSpPr>
          <p:cNvPr id="7" name="Shape 4"/>
          <p:cNvSpPr/>
          <p:nvPr/>
        </p:nvSpPr>
        <p:spPr>
          <a:xfrm>
            <a:off x="496119" y="1365572"/>
            <a:ext cx="4722763" cy="724198"/>
          </a:xfrm>
          <a:prstGeom prst="roundRect">
            <a:avLst>
              <a:gd name="adj" fmla="val 7194"/>
            </a:avLst>
          </a:prstGeom>
          <a:solidFill>
            <a:srgbClr val="E1E1EA"/>
          </a:solidFill>
          <a:ln w="4763">
            <a:solidFill>
              <a:srgbClr val="C7C7D0"/>
            </a:solidFill>
            <a:prstDash val="solid"/>
          </a:ln>
        </p:spPr>
      </p:sp>
      <p:sp>
        <p:nvSpPr>
          <p:cNvPr id="8" name="Text 5"/>
          <p:cNvSpPr/>
          <p:nvPr/>
        </p:nvSpPr>
        <p:spPr>
          <a:xfrm>
            <a:off x="624855" y="149430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Persistent Backend</a:t>
            </a:r>
            <a:endParaRPr lang="en-US" sz="1200" dirty="0"/>
          </a:p>
        </p:txBody>
      </p:sp>
      <p:sp>
        <p:nvSpPr>
          <p:cNvPr id="9" name="Text 6"/>
          <p:cNvSpPr/>
          <p:nvPr/>
        </p:nvSpPr>
        <p:spPr>
          <a:xfrm>
            <a:off x="624855" y="1762571"/>
            <a:ext cx="446529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FastAPI server that retains data across restarts</a:t>
            </a:r>
            <a:endParaRPr lang="en-US" sz="950" dirty="0"/>
          </a:p>
        </p:txBody>
      </p:sp>
      <p:sp>
        <p:nvSpPr>
          <p:cNvPr id="10" name="Shape 7"/>
          <p:cNvSpPr/>
          <p:nvPr/>
        </p:nvSpPr>
        <p:spPr>
          <a:xfrm>
            <a:off x="496119" y="2213744"/>
            <a:ext cx="4722763" cy="724198"/>
          </a:xfrm>
          <a:prstGeom prst="roundRect">
            <a:avLst>
              <a:gd name="adj" fmla="val 7194"/>
            </a:avLst>
          </a:prstGeom>
          <a:solidFill>
            <a:srgbClr val="E1E1EA"/>
          </a:solidFill>
          <a:ln w="4763">
            <a:solidFill>
              <a:srgbClr val="C7C7D0"/>
            </a:solidFill>
            <a:prstDash val="solid"/>
          </a:ln>
        </p:spPr>
      </p:sp>
      <p:sp>
        <p:nvSpPr>
          <p:cNvPr id="11" name="Text 8"/>
          <p:cNvSpPr/>
          <p:nvPr/>
        </p:nvSpPr>
        <p:spPr>
          <a:xfrm>
            <a:off x="624855" y="234248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CSV Storage Layer</a:t>
            </a:r>
            <a:endParaRPr lang="en-US" sz="1200" dirty="0"/>
          </a:p>
        </p:txBody>
      </p:sp>
      <p:sp>
        <p:nvSpPr>
          <p:cNvPr id="12" name="Text 9"/>
          <p:cNvSpPr/>
          <p:nvPr/>
        </p:nvSpPr>
        <p:spPr>
          <a:xfrm>
            <a:off x="624855" y="2610743"/>
            <a:ext cx="446529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file-based data store read and written by pandas</a:t>
            </a:r>
            <a:endParaRPr lang="en-US" sz="950" dirty="0"/>
          </a:p>
        </p:txBody>
      </p:sp>
      <p:sp>
        <p:nvSpPr>
          <p:cNvPr id="13" name="Shape 10"/>
          <p:cNvSpPr/>
          <p:nvPr/>
        </p:nvSpPr>
        <p:spPr>
          <a:xfrm>
            <a:off x="496119" y="3061915"/>
            <a:ext cx="4722763" cy="724198"/>
          </a:xfrm>
          <a:prstGeom prst="roundRect">
            <a:avLst>
              <a:gd name="adj" fmla="val 7194"/>
            </a:avLst>
          </a:prstGeom>
          <a:solidFill>
            <a:srgbClr val="E1E1EA"/>
          </a:solidFill>
          <a:ln w="4763">
            <a:solidFill>
              <a:srgbClr val="C7C7D0"/>
            </a:solidFill>
            <a:prstDash val="solid"/>
          </a:ln>
        </p:spPr>
      </p:sp>
      <p:sp>
        <p:nvSpPr>
          <p:cNvPr id="14" name="Text 11"/>
          <p:cNvSpPr/>
          <p:nvPr/>
        </p:nvSpPr>
        <p:spPr>
          <a:xfrm>
            <a:off x="624855" y="319065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Full CRUD API</a:t>
            </a:r>
            <a:endParaRPr lang="en-US" sz="1200" dirty="0"/>
          </a:p>
        </p:txBody>
      </p:sp>
      <p:sp>
        <p:nvSpPr>
          <p:cNvPr id="15" name="Text 12"/>
          <p:cNvSpPr/>
          <p:nvPr/>
        </p:nvSpPr>
        <p:spPr>
          <a:xfrm>
            <a:off x="624855" y="3458914"/>
            <a:ext cx="446529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Four working endpoints for Create, Read, Update, Delete</a:t>
            </a:r>
            <a:endParaRPr lang="en-US" sz="950" dirty="0"/>
          </a:p>
        </p:txBody>
      </p:sp>
      <p:sp>
        <p:nvSpPr>
          <p:cNvPr id="16" name="Shape 13"/>
          <p:cNvSpPr/>
          <p:nvPr/>
        </p:nvSpPr>
        <p:spPr>
          <a:xfrm>
            <a:off x="496119" y="3910087"/>
            <a:ext cx="4722763" cy="724198"/>
          </a:xfrm>
          <a:prstGeom prst="roundRect">
            <a:avLst>
              <a:gd name="adj" fmla="val 7194"/>
            </a:avLst>
          </a:prstGeom>
          <a:solidFill>
            <a:srgbClr val="E1E1EA"/>
          </a:solidFill>
          <a:ln w="4763">
            <a:solidFill>
              <a:srgbClr val="C7C7D0"/>
            </a:solidFill>
            <a:prstDash val="solid"/>
          </a:ln>
        </p:spPr>
      </p:sp>
      <p:sp>
        <p:nvSpPr>
          <p:cNvPr id="17" name="Text 14"/>
          <p:cNvSpPr/>
          <p:nvPr/>
        </p:nvSpPr>
        <p:spPr>
          <a:xfrm>
            <a:off x="624855" y="403882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Live Data Flow</a:t>
            </a:r>
            <a:endParaRPr lang="en-US" sz="1200" dirty="0"/>
          </a:p>
        </p:txBody>
      </p:sp>
      <p:sp>
        <p:nvSpPr>
          <p:cNvPr id="18" name="Text 15"/>
          <p:cNvSpPr/>
          <p:nvPr/>
        </p:nvSpPr>
        <p:spPr>
          <a:xfrm>
            <a:off x="624855" y="4307086"/>
            <a:ext cx="446529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Changes persist immediately and are visible in future requests</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96119" y="1135559"/>
            <a:ext cx="545753" cy="233214"/>
          </a:xfrm>
          <a:prstGeom prst="roundRect">
            <a:avLst>
              <a:gd name="adj" fmla="val 17872"/>
            </a:avLst>
          </a:prstGeom>
          <a:solidFill>
            <a:srgbClr val="E1E1EA"/>
          </a:solidFill>
          <a:ln/>
        </p:spPr>
      </p:sp>
      <p:sp>
        <p:nvSpPr>
          <p:cNvPr id="3" name="Text 1"/>
          <p:cNvSpPr/>
          <p:nvPr/>
        </p:nvSpPr>
        <p:spPr>
          <a:xfrm>
            <a:off x="570533" y="1172766"/>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49</a:t>
            </a:r>
            <a:endParaRPr lang="en-US" sz="750" dirty="0"/>
          </a:p>
        </p:txBody>
      </p:sp>
      <p:sp>
        <p:nvSpPr>
          <p:cNvPr id="4" name="Text 2"/>
          <p:cNvSpPr/>
          <p:nvPr/>
        </p:nvSpPr>
        <p:spPr>
          <a:xfrm>
            <a:off x="496119" y="141833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You Learned</a:t>
            </a:r>
            <a:endParaRPr lang="en-US" sz="2400" dirty="0"/>
          </a:p>
        </p:txBody>
      </p:sp>
      <p:sp>
        <p:nvSpPr>
          <p:cNvPr id="5" name="Text 3"/>
          <p:cNvSpPr/>
          <p:nvPr/>
        </p:nvSpPr>
        <p:spPr>
          <a:xfrm>
            <a:off x="496119" y="199191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01</a:t>
            </a:r>
            <a:endParaRPr lang="en-US" sz="950" dirty="0"/>
          </a:p>
        </p:txBody>
      </p:sp>
      <p:sp>
        <p:nvSpPr>
          <p:cNvPr id="6" name="Shape 4"/>
          <p:cNvSpPr/>
          <p:nvPr/>
        </p:nvSpPr>
        <p:spPr>
          <a:xfrm>
            <a:off x="496119" y="2188369"/>
            <a:ext cx="2634555" cy="14288"/>
          </a:xfrm>
          <a:prstGeom prst="rect">
            <a:avLst/>
          </a:prstGeom>
          <a:solidFill>
            <a:srgbClr val="1B1B27"/>
          </a:solidFill>
          <a:ln/>
        </p:spPr>
      </p:sp>
      <p:sp>
        <p:nvSpPr>
          <p:cNvPr id="7" name="Text 5"/>
          <p:cNvSpPr/>
          <p:nvPr/>
        </p:nvSpPr>
        <p:spPr>
          <a:xfrm>
            <a:off x="496119" y="22789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State</a:t>
            </a:r>
            <a:endParaRPr lang="en-US" sz="1200" dirty="0"/>
          </a:p>
        </p:txBody>
      </p:sp>
      <p:sp>
        <p:nvSpPr>
          <p:cNvPr id="8" name="Text 6"/>
          <p:cNvSpPr/>
          <p:nvPr/>
        </p:nvSpPr>
        <p:spPr>
          <a:xfrm>
            <a:off x="496119" y="2547193"/>
            <a:ext cx="263455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What it means for a system to "remember" information between requests</a:t>
            </a:r>
            <a:endParaRPr lang="en-US" sz="950" dirty="0"/>
          </a:p>
        </p:txBody>
      </p:sp>
      <p:sp>
        <p:nvSpPr>
          <p:cNvPr id="9" name="Text 7"/>
          <p:cNvSpPr/>
          <p:nvPr/>
        </p:nvSpPr>
        <p:spPr>
          <a:xfrm>
            <a:off x="3254648" y="199191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02</a:t>
            </a:r>
            <a:endParaRPr lang="en-US" sz="950" dirty="0"/>
          </a:p>
        </p:txBody>
      </p:sp>
      <p:sp>
        <p:nvSpPr>
          <p:cNvPr id="10" name="Shape 8"/>
          <p:cNvSpPr/>
          <p:nvPr/>
        </p:nvSpPr>
        <p:spPr>
          <a:xfrm>
            <a:off x="3254648" y="2188369"/>
            <a:ext cx="2634630" cy="14288"/>
          </a:xfrm>
          <a:prstGeom prst="rect">
            <a:avLst/>
          </a:prstGeom>
          <a:solidFill>
            <a:srgbClr val="1B1B27"/>
          </a:solidFill>
          <a:ln/>
        </p:spPr>
      </p:sp>
      <p:sp>
        <p:nvSpPr>
          <p:cNvPr id="11" name="Text 9"/>
          <p:cNvSpPr/>
          <p:nvPr/>
        </p:nvSpPr>
        <p:spPr>
          <a:xfrm>
            <a:off x="3254648" y="22789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Persistence</a:t>
            </a:r>
            <a:endParaRPr lang="en-US" sz="1200" dirty="0"/>
          </a:p>
        </p:txBody>
      </p:sp>
      <p:sp>
        <p:nvSpPr>
          <p:cNvPr id="12" name="Text 10"/>
          <p:cNvSpPr/>
          <p:nvPr/>
        </p:nvSpPr>
        <p:spPr>
          <a:xfrm>
            <a:off x="3254648" y="2547193"/>
            <a:ext cx="263463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difference between RAM (temporary) and disk (permanent) storage</a:t>
            </a:r>
            <a:endParaRPr lang="en-US" sz="950" dirty="0"/>
          </a:p>
        </p:txBody>
      </p:sp>
      <p:sp>
        <p:nvSpPr>
          <p:cNvPr id="13" name="Text 11"/>
          <p:cNvSpPr/>
          <p:nvPr/>
        </p:nvSpPr>
        <p:spPr>
          <a:xfrm>
            <a:off x="6013252" y="1991916"/>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03</a:t>
            </a:r>
            <a:endParaRPr lang="en-US" sz="950" dirty="0"/>
          </a:p>
        </p:txBody>
      </p:sp>
      <p:sp>
        <p:nvSpPr>
          <p:cNvPr id="14" name="Shape 12"/>
          <p:cNvSpPr/>
          <p:nvPr/>
        </p:nvSpPr>
        <p:spPr>
          <a:xfrm>
            <a:off x="6013252" y="2188369"/>
            <a:ext cx="2634555" cy="14288"/>
          </a:xfrm>
          <a:prstGeom prst="rect">
            <a:avLst/>
          </a:prstGeom>
          <a:solidFill>
            <a:srgbClr val="1B1B27"/>
          </a:solidFill>
          <a:ln/>
        </p:spPr>
      </p:sp>
      <p:sp>
        <p:nvSpPr>
          <p:cNvPr id="15" name="Text 13"/>
          <p:cNvSpPr/>
          <p:nvPr/>
        </p:nvSpPr>
        <p:spPr>
          <a:xfrm>
            <a:off x="6013252" y="22789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CRUD</a:t>
            </a:r>
            <a:endParaRPr lang="en-US" sz="1200" dirty="0"/>
          </a:p>
        </p:txBody>
      </p:sp>
      <p:sp>
        <p:nvSpPr>
          <p:cNvPr id="16" name="Text 14"/>
          <p:cNvSpPr/>
          <p:nvPr/>
        </p:nvSpPr>
        <p:spPr>
          <a:xfrm>
            <a:off x="6013252" y="2547193"/>
            <a:ext cx="263455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four fundamental operations every data system must support</a:t>
            </a:r>
            <a:endParaRPr lang="en-US" sz="950" dirty="0"/>
          </a:p>
        </p:txBody>
      </p:sp>
      <p:sp>
        <p:nvSpPr>
          <p:cNvPr id="17" name="Text 15"/>
          <p:cNvSpPr/>
          <p:nvPr/>
        </p:nvSpPr>
        <p:spPr>
          <a:xfrm>
            <a:off x="496119" y="3161109"/>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04</a:t>
            </a:r>
            <a:endParaRPr lang="en-US" sz="950" dirty="0"/>
          </a:p>
        </p:txBody>
      </p:sp>
      <p:sp>
        <p:nvSpPr>
          <p:cNvPr id="18" name="Shape 16"/>
          <p:cNvSpPr/>
          <p:nvPr/>
        </p:nvSpPr>
        <p:spPr>
          <a:xfrm>
            <a:off x="496119" y="3357562"/>
            <a:ext cx="4013820" cy="14288"/>
          </a:xfrm>
          <a:prstGeom prst="rect">
            <a:avLst/>
          </a:prstGeom>
          <a:solidFill>
            <a:srgbClr val="1B1B27"/>
          </a:solidFill>
          <a:ln/>
        </p:spPr>
      </p:sp>
      <p:sp>
        <p:nvSpPr>
          <p:cNvPr id="19" name="Text 17"/>
          <p:cNvSpPr/>
          <p:nvPr/>
        </p:nvSpPr>
        <p:spPr>
          <a:xfrm>
            <a:off x="496119" y="344812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Storage Systems</a:t>
            </a:r>
            <a:endParaRPr lang="en-US" sz="1200" dirty="0"/>
          </a:p>
        </p:txBody>
      </p:sp>
      <p:sp>
        <p:nvSpPr>
          <p:cNvPr id="20" name="Text 18"/>
          <p:cNvSpPr/>
          <p:nvPr/>
        </p:nvSpPr>
        <p:spPr>
          <a:xfrm>
            <a:off x="496119" y="3716387"/>
            <a:ext cx="401382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How CSV files serve as a simple, inspectable database layer</a:t>
            </a:r>
            <a:endParaRPr lang="en-US" sz="950" dirty="0"/>
          </a:p>
        </p:txBody>
      </p:sp>
      <p:sp>
        <p:nvSpPr>
          <p:cNvPr id="21" name="Text 19"/>
          <p:cNvSpPr/>
          <p:nvPr/>
        </p:nvSpPr>
        <p:spPr>
          <a:xfrm>
            <a:off x="4633913" y="3161109"/>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05</a:t>
            </a:r>
            <a:endParaRPr lang="en-US" sz="950" dirty="0"/>
          </a:p>
        </p:txBody>
      </p:sp>
      <p:sp>
        <p:nvSpPr>
          <p:cNvPr id="22" name="Shape 20"/>
          <p:cNvSpPr/>
          <p:nvPr/>
        </p:nvSpPr>
        <p:spPr>
          <a:xfrm>
            <a:off x="4633913" y="3357562"/>
            <a:ext cx="4013895" cy="14288"/>
          </a:xfrm>
          <a:prstGeom prst="rect">
            <a:avLst/>
          </a:prstGeom>
          <a:solidFill>
            <a:srgbClr val="1B1B27"/>
          </a:solidFill>
          <a:ln/>
        </p:spPr>
      </p:sp>
      <p:sp>
        <p:nvSpPr>
          <p:cNvPr id="23" name="Text 21"/>
          <p:cNvSpPr/>
          <p:nvPr/>
        </p:nvSpPr>
        <p:spPr>
          <a:xfrm>
            <a:off x="4633913" y="344812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Backend Data Flow</a:t>
            </a:r>
            <a:endParaRPr lang="en-US" sz="1200" dirty="0"/>
          </a:p>
        </p:txBody>
      </p:sp>
      <p:sp>
        <p:nvSpPr>
          <p:cNvPr id="24" name="Text 22"/>
          <p:cNvSpPr/>
          <p:nvPr/>
        </p:nvSpPr>
        <p:spPr>
          <a:xfrm>
            <a:off x="4633913" y="3716387"/>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How requests travel through validation, logic, and storage layers</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Shape 1"/>
          <p:cNvSpPr/>
          <p:nvPr/>
        </p:nvSpPr>
        <p:spPr>
          <a:xfrm>
            <a:off x="496119" y="1005632"/>
            <a:ext cx="545753" cy="233214"/>
          </a:xfrm>
          <a:prstGeom prst="roundRect">
            <a:avLst>
              <a:gd name="adj" fmla="val 17872"/>
            </a:avLst>
          </a:prstGeom>
          <a:solidFill>
            <a:srgbClr val="E1E1EA"/>
          </a:solidFill>
          <a:ln/>
        </p:spPr>
      </p:sp>
      <p:sp>
        <p:nvSpPr>
          <p:cNvPr id="5" name="Text 2"/>
          <p:cNvSpPr/>
          <p:nvPr/>
        </p:nvSpPr>
        <p:spPr>
          <a:xfrm>
            <a:off x="570533" y="1042839"/>
            <a:ext cx="396925"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SLIDE 50</a:t>
            </a:r>
            <a:endParaRPr lang="en-US" sz="750" dirty="0"/>
          </a:p>
        </p:txBody>
      </p:sp>
      <p:sp>
        <p:nvSpPr>
          <p:cNvPr id="6" name="Text 3"/>
          <p:cNvSpPr/>
          <p:nvPr/>
        </p:nvSpPr>
        <p:spPr>
          <a:xfrm>
            <a:off x="496119" y="128840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Key Takeaway</a:t>
            </a:r>
            <a:endParaRPr lang="en-US" sz="2400" dirty="0"/>
          </a:p>
        </p:txBody>
      </p:sp>
      <p:sp>
        <p:nvSpPr>
          <p:cNvPr id="7" name="Text 4"/>
          <p:cNvSpPr/>
          <p:nvPr/>
        </p:nvSpPr>
        <p:spPr>
          <a:xfrm>
            <a:off x="682154" y="2001515"/>
            <a:ext cx="453672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Backend systems only become truly useful when they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remember data</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Persistence transforms a simple request handler into a real application.</a:t>
            </a:r>
            <a:endParaRPr lang="en-US" sz="950" dirty="0"/>
          </a:p>
        </p:txBody>
      </p:sp>
      <p:sp>
        <p:nvSpPr>
          <p:cNvPr id="8" name="Shape 5"/>
          <p:cNvSpPr/>
          <p:nvPr/>
        </p:nvSpPr>
        <p:spPr>
          <a:xfrm>
            <a:off x="496119" y="1861989"/>
            <a:ext cx="14288" cy="675977"/>
          </a:xfrm>
          <a:prstGeom prst="rect">
            <a:avLst/>
          </a:prstGeom>
          <a:solidFill>
            <a:srgbClr val="1B1B27"/>
          </a:solidFill>
          <a:ln/>
        </p:spPr>
      </p:sp>
      <p:sp>
        <p:nvSpPr>
          <p:cNvPr id="9" name="Text 6"/>
          <p:cNvSpPr/>
          <p:nvPr/>
        </p:nvSpPr>
        <p:spPr>
          <a:xfrm>
            <a:off x="496119" y="2677492"/>
            <a:ext cx="4722763"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concept in this module — state, persistence, CRUD, CSV storage — applies directly when you graduate to real databases like PostgreSQL or MongoDB. The patterns don't change. Only the storage engine does.</a:t>
            </a:r>
            <a:endParaRPr lang="en-US" sz="950" dirty="0"/>
          </a:p>
        </p:txBody>
      </p:sp>
      <p:sp>
        <p:nvSpPr>
          <p:cNvPr id="10" name="Shape 7"/>
          <p:cNvSpPr/>
          <p:nvPr/>
        </p:nvSpPr>
        <p:spPr>
          <a:xfrm>
            <a:off x="496119" y="3412406"/>
            <a:ext cx="4722763" cy="725463"/>
          </a:xfrm>
          <a:prstGeom prst="roundRect">
            <a:avLst>
              <a:gd name="adj" fmla="val 7182"/>
            </a:avLst>
          </a:prstGeom>
          <a:solidFill>
            <a:srgbClr val="B6FCB8"/>
          </a:solidFill>
          <a:ln/>
        </p:spPr>
      </p:sp>
      <p:pic>
        <p:nvPicPr>
          <p:cNvPr id="11" name="Image 1" descr="preencoded.png">    </p:cNvPr>
          <p:cNvPicPr>
            <a:picLocks noChangeAspect="1"/>
          </p:cNvPicPr>
          <p:nvPr/>
        </p:nvPicPr>
        <p:blipFill>
          <a:blip r:embed="rId2"/>
          <a:stretch>
            <a:fillRect/>
          </a:stretch>
        </p:blipFill>
        <p:spPr>
          <a:xfrm>
            <a:off x="620092" y="3596953"/>
            <a:ext cx="155004" cy="123974"/>
          </a:xfrm>
          <a:prstGeom prst="rect">
            <a:avLst/>
          </a:prstGeom>
        </p:spPr>
      </p:pic>
      <p:sp>
        <p:nvSpPr>
          <p:cNvPr id="12" name="Text 8"/>
          <p:cNvSpPr/>
          <p:nvPr/>
        </p:nvSpPr>
        <p:spPr>
          <a:xfrm>
            <a:off x="899071" y="3567336"/>
            <a:ext cx="4195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You now understand the core of how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every production backend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in the world manages data. This is the foundation everything else is built 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2026-05-12T17:26:45Z</dcterms:created>
  <dcterms:modified xsi:type="dcterms:W3CDTF">2026-05-12T17:26:45Z</dcterms:modified>
</cp:coreProperties>
</file>