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Raleway SemiBold"/>
      <p:regular r:id="rId201314"/>
    </p:embeddedFont>
    <p:embeddedFont>
      <p:font typeface="Raleway Bold"/>
      <p:regular r:id="rId201315"/>
    </p:embeddedFont>
    <p:embeddedFont>
      <p:font typeface="Raleway Black"/>
      <p:regular r:id="rId201316"/>
    </p:embeddedFont>
    <p:embeddedFont>
      <p:font typeface="Raleway"/>
      <p:regular r:id="rId201317"/>
    </p:embeddedFont>
    <p:embeddedFont>
      <p:font typeface="Roboto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3.png"/><Relationship Id="rId6" Type="http://schemas.openxmlformats.org/officeDocument/2006/relationships/image" Target="../media/image-9-4.svg"/><Relationship Id="rId7" Type="http://schemas.openxmlformats.org/officeDocument/2006/relationships/image" Target="../media/image-9-3.png"/><Relationship Id="rId8" Type="http://schemas.openxmlformats.org/officeDocument/2006/relationships/image" Target="../media/image-9-4.svg"/><Relationship Id="rId9" Type="http://schemas.openxmlformats.org/officeDocument/2006/relationships/image" Target="../media/image-9-3.png"/><Relationship Id="rId10" Type="http://schemas.openxmlformats.org/officeDocument/2006/relationships/image" Target="../media/image-9-4.svg"/><Relationship Id="rId11" Type="http://schemas.openxmlformats.org/officeDocument/2006/relationships/image" Target="../media/image-9-3.png"/><Relationship Id="rId12" Type="http://schemas.openxmlformats.org/officeDocument/2006/relationships/image" Target="../media/image-9-4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054" y="105370"/>
            <a:ext cx="4431395" cy="6647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0622"/>
            <a:ext cx="6296860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Evaluation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1017588"/>
            <a:ext cx="629686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do we know if an AI system is actually working well?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550690"/>
            <a:ext cx="702848" cy="10361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3779" y="1691184"/>
            <a:ext cx="215468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Question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483779" y="2030214"/>
            <a:ext cx="215468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"Why did Brand A lose market share this quarter?"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86831"/>
            <a:ext cx="702848" cy="10361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3779" y="2727325"/>
            <a:ext cx="215468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483779" y="3066355"/>
            <a:ext cx="215468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Processes the question and generates a free-form response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622973"/>
            <a:ext cx="702848" cy="10361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3779" y="3763466"/>
            <a:ext cx="215468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483779" y="4102497"/>
            <a:ext cx="215468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fluent, confident-sounding answer — but is it actually good?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3987700" y="1550690"/>
            <a:ext cx="2976984" cy="866180"/>
          </a:xfrm>
          <a:prstGeom prst="roundRect">
            <a:avLst>
              <a:gd name="adj" fmla="val 681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147240" y="1710234"/>
            <a:ext cx="265790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Correct?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147240" y="2049264"/>
            <a:ext cx="265790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 the facts right?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987700" y="2536329"/>
            <a:ext cx="2976984" cy="866180"/>
          </a:xfrm>
          <a:prstGeom prst="roundRect">
            <a:avLst>
              <a:gd name="adj" fmla="val 681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147240" y="2695873"/>
            <a:ext cx="265790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Useful?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147240" y="3034903"/>
            <a:ext cx="265790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it answer the question?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987700" y="3521968"/>
            <a:ext cx="2976984" cy="866180"/>
          </a:xfrm>
          <a:prstGeom prst="roundRect">
            <a:avLst>
              <a:gd name="adj" fmla="val 681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147240" y="3681512"/>
            <a:ext cx="265790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Grounded?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147240" y="4020542"/>
            <a:ext cx="265790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Supported by evidence?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987700" y="4507607"/>
            <a:ext cx="2976984" cy="866180"/>
          </a:xfrm>
          <a:prstGeom prst="roundRect">
            <a:avLst>
              <a:gd name="adj" fmla="val 681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147240" y="4667151"/>
            <a:ext cx="265790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Relevant?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147240" y="5006181"/>
            <a:ext cx="265790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topic and complete?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872309" y="5776813"/>
            <a:ext cx="60860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traditional ML, we usually know what the correct answer looks like. With LLMs — what does "correct" actually mean?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61475" y="5642471"/>
            <a:ext cx="19050" cy="684808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952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ML Evaluation to LLM Evaluation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43112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from what you already know — then see where LLMs break the mold.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0274" y="1585516"/>
            <a:ext cx="5465328" cy="4365030"/>
          </a:xfrm>
          <a:prstGeom prst="roundRect">
            <a:avLst>
              <a:gd name="adj" fmla="val 231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00765" y="1719858"/>
            <a:ext cx="1057745" cy="213717"/>
          </a:xfrm>
          <a:prstGeom prst="roundRect">
            <a:avLst>
              <a:gd name="adj" fmla="val 2210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85098" y="1762026"/>
            <a:ext cx="1498662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00765" y="1981299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Label-Oriented Evaluation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0765" y="2335213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0765" y="2555081"/>
            <a:ext cx="518434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700765" y="2663428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 → Model → Prediction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0765" y="3107829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0765" y="3327698"/>
            <a:ext cx="518434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700765" y="3436045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Compare to Known Label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0765" y="3775075"/>
            <a:ext cx="518434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Actual: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 Growth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  Prediction: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 Growth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  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0765" y="4207966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0765" y="4427835"/>
            <a:ext cx="518434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700765" y="4536182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Compute Metric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0765" y="4875213"/>
            <a:ext cx="5184348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· Precision · Recall · F1 · ROC-AUC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0765" y="5322987"/>
            <a:ext cx="5184348" cy="493216"/>
          </a:xfrm>
          <a:prstGeom prst="roundRect">
            <a:avLst>
              <a:gd name="adj" fmla="val 11971"/>
            </a:avLst>
          </a:prstGeom>
          <a:solidFill>
            <a:srgbClr val="183A13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55" y="5507038"/>
            <a:ext cx="175712" cy="14049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57457" y="5465564"/>
            <a:ext cx="519675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relatively clear evaluation target exists.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73643" y="1719858"/>
            <a:ext cx="387936" cy="213717"/>
          </a:xfrm>
          <a:prstGeom prst="roundRect">
            <a:avLst>
              <a:gd name="adj" fmla="val 22102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57977" y="1762026"/>
            <a:ext cx="828853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273643" y="1981299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Open-Ended Evaluation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273643" y="2320330"/>
            <a:ext cx="587251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Question: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"Why did Brand A lose market share this quarter?"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73643" y="2662734"/>
            <a:ext cx="2571686" cy="1282303"/>
          </a:xfrm>
          <a:prstGeom prst="roundRect">
            <a:avLst>
              <a:gd name="adj" fmla="val 460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33183" y="2822277"/>
            <a:ext cx="225260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433183" y="3161308"/>
            <a:ext cx="225260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"Distribution declined."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964785" y="2662734"/>
            <a:ext cx="2571785" cy="1282303"/>
          </a:xfrm>
          <a:prstGeom prst="roundRect">
            <a:avLst>
              <a:gd name="adj" fmla="val 460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24325" y="2822277"/>
            <a:ext cx="225270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9124325" y="3161308"/>
            <a:ext cx="2252705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"Distribution declined significantly, while competitor promotions increased."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73643" y="4064496"/>
            <a:ext cx="2571686" cy="1074241"/>
          </a:xfrm>
          <a:prstGeom prst="roundRect">
            <a:avLst>
              <a:gd name="adj" fmla="val 5496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33183" y="4224040"/>
            <a:ext cx="225260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6433183" y="4563070"/>
            <a:ext cx="225260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"The main issue was pricing."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964785" y="4064496"/>
            <a:ext cx="2571785" cy="1074241"/>
          </a:xfrm>
          <a:prstGeom prst="roundRect">
            <a:avLst>
              <a:gd name="adj" fmla="val 5496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124325" y="4224040"/>
            <a:ext cx="225270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9124325" y="4563070"/>
            <a:ext cx="225270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"Brand A's market share fell from 18.2% to 15.9%."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273643" y="5273080"/>
            <a:ext cx="5262927" cy="493216"/>
          </a:xfrm>
          <a:prstGeom prst="roundRect">
            <a:avLst>
              <a:gd name="adj" fmla="val 11971"/>
            </a:avLst>
          </a:prstGeom>
          <a:solidFill>
            <a:srgbClr val="E1E1EA"/>
          </a:solidFill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133" y="5457130"/>
            <a:ext cx="175712" cy="140494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730336" y="5415657"/>
            <a:ext cx="5275329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response is correct? It depends on what we mean by "good."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356682" y="6084888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challenge with LLMs is not just measuring correctness — it is </a:t>
            </a:r>
            <a:pPr algn="ctr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defining what "good" means</a:t>
            </a:r>
            <a:pPr algn="ctr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the first place.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768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One Metric Is Not Enough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45109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four responses below are fluent and grammatically correct. Yet they vary dramatically in quality — and a single metric cannot capture that difference.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60377"/>
            <a:ext cx="1127295" cy="696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963763"/>
            <a:ext cx="256216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Response 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3321447"/>
            <a:ext cx="2562161" cy="1157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"Brand A's distribution fell from 82% to 71%."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Correct fact   △ Does not fully answer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303" y="2060377"/>
            <a:ext cx="1127295" cy="696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0303" y="2963763"/>
            <a:ext cx="256216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Response B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430303" y="3321447"/>
            <a:ext cx="2562161" cy="1157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"Brand A lost share because its price increased by 18%."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Sounds plausible   ✗ Unsupported by data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132" y="2060377"/>
            <a:ext cx="1127295" cy="6967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99132" y="2963763"/>
            <a:ext cx="256216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Response C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199132" y="3321447"/>
            <a:ext cx="2562161" cy="1157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"Brand A currently has 15.9% market share."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Correct fact   ✗ Doesn't answer the question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7960" y="2060377"/>
            <a:ext cx="1127394" cy="6967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7960" y="2963763"/>
            <a:ext cx="25622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Response D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967960" y="3321447"/>
            <a:ext cx="2562260" cy="195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"Brand A's share decline was mainly associated with lower distribution, while increased competitor promotions added pressure."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Correct   ✓ Grounded   ✓ Relevant   ✓ Complete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909516" y="5645051"/>
            <a:ext cx="1062070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LLM quality is multidimensional.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Correctness, Relevance, Groundedness, Completeness, Instruction Following, Clarity, Safety, and Domain-specific criteria all matter — often simultaneously.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61475" y="5459016"/>
            <a:ext cx="19050" cy="901303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445"/>
            <a:ext cx="10868745" cy="98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Evaluating the Content: Correctness, Relevance &amp; Groundedness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858764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three dimensions form the factual foundation of any good LLM response. Each can fail independently — even when the others look fine.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2271812"/>
            <a:ext cx="3523368" cy="2987576"/>
          </a:xfrm>
          <a:prstGeom prst="roundRect">
            <a:avLst>
              <a:gd name="adj" fmla="val 220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4884" y="2435225"/>
            <a:ext cx="319655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 Correctness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4884" y="2770287"/>
            <a:ext cx="3196550" cy="231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Are the factual claims right?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Data: Distribution = 82% → 71%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"Distribution declined by 11 percentage points."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"Distribution increased to 91%."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Checks whether the LLM stated something that is objectively true or false given the available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4064" y="2271812"/>
            <a:ext cx="3523467" cy="2987576"/>
          </a:xfrm>
          <a:prstGeom prst="roundRect">
            <a:avLst>
              <a:gd name="adj" fmla="val 220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7473" y="2435225"/>
            <a:ext cx="3196649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↔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Relevance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97473" y="2776637"/>
            <a:ext cx="3196649" cy="231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Does it answer the actual question?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Q: "Why did Brand A lose market share?"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Factually correct: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"Brand A has 15.9% market share."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Does not answer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why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it restates a fact without explaining the cause.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Relevance is about intent alignment, not just accuracy.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06753" y="2271812"/>
            <a:ext cx="3523368" cy="2987576"/>
          </a:xfrm>
          <a:prstGeom prst="roundRect">
            <a:avLst>
              <a:gd name="adj" fmla="val 220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0162" y="2435225"/>
            <a:ext cx="319655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⚓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Groundedness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70162" y="2776637"/>
            <a:ext cx="3196550" cy="1739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Are claims supported by evidence?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Data: Price = ₹95 → ₹96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"Brand A lost share because its price increased by 18%."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Unsupported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</a:t>
            </a:r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"Brand A's price remained relatively stable at ₹95–₹96."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Grounded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1475" y="5427266"/>
            <a:ext cx="10868745" cy="852289"/>
          </a:xfrm>
          <a:prstGeom prst="roundRect">
            <a:avLst>
              <a:gd name="adj" fmla="val 7743"/>
            </a:avLst>
          </a:prstGeom>
          <a:solidFill>
            <a:srgbClr val="E1E1E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34" y="5643265"/>
            <a:ext cx="196349" cy="15706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71943" y="5615682"/>
            <a:ext cx="1020121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response can be fluent and even technically correct while still failing another important quality dimension. These dimensions are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independent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failure modes.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599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Completeness, Instruction Following &amp; Clarity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95375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Beyond factual accuracy, well-formed LLM responses must cover the full picture, respect user constraints, and communicate clearly.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35001"/>
            <a:ext cx="5293188" cy="14517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0659" y="1563390"/>
            <a:ext cx="4985617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△ Completeness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0659" y="1825228"/>
            <a:ext cx="4985617" cy="93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Available drivers: Distribution ↓   Competitor promotions ↑   Price ≈ stable</a:t>
            </a:r>
            <a:endParaRPr lang="en-US" sz="900" dirty="0"/>
          </a:p>
          <a:p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Response: 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"Brand A lost share because distribution declined."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Correct ✓ Grounded ✓ but 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incomplete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it misses competitive pressure.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Better: </a:t>
            </a:r>
            <a:pPr algn="l" indent="0" marL="0">
              <a:lnSpc>
                <a:spcPct val="113000"/>
              </a:lnSpc>
              <a:buNone/>
            </a:pPr>
            <a:r>
              <a:rPr lang="en-US" sz="9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"Share decline was mainly associated with lower distribution, while increased competitor promotions added pressure. Pricing remained relatively stable."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67732"/>
            <a:ext cx="5293188" cy="16885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0659" y="3096121"/>
            <a:ext cx="4985617" cy="18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Instruction Following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40659" y="3364309"/>
            <a:ext cx="4985617" cy="116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asks: "Explain the decline in exactly 3 simple bullet points for a business audience."</a:t>
            </a:r>
            <a:endParaRPr lang="en-US" sz="900" dirty="0"/>
          </a:p>
          <a:p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Long technical paragraph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• Distribution fell from 82% to 71%.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Competitors increased promotional activity.</a:t>
            </a:r>
            <a:endParaRPr lang="en-US" sz="900" dirty="0"/>
          </a:p>
          <a:p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Pricing stayed relatively stable.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Facts correct ✓   Instructions followed ✓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737199"/>
            <a:ext cx="5293188" cy="14581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0659" y="4865588"/>
            <a:ext cx="4985617" cy="18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Clarity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40659" y="5133777"/>
            <a:ext cx="4985617" cy="93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"Due to promotional competitive dynamics and distribution, despite pricing stability, share experienced deterioration..."</a:t>
            </a:r>
            <a:endParaRPr lang="en-US" sz="900" dirty="0"/>
          </a:p>
          <a:p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"Brand A lost share mainly because distribution declined. Competitor promotions added pressure, while pricing remained stable."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 facts — radically different readability.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3382" y="1435001"/>
            <a:ext cx="3705232" cy="37053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17011" y="5304334"/>
            <a:ext cx="511955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LLM output is not only about factual correctness. A response must also be complete, follow user constraints, and communicate clearly to be genuinely useful.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243382" y="5231408"/>
            <a:ext cx="12700" cy="460772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070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Does "Good" Actually Mean?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83519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There is no single universal "LLM accuracy" metric. Evaluation dimensions should reflect what good behavior means for your specific application.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48495"/>
            <a:ext cx="330688" cy="330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8830" y="2305348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Correctness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98830" y="2663031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 the factual claims accurate?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2248495"/>
            <a:ext cx="330688" cy="3306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36487" y="2305348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Relevance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36487" y="2663031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it answer the user's actual question?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258344"/>
            <a:ext cx="330688" cy="3306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98830" y="3315196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Groundedness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198830" y="3672880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 claims supported by available evidence?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9132" y="3258344"/>
            <a:ext cx="330688" cy="3306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36487" y="3315196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736487" y="3672880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it cover all important information?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268192"/>
            <a:ext cx="330688" cy="3306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98830" y="4325045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Instruction Following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198830" y="4682728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it respect the requested format and constraints?</a:t>
            </a:r>
            <a:endParaRPr lang="en-US" sz="13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9132" y="4268192"/>
            <a:ext cx="330688" cy="3306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736487" y="4325045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Clarity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736487" y="4682728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response understandable and coherent?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5278041"/>
            <a:ext cx="330688" cy="33069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98830" y="5334893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Safety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1198830" y="5692577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behavior appropriate and safe?</a:t>
            </a:r>
            <a:endParaRPr lang="en-US" sz="13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99132" y="5278041"/>
            <a:ext cx="330688" cy="33069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736487" y="5334893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Domain-Specific Criteria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6736487" y="5692577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it satisfy the business requirement?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5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Who — or What — Evaluates the LLM?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3093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single evaluation method handles every case. In practice, real evaluation systems combine all three approaches based on the type of quality being measured.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146201"/>
            <a:ext cx="3512653" cy="3016349"/>
          </a:xfrm>
          <a:prstGeom prst="roundRect">
            <a:avLst>
              <a:gd name="adj" fmla="val 230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119" y="2317849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Deterministic / Code-Based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2675533"/>
            <a:ext cx="3169364" cy="231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when something can be objectively checked: valid JSON? Required fields present? Correct category? Schema followed?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Strengths: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Fast · Cheap · Reproducible · Deterministic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"If it can reliably be checked with code, use code."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146201"/>
            <a:ext cx="3512752" cy="3016349"/>
          </a:xfrm>
          <a:prstGeom prst="roundRect">
            <a:avLst>
              <a:gd name="adj" fmla="val 230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1066" y="2317849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Evaluation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1066" y="2675533"/>
            <a:ext cx="3169464" cy="205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 experts assess correctness, usefulness, nuance, and business quality — judgment that requires real-world context.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Strengths: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High-quality judgment · Domain expertise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Limitations: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Slow · Expensive · Hard to scale · Raters may disagree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146201"/>
            <a:ext cx="3512653" cy="3016349"/>
          </a:xfrm>
          <a:prstGeom prst="roundRect">
            <a:avLst>
              <a:gd name="adj" fmla="val 230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9112" y="2317849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LLM-as-a-Judge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9112" y="2675533"/>
            <a:ext cx="3169364" cy="195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separate LLM evaluates the response against defined criteria: correctness, relevance, groundedness, completeness, instruction following.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Flow: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Question + Context + Candidate Answer + Criteria → Judge LLM → Score / Pass-Fail / Explanation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5348585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E1E1E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588298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731" y="5555159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evaluation systems almost always combine all three. Use code for what code can check. Use humans for high-stakes judgment. Use LLM-as-a-Judge to scale the rest.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5616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LLM-as-a-Judge: Worked Example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35001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Rather than defining LLM-as-a-Judge abstractly, let's walk through what it actually looks like using the Brand A scenario.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269" y="1848048"/>
            <a:ext cx="5469098" cy="4364236"/>
          </a:xfrm>
          <a:prstGeom prst="roundRect">
            <a:avLst>
              <a:gd name="adj" fmla="val 259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5328" y="1997273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5328" y="2392065"/>
            <a:ext cx="5154980" cy="285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Question:</a:t>
            </a:r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"Why did Brand A lose market share?"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Context: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Share: 18.2% → 15.9%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Distribution: 82% → 71%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Price: ₹95 → ₹96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Competitor promotions: Increased significantly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Candidate Answer: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"Brand A lost share mainly because distribution declined significantly."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Criterion: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Groundedness — Are the claims supported by the provided context?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3883" y="2015927"/>
            <a:ext cx="785594" cy="9540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8699" y="2172990"/>
            <a:ext cx="430787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Judge LLM Receives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28699" y="2567781"/>
            <a:ext cx="430787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+ Context + Candidate Answer + Evaluation Criterion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883" y="2970014"/>
            <a:ext cx="785594" cy="18239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8699" y="3127077"/>
            <a:ext cx="430787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Judge LLM Outputs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28699" y="3521869"/>
            <a:ext cx="4307871" cy="111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Score: 5 / 5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"The answer correctly identifies the significant decline in distribution as a factor that is directly supported by the provided data."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93883" y="4961830"/>
            <a:ext cx="5242687" cy="1082576"/>
          </a:xfrm>
          <a:prstGeom prst="roundRect">
            <a:avLst>
              <a:gd name="adj" fmla="val 6096"/>
            </a:avLst>
          </a:prstGeom>
          <a:solidFill>
            <a:srgbClr val="B6FCB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943" y="5184180"/>
            <a:ext cx="196349" cy="1570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04351" y="5135364"/>
            <a:ext cx="457516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evaluated LLM generates the answer. A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separate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LLM evaluates it. This separation is what makes open-ended evaluation scalable.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7895"/>
            <a:ext cx="10868745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Rubrics Make Evaluation Consistent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739378"/>
            <a:ext cx="3479018" cy="34791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249142"/>
            <a:ext cx="5962005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a rubric, asking a judge to score from 1–10 yields inconsistent, uninterpretable results. </a:t>
            </a:r>
            <a:pPr algn="l" indent="0" marL="0">
              <a:lnSpc>
                <a:spcPct val="94000"/>
              </a:lnSpc>
              <a:buNone/>
            </a:pPr>
            <a:r>
              <a:rPr lang="en-US" sz="5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exactly does a 7 mean?</a:t>
            </a:r>
            <a:endParaRPr lang="en-US" sz="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176" y="4355306"/>
            <a:ext cx="3479018" cy="18466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41558" y="5324367"/>
            <a:ext cx="935392" cy="11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Clear Rubric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1941558" y="5474553"/>
            <a:ext cx="1425953" cy="131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3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repeatable, interpretable evaluation</a:t>
            </a:r>
            <a:endParaRPr lang="en-US" sz="550" dirty="0"/>
          </a:p>
        </p:txBody>
      </p:sp>
      <p:sp>
        <p:nvSpPr>
          <p:cNvPr id="8" name="Text 4"/>
          <p:cNvSpPr/>
          <p:nvPr/>
        </p:nvSpPr>
        <p:spPr>
          <a:xfrm>
            <a:off x="1941558" y="4871211"/>
            <a:ext cx="935392" cy="11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Vague Criteria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941558" y="5021397"/>
            <a:ext cx="1425953" cy="65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3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Leads to inconsistent judgments</a:t>
            </a:r>
            <a:endParaRPr lang="en-US" sz="550" dirty="0"/>
          </a:p>
        </p:txBody>
      </p:sp>
      <p:sp>
        <p:nvSpPr>
          <p:cNvPr id="10" name="Shape 6"/>
          <p:cNvSpPr/>
          <p:nvPr/>
        </p:nvSpPr>
        <p:spPr>
          <a:xfrm>
            <a:off x="6184150" y="739378"/>
            <a:ext cx="910805" cy="102096"/>
          </a:xfrm>
          <a:prstGeom prst="roundRect">
            <a:avLst>
              <a:gd name="adj" fmla="val 22112"/>
            </a:avLst>
          </a:prstGeom>
          <a:solidFill>
            <a:srgbClr val="E1E1EA"/>
          </a:solidFill>
          <a:ln/>
        </p:spPr>
      </p:sp>
      <p:sp>
        <p:nvSpPr>
          <p:cNvPr id="11" name="Text 7"/>
          <p:cNvSpPr/>
          <p:nvPr/>
        </p:nvSpPr>
        <p:spPr>
          <a:xfrm>
            <a:off x="6224432" y="759520"/>
            <a:ext cx="1439826" cy="6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RUBRIC EXAMPLE: CORRECTNESS</a:t>
            </a:r>
            <a:endParaRPr lang="en-US" sz="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4150" y="872133"/>
            <a:ext cx="2662568" cy="3548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83069" y="945654"/>
            <a:ext cx="2490130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— Fully Correct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6283069" y="1077913"/>
            <a:ext cx="2490130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factual claims are accurate and supported.</a:t>
            </a:r>
            <a:endParaRPr lang="en-US" sz="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4002" y="872133"/>
            <a:ext cx="2662568" cy="35480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72921" y="945654"/>
            <a:ext cx="2490130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 — Mostly Correct</a:t>
            </a:r>
            <a:endParaRPr lang="en-US" sz="650" dirty="0"/>
          </a:p>
        </p:txBody>
      </p:sp>
      <p:sp>
        <p:nvSpPr>
          <p:cNvPr id="17" name="Text 11"/>
          <p:cNvSpPr/>
          <p:nvPr/>
        </p:nvSpPr>
        <p:spPr>
          <a:xfrm>
            <a:off x="8972921" y="1077913"/>
            <a:ext cx="2490130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overall with a minor factual issue.</a:t>
            </a:r>
            <a:endParaRPr lang="en-US" sz="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4150" y="1254224"/>
            <a:ext cx="2662568" cy="35480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83069" y="1327745"/>
            <a:ext cx="2490130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— Partially Correct</a:t>
            </a:r>
            <a:endParaRPr lang="en-US" sz="650" dirty="0"/>
          </a:p>
        </p:txBody>
      </p:sp>
      <p:sp>
        <p:nvSpPr>
          <p:cNvPr id="20" name="Text 13"/>
          <p:cNvSpPr/>
          <p:nvPr/>
        </p:nvSpPr>
        <p:spPr>
          <a:xfrm>
            <a:off x="6283069" y="1460004"/>
            <a:ext cx="2490130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Contains an important error or omission.</a:t>
            </a:r>
            <a:endParaRPr lang="en-US" sz="5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4002" y="1254224"/>
            <a:ext cx="2662568" cy="35480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972921" y="1327745"/>
            <a:ext cx="2490130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— Major Problems</a:t>
            </a:r>
            <a:endParaRPr lang="en-US" sz="650" dirty="0"/>
          </a:p>
        </p:txBody>
      </p:sp>
      <p:sp>
        <p:nvSpPr>
          <p:cNvPr id="23" name="Text 15"/>
          <p:cNvSpPr/>
          <p:nvPr/>
        </p:nvSpPr>
        <p:spPr>
          <a:xfrm>
            <a:off x="8972921" y="1460004"/>
            <a:ext cx="2490130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 factual inaccuracies throughout.</a:t>
            </a:r>
            <a:endParaRPr lang="en-US" sz="5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4150" y="1636316"/>
            <a:ext cx="2662568" cy="35480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83069" y="1709837"/>
            <a:ext cx="2490130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— Fundamentally Wrong</a:t>
            </a:r>
            <a:endParaRPr lang="en-US" sz="650" dirty="0"/>
          </a:p>
        </p:txBody>
      </p:sp>
      <p:sp>
        <p:nvSpPr>
          <p:cNvPr id="26" name="Text 17"/>
          <p:cNvSpPr/>
          <p:nvPr/>
        </p:nvSpPr>
        <p:spPr>
          <a:xfrm>
            <a:off x="6283069" y="1842095"/>
            <a:ext cx="2490130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Contradicts the available data or context entirely.</a:t>
            </a:r>
            <a:endParaRPr lang="en-US" sz="500" dirty="0"/>
          </a:p>
        </p:txBody>
      </p:sp>
      <p:sp>
        <p:nvSpPr>
          <p:cNvPr id="27" name="Text 18"/>
          <p:cNvSpPr/>
          <p:nvPr/>
        </p:nvSpPr>
        <p:spPr>
          <a:xfrm>
            <a:off x="6184150" y="2021780"/>
            <a:ext cx="5352420" cy="1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spcAft>
                <a:spcPts val="150"/>
              </a:spcAft>
              <a:buNone/>
            </a:pPr>
            <a:r>
              <a:rPr lang="en-US" sz="5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"Distribution fell significantly and pricing remained stable."</a:t>
            </a:r>
            <a:pPr algn="l" indent="0" marL="0">
              <a:lnSpc>
                <a:spcPct val="94000"/>
              </a:lnSpc>
              <a:spcAft>
                <a:spcPts val="150"/>
              </a:spcAft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Fully supported → </a:t>
            </a:r>
            <a:pPr algn="l" indent="0" marL="0">
              <a:lnSpc>
                <a:spcPct val="94000"/>
              </a:lnSpc>
              <a:spcAft>
                <a:spcPts val="150"/>
              </a:spcAft>
              <a:buNone/>
            </a:pPr>
            <a:r>
              <a:rPr lang="en-US" sz="5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5/5</a:t>
            </a:r>
            <a:endParaRPr lang="en-US" sz="5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5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"Distribution declined, but Brand A increased price by 20%."</a:t>
            </a:r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One claim correct, one fabricated → </a:t>
            </a:r>
            <a:pPr algn="l" indent="0" marL="0">
              <a:lnSpc>
                <a:spcPct val="94000"/>
              </a:lnSpc>
              <a:buNone/>
            </a:pPr>
            <a:r>
              <a:rPr lang="en-US" sz="5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Lower score</a:t>
            </a:r>
            <a:endParaRPr lang="en-US" sz="500" dirty="0"/>
          </a:p>
        </p:txBody>
      </p:sp>
      <p:sp>
        <p:nvSpPr>
          <p:cNvPr id="28" name="Text 19"/>
          <p:cNvSpPr/>
          <p:nvPr/>
        </p:nvSpPr>
        <p:spPr>
          <a:xfrm>
            <a:off x="762179" y="6293941"/>
            <a:ext cx="11377626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Rubrics convert vague judgments into explicit, repeatable evaluation criteria — making scores comparable across runs, judges, and time.</a:t>
            </a:r>
            <a:endParaRPr lang="en-US" sz="500" dirty="0"/>
          </a:p>
        </p:txBody>
      </p:sp>
      <p:sp>
        <p:nvSpPr>
          <p:cNvPr id="29" name="Shape 20"/>
          <p:cNvSpPr/>
          <p:nvPr/>
        </p:nvSpPr>
        <p:spPr>
          <a:xfrm>
            <a:off x="661475" y="6263283"/>
            <a:ext cx="6350" cy="136823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1820" y="92968"/>
            <a:ext cx="4447865" cy="6671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4491"/>
            <a:ext cx="6296860" cy="15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Judge ≠ Ground Truth</a:t>
            </a:r>
            <a:endParaRPr lang="en-US" sz="4850" dirty="0"/>
          </a:p>
        </p:txBody>
      </p:sp>
      <p:sp>
        <p:nvSpPr>
          <p:cNvPr id="5" name="Text 2"/>
          <p:cNvSpPr/>
          <p:nvPr/>
        </p:nvSpPr>
        <p:spPr>
          <a:xfrm>
            <a:off x="661475" y="2224385"/>
            <a:ext cx="629686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LLMs can make mistakes when generating answers, why would an LLM evaluating another LLM be perfect? It won't be — and that matters.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033536" y="2823369"/>
            <a:ext cx="262506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Misunderstanding the task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3536" y="3110111"/>
            <a:ext cx="2625064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judge may not correctly interpret the evaluation criterion.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33536" y="3685977"/>
            <a:ext cx="262506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Verbosity and polish bias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3536" y="3972719"/>
            <a:ext cx="2625064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Judges often prefer longer, more confident-sounding answers even when they are wrong.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33536" y="4548584"/>
            <a:ext cx="262506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Position bias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3536" y="4835327"/>
            <a:ext cx="2625064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 of presented options can influence judge scores.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33536" y="5411192"/>
            <a:ext cx="262506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subtle domain errors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33536" y="5697934"/>
            <a:ext cx="2625064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Price: ₹95 → ₹96. Judge may accept </a:t>
            </a:r>
            <a:pPr algn="l" indent="0" marL="0">
              <a:lnSpc>
                <a:spcPct val="117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"Price increased significantly"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domain expert would not.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67559" y="2769195"/>
            <a:ext cx="299712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Judge Calibration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200" y="3067546"/>
            <a:ext cx="2247844" cy="9867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3547" y="3782618"/>
            <a:ext cx="394011" cy="60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Labeling</a:t>
            </a:r>
            <a:endParaRPr lang="en-US" sz="350" dirty="0"/>
          </a:p>
        </p:txBody>
      </p:sp>
      <p:sp>
        <p:nvSpPr>
          <p:cNvPr id="17" name="Text 13"/>
          <p:cNvSpPr/>
          <p:nvPr/>
        </p:nvSpPr>
        <p:spPr>
          <a:xfrm>
            <a:off x="4723547" y="3860827"/>
            <a:ext cx="394011" cy="85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Experts label a trusted sample</a:t>
            </a:r>
            <a:endParaRPr lang="en-US" sz="300" dirty="0"/>
          </a:p>
        </p:txBody>
      </p:sp>
      <p:sp>
        <p:nvSpPr>
          <p:cNvPr id="18" name="Text 14"/>
          <p:cNvSpPr/>
          <p:nvPr/>
        </p:nvSpPr>
        <p:spPr>
          <a:xfrm>
            <a:off x="5829810" y="3767464"/>
            <a:ext cx="394011" cy="60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Agreement Audit</a:t>
            </a:r>
            <a:endParaRPr lang="en-US" sz="350" dirty="0"/>
          </a:p>
        </p:txBody>
      </p:sp>
      <p:sp>
        <p:nvSpPr>
          <p:cNvPr id="19" name="Text 15"/>
          <p:cNvSpPr/>
          <p:nvPr/>
        </p:nvSpPr>
        <p:spPr>
          <a:xfrm>
            <a:off x="5829810" y="3845673"/>
            <a:ext cx="394011" cy="85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labels to find reliable areas</a:t>
            </a:r>
            <a:endParaRPr lang="en-US" sz="300" dirty="0"/>
          </a:p>
        </p:txBody>
      </p:sp>
      <p:sp>
        <p:nvSpPr>
          <p:cNvPr id="20" name="Text 16"/>
          <p:cNvSpPr/>
          <p:nvPr/>
        </p:nvSpPr>
        <p:spPr>
          <a:xfrm>
            <a:off x="5279926" y="3171020"/>
            <a:ext cx="394011" cy="60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Judging</a:t>
            </a:r>
            <a:endParaRPr lang="en-US" sz="350" dirty="0"/>
          </a:p>
        </p:txBody>
      </p:sp>
      <p:sp>
        <p:nvSpPr>
          <p:cNvPr id="21" name="Text 17"/>
          <p:cNvSpPr/>
          <p:nvPr/>
        </p:nvSpPr>
        <p:spPr>
          <a:xfrm>
            <a:off x="5279926" y="3249228"/>
            <a:ext cx="394011" cy="85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 labels the same sample</a:t>
            </a:r>
            <a:endParaRPr lang="en-US" sz="300" dirty="0"/>
          </a:p>
        </p:txBody>
      </p:sp>
      <p:sp>
        <p:nvSpPr>
          <p:cNvPr id="22" name="Shape 18"/>
          <p:cNvSpPr/>
          <p:nvPr/>
        </p:nvSpPr>
        <p:spPr>
          <a:xfrm>
            <a:off x="3967559" y="4158853"/>
            <a:ext cx="2997125" cy="750094"/>
          </a:xfrm>
          <a:prstGeom prst="roundRect">
            <a:avLst>
              <a:gd name="adj" fmla="val 6946"/>
            </a:avLst>
          </a:prstGeom>
          <a:solidFill>
            <a:srgbClr val="FCF2B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580" y="4301232"/>
            <a:ext cx="154976" cy="12402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70576" y="4273451"/>
            <a:ext cx="2470088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must evaluate the evaluator. A judge that hasn't been calibrated against human judgment is just another unvalidated system.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25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Golden Datasets &amp; Regression Testing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394023"/>
            <a:ext cx="1167775" cy="226219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50769" y="1438672"/>
            <a:ext cx="1598771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GOLDEN DATASET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1475" y="1770955"/>
            <a:ext cx="5252807" cy="685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Just as traditional ML uses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X_test + y_test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LLM evaluation uses a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golden dataset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trusted collection of representative cases that define expected behavior.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2606675"/>
            <a:ext cx="5252807" cy="2180034"/>
          </a:xfrm>
          <a:prstGeom prst="roundRect">
            <a:avLst>
              <a:gd name="adj" fmla="val 286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9349" y="2774553"/>
            <a:ext cx="491705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Brand A — Golden Case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9349" y="3140968"/>
            <a:ext cx="4917059" cy="1477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"Why did Brand A lose share?"</a:t>
            </a:r>
            <a:endParaRPr lang="en-US" sz="1150" dirty="0"/>
          </a:p>
          <a:p>
            <a:pPr algn="l" indent="0" marL="0">
              <a:lnSpc>
                <a:spcPct val="127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Context:</a:t>
            </a:r>
            <a:pPr algn="l" indent="0" marL="0">
              <a:lnSpc>
                <a:spcPct val="127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Share 18.2→15.9 · Dist 82→71 · Price 95→96 · Promos ↑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Mention distribution decline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May note competitive pressure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Recognize pricing was stable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Must NOT invent a large price increase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1475" y="4937423"/>
            <a:ext cx="5252807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Include: Normal cases · Hard cases · Edge cases · Previously discovered failures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83763" y="1394023"/>
            <a:ext cx="1388432" cy="226219"/>
          </a:xfrm>
          <a:prstGeom prst="roundRect">
            <a:avLst>
              <a:gd name="adj" fmla="val 22109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058" y="1438672"/>
            <a:ext cx="181942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REGRESSION TESTING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83763" y="1770955"/>
            <a:ext cx="5252807" cy="1433116"/>
          </a:xfrm>
          <a:prstGeom prst="roundRect">
            <a:avLst>
              <a:gd name="adj" fmla="val 436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0113" y="1777305"/>
            <a:ext cx="5240107" cy="530126"/>
          </a:xfrm>
          <a:custGeom>
            <a:avLst/>
            <a:gdLst/>
            <a:ahLst/>
            <a:cxnLst/>
            <a:rect l="l" t="t" r="r" b="b"/>
            <a:pathLst>
              <a:path w="5240107" h="530126">
                <a:moveTo>
                  <a:pt x="52098" y="0"/>
                </a:moveTo>
                <a:lnTo>
                  <a:pt x="5188009" y="0"/>
                </a:lnTo>
                <a:arcTo hR="52100" wR="52098" stAng="16200000" swAng="5400000"/>
                <a:lnTo>
                  <a:pt x="5240107" y="530126"/>
                </a:lnTo>
                <a:lnTo>
                  <a:pt x="0" y="530126"/>
                </a:lnTo>
                <a:lnTo>
                  <a:pt x="0" y="52100"/>
                </a:lnTo>
                <a:arcTo hR="52100" wR="5209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4" name="Text 12"/>
          <p:cNvSpPr/>
          <p:nvPr/>
        </p:nvSpPr>
        <p:spPr>
          <a:xfrm>
            <a:off x="6438937" y="1926134"/>
            <a:ext cx="494245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v7 → 91% pass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90113" y="2307431"/>
            <a:ext cx="5240107" cy="890290"/>
          </a:xfrm>
          <a:custGeom>
            <a:avLst/>
            <a:gdLst/>
            <a:ahLst/>
            <a:cxnLst/>
            <a:rect l="l" t="t" r="r" b="b"/>
            <a:pathLst>
              <a:path w="5240107" h="890290">
                <a:moveTo>
                  <a:pt x="0" y="0"/>
                </a:moveTo>
                <a:lnTo>
                  <a:pt x="5240107" y="0"/>
                </a:lnTo>
                <a:lnTo>
                  <a:pt x="5240107" y="838190"/>
                </a:lnTo>
                <a:arcTo hR="52100" wR="52098" stAng="0" swAng="5400000"/>
                <a:lnTo>
                  <a:pt x="52098" y="890290"/>
                </a:lnTo>
                <a:arcTo hR="52100" wR="5209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0113" y="2307431"/>
            <a:ext cx="5240107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7" name="Text 15"/>
          <p:cNvSpPr/>
          <p:nvPr/>
        </p:nvSpPr>
        <p:spPr>
          <a:xfrm>
            <a:off x="6438937" y="2456259"/>
            <a:ext cx="494245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v8 → 95% pass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38937" y="2822674"/>
            <a:ext cx="494245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Looks like an improvement — but dig deeper.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3763" y="3354784"/>
          <a:ext cx="9143771" cy="914400"/>
        </p:xfrm>
        <a:graphic>
          <a:graphicData uri="http://schemas.openxmlformats.org/drawingml/2006/table">
            <a:tbl>
              <a:tblPr/>
              <a:tblGrid>
                <a:gridCol w="1313202"/>
                <a:gridCol w="1313202"/>
                <a:gridCol w="1313202"/>
                <a:gridCol w="1313202"/>
              </a:tblGrid>
              <a:tr h="4028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Dimension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v7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v8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Δ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Correctness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91%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96%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CC7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↑ +5%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Relevance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94%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96%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CC71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↑ +2%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629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Numerical Accuracy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98%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91%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↓ −7% </a:t>
                      </a:r>
                      <a:endParaRPr lang="en-US" sz="11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283763" y="5362079"/>
            <a:ext cx="5252807" cy="767953"/>
          </a:xfrm>
          <a:prstGeom prst="roundRect">
            <a:avLst>
              <a:gd name="adj" fmla="val 8141"/>
            </a:avLst>
          </a:prstGeom>
          <a:solidFill>
            <a:srgbClr val="FCF2B5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588" y="5561707"/>
            <a:ext cx="186031" cy="14882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67442" y="5519837"/>
            <a:ext cx="462030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Never look only at the overall score. Regression testing asks: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did the change break something that previously worked?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10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Complete LLM Evaluation Loop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0849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 is not a one-time benchmark you run before deployment. It is a continuous improvement loop that feeds failures back into the system.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79786"/>
            <a:ext cx="165294" cy="1652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2021086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2141835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Define Desired Behavior &amp; Evaluation Dimensions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1779786"/>
            <a:ext cx="165294" cy="1652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78495" y="2021086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5"/>
          <p:cNvSpPr/>
          <p:nvPr/>
        </p:nvSpPr>
        <p:spPr>
          <a:xfrm>
            <a:off x="6178495" y="2141835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Create Rubrics &amp; Build Golden Dataset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710259"/>
            <a:ext cx="165294" cy="16529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61475" y="2951559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7"/>
          <p:cNvSpPr/>
          <p:nvPr/>
        </p:nvSpPr>
        <p:spPr>
          <a:xfrm>
            <a:off x="661475" y="307230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LLM System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2710259"/>
            <a:ext cx="165294" cy="16529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178495" y="2951559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9"/>
          <p:cNvSpPr/>
          <p:nvPr/>
        </p:nvSpPr>
        <p:spPr>
          <a:xfrm>
            <a:off x="6178495" y="307230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Evaluate: Code Checks + Human Review + LLM Judge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640733"/>
            <a:ext cx="165294" cy="16529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61475" y="3882033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1"/>
          <p:cNvSpPr/>
          <p:nvPr/>
        </p:nvSpPr>
        <p:spPr>
          <a:xfrm>
            <a:off x="661475" y="4002782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Score + Error Analysis</a:t>
            </a:r>
            <a:endParaRPr lang="en-US" sz="16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78495" y="3640733"/>
            <a:ext cx="165294" cy="16529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178495" y="3882033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3"/>
          <p:cNvSpPr/>
          <p:nvPr/>
        </p:nvSpPr>
        <p:spPr>
          <a:xfrm>
            <a:off x="6178495" y="4002782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 Prompt / Model / System</a:t>
            </a:r>
            <a:endParaRPr lang="en-US" sz="16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571206"/>
            <a:ext cx="165294" cy="16529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61475" y="4812506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15"/>
          <p:cNvSpPr/>
          <p:nvPr/>
        </p:nvSpPr>
        <p:spPr>
          <a:xfrm>
            <a:off x="661475" y="4933255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Regression Test Against Golden Dataset</a:t>
            </a:r>
            <a:endParaRPr lang="en-US" sz="16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78495" y="4571206"/>
            <a:ext cx="165294" cy="165298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6178495" y="4812506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17"/>
          <p:cNvSpPr/>
          <p:nvPr/>
        </p:nvSpPr>
        <p:spPr>
          <a:xfrm>
            <a:off x="6178495" y="4933255"/>
            <a:ext cx="535172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 &amp; Observe Production → Feed New Failures Back to Step 2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909516" y="5946279"/>
            <a:ext cx="112302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"Evaluation is not a one-time benchmark. It is a continuous improvement loop — and production failures are valuable data, not just incidents."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661475" y="5760244"/>
            <a:ext cx="19050" cy="636687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280"/>
            <a:ext cx="10868745" cy="48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Glimpse: RAG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295797"/>
            <a:ext cx="11478330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Retrieval-Augmented Generation systems, there are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two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places where things can go wrong — and they require different evaluation strategies.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639" y="1860649"/>
            <a:ext cx="4983435" cy="22807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08437" y="3599786"/>
            <a:ext cx="935574" cy="180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29358" y="3509671"/>
            <a:ext cx="935574" cy="360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Response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256686" y="3599786"/>
            <a:ext cx="935574" cy="180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8382" y="3599786"/>
            <a:ext cx="935574" cy="180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1475" y="4304109"/>
            <a:ext cx="5245763" cy="816372"/>
          </a:xfrm>
          <a:prstGeom prst="roundRect">
            <a:avLst>
              <a:gd name="adj" fmla="val 7957"/>
            </a:avLst>
          </a:prstGeom>
          <a:solidFill>
            <a:srgbClr val="E1E1E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54" y="4523383"/>
            <a:ext cx="193273" cy="1545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63906" y="4472880"/>
            <a:ext cx="4588752" cy="4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"Did the LLM fail — or did retrieval fail?" Without separate evaluation layers, you cannot tell.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90807" y="1860649"/>
            <a:ext cx="5245763" cy="1897162"/>
          </a:xfrm>
          <a:prstGeom prst="roundRect">
            <a:avLst>
              <a:gd name="adj" fmla="val 342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51736" y="2021582"/>
            <a:ext cx="492390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Retrieval Evaluation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51736" y="2407841"/>
            <a:ext cx="4923905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we retrieve the right information?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51736" y="2777430"/>
            <a:ext cx="4923905" cy="81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Recall@K — Were relevant docs returned?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Precision@K — Were results actually useful?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Hit Rate · MRR · NDCG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90807" y="3902373"/>
            <a:ext cx="5245763" cy="1607145"/>
          </a:xfrm>
          <a:prstGeom prst="roundRect">
            <a:avLst>
              <a:gd name="adj" fmla="val 40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51736" y="4063305"/>
            <a:ext cx="492390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Generation Evaluation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51736" y="4449564"/>
            <a:ext cx="4923905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 the final answer good given what was retrieved?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51736" y="4819154"/>
            <a:ext cx="4923905" cy="529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Correct? Relevant? Grounded?</a:t>
            </a:r>
            <a:endParaRPr lang="en-US" sz="1200" dirty="0"/>
          </a:p>
          <a:p>
            <a:pPr algn="l" marL="243840" indent="-243840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Complete? Citation-accurate?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22775" y="5802412"/>
            <a:ext cx="5623380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Evaluation =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Retrieval Quality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LLM Response Quality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290807" y="5672237"/>
            <a:ext cx="19050" cy="499765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47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Glimpse: Agentic Evaluation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193502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introduce a new problem: the final answer may look excellent even when the agent made an error during execution. Evaluating only the output is not enough.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721148"/>
            <a:ext cx="1006648" cy="226219"/>
          </a:xfrm>
          <a:prstGeom prst="roundRect">
            <a:avLst>
              <a:gd name="adj" fmla="val 22109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0769" y="1765796"/>
            <a:ext cx="1437644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REQUEST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2098080"/>
            <a:ext cx="5252807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"Compare Brand A with its top competitor this quarter, calculate the share gap, identify the main performance drivers, and summarize in 3 bullets."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01230"/>
            <a:ext cx="5252807" cy="19538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5547" y="2869109"/>
            <a:ext cx="484086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Agent Calculation Error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05547" y="3235523"/>
            <a:ext cx="4840861" cy="1251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Brand A = 15.9% · Brand B = 19.2%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calculates: 19.2 − 15.9 =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2.3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✗</a:t>
            </a:r>
            <a:endParaRPr lang="en-US" sz="1150" dirty="0"/>
          </a:p>
          <a:p>
            <a:pPr algn="l" indent="0" marL="0">
              <a:lnSpc>
                <a:spcPct val="127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answer: </a:t>
            </a:r>
            <a:pPr algn="l" indent="0" marL="0">
              <a:lnSpc>
                <a:spcPct val="127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3.3</a:t>
            </a:r>
            <a:pPr algn="l" indent="0" marL="0">
              <a:lnSpc>
                <a:spcPct val="127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percentage points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final summary may still read perfectly — hiding the arithmetic mistake.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83763" y="1721148"/>
            <a:ext cx="2017265" cy="226219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11" name="Text 8"/>
          <p:cNvSpPr/>
          <p:nvPr/>
        </p:nvSpPr>
        <p:spPr>
          <a:xfrm>
            <a:off x="6373058" y="1765796"/>
            <a:ext cx="2448261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EVALUATION DIMENSIONS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3763" y="2124075"/>
            <a:ext cx="223237" cy="2232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40942" y="2130623"/>
            <a:ext cx="489562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Success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640942" y="2497038"/>
            <a:ext cx="489562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the agent complete the overall objective correctly?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763" y="3017143"/>
            <a:ext cx="223237" cy="2232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40942" y="3023691"/>
            <a:ext cx="489562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Selection &amp; Arguments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640942" y="3390106"/>
            <a:ext cx="489562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the agent call the right tools with the right inputs?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3763" y="3910211"/>
            <a:ext cx="223237" cy="2232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40942" y="3916759"/>
            <a:ext cx="489562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Trajectory / Workflow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640942" y="4283174"/>
            <a:ext cx="489562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 the sequence of actions efficient and correct?</a:t>
            </a:r>
            <a:endParaRPr lang="en-US" sz="11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3763" y="4803279"/>
            <a:ext cx="223237" cy="22324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40942" y="4809827"/>
            <a:ext cx="489562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Error Recovery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640942" y="5176242"/>
            <a:ext cx="489562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the agent detect and correct its own mistakes?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507000" y="5673725"/>
            <a:ext cx="502957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Evaluation =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LLM Response Quality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Action / Tool / Workflow Quality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283763" y="5553174"/>
            <a:ext cx="19050" cy="693539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0394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Mental Model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04491"/>
            <a:ext cx="1086874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Evaluation — What? With What? Against What?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06909"/>
            <a:ext cx="3622882" cy="4630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161" y="1850926"/>
            <a:ext cx="339151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Are We Evaluating?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161" y="2080419"/>
            <a:ext cx="339151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Correctness · Relevance · Groundedness · Completeness · Instruction Following · Clarity · Safety · Domain-Specific Criteria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306909"/>
            <a:ext cx="3622882" cy="4630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00043" y="1850926"/>
            <a:ext cx="339151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 What?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400043" y="2080419"/>
            <a:ext cx="3391510" cy="36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Deterministic Code Checks · Human Evaluators · LLM-as-a-Judge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all three — each covers what the others cannot.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306909"/>
            <a:ext cx="3622882" cy="4630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22925" y="1850926"/>
            <a:ext cx="339151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Against What?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022925" y="2080419"/>
            <a:ext cx="339151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 Values · Reference Answers · Rubrics · Golden Dataset · Production Failure Log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373" y="2650728"/>
            <a:ext cx="7272949" cy="28512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633495" y="2790559"/>
            <a:ext cx="1331375" cy="427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Evaluate Outputs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8226694" y="2790559"/>
            <a:ext cx="1331375" cy="213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Find Failures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226694" y="5148102"/>
            <a:ext cx="1331375" cy="213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 System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2633495" y="5148102"/>
            <a:ext cx="1331375" cy="213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Regression Test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35103" y="5684143"/>
            <a:ext cx="10695117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"LLM evaluation is not about finding one perfect accuracy metric."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is about defining what "good" means, measuring it consistently, finding where the system fails, and ensuring that improvements do not break what already works.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661475" y="5593060"/>
            <a:ext cx="12700" cy="654546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2026-09-03T02:05:00Z</dcterms:created>
  <dcterms:modified xsi:type="dcterms:W3CDTF">2026-09-03T02:05:00Z</dcterms:modified>
</cp:coreProperties>
</file>