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4630400" cy="8229600"/>
  <p:notesSz cx="8229600" cy="14630400"/>
  <p:embeddedFontLst>
    <p:embeddedFont>
      <p:font typeface="Raleway"/>
      <p:regular r:id="rId34"/>
    </p:embeddedFont>
    <p:embeddedFont>
      <p:font typeface="Raleway"/>
      <p:regular r:id="rId35"/>
    </p:embeddedFont>
    <p:embeddedFont>
      <p:font typeface="Raleway"/>
      <p:regular r:id="rId36"/>
    </p:embeddedFont>
    <p:embeddedFont>
      <p:font typeface="Raleway"/>
      <p:regular r:id="rId37"/>
    </p:embeddedFont>
    <p:embeddedFont>
      <p:font typeface="Roboto"/>
      <p:regular r:id="rId38"/>
    </p:embeddedFont>
    <p:embeddedFont>
      <p:font typeface="Roboto"/>
      <p:regular r:id="rId39"/>
    </p:embeddedFont>
    <p:embeddedFont>
      <p:font typeface="Roboto"/>
      <p:regular r:id="rId40"/>
    </p:embeddedFont>
    <p:embeddedFont>
      <p:font typeface="Roboto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svg"/><Relationship Id="rId12" Type="http://schemas.openxmlformats.org/officeDocument/2006/relationships/slideLayout" Target="../slideLayouts/slideLayout16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svg"/><Relationship Id="rId6" Type="http://schemas.openxmlformats.org/officeDocument/2006/relationships/image" Target="../media/image-20-6.png"/><Relationship Id="rId7" Type="http://schemas.openxmlformats.org/officeDocument/2006/relationships/image" Target="../media/image-20-7.svg"/><Relationship Id="rId8" Type="http://schemas.openxmlformats.org/officeDocument/2006/relationships/image" Target="../media/image-20-8.png"/><Relationship Id="rId9" Type="http://schemas.openxmlformats.org/officeDocument/2006/relationships/image" Target="../media/image-20-9.sv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2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23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178" y="141208"/>
            <a:ext cx="5298043" cy="79470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92505"/>
            <a:ext cx="729400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Writing Production-Ready Python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793790" y="1850231"/>
            <a:ext cx="75564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2 — Forward Deployed Engineering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93790" y="2345888"/>
            <a:ext cx="7556421" cy="1088469"/>
          </a:xfrm>
          <a:prstGeom prst="roundRect">
            <a:avLst>
              <a:gd name="adj" fmla="val 72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9886" y="254198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 Code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89886" y="2944058"/>
            <a:ext cx="716422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Readable and well-structured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93790" y="3613428"/>
            <a:ext cx="7556421" cy="1088469"/>
          </a:xfrm>
          <a:prstGeom prst="roundRect">
            <a:avLst>
              <a:gd name="adj" fmla="val 72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9886" y="380952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Reusable Code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89886" y="4211598"/>
            <a:ext cx="716422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 and modules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93790" y="4880967"/>
            <a:ext cx="7556421" cy="1088469"/>
          </a:xfrm>
          <a:prstGeom prst="roundRect">
            <a:avLst>
              <a:gd name="adj" fmla="val 72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9886" y="507706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Maintainable Code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89886" y="5479137"/>
            <a:ext cx="716422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update and extend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3790" y="6148507"/>
            <a:ext cx="7556421" cy="1088469"/>
          </a:xfrm>
          <a:prstGeom prst="roundRect">
            <a:avLst>
              <a:gd name="adj" fmla="val 72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9886" y="6344603"/>
            <a:ext cx="238648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Backend-Ready Code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89886" y="6746677"/>
            <a:ext cx="716422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Production-grade patterns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2693"/>
            <a:ext cx="252519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02224"/>
            <a:ext cx="228707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 — WHY BAD CODE FAILS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95130"/>
            <a:ext cx="6796683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1: Why Bad Code Fails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2048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writing better code, we need to understand what makes code fail at scale. This section covers the common patterns that work in notebooks but break in production systems.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77880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09313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238030"/>
            <a:ext cx="27216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Everything in One Place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46672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Logic, data, and output all tangled together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14379" y="377880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409313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7414379" y="42380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Repeated Code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14379" y="46672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Copy-pasting instead of reusing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533197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64630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791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Hardcoded Values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2204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Magic strings and numbers embedded in logic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14379" y="533197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14379" y="564630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7414379" y="5791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Difficult Debugging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414379" y="62204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to isolate and test individual parts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1276"/>
            <a:ext cx="252519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40807"/>
            <a:ext cx="228707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 — WHY BAD CODE FAILS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18165" y="673656"/>
            <a:ext cx="12532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44848" y="740807"/>
            <a:ext cx="999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2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141333"/>
            <a:ext cx="104679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Notebook-Style Code Fails in Production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05906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Notebook-style code works great for exploration, but it breaks down quickly when shared, scaled, or maintained. Here is a classic example of the problem: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2917388"/>
            <a:ext cx="13042821" cy="3572113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3908" y="2917388"/>
            <a:ext cx="13062585" cy="3572113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31915" y="3115747"/>
            <a:ext cx="12566571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Notebook-style — repeated, unstructured code
name1 = "Rocky"
print(name1)
name2 = "Alex"
print(name2)
name3 = "Priya"
print(name3)
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6712744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7008019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38513" y="6960632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time you add a new user, you copy-paste another block. This is not scalable — and it will break when someone else touches it.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6885"/>
            <a:ext cx="252519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856417"/>
            <a:ext cx="228707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 — WHY BAD CODE FAILS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18165" y="789265"/>
            <a:ext cx="12532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44848" y="856417"/>
            <a:ext cx="999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3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256943"/>
            <a:ext cx="57875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Problems With Bad Code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353270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Poorly structured code doesn't just look messy — it actively slows down development, introduces bugs, and makes collaboration painful. These four failure modes appear again and again in real engineering teams.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3846671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0930" y="3846671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1083588" y="40678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Repetition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3588" y="457640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logic written multiple times in different places — any bug fix must be applied everywhere manually.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631061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5631061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88" y="58522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to Scale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83588" y="6360795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Adding new features requires rewriting instead of extending. The codebase fights back.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64874" y="2397919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2014" y="2397919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854672" y="26191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to Maintain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854672" y="3127653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logic is scattered, understanding what the code does — and why — takes more time than writing it.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64874" y="4182308"/>
            <a:ext cx="6279356" cy="1586032"/>
          </a:xfrm>
          <a:prstGeom prst="roundRect">
            <a:avLst>
              <a:gd name="adj" fmla="val 6918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2014" y="4182308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7854672" y="44035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to Collaborate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854672" y="4912043"/>
            <a:ext cx="57683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Teams cannot work in parallel on unstructured code. Merge conflicts and confusion become the norm.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564874" y="5991582"/>
            <a:ext cx="6279356" cy="1160740"/>
          </a:xfrm>
          <a:prstGeom prst="roundRect">
            <a:avLst>
              <a:gd name="adj" fmla="val 7182"/>
            </a:avLst>
          </a:prstGeom>
          <a:solidFill>
            <a:srgbClr val="FFB3B4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232" y="6286857"/>
            <a:ext cx="248007" cy="19835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209598" y="6239470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 code compounds. The longer it stays in production, the more expensive it becomes to fix.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39929"/>
            <a:ext cx="252519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99461"/>
            <a:ext cx="228707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1 — WHY BAD CODE FAILS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18165" y="1332309"/>
            <a:ext cx="12532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44848" y="1399461"/>
            <a:ext cx="999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4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799987"/>
            <a:ext cx="109045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Refactor Mindset: Bad Code → Better Code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71772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Refactoring is not about rewriting everything from scratch — it is about applying small, deliberate improvements that make code more reusable, readable, and robust. Three tools lead the way: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76042"/>
            <a:ext cx="4347567" cy="7937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148" y="45681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2148" y="499741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repeated logic into named, reusable units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576042"/>
            <a:ext cx="4347567" cy="7937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9715" y="45681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 Files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339715" y="499741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concerns into focused, single-purpose modules</a:t>
            </a:r>
            <a:endParaRPr lang="en-US" sz="1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576042"/>
            <a:ext cx="4347567" cy="7937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87282" y="45681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Reusability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9687282" y="4997410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once, call anywhere — with clean inputs and outputs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93790" y="6054090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B6D6F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6349365"/>
            <a:ext cx="248007" cy="19835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38513" y="630197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refactor a messy notebook-style script into a clean, structured Python file together.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814" y="429578"/>
            <a:ext cx="1381125" cy="262652"/>
          </a:xfrm>
          <a:prstGeom prst="roundRect">
            <a:avLst>
              <a:gd name="adj" fmla="val 1943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698897" y="475059"/>
            <a:ext cx="1198959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FUNCTIONS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07814" y="738664"/>
            <a:ext cx="3798808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2: Functions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07814" y="1387912"/>
            <a:ext cx="13414772" cy="42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 are the single most important tool for writing clean, production-ready Python. In this section, we will learn how to define them well, name them clearly, and apply the Single Responsibility Principle.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14" y="1947862"/>
            <a:ext cx="10485120" cy="58521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14" y="1947862"/>
            <a:ext cx="104851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4047"/>
            <a:ext cx="1804988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03578"/>
            <a:ext cx="156686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FUNCTIONS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697956" y="936427"/>
            <a:ext cx="12532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24639" y="1003578"/>
            <a:ext cx="999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5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404104"/>
            <a:ext cx="50352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Functions Matter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50043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function wraps a piece of logic behind a clear name and interface. Instead of repeating code, you call the function. Instead of debugging 50 lines, you test one function at a time.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3676293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68" y="38822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Reusability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768" y="4390787"/>
            <a:ext cx="26285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the same logic from anywhere in your codebase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032647" y="3676293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8625" y="38822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Cleaner Code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238625" y="4390787"/>
            <a:ext cx="26285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block has a name and a purpose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5430203"/>
            <a:ext cx="6279356" cy="1238012"/>
          </a:xfrm>
          <a:prstGeom prst="roundRect">
            <a:avLst>
              <a:gd name="adj" fmla="val 67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768" y="56361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Easier Debugging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768" y="6144697"/>
            <a:ext cx="58674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one function at a time, in isolation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64874" y="2545080"/>
            <a:ext cx="6279356" cy="4524732"/>
          </a:xfrm>
          <a:prstGeom prst="roundRect">
            <a:avLst>
              <a:gd name="adj" fmla="val 1842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554992" y="2545080"/>
            <a:ext cx="6299121" cy="4524732"/>
          </a:xfrm>
          <a:prstGeom prst="roundRect">
            <a:avLst>
              <a:gd name="adj" fmla="val 658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802999" y="2743438"/>
            <a:ext cx="5803106" cy="4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a function — repeated
print("Hello Rocky")
print("Hello Alex")
print("Hello Priya")
# With a function — reusable
def greet_user(name):
 return f"Hello {name}"
print(greet_user("Rocky"))
print(greet_user("Alex"))
print(greet_user("Priya"))
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5313" y="447318"/>
            <a:ext cx="1149668" cy="208240"/>
          </a:xfrm>
          <a:prstGeom prst="roundRect">
            <a:avLst>
              <a:gd name="adj" fmla="val 204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671155" y="485180"/>
            <a:ext cx="997982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FUNCTIONS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808202" y="439698"/>
            <a:ext cx="803791" cy="223480"/>
          </a:xfrm>
          <a:prstGeom prst="roundRect">
            <a:avLst>
              <a:gd name="adj" fmla="val 1902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91665" y="485180"/>
            <a:ext cx="636865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 OF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5313" y="695325"/>
            <a:ext cx="4141708" cy="395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 Inputs and Outputs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95313" y="1211699"/>
            <a:ext cx="1343977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function has a clear contract: it accepts </a:t>
            </a:r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inputs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(parameters), performs logic, and returns an </a:t>
            </a:r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is the fundamental model behind all well-designed code.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376" y="1468160"/>
            <a:ext cx="6709529" cy="398216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9210" y="2441467"/>
            <a:ext cx="571182" cy="5711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30322" y="4526639"/>
            <a:ext cx="1667852" cy="32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2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147" y="2442538"/>
            <a:ext cx="571182" cy="5711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28372" y="4526639"/>
            <a:ext cx="1667852" cy="32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</a:t>
            </a:r>
            <a:endParaRPr lang="en-US" sz="2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6197" y="2442538"/>
            <a:ext cx="571182" cy="5711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92151" y="4526639"/>
            <a:ext cx="1667852" cy="32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595313" y="5541050"/>
            <a:ext cx="13439775" cy="1744504"/>
          </a:xfrm>
          <a:prstGeom prst="roundRect">
            <a:avLst>
              <a:gd name="adj" fmla="val 3046"/>
            </a:avLst>
          </a:prstGeom>
          <a:solidFill>
            <a:srgbClr val="F2F2F2"/>
          </a:solidFill>
          <a:ln/>
        </p:spPr>
      </p:sp>
      <p:sp>
        <p:nvSpPr>
          <p:cNvPr id="16" name="Shape 10"/>
          <p:cNvSpPr/>
          <p:nvPr/>
        </p:nvSpPr>
        <p:spPr>
          <a:xfrm>
            <a:off x="589002" y="5541050"/>
            <a:ext cx="13452396" cy="1744504"/>
          </a:xfrm>
          <a:prstGeom prst="roundRect">
            <a:avLst>
              <a:gd name="adj" fmla="val 1088"/>
            </a:avLst>
          </a:prstGeom>
          <a:solidFill>
            <a:srgbClr val="F2F2F2"/>
          </a:solidFill>
          <a:ln/>
        </p:spPr>
      </p:sp>
      <p:sp>
        <p:nvSpPr>
          <p:cNvPr id="17" name="Text 11"/>
          <p:cNvSpPr/>
          <p:nvPr/>
        </p:nvSpPr>
        <p:spPr>
          <a:xfrm>
            <a:off x="747117" y="5667494"/>
            <a:ext cx="13136166" cy="1491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calculate_discount(price, discount):
    """Calculate final price after discount."""
    discounted = price * (1 - discount)
    return round(discounted, 2)
# Call the function
final_price = calculate_discount(100, 0.2)
print(final_price)  # → 80.0
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95313" y="7376279"/>
            <a:ext cx="13439775" cy="413623"/>
          </a:xfrm>
          <a:prstGeom prst="roundRect">
            <a:avLst>
              <a:gd name="adj" fmla="val 12848"/>
            </a:avLst>
          </a:prstGeom>
          <a:solidFill>
            <a:srgbClr val="B6D6F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757" y="7545467"/>
            <a:ext cx="158115" cy="1264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6316" y="7488436"/>
            <a:ext cx="12902327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Let's write and call functions with different inputs and observe the outputs live.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5444"/>
            <a:ext cx="1714262" cy="348377"/>
          </a:xfrm>
          <a:prstGeom prst="roundRect">
            <a:avLst>
              <a:gd name="adj" fmla="val 1818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751999"/>
            <a:ext cx="1488043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FUNCTIONS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602230" y="687824"/>
            <a:ext cx="1191101" cy="363617"/>
          </a:xfrm>
          <a:prstGeom prst="roundRect">
            <a:avLst>
              <a:gd name="adj" fmla="val 1742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22959" y="751999"/>
            <a:ext cx="949643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7 OF 21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1122998"/>
            <a:ext cx="8956477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Writing Better Functions: Naming Matters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93790" y="1980724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good function name reads like a sentence — it tells you exactly what the function does without needing to look inside. Poor naming is one of the most common sources of confusion in collaborative codebases.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7939" y="2770584"/>
            <a:ext cx="6563082" cy="4771073"/>
          </a:xfrm>
          <a:prstGeom prst="roundRect">
            <a:avLst>
              <a:gd name="adj" fmla="val 2845"/>
            </a:avLst>
          </a:prstGeom>
          <a:solidFill>
            <a:srgbClr val="E8F5E9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46415" y="2949654"/>
            <a:ext cx="2792849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Good Function Names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46415" y="3431024"/>
            <a:ext cx="6186130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Clear, verb-based, describes the action: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46415" y="3926681"/>
            <a:ext cx="6186130" cy="2142173"/>
          </a:xfrm>
          <a:prstGeom prst="roundRect">
            <a:avLst>
              <a:gd name="adj" fmla="val 3697"/>
            </a:avLst>
          </a:prstGeom>
          <a:solidFill>
            <a:srgbClr val="DBE8DC"/>
          </a:solidFill>
          <a:ln/>
        </p:spPr>
      </p:sp>
      <p:sp>
        <p:nvSpPr>
          <p:cNvPr id="12" name="Shape 10"/>
          <p:cNvSpPr/>
          <p:nvPr/>
        </p:nvSpPr>
        <p:spPr>
          <a:xfrm>
            <a:off x="837009" y="3926681"/>
            <a:ext cx="6204942" cy="2142173"/>
          </a:xfrm>
          <a:prstGeom prst="roundRect">
            <a:avLst>
              <a:gd name="adj" fmla="val 1320"/>
            </a:avLst>
          </a:prstGeom>
          <a:solidFill>
            <a:srgbClr val="DBE8DC"/>
          </a:solidFill>
          <a:ln/>
        </p:spPr>
      </p:sp>
      <p:sp>
        <p:nvSpPr>
          <p:cNvPr id="13" name="Text 11"/>
          <p:cNvSpPr/>
          <p:nvPr/>
        </p:nvSpPr>
        <p:spPr>
          <a:xfrm>
            <a:off x="1072634" y="4115157"/>
            <a:ext cx="5733693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36209"/>
                </a:solidFill>
                <a:highlight>
                  <a:srgbClr val="DBE8D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validate_email(email)
calculate_discount(price, pct)
classify_product(category)
send_confirmation(order_id)
parse_api_response(data)
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52849" y="2949654"/>
            <a:ext cx="2629019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Bad Function Names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552849" y="3431024"/>
            <a:ext cx="6291382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Vague, ambiguous, tells you nothing: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52849" y="3926681"/>
            <a:ext cx="6291382" cy="2142173"/>
          </a:xfrm>
          <a:prstGeom prst="roundRect">
            <a:avLst>
              <a:gd name="adj" fmla="val 3697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543443" y="3926681"/>
            <a:ext cx="6310193" cy="2142173"/>
          </a:xfrm>
          <a:prstGeom prst="roundRect">
            <a:avLst>
              <a:gd name="adj" fmla="val 1320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9068" y="4115157"/>
            <a:ext cx="5838944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doStuff()
process()
handle()
run()
go()
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52849" y="6270308"/>
            <a:ext cx="6291382" cy="1069896"/>
          </a:xfrm>
          <a:prstGeom prst="roundRect">
            <a:avLst>
              <a:gd name="adj" fmla="val 7402"/>
            </a:avLst>
          </a:prstGeom>
          <a:solidFill>
            <a:srgbClr val="FCF2B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1325" y="6546533"/>
            <a:ext cx="235625" cy="1884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165425" y="6496407"/>
            <a:ext cx="5490329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can't name a function clearly, the function probably does too many things.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05909"/>
            <a:ext cx="1776532" cy="365284"/>
          </a:xfrm>
          <a:prstGeom prst="roundRect">
            <a:avLst>
              <a:gd name="adj" fmla="val 17971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898565" y="664488"/>
            <a:ext cx="1542217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 — FUNCTIONS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55570" y="598289"/>
            <a:ext cx="1233726" cy="380524"/>
          </a:xfrm>
          <a:prstGeom prst="roundRect">
            <a:avLst>
              <a:gd name="adj" fmla="val 1725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0348" y="664488"/>
            <a:ext cx="984171" cy="248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8 OF 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407" y="1055727"/>
            <a:ext cx="6733342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 Responsibility Principle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1407" y="1954530"/>
            <a:ext cx="1306758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most important rule in function design: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function should do one thing.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a function tries to do everything, it becomes impossible to test, reuse, or debug. Break large functions into smaller, focused ones.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407" y="2983468"/>
            <a:ext cx="425612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Bad: One function does everything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1407" y="3504962"/>
            <a:ext cx="6295549" cy="2871788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71644" y="3504962"/>
            <a:ext cx="6315075" cy="2871788"/>
          </a:xfrm>
          <a:prstGeom prst="roundRect">
            <a:avLst>
              <a:gd name="adj" fmla="val 102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015841" y="3700224"/>
            <a:ext cx="5826681" cy="24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process_everything(order):
    # validates input
    # calculates total
    # applies discount
    # sends email
    # logs to database
    pass
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1064" y="2983468"/>
            <a:ext cx="350686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Good: One function, one job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61064" y="3504962"/>
            <a:ext cx="6295549" cy="2251472"/>
          </a:xfrm>
          <a:prstGeom prst="roundRect">
            <a:avLst>
              <a:gd name="adj" fmla="val 3645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51301" y="3504962"/>
            <a:ext cx="6315075" cy="2251472"/>
          </a:xfrm>
          <a:prstGeom prst="roundRect">
            <a:avLst>
              <a:gd name="adj" fmla="val 130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95498" y="3700224"/>
            <a:ext cx="5826681" cy="186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validate_order(order): ...
def calculate_total(order): ...
def apply_discount(total): ...
def send_confirmation(order): ...
def log_order(order): ...
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1407" y="6809423"/>
            <a:ext cx="13067586" cy="821888"/>
          </a:xfrm>
          <a:prstGeom prst="roundRect">
            <a:avLst>
              <a:gd name="adj" fmla="val 9984"/>
            </a:avLst>
          </a:prstGeom>
          <a:solidFill>
            <a:srgbClr val="B6D6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670" y="7103626"/>
            <a:ext cx="244197" cy="1952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6129" y="7050524"/>
            <a:ext cx="122376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break apart a bloated function into clean, single-purpose pieces.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179" y="148709"/>
            <a:ext cx="5288042" cy="7932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949535"/>
            <a:ext cx="2538770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912852" y="3009067"/>
            <a:ext cx="230064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PROJECT STRUCTURE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3790" y="3401973"/>
            <a:ext cx="6132433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3: Project Structure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93790" y="432732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functions are not enough on their own. As projects grow, how you organize your files determines whether your codebase is a pleasure to navigate — or a nightmare to debug. This section covers professional Python project structure.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96333"/>
            <a:ext cx="2538770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155865"/>
            <a:ext cx="230064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PROJECT STRUCTURE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31738" y="2088713"/>
            <a:ext cx="12532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58421" y="2155865"/>
            <a:ext cx="9998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9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556391"/>
            <a:ext cx="51668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Structure Matters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347412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everything lives in a single file, the project starts small and manageable. But as logic grows, a single file becomes an obstacle — slow to navigate, hard to test, and impossible to split across a team.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332446"/>
            <a:ext cx="496133" cy="4961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50765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 to Find Logic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793790" y="5505807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Scrolling through 500 lines to find one function wastes time on every task.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4332446"/>
            <a:ext cx="496133" cy="4961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3986" y="5076587"/>
            <a:ext cx="30770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Separation of Concerns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223986" y="550580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logic, business rules, and utilities all tangled together create fragile dependencies.</a:t>
            </a:r>
            <a:endParaRPr lang="en-US" sz="1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4332446"/>
            <a:ext cx="496133" cy="4961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54302" y="5076587"/>
            <a:ext cx="30772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 Collaboration Breaks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9654302" y="550580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developers cannot safely work on the same file simultaneously.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2825"/>
            <a:ext cx="2285405" cy="32432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746403"/>
            <a:ext cx="2071092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PROJECT 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68491" y="685205"/>
            <a:ext cx="1210032" cy="339566"/>
          </a:xfrm>
          <a:prstGeom prst="roundRect">
            <a:avLst>
              <a:gd name="adj" fmla="val 17675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83268" y="746403"/>
            <a:ext cx="9804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10 OF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3790" y="1089065"/>
            <a:ext cx="9164122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Bad Project Structure: The One-File Problem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93790" y="1888331"/>
            <a:ext cx="13042821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Dumping all logic into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most common structural mistake in early-stage projects. It works at first — and then it doesn't.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2529126"/>
            <a:ext cx="6303526" cy="3614738"/>
          </a:xfrm>
          <a:prstGeom prst="roundRect">
            <a:avLst>
              <a:gd name="adj" fmla="val 2075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4860" y="2529126"/>
            <a:ext cx="6321385" cy="3614738"/>
          </a:xfrm>
          <a:prstGeom prst="roundRect">
            <a:avLst>
              <a:gd name="adj" fmla="val 741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8102" y="2707719"/>
            <a:ext cx="5874901" cy="325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app.py — doing everything
# ─────────────────────────
# Route handlers (API layer)
# Database queries
# Business logic
# Discount calculations
# Email sending
# Utility helpers
# Config variables
# Error messages
# ...all in one file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40704" y="2529126"/>
            <a:ext cx="6303526" cy="989886"/>
          </a:xfrm>
          <a:prstGeom prst="roundRect">
            <a:avLst>
              <a:gd name="adj" fmla="val 7579"/>
            </a:avLst>
          </a:prstGeom>
          <a:solidFill>
            <a:srgbClr val="FFB3B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298" y="2786539"/>
            <a:ext cx="223242" cy="1785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21134" y="2734508"/>
            <a:ext cx="5544503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reaches 1,000+ lines, even simple changes carry risk. One edit can break something three screens away.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40704" y="3699867"/>
            <a:ext cx="6303526" cy="1114068"/>
          </a:xfrm>
          <a:prstGeom prst="roundRect">
            <a:avLst>
              <a:gd name="adj" fmla="val 984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17844" y="3699867"/>
            <a:ext cx="91440" cy="1114068"/>
          </a:xfrm>
          <a:prstGeom prst="roundRect">
            <a:avLst>
              <a:gd name="adj" fmla="val 82047"/>
            </a:avLst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7810738" y="390132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Reusability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810738" y="4341019"/>
            <a:ext cx="58320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Utility functions buried inside route handlers can't be shared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40704" y="4974669"/>
            <a:ext cx="6303526" cy="1114068"/>
          </a:xfrm>
          <a:prstGeom prst="roundRect">
            <a:avLst>
              <a:gd name="adj" fmla="val 984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17844" y="4974669"/>
            <a:ext cx="91440" cy="1114068"/>
          </a:xfrm>
          <a:prstGeom prst="roundRect">
            <a:avLst>
              <a:gd name="adj" fmla="val 82047"/>
            </a:avLst>
          </a:prstGeom>
          <a:solidFill>
            <a:srgbClr val="1B1B27"/>
          </a:solidFill>
          <a:ln/>
        </p:spPr>
      </p:sp>
      <p:sp>
        <p:nvSpPr>
          <p:cNvPr id="20" name="Text 17"/>
          <p:cNvSpPr/>
          <p:nvPr/>
        </p:nvSpPr>
        <p:spPr>
          <a:xfrm>
            <a:off x="7810738" y="517612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Testability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7810738" y="5615821"/>
            <a:ext cx="58320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can't unit test a function entangled with 10 others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540704" y="6249472"/>
            <a:ext cx="6303526" cy="1114068"/>
          </a:xfrm>
          <a:prstGeom prst="roundRect">
            <a:avLst>
              <a:gd name="adj" fmla="val 984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17844" y="6249472"/>
            <a:ext cx="91440" cy="1114068"/>
          </a:xfrm>
          <a:prstGeom prst="roundRect">
            <a:avLst>
              <a:gd name="adj" fmla="val 82047"/>
            </a:avLst>
          </a:prstGeom>
          <a:solidFill>
            <a:srgbClr val="1B1B27"/>
          </a:solidFill>
          <a:ln/>
        </p:spPr>
      </p:sp>
      <p:sp>
        <p:nvSpPr>
          <p:cNvPr id="24" name="Text 21"/>
          <p:cNvSpPr/>
          <p:nvPr/>
        </p:nvSpPr>
        <p:spPr>
          <a:xfrm>
            <a:off x="7810738" y="645092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Clarity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810738" y="6890623"/>
            <a:ext cx="58320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engineers have no map for where anything lives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31294"/>
            <a:ext cx="2411254" cy="348377"/>
          </a:xfrm>
          <a:prstGeom prst="roundRect">
            <a:avLst>
              <a:gd name="adj" fmla="val 1818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887849"/>
            <a:ext cx="2185035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PROJECT STRUCTURE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99222" y="823674"/>
            <a:ext cx="1275874" cy="363617"/>
          </a:xfrm>
          <a:prstGeom prst="roundRect">
            <a:avLst>
              <a:gd name="adj" fmla="val 1742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19951" y="887849"/>
            <a:ext cx="1034415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11 OF 21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1258848"/>
            <a:ext cx="5119092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Project Structure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93790" y="2116574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well-structured Python project separates concerns into focused files. Each file has a clear role — making the project easy to navigate, test, and extend.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3790" y="2813685"/>
            <a:ext cx="6291382" cy="2142173"/>
          </a:xfrm>
          <a:prstGeom prst="roundRect">
            <a:avLst>
              <a:gd name="adj" fmla="val 369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4384" y="2813685"/>
            <a:ext cx="6310193" cy="2142173"/>
          </a:xfrm>
          <a:prstGeom prst="roundRect">
            <a:avLst>
              <a:gd name="adj" fmla="val 1320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20008" y="3002161"/>
            <a:ext cx="5838944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
├── main.py       # Entry point, app startup
├── services.py   # Business logic
├── utils.py      # Reusable helper functions
└── config.py     # Settings, env variables
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3790" y="5157311"/>
            <a:ext cx="6291382" cy="1069896"/>
          </a:xfrm>
          <a:prstGeom prst="roundRect">
            <a:avLst>
              <a:gd name="adj" fmla="val 7402"/>
            </a:avLst>
          </a:prstGeom>
          <a:solidFill>
            <a:srgbClr val="B6FCB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66" y="5433536"/>
            <a:ext cx="235625" cy="1884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06366" y="5383411"/>
            <a:ext cx="5490329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file has one clear purpose. A new engineer can understand the project structure in under 60 seconds.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552849" y="2813685"/>
            <a:ext cx="3056096" cy="1454348"/>
          </a:xfrm>
          <a:prstGeom prst="roundRect">
            <a:avLst>
              <a:gd name="adj" fmla="val 5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48945" y="300978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main.py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748945" y="3483531"/>
            <a:ext cx="2663904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startup and route wiring — nothing else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10788015" y="2813685"/>
            <a:ext cx="3056215" cy="1454348"/>
          </a:xfrm>
          <a:prstGeom prst="roundRect">
            <a:avLst>
              <a:gd name="adj" fmla="val 5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84111" y="300978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services.py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0984111" y="3483531"/>
            <a:ext cx="266402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business logic, calculations, decisions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552849" y="4447103"/>
            <a:ext cx="3056096" cy="1454348"/>
          </a:xfrm>
          <a:prstGeom prst="roundRect">
            <a:avLst>
              <a:gd name="adj" fmla="val 5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48945" y="464319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utils.py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7748945" y="5116949"/>
            <a:ext cx="2663904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helpers — formatting, parsing, validation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10788015" y="4447103"/>
            <a:ext cx="3056215" cy="1454348"/>
          </a:xfrm>
          <a:prstGeom prst="roundRect">
            <a:avLst>
              <a:gd name="adj" fmla="val 5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84111" y="464319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config.py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0984111" y="5116949"/>
            <a:ext cx="266402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settings in one place — never hardcoded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793790" y="6630114"/>
            <a:ext cx="13042821" cy="775692"/>
          </a:xfrm>
          <a:prstGeom prst="roundRect">
            <a:avLst>
              <a:gd name="adj" fmla="val 10209"/>
            </a:avLst>
          </a:prstGeom>
          <a:solidFill>
            <a:srgbClr val="B6D6FC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66" y="6906339"/>
            <a:ext cx="235625" cy="1884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06366" y="6856214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restructure a single-file script into this clean four-file layout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43201"/>
            <a:ext cx="1649492" cy="213598"/>
          </a:xfrm>
          <a:prstGeom prst="roundRect">
            <a:avLst>
              <a:gd name="adj" fmla="val 2029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871180" y="881896"/>
            <a:ext cx="1494711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3 — PROJECT STRUCTURE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07694" y="835581"/>
            <a:ext cx="877610" cy="228838"/>
          </a:xfrm>
          <a:prstGeom prst="roundRect">
            <a:avLst>
              <a:gd name="adj" fmla="val 18942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92705" y="881896"/>
            <a:ext cx="707588" cy="136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12 OF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3790" y="1097875"/>
            <a:ext cx="6284357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Separation of Logic: API vs. Business Layer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3790" y="1626751"/>
            <a:ext cx="13042821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of the most important structural principles in backend development: the API layer and the business layer should be completely separate. The API receives requests and sends responses — it should not contain business rules.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340" y="1891308"/>
            <a:ext cx="6903601" cy="36947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52332" y="2240879"/>
            <a:ext cx="1907482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Layer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253" y="2279558"/>
            <a:ext cx="169554" cy="1695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2332" y="2919095"/>
            <a:ext cx="1907482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Validation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253" y="2957774"/>
            <a:ext cx="169554" cy="1695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52332" y="3597310"/>
            <a:ext cx="1907482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Layer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7253" y="3635990"/>
            <a:ext cx="169554" cy="1695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52332" y="4275526"/>
            <a:ext cx="1907482" cy="238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 Product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7253" y="4314206"/>
            <a:ext cx="169554" cy="1695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52332" y="4962220"/>
            <a:ext cx="1907482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Decision &amp; Response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7253" y="5000899"/>
            <a:ext cx="169554" cy="16955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93790" y="5774650"/>
            <a:ext cx="6364129" cy="1279446"/>
          </a:xfrm>
          <a:prstGeom prst="roundRect">
            <a:avLst>
              <a:gd name="adj" fmla="val 4235"/>
            </a:avLst>
          </a:prstGeom>
          <a:solidFill>
            <a:srgbClr val="F2F2F2"/>
          </a:solidFill>
          <a:ln/>
        </p:spPr>
      </p:sp>
      <p:sp>
        <p:nvSpPr>
          <p:cNvPr id="20" name="Shape 12"/>
          <p:cNvSpPr/>
          <p:nvPr/>
        </p:nvSpPr>
        <p:spPr>
          <a:xfrm>
            <a:off x="787360" y="5774650"/>
            <a:ext cx="6376988" cy="1279446"/>
          </a:xfrm>
          <a:prstGeom prst="roundRect">
            <a:avLst>
              <a:gd name="adj" fmla="val 1512"/>
            </a:avLst>
          </a:prstGeom>
          <a:solidFill>
            <a:srgbClr val="F2F2F2"/>
          </a:solidFill>
          <a:ln/>
        </p:spPr>
      </p:sp>
      <p:sp>
        <p:nvSpPr>
          <p:cNvPr id="21" name="Text 13"/>
          <p:cNvSpPr/>
          <p:nvPr/>
        </p:nvSpPr>
        <p:spPr>
          <a:xfrm>
            <a:off x="948571" y="5903595"/>
            <a:ext cx="6054566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Layer — in main.py
def api_endpoint(request):
    data = request.json()
    result = recommend_product(data)
    return {"recommendation": result}
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93790" y="7148393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7480102" y="5774650"/>
            <a:ext cx="6364129" cy="1279446"/>
          </a:xfrm>
          <a:prstGeom prst="roundRect">
            <a:avLst>
              <a:gd name="adj" fmla="val 4235"/>
            </a:avLst>
          </a:prstGeom>
          <a:solidFill>
            <a:srgbClr val="F2F2F2"/>
          </a:solidFill>
          <a:ln/>
        </p:spPr>
      </p:sp>
      <p:sp>
        <p:nvSpPr>
          <p:cNvPr id="24" name="Shape 16"/>
          <p:cNvSpPr/>
          <p:nvPr/>
        </p:nvSpPr>
        <p:spPr>
          <a:xfrm>
            <a:off x="7473672" y="5774650"/>
            <a:ext cx="6376988" cy="1279446"/>
          </a:xfrm>
          <a:prstGeom prst="roundRect">
            <a:avLst>
              <a:gd name="adj" fmla="val 1512"/>
            </a:avLst>
          </a:prstGeom>
          <a:solidFill>
            <a:srgbClr val="F2F2F2"/>
          </a:solidFill>
          <a:ln/>
        </p:spPr>
      </p:sp>
      <p:sp>
        <p:nvSpPr>
          <p:cNvPr id="25" name="Text 17"/>
          <p:cNvSpPr/>
          <p:nvPr/>
        </p:nvSpPr>
        <p:spPr>
          <a:xfrm>
            <a:off x="7634883" y="5903595"/>
            <a:ext cx="6054566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Business Layer — in services.py
def recommend_product(data):
 category = data.get("category")
 # Apply business rules here
 return lookup_recommendation(category)
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7480102" y="7148393"/>
            <a:ext cx="6364129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2949535"/>
            <a:ext cx="2688193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6399252" y="3009067"/>
            <a:ext cx="24500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JSON + API RESPONSES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3401973"/>
            <a:ext cx="7404973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4: JSON + API Responses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280190" y="432732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backend services communicate through APIs, and APIs communicate through JSON. Understanding how to read, write, and structure JSON is a core skill for any production Python developer.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76156"/>
            <a:ext cx="2688193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35687"/>
            <a:ext cx="245006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JSON + API RESPONSES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581162" y="668536"/>
            <a:ext cx="1342430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07844" y="735687"/>
            <a:ext cx="108906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13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13621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JSON Matters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05394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(JavaScript Object Notation) is the universal language of APIs. Whether you are calling a payment gateway, a machine learning model, or a public data source — the data comes back as JSON. You need to be fluent in reading and writing 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3135511"/>
            <a:ext cx="6279356" cy="2937034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3908" y="3135511"/>
            <a:ext cx="6299121" cy="2937034"/>
          </a:xfrm>
          <a:prstGeom prst="roundRect">
            <a:avLst>
              <a:gd name="adj" fmla="val 101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31915" y="3333869"/>
            <a:ext cx="580310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 simple JSON response
{
  "name": "Rocky",
  "role": "engineer",
  "active": true,
  "score": 95
}
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64874" y="3135511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2014" y="3135511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854672" y="33567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Human-Readable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854672" y="3865245"/>
            <a:ext cx="576834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for developers to read and debug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64874" y="4602361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2014" y="4602361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854672" y="48235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Language-Agnostic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854672" y="5332095"/>
            <a:ext cx="576834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modern language can parse JSON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64874" y="6069211"/>
            <a:ext cx="6279356" cy="1268492"/>
          </a:xfrm>
          <a:prstGeom prst="roundRect">
            <a:avLst>
              <a:gd name="adj" fmla="val 8650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2014" y="6069211"/>
            <a:ext cx="91440" cy="126849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7854672" y="629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854672" y="6798945"/>
            <a:ext cx="576834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Key-value pairs map naturally to Python dictionaries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37937"/>
            <a:ext cx="2553176" cy="348377"/>
          </a:xfrm>
          <a:prstGeom prst="roundRect">
            <a:avLst>
              <a:gd name="adj" fmla="val 1818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694492"/>
            <a:ext cx="232695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JSON + API RESPONSES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41144" y="630317"/>
            <a:ext cx="1275874" cy="363617"/>
          </a:xfrm>
          <a:prstGeom prst="roundRect">
            <a:avLst>
              <a:gd name="adj" fmla="val 1742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1874" y="694492"/>
            <a:ext cx="1034415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14 OF 21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3790" y="1065490"/>
            <a:ext cx="584406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Dictionary vs. JSON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93790" y="1923217"/>
            <a:ext cx="13042821" cy="59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dictionaries and JSON look nearly identical — but they are different things. Python dicts live in memory; JSON is a string format for transmission. Python's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converts between them.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3790" y="2899767"/>
            <a:ext cx="327148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Dictionary (in memory)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93790" y="3395901"/>
            <a:ext cx="6291382" cy="2730579"/>
          </a:xfrm>
          <a:prstGeom prst="roundRect">
            <a:avLst>
              <a:gd name="adj" fmla="val 2900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84384" y="3395901"/>
            <a:ext cx="6310193" cy="2730579"/>
          </a:xfrm>
          <a:prstGeom prst="roundRect">
            <a:avLst>
              <a:gd name="adj" fmla="val 10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020008" y="3584377"/>
            <a:ext cx="5838944" cy="23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
    "name": "Rocky",
    "score": 95
}
# Access a value
print(data["name"])  # → Rocky
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52849" y="2899767"/>
            <a:ext cx="32156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 String (for transmission)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552849" y="3395901"/>
            <a:ext cx="6291382" cy="3024783"/>
          </a:xfrm>
          <a:prstGeom prst="roundRect">
            <a:avLst>
              <a:gd name="adj" fmla="val 2618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443" y="3395901"/>
            <a:ext cx="6310193" cy="3024783"/>
          </a:xfrm>
          <a:prstGeom prst="roundRect">
            <a:avLst>
              <a:gd name="adj" fmla="val 935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9068" y="3584377"/>
            <a:ext cx="5838944" cy="2647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# Dict → JSON string
json_string = json.dumps(data)
# JSON string → Dict
parsed = json.loads(json_string)
print(parsed["name"])  # → Rocky
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3790" y="6823591"/>
            <a:ext cx="13042821" cy="775692"/>
          </a:xfrm>
          <a:prstGeom prst="roundRect">
            <a:avLst>
              <a:gd name="adj" fmla="val 10209"/>
            </a:avLst>
          </a:prstGeom>
          <a:solidFill>
            <a:srgbClr val="B6D6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66" y="7099816"/>
            <a:ext cx="235625" cy="1884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06366" y="7049691"/>
            <a:ext cx="1224176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convert Python dicts to JSON and back, then pretty-print real API responses.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26626"/>
            <a:ext cx="2419945" cy="32432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680204"/>
            <a:ext cx="2205633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JSON + API RESPONSES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303032" y="619006"/>
            <a:ext cx="1210032" cy="339566"/>
          </a:xfrm>
          <a:prstGeom prst="roundRect">
            <a:avLst>
              <a:gd name="adj" fmla="val 17675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17808" y="680204"/>
            <a:ext cx="9804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15 OF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3790" y="1022866"/>
            <a:ext cx="4862274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 API Responses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93790" y="1822132"/>
            <a:ext cx="13042821" cy="550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call an external API using the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library, the response comes back as a JSON string. The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.json()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method parses it into a Python dictionary so you can extract the fields you need.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3790" y="2553533"/>
            <a:ext cx="13042821" cy="4157663"/>
          </a:xfrm>
          <a:prstGeom prst="roundRect">
            <a:avLst>
              <a:gd name="adj" fmla="val 1804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4860" y="2553533"/>
            <a:ext cx="13060680" cy="4157663"/>
          </a:xfrm>
          <a:prstGeom prst="roundRect">
            <a:avLst>
              <a:gd name="adj" fmla="val 64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8102" y="2732127"/>
            <a:ext cx="12614196" cy="380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
response = requests.get("https://api.example.com/user/1")
# Parse the JSON response
data = response.json()
# Extract specific fields
name = data["name"]
role = data["role"]
score = data.get("score", 0)  # Safe default if key missing
print(f"{name} is a {role} with score {score}")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3790" y="6892052"/>
            <a:ext cx="13042821" cy="718423"/>
          </a:xfrm>
          <a:prstGeom prst="roundRect">
            <a:avLst>
              <a:gd name="adj" fmla="val 10443"/>
            </a:avLst>
          </a:prstGeom>
          <a:solidFill>
            <a:srgbClr val="D2D2E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383" y="7149465"/>
            <a:ext cx="223242" cy="1785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4219" y="7097435"/>
            <a:ext cx="12283797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use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.get("key", default)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instead of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["key"]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the field might be missing — it prevents KeyErrors in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2579" y="452795"/>
            <a:ext cx="1712119" cy="208240"/>
          </a:xfrm>
          <a:prstGeom prst="roundRect">
            <a:avLst>
              <a:gd name="adj" fmla="val 2041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08422" y="490657"/>
            <a:ext cx="1560433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4 — JSON + API RESPONSES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407920" y="445175"/>
            <a:ext cx="860584" cy="223480"/>
          </a:xfrm>
          <a:prstGeom prst="roundRect">
            <a:avLst>
              <a:gd name="adj" fmla="val 1902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91383" y="490657"/>
            <a:ext cx="693658" cy="132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16 OF 21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32579" y="700802"/>
            <a:ext cx="5508188" cy="395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 API Example: Calling a Public API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632579" y="1217176"/>
            <a:ext cx="13365242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put it all together with a real public API call. We will fetch live data, parse the JSON response, and extract the fields we actually need — exactly as you would in a production service.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7776" y="1473637"/>
            <a:ext cx="8314730" cy="3805357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81" y="2423732"/>
            <a:ext cx="534596" cy="5345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24390" y="4375340"/>
            <a:ext cx="1561019" cy="300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 Fields</a:t>
            </a:r>
            <a:endParaRPr lang="en-US" sz="1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3559" y="2424735"/>
            <a:ext cx="534596" cy="5345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57077" y="4375340"/>
            <a:ext cx="1561019" cy="300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Parse JSON</a:t>
            </a:r>
            <a:endParaRPr lang="en-US" sz="1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6939" y="2424735"/>
            <a:ext cx="534595" cy="5345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00457" y="4224986"/>
            <a:ext cx="1561019" cy="60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Receive Response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9627" y="2424735"/>
            <a:ext cx="534596" cy="5345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01069" y="4224986"/>
            <a:ext cx="1561020" cy="60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Send Request</a:t>
            </a:r>
            <a:endParaRPr lang="en-US" sz="1850" dirty="0"/>
          </a:p>
        </p:txBody>
      </p:sp>
      <p:sp>
        <p:nvSpPr>
          <p:cNvPr id="17" name="Shape 10"/>
          <p:cNvSpPr/>
          <p:nvPr/>
        </p:nvSpPr>
        <p:spPr>
          <a:xfrm>
            <a:off x="632579" y="5369719"/>
            <a:ext cx="13365242" cy="1910239"/>
          </a:xfrm>
          <a:prstGeom prst="roundRect">
            <a:avLst>
              <a:gd name="adj" fmla="val 2782"/>
            </a:avLst>
          </a:prstGeom>
          <a:solidFill>
            <a:srgbClr val="F2F2F2"/>
          </a:solidFill>
          <a:ln/>
        </p:spPr>
      </p:sp>
      <p:sp>
        <p:nvSpPr>
          <p:cNvPr id="18" name="Shape 11"/>
          <p:cNvSpPr/>
          <p:nvPr/>
        </p:nvSpPr>
        <p:spPr>
          <a:xfrm>
            <a:off x="626269" y="5369719"/>
            <a:ext cx="13377862" cy="1910239"/>
          </a:xfrm>
          <a:prstGeom prst="roundRect">
            <a:avLst>
              <a:gd name="adj" fmla="val 994"/>
            </a:avLst>
          </a:prstGeom>
          <a:solidFill>
            <a:srgbClr val="F2F2F2"/>
          </a:solidFill>
          <a:ln/>
        </p:spPr>
      </p:sp>
      <p:sp>
        <p:nvSpPr>
          <p:cNvPr id="19" name="Text 12"/>
          <p:cNvSpPr/>
          <p:nvPr/>
        </p:nvSpPr>
        <p:spPr>
          <a:xfrm>
            <a:off x="784384" y="5496163"/>
            <a:ext cx="13061633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
# Call a real public API
response = requests.get("https://catfact.ninja/fact")
data = response.json()
# Extract and use the field
fact = data["fact"]
print(f"Cat fact: {fact}")
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632579" y="7370683"/>
            <a:ext cx="13365242" cy="413623"/>
          </a:xfrm>
          <a:prstGeom prst="roundRect">
            <a:avLst>
              <a:gd name="adj" fmla="val 12848"/>
            </a:avLst>
          </a:prstGeom>
          <a:solidFill>
            <a:srgbClr val="B6D6FC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023" y="7539871"/>
            <a:ext cx="158115" cy="1264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3583" y="7482840"/>
            <a:ext cx="12827794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call a live public API, inspect the raw response, and extract specific fields.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179" y="148709"/>
            <a:ext cx="5288042" cy="7932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949535"/>
            <a:ext cx="2263259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912852" y="3009067"/>
            <a:ext cx="202513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 — ERROR HANDLING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3790" y="3401973"/>
            <a:ext cx="5572720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5: Error Handling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93790" y="432732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production code breaks. Networks go down, users send bad input, APIs return unexpected data. Error handling is not optional — it is the difference between a system that crashes and a system that recovers gracefully.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37836"/>
            <a:ext cx="2263259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797368"/>
            <a:ext cx="202513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 — ERROR HANDLING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156228" y="1730216"/>
            <a:ext cx="1342430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82910" y="1797368"/>
            <a:ext cx="108906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17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19789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Can Go Wrong?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31156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any real backend system, errors are not edge cases — they are normal events. Writing code that assumes everything will succeed is one of the most common causes of production outages.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973949"/>
            <a:ext cx="496133" cy="49613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7930" y="3973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Invalid Input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537930" y="4403169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send strings where numbers are expected, empty fields, or malformed data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973949"/>
            <a:ext cx="496133" cy="49613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3285" y="397394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Failures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8183285" y="4403169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services time out, return errors, or go offline unexpectedly</a:t>
            </a:r>
            <a:endParaRPr lang="en-US" sz="1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35084"/>
            <a:ext cx="496133" cy="4961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37930" y="54350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Files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537930" y="5864304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 files, data files, or environment variables that aren't where the code expects them</a:t>
            </a:r>
            <a:endParaRPr lang="en-US" sz="1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5435084"/>
            <a:ext cx="496133" cy="49613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83285" y="54350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Wrong Data Types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8183285" y="5864304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field arrives as a string when the code expects an integer — and the calculation fails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73423"/>
            <a:ext cx="1809988" cy="278130"/>
          </a:xfrm>
          <a:prstGeom prst="roundRect">
            <a:avLst>
              <a:gd name="adj" fmla="val 1918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1721048"/>
            <a:ext cx="161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 — ERROR HANDLING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83073" y="1665803"/>
            <a:ext cx="1076682" cy="293370"/>
          </a:xfrm>
          <a:prstGeom prst="roundRect">
            <a:avLst>
              <a:gd name="adj" fmla="val 18185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5943" y="1721048"/>
            <a:ext cx="8709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18 OF 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3790" y="2009894"/>
            <a:ext cx="811803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Error Handling: The System Crashes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93790" y="2696527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a safety net, a single bad input terminates the entire program. In a live backend service, this means a crash that affects every user — not just the one who triggered the error.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319492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Error Handling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3585805"/>
            <a:ext cx="6327815" cy="1460421"/>
          </a:xfrm>
          <a:prstGeom prst="roundRect">
            <a:avLst>
              <a:gd name="adj" fmla="val 4566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785932" y="3585805"/>
            <a:ext cx="6343531" cy="1460421"/>
          </a:xfrm>
          <a:prstGeom prst="roundRect">
            <a:avLst>
              <a:gd name="adj" fmla="val 1631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984290" y="3744516"/>
            <a:ext cx="594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If user types "hello", this crashes
user_input = input("Enter a number: ")
number = int(user_input)  # ← CRASH
print(f"Double: {number * 2}")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5189101"/>
            <a:ext cx="6327815" cy="1231821"/>
          </a:xfrm>
          <a:prstGeom prst="roundRect">
            <a:avLst>
              <a:gd name="adj" fmla="val 5414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5932" y="5189101"/>
            <a:ext cx="6343531" cy="1231821"/>
          </a:xfrm>
          <a:prstGeom prst="roundRect">
            <a:avLst>
              <a:gd name="adj" fmla="val 1933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984290" y="5347811"/>
            <a:ext cx="5946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
ValueError: invalid literal for
int() with base 10: 'hello'
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16416" y="3210877"/>
            <a:ext cx="6327815" cy="1503164"/>
          </a:xfrm>
          <a:prstGeom prst="roundRect">
            <a:avLst>
              <a:gd name="adj" fmla="val 4436"/>
            </a:avLst>
          </a:prstGeom>
          <a:solidFill>
            <a:srgbClr val="FFB3B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5126" y="3437930"/>
            <a:ext cx="198358" cy="1587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32194" y="3377446"/>
            <a:ext cx="56533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production, this means: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The API returns a 500 error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The user sees a broken experience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Logs fill up with unhandled exceptions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The entire service may go down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4018"/>
            <a:ext cx="1809988" cy="278130"/>
          </a:xfrm>
          <a:prstGeom prst="roundRect">
            <a:avLst>
              <a:gd name="adj" fmla="val 1918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761643"/>
            <a:ext cx="161948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5 — ERROR HANDLING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683073" y="706398"/>
            <a:ext cx="1076682" cy="293370"/>
          </a:xfrm>
          <a:prstGeom prst="roundRect">
            <a:avLst>
              <a:gd name="adj" fmla="val 18185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5943" y="761643"/>
            <a:ext cx="87094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19 OF 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3790" y="1050488"/>
            <a:ext cx="723792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Try / Except: Handling Errors Gracefully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93790" y="1737122"/>
            <a:ext cx="13042821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 / except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block lets you anticipate failures and respond to them — instead of letting them crash the system. Always catch specific exception types, and always tell the user what went wrong.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3790" y="2487692"/>
            <a:ext cx="6327815" cy="2146221"/>
          </a:xfrm>
          <a:prstGeom prst="roundRect">
            <a:avLst>
              <a:gd name="adj" fmla="val 310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5932" y="2487692"/>
            <a:ext cx="6343531" cy="2146221"/>
          </a:xfrm>
          <a:prstGeom prst="roundRect">
            <a:avLst>
              <a:gd name="adj" fmla="val 1110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84290" y="2646402"/>
            <a:ext cx="59468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try/except
try:
    user_input = input("Enter a number: ")
    number = int(user_input)
    print(f"Double: {number * 2}")
except ValueError:
    print("Please enter a valid number.")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3790" y="4776788"/>
            <a:ext cx="6327815" cy="2603421"/>
          </a:xfrm>
          <a:prstGeom prst="roundRect">
            <a:avLst>
              <a:gd name="adj" fmla="val 2562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85932" y="4776788"/>
            <a:ext cx="6343531" cy="2603421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984290" y="4935498"/>
            <a:ext cx="59468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API error handling
try:
    response = requests.get(url, timeout=5)
    response.raise_for_status()
    data = response.json()
except requests.exceptions.Timeout:
    print("Request timed out.")
except requests.exceptions.HTTPError as e:
    print(f"HTTP error: {e}")
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16416" y="2487692"/>
            <a:ext cx="3100388" cy="936188"/>
          </a:xfrm>
          <a:prstGeom prst="roundRect">
            <a:avLst>
              <a:gd name="adj" fmla="val 71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2746" y="265402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try: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682746" y="3028950"/>
            <a:ext cx="27677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code that might fail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743724" y="2487692"/>
            <a:ext cx="3100507" cy="936188"/>
          </a:xfrm>
          <a:prstGeom prst="roundRect">
            <a:avLst>
              <a:gd name="adj" fmla="val 71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10054" y="265402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except: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910054" y="3028950"/>
            <a:ext cx="27678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 do when it fails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16416" y="3550801"/>
            <a:ext cx="6327815" cy="936188"/>
          </a:xfrm>
          <a:prstGeom prst="roundRect">
            <a:avLst>
              <a:gd name="adj" fmla="val 71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2746" y="371713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finally: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82746" y="4092059"/>
            <a:ext cx="59951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runs — cleanup code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16416" y="4629864"/>
            <a:ext cx="6327815" cy="817364"/>
          </a:xfrm>
          <a:prstGeom prst="roundRect">
            <a:avLst>
              <a:gd name="adj" fmla="val 8159"/>
            </a:avLst>
          </a:prstGeom>
          <a:solidFill>
            <a:srgbClr val="B6D6FC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5126" y="4856917"/>
            <a:ext cx="198358" cy="15871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32194" y="4796433"/>
            <a:ext cx="5653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💻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to VS Code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 will add error handling to our API calls and input functions.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42693"/>
            <a:ext cx="2885122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602224"/>
            <a:ext cx="264699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6 — MINI EXERCISE + WRAP 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95130"/>
            <a:ext cx="7777043" cy="62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🧩</a:t>
            </a:r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Part 6: Mini Exercise + Wrap Up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92048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to apply everything from this module. This final section combines functions, project structure, JSON responses, and error handling into one cohesive exercise — the kind of task you would face in a real engineering role.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77880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09313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42380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Functions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46672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Clean, named, single-responsibility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14379" y="377880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409313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7414379" y="42380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Structure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14379" y="466725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Separated into logical files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533197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64630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791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 Handling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2204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response output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14379" y="5331976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14379" y="5646301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7414379" y="57912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Error Handling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414379" y="6220420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Graceful failure on bad input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7234"/>
            <a:ext cx="2597229" cy="324326"/>
          </a:xfrm>
          <a:prstGeom prst="roundRect">
            <a:avLst>
              <a:gd name="adj" fmla="val 1850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0946" y="780812"/>
            <a:ext cx="2382917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6 — MINI EXERCISE + WRAP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80316" y="719614"/>
            <a:ext cx="1210032" cy="339566"/>
          </a:xfrm>
          <a:prstGeom prst="roundRect">
            <a:avLst>
              <a:gd name="adj" fmla="val 17675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95092" y="780812"/>
            <a:ext cx="98048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20 OF 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93790" y="1123474"/>
            <a:ext cx="956464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 Exercise: Product Recommendation Logic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793790" y="1922740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simple product recommendation function that accepts a product category as input and returns a structured JSON response. This exercise combines every concept from the module.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280725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3267075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6360" y="332839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356360" y="3768090"/>
            <a:ext cx="5740956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product category string (e.g.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"electronics"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4368641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6360" y="442995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356360" y="4869656"/>
            <a:ext cx="57409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JSON response with a recommended product name and reason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3790" y="5462588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6360" y="552390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Functions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356360" y="5963602"/>
            <a:ext cx="57409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validation, logic, and response building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3790" y="6556534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6360" y="661785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 Error Handling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356360" y="7057549"/>
            <a:ext cx="57409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unknown categories and empty inputs gracefully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0704" y="2827377"/>
            <a:ext cx="6303526" cy="4157663"/>
          </a:xfrm>
          <a:prstGeom prst="roundRect">
            <a:avLst>
              <a:gd name="adj" fmla="val 1804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7531775" y="2827377"/>
            <a:ext cx="6321385" cy="4157663"/>
          </a:xfrm>
          <a:prstGeom prst="roundRect">
            <a:avLst>
              <a:gd name="adj" fmla="val 644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7755017" y="3005971"/>
            <a:ext cx="5874901" cy="380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 output structure
{
 "category": "electronics",
 "recommendation": "Laptop Pro X",
 "reason": "Best seller in Q4",
 "status": "success"
}
# Error output
{
 "status": "error",
 "message": "Unknown category"
}
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50608"/>
            <a:ext cx="2885122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110139"/>
            <a:ext cx="264699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6 — MINI EXERCISE + WRAP UP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778091" y="1042988"/>
            <a:ext cx="1342430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04774" y="1110139"/>
            <a:ext cx="108906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21 OF 21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151066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2 Summary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93790" y="242839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have covered the four pillars of production-ready Python. These are not just stylistic preferences — they are the engineering foundations that every backend developer is expected to apply on day one.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3286720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68" y="34926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Clean Functions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768" y="3921919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responsibility, clear names, reusable across the codebase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3286720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357" y="34926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Better Structure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0357" y="3921919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 separated into focused files — maintainable and scalable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4643795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768" y="4849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JSON Handling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99768" y="5278993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and write structured data for API communication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4643795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357" y="4849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Error Handling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20357" y="5278993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Graceful failure with try/except — never let the system crash silently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6025753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321028"/>
            <a:ext cx="248007" cy="19835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38513" y="6273641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🚀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Next: Module 3 — FastAPI Backend Development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take these patterns into a real web framework and build our first production API endpoint.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2026-04-26T13:00:07Z</dcterms:created>
  <dcterms:modified xsi:type="dcterms:W3CDTF">2026-04-26T13:00:07Z</dcterms:modified>
</cp:coreProperties>
</file>